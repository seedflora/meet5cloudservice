
<file path=[Content_Types].xml><?xml version="1.0" encoding="utf-8"?>
<Types xmlns="http://schemas.openxmlformats.org/package/2006/content-types">
  <Default Extension="xml" ContentType="application/vnd.openxmlformats-package.core-properties+xml"/>
  <Default Extension="jpeg" ContentType="image/jpeg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205a75a471f74401" /><Relationship Type="http://schemas.openxmlformats.org/officeDocument/2006/relationships/extended-properties" Target="/docProps/app.xml" Id="R6ec8c8cbc64541a5" /><Relationship Type="http://schemas.openxmlformats.org/officeDocument/2006/relationships/officeDocument" Target="/ppt/presentation.xml" Id="Rbcc9beccceb143eb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928870c0e35b4b59"/>
  </p:sldMasterIdLst>
  <p:notesMasterIdLst>
    <p:notesMasterId xmlns:r="http://schemas.openxmlformats.org/officeDocument/2006/relationships" r:id="Ra77410b05e2a4cc2"/>
  </p:notesMasterIdLst>
  <p:sldIdLst>
    <p:sldId xmlns:r="http://schemas.openxmlformats.org/officeDocument/2006/relationships" id="256" r:id="Re88d014343ac4e59"/>
    <p:sldId xmlns:r="http://schemas.openxmlformats.org/officeDocument/2006/relationships" id="257" r:id="R02d130fbc0104d52"/>
    <p:sldId xmlns:r="http://schemas.openxmlformats.org/officeDocument/2006/relationships" id="258" r:id="R34f4b1d495e74154"/>
    <p:sldId xmlns:r="http://schemas.openxmlformats.org/officeDocument/2006/relationships" id="259" r:id="Rdd0264a1c1a140c4"/>
    <p:sldId xmlns:r="http://schemas.openxmlformats.org/officeDocument/2006/relationships" id="260" r:id="R15e3145ac80e4a59"/>
    <p:sldId xmlns:r="http://schemas.openxmlformats.org/officeDocument/2006/relationships" id="261" r:id="R80310ab98bb64a86"/>
    <p:sldId xmlns:r="http://schemas.openxmlformats.org/officeDocument/2006/relationships" id="262" r:id="R162f8bbc3da246a1"/>
    <p:sldId xmlns:r="http://schemas.openxmlformats.org/officeDocument/2006/relationships" id="263" r:id="R8ed14a0fa9ef4e1b"/>
    <p:sldId xmlns:r="http://schemas.openxmlformats.org/officeDocument/2006/relationships" id="264" r:id="R6bd44ef4defd4f42"/>
    <p:sldId xmlns:r="http://schemas.openxmlformats.org/officeDocument/2006/relationships" id="265" r:id="R1677adc79e464162"/>
    <p:sldId xmlns:r="http://schemas.openxmlformats.org/officeDocument/2006/relationships" id="266" r:id="R66d3fbf5309b48f9"/>
    <p:sldId xmlns:r="http://schemas.openxmlformats.org/officeDocument/2006/relationships" id="267" r:id="Rac3e8b2b59bc4712"/>
    <p:sldId xmlns:r="http://schemas.openxmlformats.org/officeDocument/2006/relationships" id="268" r:id="R27a5ee238809449c"/>
    <p:sldId xmlns:r="http://schemas.openxmlformats.org/officeDocument/2006/relationships" id="269" r:id="Ra2dcd76e134049c7"/>
    <p:sldId xmlns:r="http://schemas.openxmlformats.org/officeDocument/2006/relationships" id="270" r:id="R501533d2aa0c4823"/>
    <p:sldId xmlns:r="http://schemas.openxmlformats.org/officeDocument/2006/relationships" id="271" r:id="Re0aba1c9f74a46ce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 snapToObjects="1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e8dcdfe4879f408f" /><Relationship Type="http://schemas.openxmlformats.org/officeDocument/2006/relationships/slideMaster" Target="/ppt/slideMasters/slideMaster1.xml" Id="R928870c0e35b4b59" /><Relationship Type="http://schemas.openxmlformats.org/officeDocument/2006/relationships/notesMaster" Target="/ppt/notesMasters/notesMaster1.xml" Id="Ra77410b05e2a4cc2" /><Relationship Type="http://schemas.openxmlformats.org/officeDocument/2006/relationships/presProps" Target="/ppt/presProps.xml" Id="R403a9bac0a084eea" /><Relationship Type="http://schemas.openxmlformats.org/officeDocument/2006/relationships/viewProps" Target="/ppt/viewProps.xml" Id="Rfec10fa049ba4533" /><Relationship Type="http://schemas.openxmlformats.org/officeDocument/2006/relationships/tableStyles" Target="/ppt/tableStyles.xml" Id="R5265cf779fa34df6" /><Relationship Type="http://schemas.openxmlformats.org/officeDocument/2006/relationships/slide" Target="/ppt/slides/slide1.xml" Id="Re88d014343ac4e59" /><Relationship Type="http://schemas.openxmlformats.org/officeDocument/2006/relationships/slide" Target="/ppt/slides/slide2.xml" Id="R02d130fbc0104d52" /><Relationship Type="http://schemas.openxmlformats.org/officeDocument/2006/relationships/slide" Target="/ppt/slides/slide3.xml" Id="R34f4b1d495e74154" /><Relationship Type="http://schemas.openxmlformats.org/officeDocument/2006/relationships/slide" Target="/ppt/slides/slide4.xml" Id="Rdd0264a1c1a140c4" /><Relationship Type="http://schemas.openxmlformats.org/officeDocument/2006/relationships/slide" Target="/ppt/slides/slide5.xml" Id="R15e3145ac80e4a59" /><Relationship Type="http://schemas.openxmlformats.org/officeDocument/2006/relationships/slide" Target="/ppt/slides/slide6.xml" Id="R80310ab98bb64a86" /><Relationship Type="http://schemas.openxmlformats.org/officeDocument/2006/relationships/slide" Target="/ppt/slides/slide7.xml" Id="R162f8bbc3da246a1" /><Relationship Type="http://schemas.openxmlformats.org/officeDocument/2006/relationships/slide" Target="/ppt/slides/slide8.xml" Id="R8ed14a0fa9ef4e1b" /><Relationship Type="http://schemas.openxmlformats.org/officeDocument/2006/relationships/slide" Target="/ppt/slides/slide9.xml" Id="R6bd44ef4defd4f42" /><Relationship Type="http://schemas.openxmlformats.org/officeDocument/2006/relationships/slide" Target="/ppt/slides/slide10.xml" Id="R1677adc79e464162" /><Relationship Type="http://schemas.openxmlformats.org/officeDocument/2006/relationships/slide" Target="/ppt/slides/slide11.xml" Id="R66d3fbf5309b48f9" /><Relationship Type="http://schemas.openxmlformats.org/officeDocument/2006/relationships/slide" Target="/ppt/slides/slide12.xml" Id="Rac3e8b2b59bc4712" /><Relationship Type="http://schemas.openxmlformats.org/officeDocument/2006/relationships/slide" Target="/ppt/slides/slide13.xml" Id="R27a5ee238809449c" /><Relationship Type="http://schemas.openxmlformats.org/officeDocument/2006/relationships/slide" Target="/ppt/slides/slide14.xml" Id="Ra2dcd76e134049c7" /><Relationship Type="http://schemas.openxmlformats.org/officeDocument/2006/relationships/slide" Target="/ppt/slides/slide15.xml" Id="R501533d2aa0c4823" /><Relationship Type="http://schemas.openxmlformats.org/officeDocument/2006/relationships/slide" Target="/ppt/slides/slide16.xml" Id="Re0aba1c9f74a46ce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fd4b9e47df724435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c597102baba34d0a" /><Relationship Type="http://schemas.openxmlformats.org/officeDocument/2006/relationships/notesMaster" Target="/ppt/notesMasters/notesMaster1.xml" Id="R77ecc1544ef14830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604ce0ec26044ccf" /><Relationship Type="http://schemas.openxmlformats.org/officeDocument/2006/relationships/notesMaster" Target="/ppt/notesMasters/notesMaster1.xml" Id="R27381af921334dde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df46ef082aaa4ed9" /><Relationship Type="http://schemas.openxmlformats.org/officeDocument/2006/relationships/notesMaster" Target="/ppt/notesMasters/notesMaster1.xml" Id="R7749881c7bef40fc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05c4054b4d5d4408" /><Relationship Type="http://schemas.openxmlformats.org/officeDocument/2006/relationships/notesMaster" Target="/ppt/notesMasters/notesMaster1.xml" Id="R4c4be4bdddd34066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d5c2f38d8f8245b9" /><Relationship Type="http://schemas.openxmlformats.org/officeDocument/2006/relationships/notesMaster" Target="/ppt/notesMasters/notesMaster1.xml" Id="R231f0dbb5c93469f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f5d54d7d97384137" /><Relationship Type="http://schemas.openxmlformats.org/officeDocument/2006/relationships/notesMaster" Target="/ppt/notesMasters/notesMaster1.xml" Id="R3b01110024ae46dd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6376f8d8ab0546e1" /><Relationship Type="http://schemas.openxmlformats.org/officeDocument/2006/relationships/notesMaster" Target="/ppt/notesMasters/notesMaster1.xml" Id="R7699de5d03f34663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997d3d30156545c2" /><Relationship Type="http://schemas.openxmlformats.org/officeDocument/2006/relationships/notesMaster" Target="/ppt/notesMasters/notesMaster1.xml" Id="R2df4dfc09c4b484c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22337ba6029b4683" /><Relationship Type="http://schemas.openxmlformats.org/officeDocument/2006/relationships/notesMaster" Target="/ppt/notesMasters/notesMaster1.xml" Id="R6d4dc2e0f68c4918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4517f215951648d8" /><Relationship Type="http://schemas.openxmlformats.org/officeDocument/2006/relationships/notesMaster" Target="/ppt/notesMasters/notesMaster1.xml" Id="Rdf0579505a9446f9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4f67240bdc30477b" /><Relationship Type="http://schemas.openxmlformats.org/officeDocument/2006/relationships/notesMaster" Target="/ppt/notesMasters/notesMaster1.xml" Id="R2bf3c8c9d66443ca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c0b152469f2c4fd8" /><Relationship Type="http://schemas.openxmlformats.org/officeDocument/2006/relationships/notesMaster" Target="/ppt/notesMasters/notesMaster1.xml" Id="R1caf0313c96a42ac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bb15350dd2ae42ef" /><Relationship Type="http://schemas.openxmlformats.org/officeDocument/2006/relationships/notesMaster" Target="/ppt/notesMasters/notesMaster1.xml" Id="Rcb0c607767984818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04edca98f5be4a82" /><Relationship Type="http://schemas.openxmlformats.org/officeDocument/2006/relationships/notesMaster" Target="/ppt/notesMasters/notesMaster1.xml" Id="Ra96f7bce91934d36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915b8dcfd072485c" /><Relationship Type="http://schemas.openxmlformats.org/officeDocument/2006/relationships/notesMaster" Target="/ppt/notesMasters/notesMaster1.xml" Id="R7614c88e127548af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c57288a5ed37482c" /><Relationship Type="http://schemas.openxmlformats.org/officeDocument/2006/relationships/notesMaster" Target="/ppt/notesMasters/notesMaster1.xml" Id="R8f7b54cd5d9243c6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79ff797417f434c" /></Relationships>
</file>

<file path=ppt/slideLayouts/slideLayout1.xml><?xml version="1.0" encoding="utf-8"?>
<p:sldLayout xmlns:p="http://schemas.openxmlformats.org/presentationml/2006/main" preserve="1">
  <p:cSld name="DEFAULT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9738392bd7b34da8" /><Relationship Type="http://schemas.openxmlformats.org/officeDocument/2006/relationships/slideLayout" Target="/ppt/slideLayouts/slideLayout1.xml" Id="R845d264b8c204929" 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845d264b8c204929"/>
  </p:sldLayoutIdLst>
  <p:hf sldNum="0" hdr="0" ftr="0" dt="0"/>
  <p:txStyles>
    <p:titleStyle>
      <a:lvl1pPr xmlns:a="http://schemas.openxmlformats.org/drawingml/2006/main" algn="ctr" defTabSz="9144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342900" indent="-342900" algn="l" defTabSz="9144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742950" indent="-285750" algn="l" defTabSz="9144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3ece391ee094eb9" /><Relationship Type="http://schemas.openxmlformats.org/officeDocument/2006/relationships/image" Target="/ppt/media/image.jpeg" Id="R623470dceb964847" /><Relationship Type="http://schemas.openxmlformats.org/officeDocument/2006/relationships/image" Target="/ppt/media/image.png" Id="R23aaafc4e034482a" /><Relationship Type="http://schemas.openxmlformats.org/officeDocument/2006/relationships/image" Target="/ppt/media/image2.png" Id="Rad1c0255e80344a9" /><Relationship Type="http://schemas.openxmlformats.org/officeDocument/2006/relationships/notesSlide" Target="/ppt/notesSlides/notesSlide1.xml" Id="Rbbaee1521c4845bc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dd145d825c14b32" /><Relationship Type="http://schemas.openxmlformats.org/officeDocument/2006/relationships/image" Target="/ppt/media/image.png" Id="Re7cf6e3da0d24377" /><Relationship Type="http://schemas.openxmlformats.org/officeDocument/2006/relationships/image" Target="/ppt/media/image2.png" Id="R08e85556b0f14150" /><Relationship Type="http://schemas.openxmlformats.org/officeDocument/2006/relationships/image" Target="/ppt/media/image3.png" Id="R045352294bcd45b4" /><Relationship Type="http://schemas.openxmlformats.org/officeDocument/2006/relationships/image" Target="/ppt/media/image4.png" Id="Rf4ea8868ffaf4490" /><Relationship Type="http://schemas.openxmlformats.org/officeDocument/2006/relationships/image" Target="/ppt/media/image5.png" Id="Rbe128c76631b4049" /><Relationship Type="http://schemas.openxmlformats.org/officeDocument/2006/relationships/image" Target="/ppt/media/image6.png" Id="R09d4093199294b22" /><Relationship Type="http://schemas.openxmlformats.org/officeDocument/2006/relationships/image" Target="/ppt/media/image7.png" Id="R7fc88266e56248f9" /><Relationship Type="http://schemas.openxmlformats.org/officeDocument/2006/relationships/image" Target="/ppt/media/image8.png" Id="R38561233c82b4531" /><Relationship Type="http://schemas.openxmlformats.org/officeDocument/2006/relationships/image" Target="/ppt/media/image9.png" Id="Rd11588ce9414432b" /><Relationship Type="http://schemas.openxmlformats.org/officeDocument/2006/relationships/notesSlide" Target="/ppt/notesSlides/notesSlide2.xml" Id="R2489b11aee454a4a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58a4c8afd4d4c53" /><Relationship Type="http://schemas.openxmlformats.org/officeDocument/2006/relationships/image" Target="/ppt/media/image.png" Id="R5b9a18f427104fde" /><Relationship Type="http://schemas.openxmlformats.org/officeDocument/2006/relationships/image" Target="/ppt/media/image2.png" Id="Rf0eaa7ee8d3742d5" /><Relationship Type="http://schemas.openxmlformats.org/officeDocument/2006/relationships/notesSlide" Target="/ppt/notesSlides/notesSlide3.xml" Id="Rb868a8fe48054f5c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5e8a1d8ba654201" /><Relationship Type="http://schemas.openxmlformats.org/officeDocument/2006/relationships/image" Target="/ppt/media/image.png" Id="R8b0efb40406a46fa" /><Relationship Type="http://schemas.openxmlformats.org/officeDocument/2006/relationships/image" Target="/ppt/media/image2.png" Id="Rc7c83f3cd7da485d" /><Relationship Type="http://schemas.openxmlformats.org/officeDocument/2006/relationships/image" Target="/ppt/media/image3.png" Id="Ra514c3bd6e5647db" /><Relationship Type="http://schemas.openxmlformats.org/officeDocument/2006/relationships/image" Target="/ppt/media/image4.png" Id="R9acf349157914bb3" /><Relationship Type="http://schemas.openxmlformats.org/officeDocument/2006/relationships/image" Target="/ppt/media/image5.png" Id="R120ae575521641ca" /><Relationship Type="http://schemas.openxmlformats.org/officeDocument/2006/relationships/image" Target="/ppt/media/image6.png" Id="R275c58d19a6c4f73" /><Relationship Type="http://schemas.openxmlformats.org/officeDocument/2006/relationships/image" Target="/ppt/media/image7.png" Id="Rb141944f28124cd5" /><Relationship Type="http://schemas.openxmlformats.org/officeDocument/2006/relationships/image" Target="/ppt/media/image8.png" Id="R55d4c8c61da64964" /><Relationship Type="http://schemas.openxmlformats.org/officeDocument/2006/relationships/image" Target="/ppt/media/image9.png" Id="Radc0fc7dd3a642a7" /><Relationship Type="http://schemas.openxmlformats.org/officeDocument/2006/relationships/image" Target="/ppt/media/image10.png" Id="R165ebc4d6c0b4607" /><Relationship Type="http://schemas.openxmlformats.org/officeDocument/2006/relationships/notesSlide" Target="/ppt/notesSlides/notesSlide4.xml" Id="R6a0529419aea4198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1f37a319ec14355" /><Relationship Type="http://schemas.openxmlformats.org/officeDocument/2006/relationships/image" Target="/ppt/media/image.png" Id="Rba5eeaf9294f4c29" /><Relationship Type="http://schemas.openxmlformats.org/officeDocument/2006/relationships/image" Target="/ppt/media/image2.png" Id="R5b15560ddd8e47b4" /><Relationship Type="http://schemas.openxmlformats.org/officeDocument/2006/relationships/notesSlide" Target="/ppt/notesSlides/notesSlide5.xml" Id="R2981dc961ab04991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f06837edce9406a" /><Relationship Type="http://schemas.openxmlformats.org/officeDocument/2006/relationships/image" Target="/ppt/media/image.png" Id="Ref9382825a844ce7" /><Relationship Type="http://schemas.openxmlformats.org/officeDocument/2006/relationships/image" Target="/ppt/media/image2.png" Id="R949d58023c374315" /><Relationship Type="http://schemas.openxmlformats.org/officeDocument/2006/relationships/image" Target="/ppt/media/image3.png" Id="Raa30662146ab4064" /><Relationship Type="http://schemas.openxmlformats.org/officeDocument/2006/relationships/image" Target="/ppt/media/image4.png" Id="R2258d3c5b78e4486" /><Relationship Type="http://schemas.openxmlformats.org/officeDocument/2006/relationships/image" Target="/ppt/media/image5.png" Id="R2585a86d0fc44d36" /><Relationship Type="http://schemas.openxmlformats.org/officeDocument/2006/relationships/image" Target="/ppt/media/image6.png" Id="R88ecccedd4984f4d" /><Relationship Type="http://schemas.openxmlformats.org/officeDocument/2006/relationships/image" Target="/ppt/media/image7.png" Id="Rf2b9ce302c17458c" /><Relationship Type="http://schemas.openxmlformats.org/officeDocument/2006/relationships/image" Target="/ppt/media/image8.png" Id="Rd0e6993403c144ff" /><Relationship Type="http://schemas.openxmlformats.org/officeDocument/2006/relationships/image" Target="/ppt/media/image9.png" Id="R1d4f2ead1d7f4512" /><Relationship Type="http://schemas.openxmlformats.org/officeDocument/2006/relationships/image" Target="/ppt/media/image11.png" Id="Ra5d1115cc744484d" /><Relationship Type="http://schemas.openxmlformats.org/officeDocument/2006/relationships/notesSlide" Target="/ppt/notesSlides/notesSlide6.xml" Id="R0a0f069635084e49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83613a2b25a4320" /><Relationship Type="http://schemas.openxmlformats.org/officeDocument/2006/relationships/image" Target="/ppt/media/image.png" Id="R0ef45a1b9af54cd6" /><Relationship Type="http://schemas.openxmlformats.org/officeDocument/2006/relationships/image" Target="/ppt/media/image2.png" Id="Rd7139cfccb304191" /><Relationship Type="http://schemas.openxmlformats.org/officeDocument/2006/relationships/notesSlide" Target="/ppt/notesSlides/notesSlide7.xml" Id="Rffb22f93e09e4505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39a820acc4f4e49" /><Relationship Type="http://schemas.openxmlformats.org/officeDocument/2006/relationships/image" Target="/ppt/media/image.png" Id="Rc735da054a0b48c4" /><Relationship Type="http://schemas.openxmlformats.org/officeDocument/2006/relationships/image" Target="/ppt/media/image2.png" Id="R2848ddacc7c64774" /><Relationship Type="http://schemas.openxmlformats.org/officeDocument/2006/relationships/image" Target="/ppt/media/image3.png" Id="R5a294352522a4798" /><Relationship Type="http://schemas.openxmlformats.org/officeDocument/2006/relationships/image" Target="/ppt/media/image4.png" Id="R864b6823d2804fd6" /><Relationship Type="http://schemas.openxmlformats.org/officeDocument/2006/relationships/image" Target="/ppt/media/image5.png" Id="R39fc62ab1a90495e" /><Relationship Type="http://schemas.openxmlformats.org/officeDocument/2006/relationships/image" Target="/ppt/media/image6.png" Id="R784a4c1611c84e17" /><Relationship Type="http://schemas.openxmlformats.org/officeDocument/2006/relationships/image" Target="/ppt/media/image7.png" Id="Reddd1fc4c4984f25" /><Relationship Type="http://schemas.openxmlformats.org/officeDocument/2006/relationships/image" Target="/ppt/media/image8.png" Id="Rf5bc748dcedf4fec" /><Relationship Type="http://schemas.openxmlformats.org/officeDocument/2006/relationships/image" Target="/ppt/media/image9.png" Id="R721dd43b74f64cf5" /><Relationship Type="http://schemas.openxmlformats.org/officeDocument/2006/relationships/image" Target="/ppt/media/image12.png" Id="R269c6f40d8ce4d3d" /><Relationship Type="http://schemas.openxmlformats.org/officeDocument/2006/relationships/notesSlide" Target="/ppt/notesSlides/notesSlide8.xml" Id="Ra8856eb35c204f1f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4ea5367f7ab4ce7" /><Relationship Type="http://schemas.openxmlformats.org/officeDocument/2006/relationships/image" Target="/ppt/media/image.png" Id="R412a77ce2d6c4f8e" /><Relationship Type="http://schemas.openxmlformats.org/officeDocument/2006/relationships/image" Target="/ppt/media/image2.png" Id="R6dca11ea966c4cd7" /><Relationship Type="http://schemas.openxmlformats.org/officeDocument/2006/relationships/notesSlide" Target="/ppt/notesSlides/notesSlide9.xml" Id="R57f5ac63114142d5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f2eec850ac84b71" /><Relationship Type="http://schemas.openxmlformats.org/officeDocument/2006/relationships/image" Target="/ppt/media/image.png" Id="R98571ed7ffb64e2c" /><Relationship Type="http://schemas.openxmlformats.org/officeDocument/2006/relationships/image" Target="/ppt/media/image2.png" Id="Rab70c94a864d449f" /><Relationship Type="http://schemas.openxmlformats.org/officeDocument/2006/relationships/image" Target="/ppt/media/image3.png" Id="R56f45f49f25043e4" /><Relationship Type="http://schemas.openxmlformats.org/officeDocument/2006/relationships/image" Target="/ppt/media/image4.png" Id="R9628d5927d6042aa" /><Relationship Type="http://schemas.openxmlformats.org/officeDocument/2006/relationships/image" Target="/ppt/media/image5.png" Id="R8b2c87632eb94902" /><Relationship Type="http://schemas.openxmlformats.org/officeDocument/2006/relationships/image" Target="/ppt/media/image6.png" Id="R5d8d7277a29d4af0" /><Relationship Type="http://schemas.openxmlformats.org/officeDocument/2006/relationships/image" Target="/ppt/media/image7.png" Id="Racdf962fb41b479c" /><Relationship Type="http://schemas.openxmlformats.org/officeDocument/2006/relationships/image" Target="/ppt/media/image8.png" Id="R8715200802cd480e" /><Relationship Type="http://schemas.openxmlformats.org/officeDocument/2006/relationships/image" Target="/ppt/media/image9.png" Id="R7fa38d22863d4efd" /><Relationship Type="http://schemas.openxmlformats.org/officeDocument/2006/relationships/image" Target="/ppt/media/image13.png" Id="R79fa382e1fae477b" /><Relationship Type="http://schemas.openxmlformats.org/officeDocument/2006/relationships/notesSlide" Target="/ppt/notesSlides/notesSlide10.xml" Id="R1f2ae9bcfe964611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93ea2171a7246c0" /><Relationship Type="http://schemas.openxmlformats.org/officeDocument/2006/relationships/image" Target="/ppt/media/image.png" Id="R9dbb35e07c3243eb" /><Relationship Type="http://schemas.openxmlformats.org/officeDocument/2006/relationships/image" Target="/ppt/media/image2.png" Id="Rad15a70dfd6041f7" /><Relationship Type="http://schemas.openxmlformats.org/officeDocument/2006/relationships/notesSlide" Target="/ppt/notesSlides/notesSlide11.xml" Id="R54b3f8ce3aa04712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248e228decc457a" /><Relationship Type="http://schemas.openxmlformats.org/officeDocument/2006/relationships/image" Target="/ppt/media/image.png" Id="Ra4e1e74a98e04e4f" /><Relationship Type="http://schemas.openxmlformats.org/officeDocument/2006/relationships/image" Target="/ppt/media/image2.png" Id="R85f9b99aa40f44c9" /><Relationship Type="http://schemas.openxmlformats.org/officeDocument/2006/relationships/notesSlide" Target="/ppt/notesSlides/notesSlide12.xml" Id="Red3d119349294205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ccdc4584c7742df" /><Relationship Type="http://schemas.openxmlformats.org/officeDocument/2006/relationships/image" Target="/ppt/media/image.png" Id="R40b08ef1375a43c9" /><Relationship Type="http://schemas.openxmlformats.org/officeDocument/2006/relationships/image" Target="/ppt/media/image2.png" Id="R590eb92cdea8438d" /><Relationship Type="http://schemas.openxmlformats.org/officeDocument/2006/relationships/image" Target="/ppt/media/image3.png" Id="R6924e55e381a491c" /><Relationship Type="http://schemas.openxmlformats.org/officeDocument/2006/relationships/image" Target="/ppt/media/image4.png" Id="Rc290cb0d67dc4d8b" /><Relationship Type="http://schemas.openxmlformats.org/officeDocument/2006/relationships/image" Target="/ppt/media/image5.png" Id="R6cc73f4ae18f4352" /><Relationship Type="http://schemas.openxmlformats.org/officeDocument/2006/relationships/image" Target="/ppt/media/image6.png" Id="Rf406aac30c78439f" /><Relationship Type="http://schemas.openxmlformats.org/officeDocument/2006/relationships/image" Target="/ppt/media/image7.png" Id="Rda1908e9a72b48a2" /><Relationship Type="http://schemas.openxmlformats.org/officeDocument/2006/relationships/image" Target="/ppt/media/image8.png" Id="R52bf0ea7f64f47be" /><Relationship Type="http://schemas.openxmlformats.org/officeDocument/2006/relationships/image" Target="/ppt/media/image9.png" Id="R5fec7cf319dc4f7d" /><Relationship Type="http://schemas.openxmlformats.org/officeDocument/2006/relationships/image" Target="/ppt/media/image2.jpeg" Id="R77c1736fab8f4df1" /><Relationship Type="http://schemas.openxmlformats.org/officeDocument/2006/relationships/notesSlide" Target="/ppt/notesSlides/notesSlide13.xml" Id="Rd6b54b87ba2f4765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9ceb28939d046cd" /><Relationship Type="http://schemas.openxmlformats.org/officeDocument/2006/relationships/image" Target="/ppt/media/image.png" Id="R234de468efb34ad4" /><Relationship Type="http://schemas.openxmlformats.org/officeDocument/2006/relationships/image" Target="/ppt/media/image2.png" Id="R606704a2d94948c4" /><Relationship Type="http://schemas.openxmlformats.org/officeDocument/2006/relationships/notesSlide" Target="/ppt/notesSlides/notesSlide14.xml" Id="Ra3a0d14b7aa044d4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cfd987489e447aa" /><Relationship Type="http://schemas.openxmlformats.org/officeDocument/2006/relationships/image" Target="/ppt/media/image.png" Id="R682107c9f8794901" /><Relationship Type="http://schemas.openxmlformats.org/officeDocument/2006/relationships/image" Target="/ppt/media/image2.png" Id="Rc7cb11ba2dce4435" /><Relationship Type="http://schemas.openxmlformats.org/officeDocument/2006/relationships/image" Target="/ppt/media/image14.png" Id="R53f13fd4f2bf4781" /><Relationship Type="http://schemas.openxmlformats.org/officeDocument/2006/relationships/notesSlide" Target="/ppt/notesSlides/notesSlide15.xml" Id="Ra48d781616d94d5a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b9876217ab04f49" /><Relationship Type="http://schemas.openxmlformats.org/officeDocument/2006/relationships/image" Target="/ppt/media/image.png" Id="R662ad243d86a425c" /><Relationship Type="http://schemas.openxmlformats.org/officeDocument/2006/relationships/image" Target="/ppt/media/image2.png" Id="R14cf8ed326bc4b15" /><Relationship Type="http://schemas.openxmlformats.org/officeDocument/2006/relationships/image" Target="/ppt/media/image15.png" Id="R6df85480159d4001" /><Relationship Type="http://schemas.openxmlformats.org/officeDocument/2006/relationships/notesSlide" Target="/ppt/notesSlides/notesSlide16.xml" Id="Rf720dcbf44ec4c9b" /></Relationships>
</file>

<file path=ppt/slides/slide1.xml><?xml version="1.0" encoding="utf-8"?>
<p:sld xmlns:p="http://schemas.openxmlformats.org/presentationml/2006/main">
  <p:cSld>
    <p:bg>
      <p:bgPr>
        <a:blipFill xmlns:a="http://schemas.openxmlformats.org/drawingml/2006/main" rotWithShape="1">
          <a:blip xmlns:r="http://schemas.openxmlformats.org/officeDocument/2006/relationships" r:embed="R623470dceb964847">
            <a:lum/>
          </a:blip>
          <a:srcRect l="0" t="0" r="0" b="0"/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4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3aaafc4e034482a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74320" y="228600"/>
            <a:ext cx="914400" cy="603504"/>
          </a:xfrm>
          <a:prstGeom xmlns:a="http://schemas.openxmlformats.org/drawingml/2006/main" prst="rect">
            <a:avLst/>
          </a:prstGeom>
        </p:spPr>
      </p:pic>
      <p:pic>
        <p:nvPicPr>
          <p:cNvPr id="15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d1c0255e80344a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881360" y="246888"/>
            <a:ext cx="1005840" cy="512064"/>
          </a:xfrm>
          <a:prstGeom xmlns:a="http://schemas.openxmlformats.org/drawingml/2006/main" prst="rect">
            <a:avLst/>
          </a:prstGeom>
        </p:spPr>
      </p:pic>
      <p:sp>
        <p:nvSpPr>
          <p:cNvPr id="4" name="Text 0">
            <a:extLst xmlns:a="http://schemas.openxmlformats.org/drawingml/2006/main">
              <a:ext uri="{FF2B5EF4-FFF2-40B4-BE49-F238E27FC236}">
                <a16:creationId xmlns:a16="http://schemas.microsoft.com/office/drawing/2014/main" id="{EB3A33CB-4705-4445-9617-C791C63C8A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468880"/>
            <a:ext cx="1124712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 b="1" spc="400">
                <a:solidFill>
                  <a:srgbClr val="FFE0B2"/>
                </a:solidFill>
                <a:latin typeface="Calibri"/>
                <a:ea typeface="Calibri"/>
                <a:cs typeface="Calibri"/>
              </a:rPr>
              <a:t>COMP6991031   |   PRAKTIKUM 5   |   100 MENIT</a:t>
            </a:r>
            <a:endParaRPr sz="1400"/>
          </a:p>
        </p:txBody>
      </p:sp>
      <p:sp>
        <p:nvSpPr>
          <p:cNvPr id="5" name="Text 1">
            <a:extLst xmlns:a="http://schemas.openxmlformats.org/drawingml/2006/main">
              <a:ext uri="{FF2B5EF4-FFF2-40B4-BE49-F238E27FC236}">
                <a16:creationId xmlns:a16="http://schemas.microsoft.com/office/drawing/2014/main" id="{AB8B2153-73AC-44A1-BE19-CDB6C385AC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788920"/>
            <a:ext cx="11247120" cy="7772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50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DOCKER CORE</a:t>
            </a:r>
            <a:endParaRPr sz="5000"/>
          </a:p>
        </p:txBody>
      </p:sp>
      <p:sp>
        <p:nvSpPr>
          <p:cNvPr id="6" name="Text 2">
            <a:extLst xmlns:a="http://schemas.openxmlformats.org/drawingml/2006/main">
              <a:ext uri="{FF2B5EF4-FFF2-40B4-BE49-F238E27FC236}">
                <a16:creationId xmlns:a16="http://schemas.microsoft.com/office/drawing/2014/main" id="{126AAB39-848A-45E8-B04D-BA3D1652E9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611880"/>
            <a:ext cx="1124712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800" b="1">
                <a:solidFill>
                  <a:srgbClr val="FFE0B2"/>
                </a:solidFill>
                <a:latin typeface="Calibri"/>
                <a:ea typeface="Calibri"/>
                <a:cs typeface="Calibri"/>
              </a:rPr>
              <a:t>FASTAPI + MULTI-STAGE</a:t>
            </a:r>
            <a:endParaRPr sz="2800"/>
          </a:p>
        </p:txBody>
      </p:sp>
      <p:sp>
        <p:nvSpPr>
          <p:cNvPr id="7" name="Text 3">
            <a:extLst xmlns:a="http://schemas.openxmlformats.org/drawingml/2006/main">
              <a:ext uri="{FF2B5EF4-FFF2-40B4-BE49-F238E27FC236}">
                <a16:creationId xmlns:a16="http://schemas.microsoft.com/office/drawing/2014/main" id="{4455B81B-64B5-4355-898D-FA1C40A92C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251960"/>
            <a:ext cx="1124712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6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Build image Cloud Notes, uji API, dan telusuri lifecycle data</a:t>
            </a:r>
            <a:endParaRPr sz="1600"/>
          </a:p>
        </p:txBody>
      </p:sp>
      <p:sp>
        <p:nvSpPr>
          <p:cNvPr id="8" name="Shape 4">
            <a:extLst xmlns:a="http://schemas.openxmlformats.org/drawingml/2006/main">
              <a:ext uri="{FF2B5EF4-FFF2-40B4-BE49-F238E27FC236}">
                <a16:creationId xmlns:a16="http://schemas.microsoft.com/office/drawing/2014/main" id="{1A619083-44DA-45EF-8350-42963B0696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4800600"/>
            <a:ext cx="731520" cy="5486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9" name="Text 5">
            <a:extLst xmlns:a="http://schemas.openxmlformats.org/drawingml/2006/main">
              <a:ext uri="{FF2B5EF4-FFF2-40B4-BE49-F238E27FC236}">
                <a16:creationId xmlns:a16="http://schemas.microsoft.com/office/drawing/2014/main" id="{A5EFED3E-8134-4973-85D9-874865EEF1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937760"/>
            <a:ext cx="1124712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i="1" spc="300">
                <a:solidFill>
                  <a:srgbClr val="FFE0B2"/>
                </a:solidFill>
                <a:latin typeface="Calibri"/>
                <a:ea typeface="Calibri"/>
                <a:cs typeface="Calibri"/>
              </a:rPr>
              <a:t>PERTEMUAN 5  |  DOCKER CORE CONCEPTS</a:t>
            </a:r>
            <a:endParaRPr sz="1200"/>
          </a:p>
        </p:txBody>
      </p:sp>
      <p:sp>
        <p:nvSpPr>
          <p:cNvPr id="10" name="Text 6">
            <a:extLst xmlns:a="http://schemas.openxmlformats.org/drawingml/2006/main">
              <a:ext uri="{FF2B5EF4-FFF2-40B4-BE49-F238E27FC236}">
                <a16:creationId xmlns:a16="http://schemas.microsoft.com/office/drawing/2014/main" id="{1ACB22E1-DA1A-456A-905B-0EFF744051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943600"/>
            <a:ext cx="1124712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Budi Juarto, S.T., M.Kom.</a:t>
            </a:r>
            <a:endParaRPr sz="1300"/>
          </a:p>
        </p:txBody>
      </p:sp>
      <p:sp>
        <p:nvSpPr>
          <p:cNvPr id="11" name="Text 7">
            <a:extLst xmlns:a="http://schemas.openxmlformats.org/drawingml/2006/main">
              <a:ext uri="{FF2B5EF4-FFF2-40B4-BE49-F238E27FC236}">
                <a16:creationId xmlns:a16="http://schemas.microsoft.com/office/drawing/2014/main" id="{3A63B8D2-B10F-4FDA-9786-A40A8B176F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217920"/>
            <a:ext cx="1124712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00" i="1">
                <a:solidFill>
                  <a:srgbClr val="FFE0B2"/>
                </a:solidFill>
                <a:latin typeface="Calibri"/>
                <a:ea typeface="Calibri"/>
                <a:cs typeface="Calibri"/>
              </a:rPr>
              <a:t>Departemen Informatika  -  BINUS @Bandung</a:t>
            </a:r>
            <a:endParaRPr sz="1100"/>
          </a:p>
        </p:txBody>
      </p:sp>
    </p:spTree>
    <p:extLst>
      <p:ext uri="{BB962C8B-B14F-4D97-AF65-F5344CB8AC3E}">
        <p14:creationId xmlns:p14="http://schemas.microsoft.com/office/powerpoint/2010/main" val="1789263868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869FE07F-88ED-4D39-AC9D-079276589D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92240"/>
            <a:ext cx="7315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BINUS UNIVERSITY  |  Cloud Services  |  Praktikum 5</a:t>
            </a:r>
            <a:endParaRPr sz="9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69BDD486-6E06-4062-93B6-D5A34A8ADB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47120" y="6492240"/>
            <a:ext cx="457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 b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2</a:t>
            </a:r>
            <a:endParaRPr sz="90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5EB4A402-1677-4C6C-970A-13E5E6BCCD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46520"/>
            <a:ext cx="228600" cy="365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pic>
        <p:nvPicPr>
          <p:cNvPr id="43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7cf6e3da0d2437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74320" y="164592"/>
            <a:ext cx="914400" cy="603504"/>
          </a:xfrm>
          <a:prstGeom xmlns:a="http://schemas.openxmlformats.org/drawingml/2006/main" prst="rect">
            <a:avLst/>
          </a:prstGeom>
        </p:spPr>
      </p:pic>
      <p:pic>
        <p:nvPicPr>
          <p:cNvPr id="44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8e85556b0f1415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881360" y="182880"/>
            <a:ext cx="1005840" cy="512064"/>
          </a:xfrm>
          <a:prstGeom xmlns:a="http://schemas.openxmlformats.org/drawingml/2006/main" prst="rect">
            <a:avLst/>
          </a:prstGeom>
        </p:spPr>
      </p:pic>
      <p:sp>
        <p:nvSpPr>
          <p:cNvPr id="7" name="Shape 3">
            <a:extLst xmlns:a="http://schemas.openxmlformats.org/drawingml/2006/main">
              <a:ext uri="{FF2B5EF4-FFF2-40B4-BE49-F238E27FC236}">
                <a16:creationId xmlns:a16="http://schemas.microsoft.com/office/drawing/2014/main" id="{F4649277-D877-4876-9011-770B74804E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868680"/>
            <a:ext cx="1124712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8" name="Text 4">
            <a:extLst xmlns:a="http://schemas.openxmlformats.org/drawingml/2006/main">
              <a:ext uri="{FF2B5EF4-FFF2-40B4-BE49-F238E27FC236}">
                <a16:creationId xmlns:a16="http://schemas.microsoft.com/office/drawing/2014/main" id="{BD1D7C52-0726-4A7D-B531-0C46BB82AF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1680" y="182880"/>
            <a:ext cx="81381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200" b="1">
                <a:solidFill>
                  <a:srgbClr val="1976D2"/>
                </a:solidFill>
                <a:latin typeface="Calibri"/>
                <a:ea typeface="Calibri"/>
                <a:cs typeface="Calibri"/>
              </a:rPr>
              <a:t>Alur praktik Lab 05</a:t>
            </a:r>
            <a:endParaRPr sz="2200"/>
          </a:p>
        </p:txBody>
      </p:sp>
      <p:sp>
        <p:nvSpPr>
          <p:cNvPr id="9" name="Text 5">
            <a:extLst xmlns:a="http://schemas.openxmlformats.org/drawingml/2006/main">
              <a:ext uri="{FF2B5EF4-FFF2-40B4-BE49-F238E27FC236}">
                <a16:creationId xmlns:a16="http://schemas.microsoft.com/office/drawing/2014/main" id="{F91B9C26-BAE2-41B7-8FBA-34339A9D8C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60120"/>
            <a:ext cx="1124712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Dari Dockerfile ke API yang dapat diuji lewat browser dan terminal</a:t>
            </a:r>
            <a:endParaRPr sz="1200"/>
          </a:p>
        </p:txBody>
      </p:sp>
      <p:sp>
        <p:nvSpPr>
          <p:cNvPr id="10" name="Shape 6">
            <a:extLst xmlns:a="http://schemas.openxmlformats.org/drawingml/2006/main">
              <a:ext uri="{FF2B5EF4-FFF2-40B4-BE49-F238E27FC236}">
                <a16:creationId xmlns:a16="http://schemas.microsoft.com/office/drawing/2014/main" id="{6590E0DC-A4D5-44A2-91B3-3FFE185253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5577840" cy="47548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11" name="Text 7">
            <a:extLst xmlns:a="http://schemas.openxmlformats.org/drawingml/2006/main">
              <a:ext uri="{FF2B5EF4-FFF2-40B4-BE49-F238E27FC236}">
                <a16:creationId xmlns:a16="http://schemas.microsoft.com/office/drawing/2014/main" id="{779FC736-2B97-468D-8B75-B0D9CD4CBC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00200"/>
            <a:ext cx="5120640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 spc="300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PRAKTIK INTI</a:t>
            </a:r>
          </a:p>
          <a:p xmlns:a="http://schemas.openxmlformats.org/drawingml/2006/main">
            <a:pPr marL="0" indent="0">
              <a:buNone/>
            </a:pPr>
            <a:endParaRPr sz="1100" b="1" kern="0" spc="300">
              <a:solidFill>
                <a:srgbClr val="F37021"/>
              </a:solidFill>
              <a:latin typeface="Calibri"/>
              <a:ea typeface="Calibri"/>
              <a:cs typeface="Calibri"/>
            </a:endParaRPr>
          </a:p>
          <a:p xmlns:a="http://schemas.openxmlformats.org/drawingml/2006/main">
            <a:pPr marL="0" indent="0">
              <a:buNone/>
            </a:pPr>
            <a:r>
              <a:rPr sz="1100" b="1" spc="300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Kode yang tersedia</a:t>
            </a:r>
            <a:endParaRPr sz="1100"/>
          </a:p>
        </p:txBody>
      </p:sp>
      <p:pic>
        <p:nvPicPr>
          <p:cNvPr id="50" name="Image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45352294bcd45b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2697480"/>
            <a:ext cx="292608" cy="292608"/>
          </a:xfrm>
          <a:prstGeom xmlns:a="http://schemas.openxmlformats.org/drawingml/2006/main" prst="rect">
            <a:avLst/>
          </a:prstGeom>
        </p:spPr>
      </p:pic>
      <p:sp>
        <p:nvSpPr>
          <p:cNvPr id="13" name="Text 8">
            <a:extLst xmlns:a="http://schemas.openxmlformats.org/drawingml/2006/main">
              <a:ext uri="{FF2B5EF4-FFF2-40B4-BE49-F238E27FC236}">
                <a16:creationId xmlns:a16="http://schemas.microsoft.com/office/drawing/2014/main" id="{86B6925A-39DB-4536-9A55-A1C1B20759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7008" y="2606040"/>
            <a:ext cx="47091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6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Baca Dockerfile Python multi-stage</a:t>
            </a:r>
            <a:endParaRPr sz="1600"/>
          </a:p>
        </p:txBody>
      </p:sp>
      <p:pic>
        <p:nvPicPr>
          <p:cNvPr id="52" name="Image 3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4ea8868ffaf449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3200400"/>
            <a:ext cx="292608" cy="292608"/>
          </a:xfrm>
          <a:prstGeom xmlns:a="http://schemas.openxmlformats.org/drawingml/2006/main" prst="rect">
            <a:avLst/>
          </a:prstGeom>
        </p:spPr>
      </p:pic>
      <p:sp>
        <p:nvSpPr>
          <p:cNvPr id="15" name="Text 9">
            <a:extLst xmlns:a="http://schemas.openxmlformats.org/drawingml/2006/main">
              <a:ext uri="{FF2B5EF4-FFF2-40B4-BE49-F238E27FC236}">
                <a16:creationId xmlns:a16="http://schemas.microsoft.com/office/drawing/2014/main" id="{5D5F61E1-4B11-4E84-9D29-C5C14F2818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7008" y="3108960"/>
            <a:ext cx="47091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6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Build image bertag lab05</a:t>
            </a:r>
            <a:endParaRPr sz="1600"/>
          </a:p>
        </p:txBody>
      </p:sp>
      <p:pic>
        <p:nvPicPr>
          <p:cNvPr id="54" name="Image 4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e128c76631b404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3703320"/>
            <a:ext cx="292608" cy="292608"/>
          </a:xfrm>
          <a:prstGeom xmlns:a="http://schemas.openxmlformats.org/drawingml/2006/main" prst="rect">
            <a:avLst/>
          </a:prstGeom>
        </p:spPr>
      </p:pic>
      <p:sp>
        <p:nvSpPr>
          <p:cNvPr id="17" name="Text 10">
            <a:extLst xmlns:a="http://schemas.openxmlformats.org/drawingml/2006/main">
              <a:ext uri="{FF2B5EF4-FFF2-40B4-BE49-F238E27FC236}">
                <a16:creationId xmlns:a16="http://schemas.microsoft.com/office/drawing/2014/main" id="{B41D8ED0-4E77-4D16-8F73-1555ED3915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7008" y="3611880"/>
            <a:ext cx="47091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6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Run APP_ENV pada port 8000</a:t>
            </a:r>
            <a:endParaRPr sz="1600"/>
          </a:p>
        </p:txBody>
      </p:sp>
      <p:pic>
        <p:nvPicPr>
          <p:cNvPr id="56" name="Image 5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9d4093199294b2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4206240"/>
            <a:ext cx="292608" cy="292608"/>
          </a:xfrm>
          <a:prstGeom xmlns:a="http://schemas.openxmlformats.org/drawingml/2006/main" prst="rect">
            <a:avLst/>
          </a:prstGeom>
        </p:spPr>
      </p:pic>
      <p:sp>
        <p:nvSpPr>
          <p:cNvPr id="19" name="Text 11">
            <a:extLst xmlns:a="http://schemas.openxmlformats.org/drawingml/2006/main">
              <a:ext uri="{FF2B5EF4-FFF2-40B4-BE49-F238E27FC236}">
                <a16:creationId xmlns:a16="http://schemas.microsoft.com/office/drawing/2014/main" id="{4B0AE282-002D-4B7F-879F-C936CD8B0A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7008" y="4114800"/>
            <a:ext cx="47091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6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Periksa user runtime non-root</a:t>
            </a:r>
            <a:endParaRPr sz="1600"/>
          </a:p>
        </p:txBody>
      </p:sp>
      <p:pic>
        <p:nvPicPr>
          <p:cNvPr id="58" name="Image 6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fc88266e56248f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4709160"/>
            <a:ext cx="292608" cy="292608"/>
          </a:xfrm>
          <a:prstGeom xmlns:a="http://schemas.openxmlformats.org/drawingml/2006/main" prst="rect">
            <a:avLst/>
          </a:prstGeom>
        </p:spPr>
      </p:pic>
      <p:sp>
        <p:nvSpPr>
          <p:cNvPr id="21" name="Text 12">
            <a:extLst xmlns:a="http://schemas.openxmlformats.org/drawingml/2006/main">
              <a:ext uri="{FF2B5EF4-FFF2-40B4-BE49-F238E27FC236}">
                <a16:creationId xmlns:a16="http://schemas.microsoft.com/office/drawing/2014/main" id="{2D58D558-B7DD-4261-A5E4-5DCBD042A5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7008" y="4617720"/>
            <a:ext cx="47091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6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Uji health, POST/GET, HTTP 422</a:t>
            </a:r>
            <a:endParaRPr sz="1600"/>
          </a:p>
        </p:txBody>
      </p:sp>
      <p:pic>
        <p:nvPicPr>
          <p:cNvPr id="60" name="Image 7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8561233c82b453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5212080"/>
            <a:ext cx="292608" cy="292608"/>
          </a:xfrm>
          <a:prstGeom xmlns:a="http://schemas.openxmlformats.org/drawingml/2006/main" prst="rect">
            <a:avLst/>
          </a:prstGeom>
        </p:spPr>
      </p:pic>
      <p:sp>
        <p:nvSpPr>
          <p:cNvPr id="23" name="Text 13">
            <a:extLst xmlns:a="http://schemas.openxmlformats.org/drawingml/2006/main">
              <a:ext uri="{FF2B5EF4-FFF2-40B4-BE49-F238E27FC236}">
                <a16:creationId xmlns:a16="http://schemas.microsoft.com/office/drawing/2014/main" id="{EEFC70BE-F5D5-4AC2-837B-73EF71E1B5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7008" y="5120640"/>
            <a:ext cx="47091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6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Buktikan data memori hilang</a:t>
            </a:r>
            <a:endParaRPr sz="1600"/>
          </a:p>
        </p:txBody>
      </p:sp>
      <p:pic>
        <p:nvPicPr>
          <p:cNvPr id="62" name="Image 8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11588ce9414432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5715000"/>
            <a:ext cx="292608" cy="292608"/>
          </a:xfrm>
          <a:prstGeom xmlns:a="http://schemas.openxmlformats.org/drawingml/2006/main" prst="rect">
            <a:avLst/>
          </a:prstGeom>
        </p:spPr>
      </p:pic>
      <p:sp>
        <p:nvSpPr>
          <p:cNvPr id="25" name="Text 14">
            <a:extLst xmlns:a="http://schemas.openxmlformats.org/drawingml/2006/main">
              <a:ext uri="{FF2B5EF4-FFF2-40B4-BE49-F238E27FC236}">
                <a16:creationId xmlns:a16="http://schemas.microsoft.com/office/drawing/2014/main" id="{01C8E575-3178-46DF-AF38-E8FAE8D4C2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7008" y="5623560"/>
            <a:ext cx="47091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6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Selesaikan GET /stats dan Git</a:t>
            </a:r>
            <a:endParaRPr sz="1600"/>
          </a:p>
        </p:txBody>
      </p:sp>
      <p:sp>
        <p:nvSpPr>
          <p:cNvPr id="26" name="Shape 15">
            <a:extLst xmlns:a="http://schemas.openxmlformats.org/drawingml/2006/main">
              <a:ext uri="{FF2B5EF4-FFF2-40B4-BE49-F238E27FC236}">
                <a16:creationId xmlns:a16="http://schemas.microsoft.com/office/drawing/2014/main" id="{246E86C9-99AA-46FB-A204-8BB77A0E82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0" y="1417320"/>
            <a:ext cx="5486400" cy="47548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677"/>
          </a:solidFill>
          <a:ln xmlns:a="http://schemas.openxmlformats.org/drawingml/2006/main" w="12700">
            <a:solidFill>
              <a:srgbClr val="002677"/>
            </a:solidFill>
            <a:prstDash val="solid"/>
          </a:ln>
        </p:spPr>
      </p:sp>
      <p:sp>
        <p:nvSpPr>
          <p:cNvPr id="27" name="Text 16">
            <a:extLst xmlns:a="http://schemas.openxmlformats.org/drawingml/2006/main">
              <a:ext uri="{FF2B5EF4-FFF2-40B4-BE49-F238E27FC236}">
                <a16:creationId xmlns:a16="http://schemas.microsoft.com/office/drawing/2014/main" id="{CBB25012-0874-4247-921F-E86D30DED5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520" y="1600200"/>
            <a:ext cx="5120640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 spc="300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BUKTI YANG DIKUMPULKAN</a:t>
            </a:r>
          </a:p>
          <a:p xmlns:a="http://schemas.openxmlformats.org/drawingml/2006/main">
            <a:pPr marL="0" indent="0">
              <a:buNone/>
            </a:pPr>
            <a:endParaRPr sz="1100" b="1" kern="0" spc="300">
              <a:solidFill>
                <a:srgbClr val="F37021"/>
              </a:solidFill>
              <a:latin typeface="Calibri"/>
              <a:ea typeface="Calibri"/>
              <a:cs typeface="Calibri"/>
            </a:endParaRPr>
          </a:p>
          <a:p xmlns:a="http://schemas.openxmlformats.org/drawingml/2006/main">
            <a:pPr marL="0" indent="0">
              <a:buNone/>
            </a:pPr>
            <a:r>
              <a:rPr sz="1100" b="1" spc="300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Hasil mesin sendiri</a:t>
            </a:r>
            <a:endParaRPr sz="1100"/>
          </a:p>
        </p:txBody>
      </p:sp>
      <p:sp>
        <p:nvSpPr>
          <p:cNvPr id="28" name="Text 17">
            <a:extLst xmlns:a="http://schemas.openxmlformats.org/drawingml/2006/main">
              <a:ext uri="{FF2B5EF4-FFF2-40B4-BE49-F238E27FC236}">
                <a16:creationId xmlns:a16="http://schemas.microsoft.com/office/drawing/2014/main" id="{BD19F59B-62C8-423B-97A1-D7B027B9EA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520" y="2606040"/>
            <a:ext cx="5029200" cy="2743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spcAft>
                <a:spcPts val="600"/>
              </a:spcAft>
              <a:buNone/>
            </a:pPr>
            <a:r>
              <a:rPr sz="17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1. Dockerfile dan source API</a:t>
            </a:r>
          </a:p>
          <a:p xmlns:a="http://schemas.openxmlformats.org/drawingml/2006/main">
            <a:pPr marL="0" indent="0">
              <a:spcAft>
                <a:spcPts val="600"/>
              </a:spcAft>
              <a:buNone/>
            </a:pPr>
            <a:r>
              <a:rPr sz="17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2. Bukti build, OpenAPI, HTTP</a:t>
            </a:r>
          </a:p>
          <a:p xmlns:a="http://schemas.openxmlformats.org/drawingml/2006/main">
            <a:pPr marL="0" indent="0">
              <a:spcAft>
                <a:spcPts val="600"/>
              </a:spcAft>
              <a:buNone/>
            </a:pPr>
            <a:r>
              <a:rPr sz="17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3. Kunci GET /stats pada salinan sendiri</a:t>
            </a:r>
          </a:p>
          <a:p xmlns:a="http://schemas.openxmlformats.org/drawingml/2006/main">
            <a:pPr marL="0" indent="0">
              <a:spcAft>
                <a:spcPts val="600"/>
              </a:spcAft>
              <a:buNone/>
            </a:pPr>
            <a:r>
              <a:rPr sz="17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4. Commit Git tanpa secret</a:t>
            </a:r>
            <a:endParaRPr sz="1700"/>
          </a:p>
        </p:txBody>
      </p:sp>
      <p:sp>
        <p:nvSpPr>
          <p:cNvPr id="29" name="Shape 18">
            <a:extLst xmlns:a="http://schemas.openxmlformats.org/drawingml/2006/main">
              <a:ext uri="{FF2B5EF4-FFF2-40B4-BE49-F238E27FC236}">
                <a16:creationId xmlns:a16="http://schemas.microsoft.com/office/drawing/2014/main" id="{E132022B-6119-482D-AF2A-1365907D17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520" y="5349240"/>
            <a:ext cx="5029200" cy="7315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30" name="Text 19">
            <a:extLst xmlns:a="http://schemas.openxmlformats.org/drawingml/2006/main">
              <a:ext uri="{FF2B5EF4-FFF2-40B4-BE49-F238E27FC236}">
                <a16:creationId xmlns:a16="http://schemas.microsoft.com/office/drawing/2014/main" id="{DF93B20C-F443-4ADA-9B8B-9AC1710BA7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520" y="5349240"/>
            <a:ext cx="5029200" cy="7315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600" i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Ikuti modul mahasiswa untuk perintah lengkap</a:t>
            </a:r>
            <a:endParaRPr sz="1600"/>
          </a:p>
        </p:txBody>
      </p:sp>
    </p:spTree>
    <p:extLst>
      <p:ext uri="{BB962C8B-B14F-4D97-AF65-F5344CB8AC3E}">
        <p14:creationId xmlns:p14="http://schemas.microsoft.com/office/powerpoint/2010/main" val="2100473917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FFE68F81-4685-41BF-BAE8-CE6F307A64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92240"/>
            <a:ext cx="7315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BINUS UNIVERSITY  |  Cloud Services  |  Praktikum 5</a:t>
            </a:r>
            <a:endParaRPr sz="9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DC9F44A9-6F70-4131-AA8B-399DB4CB1C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47120" y="6492240"/>
            <a:ext cx="457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 b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3</a:t>
            </a:r>
            <a:endParaRPr sz="90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E67CEE96-39AA-4AF9-8BA7-F39FCFE6ED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46520"/>
            <a:ext cx="228600" cy="365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pic>
        <p:nvPicPr>
          <p:cNvPr id="29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b9a18f427104fd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74320" y="164592"/>
            <a:ext cx="914400" cy="603504"/>
          </a:xfrm>
          <a:prstGeom xmlns:a="http://schemas.openxmlformats.org/drawingml/2006/main" prst="rect">
            <a:avLst/>
          </a:prstGeom>
        </p:spPr>
      </p:pic>
      <p:pic>
        <p:nvPicPr>
          <p:cNvPr id="30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0eaa7ee8d3742d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881360" y="182880"/>
            <a:ext cx="1005840" cy="512064"/>
          </a:xfrm>
          <a:prstGeom xmlns:a="http://schemas.openxmlformats.org/drawingml/2006/main" prst="rect">
            <a:avLst/>
          </a:prstGeom>
        </p:spPr>
      </p:pic>
      <p:sp>
        <p:nvSpPr>
          <p:cNvPr id="7" name="Shape 3">
            <a:extLst xmlns:a="http://schemas.openxmlformats.org/drawingml/2006/main">
              <a:ext uri="{FF2B5EF4-FFF2-40B4-BE49-F238E27FC236}">
                <a16:creationId xmlns:a16="http://schemas.microsoft.com/office/drawing/2014/main" id="{F238B35C-BE05-428F-89FF-9AA7F06051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868680"/>
            <a:ext cx="1124712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8" name="Text 4">
            <a:extLst xmlns:a="http://schemas.openxmlformats.org/drawingml/2006/main">
              <a:ext uri="{FF2B5EF4-FFF2-40B4-BE49-F238E27FC236}">
                <a16:creationId xmlns:a16="http://schemas.microsoft.com/office/drawing/2014/main" id="{8A1DC5C6-93A1-45F1-96E6-2880F52940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1680" y="182880"/>
            <a:ext cx="81381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200" b="1">
                <a:solidFill>
                  <a:srgbClr val="1976D2"/>
                </a:solidFill>
                <a:latin typeface="Calibri"/>
                <a:ea typeface="Calibri"/>
                <a:cs typeface="Calibri"/>
              </a:rPr>
              <a:t>1 | Baca Dockerfile dan build image</a:t>
            </a:r>
            <a:endParaRPr sz="2200"/>
          </a:p>
        </p:txBody>
      </p:sp>
      <p:sp>
        <p:nvSpPr>
          <p:cNvPr id="9" name="Text 5">
            <a:extLst xmlns:a="http://schemas.openxmlformats.org/drawingml/2006/main">
              <a:ext uri="{FF2B5EF4-FFF2-40B4-BE49-F238E27FC236}">
                <a16:creationId xmlns:a16="http://schemas.microsoft.com/office/drawing/2014/main" id="{80E7BCE2-D60F-4CAF-ABF8-732A733FE0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60120"/>
            <a:ext cx="1124712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Dari root repo Lab 05; Bash memakai perintah satu baris</a:t>
            </a:r>
            <a:endParaRPr sz="1200"/>
          </a:p>
        </p:txBody>
      </p:sp>
      <p:sp>
        <p:nvSpPr>
          <p:cNvPr id="10" name="Shape 6">
            <a:extLst xmlns:a="http://schemas.openxmlformats.org/drawingml/2006/main">
              <a:ext uri="{FF2B5EF4-FFF2-40B4-BE49-F238E27FC236}">
                <a16:creationId xmlns:a16="http://schemas.microsoft.com/office/drawing/2014/main" id="{92277443-1F79-4341-A7AB-AEBDE32935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5577840" cy="47548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93B"/>
          </a:solidFill>
          <a:ln xmlns:a="http://schemas.openxmlformats.org/drawingml/2006/main" w="12700">
            <a:solidFill>
              <a:srgbClr val="0F172A"/>
            </a:solidFill>
            <a:prstDash val="solid"/>
          </a:ln>
        </p:spPr>
      </p:sp>
      <p:sp>
        <p:nvSpPr>
          <p:cNvPr id="11" name="Shape 7">
            <a:extLst xmlns:a="http://schemas.openxmlformats.org/drawingml/2006/main">
              <a:ext uri="{FF2B5EF4-FFF2-40B4-BE49-F238E27FC236}">
                <a16:creationId xmlns:a16="http://schemas.microsoft.com/office/drawing/2014/main" id="{8404D7E8-5F15-4D7A-B54D-2DA7AF58DA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5577840" cy="2743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172A"/>
          </a:solidFill>
          <a:ln xmlns:a="http://schemas.openxmlformats.org/drawingml/2006/main" w="12700">
            <a:solidFill>
              <a:srgbClr val="0F172A"/>
            </a:solidFill>
            <a:prstDash val="solid"/>
          </a:ln>
        </p:spPr>
      </p:sp>
      <p:sp>
        <p:nvSpPr>
          <p:cNvPr id="12" name="Shape 8">
            <a:extLst xmlns:a="http://schemas.openxmlformats.org/drawingml/2006/main">
              <a:ext uri="{FF2B5EF4-FFF2-40B4-BE49-F238E27FC236}">
                <a16:creationId xmlns:a16="http://schemas.microsoft.com/office/drawing/2014/main" id="{F833F66E-040D-4440-9BD3-7CAB5D9C6E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F4444"/>
          </a:solidFill>
          <a:ln xmlns:a="http://schemas.openxmlformats.org/drawingml/2006/main" w="12700">
            <a:solidFill>
              <a:srgbClr val="EF4444"/>
            </a:solidFill>
            <a:prstDash val="solid"/>
          </a:ln>
        </p:spPr>
      </p:sp>
      <p:sp>
        <p:nvSpPr>
          <p:cNvPr id="13" name="Shape 9">
            <a:extLst xmlns:a="http://schemas.openxmlformats.org/drawingml/2006/main">
              <a:ext uri="{FF2B5EF4-FFF2-40B4-BE49-F238E27FC236}">
                <a16:creationId xmlns:a16="http://schemas.microsoft.com/office/drawing/2014/main" id="{2B5AD7A3-60DF-4D2F-AAA2-57180ECDE3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59E0B"/>
          </a:solidFill>
          <a:ln xmlns:a="http://schemas.openxmlformats.org/drawingml/2006/main" w="12700">
            <a:solidFill>
              <a:srgbClr val="F59E0B"/>
            </a:solidFill>
            <a:prstDash val="solid"/>
          </a:ln>
        </p:spPr>
      </p:sp>
      <p:sp>
        <p:nvSpPr>
          <p:cNvPr id="14" name="Shape 10">
            <a:extLst xmlns:a="http://schemas.openxmlformats.org/drawingml/2006/main">
              <a:ext uri="{FF2B5EF4-FFF2-40B4-BE49-F238E27FC236}">
                <a16:creationId xmlns:a16="http://schemas.microsoft.com/office/drawing/2014/main" id="{3F6CFE9A-23E5-4F06-80B1-FAA1D4119F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0B981"/>
          </a:solidFill>
          <a:ln xmlns:a="http://schemas.openxmlformats.org/drawingml/2006/main" w="12700">
            <a:solidFill>
              <a:srgbClr val="10B981"/>
            </a:solidFill>
            <a:prstDash val="solid"/>
          </a:ln>
        </p:spPr>
      </p:sp>
      <p:sp>
        <p:nvSpPr>
          <p:cNvPr id="15" name="Text 11">
            <a:extLst xmlns:a="http://schemas.openxmlformats.org/drawingml/2006/main">
              <a:ext uri="{FF2B5EF4-FFF2-40B4-BE49-F238E27FC236}">
                <a16:creationId xmlns:a16="http://schemas.microsoft.com/office/drawing/2014/main" id="{CB21A341-E02E-4DBD-BA05-4D3E1C809E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1417320"/>
            <a:ext cx="484632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PowerShell</a:t>
            </a:r>
            <a:endParaRPr sz="900"/>
          </a:p>
        </p:txBody>
      </p:sp>
      <p:sp>
        <p:nvSpPr>
          <p:cNvPr id="16" name="Text 12">
            <a:extLst xmlns:a="http://schemas.openxmlformats.org/drawingml/2006/main">
              <a:ext uri="{FF2B5EF4-FFF2-40B4-BE49-F238E27FC236}">
                <a16:creationId xmlns:a16="http://schemas.microsoft.com/office/drawing/2014/main" id="{35B69451-1C5B-4CCA-89CE-EC5781F676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1783080"/>
            <a:ext cx="5303520" cy="42976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50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docker version
docker build -t cloud-notes-api:lab05 .
docker image ls cloud-notes-api
docker image inspect cloud-notes-api:lab05 `
  --format '{{.Config.User}}'</a:t>
            </a:r>
            <a:endParaRPr sz="1500">
              <a:solidFill>
                <a:srgbClr val="FFFFFF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17" name="Shape 13">
            <a:extLst xmlns:a="http://schemas.openxmlformats.org/drawingml/2006/main">
              <a:ext uri="{FF2B5EF4-FFF2-40B4-BE49-F238E27FC236}">
                <a16:creationId xmlns:a16="http://schemas.microsoft.com/office/drawing/2014/main" id="{D44D63B6-72BE-4C23-8243-F66F73A4FA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0" y="1417320"/>
            <a:ext cx="5486400" cy="47548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93B"/>
          </a:solidFill>
          <a:ln xmlns:a="http://schemas.openxmlformats.org/drawingml/2006/main" w="12700">
            <a:solidFill>
              <a:srgbClr val="0F172A"/>
            </a:solidFill>
            <a:prstDash val="solid"/>
          </a:ln>
        </p:spPr>
      </p:sp>
      <p:sp>
        <p:nvSpPr>
          <p:cNvPr id="18" name="Shape 14">
            <a:extLst xmlns:a="http://schemas.openxmlformats.org/drawingml/2006/main">
              <a:ext uri="{FF2B5EF4-FFF2-40B4-BE49-F238E27FC236}">
                <a16:creationId xmlns:a16="http://schemas.microsoft.com/office/drawing/2014/main" id="{7668104E-D7B8-41A2-BFEC-5774670DF7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0" y="1417320"/>
            <a:ext cx="5486400" cy="2743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172A"/>
          </a:solidFill>
          <a:ln xmlns:a="http://schemas.openxmlformats.org/drawingml/2006/main" w="12700">
            <a:solidFill>
              <a:srgbClr val="0F172A"/>
            </a:solidFill>
            <a:prstDash val="solid"/>
          </a:ln>
        </p:spPr>
      </p:sp>
      <p:sp>
        <p:nvSpPr>
          <p:cNvPr id="19" name="Shape 15">
            <a:extLst xmlns:a="http://schemas.openxmlformats.org/drawingml/2006/main">
              <a:ext uri="{FF2B5EF4-FFF2-40B4-BE49-F238E27FC236}">
                <a16:creationId xmlns:a16="http://schemas.microsoft.com/office/drawing/2014/main" id="{0F6EFD11-2D21-4934-A2A0-D4668348F6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936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F4444"/>
          </a:solidFill>
          <a:ln xmlns:a="http://schemas.openxmlformats.org/drawingml/2006/main" w="12700">
            <a:solidFill>
              <a:srgbClr val="EF4444"/>
            </a:solidFill>
            <a:prstDash val="solid"/>
          </a:ln>
        </p:spPr>
      </p:sp>
      <p:sp>
        <p:nvSpPr>
          <p:cNvPr id="20" name="Shape 16">
            <a:extLst xmlns:a="http://schemas.openxmlformats.org/drawingml/2006/main">
              <a:ext uri="{FF2B5EF4-FFF2-40B4-BE49-F238E27FC236}">
                <a16:creationId xmlns:a16="http://schemas.microsoft.com/office/drawing/2014/main" id="{9C8F92BE-8D4A-4003-9C27-E2D6B05A27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52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59E0B"/>
          </a:solidFill>
          <a:ln xmlns:a="http://schemas.openxmlformats.org/drawingml/2006/main" w="12700">
            <a:solidFill>
              <a:srgbClr val="F59E0B"/>
            </a:solidFill>
            <a:prstDash val="solid"/>
          </a:ln>
        </p:spPr>
      </p:sp>
      <p:sp>
        <p:nvSpPr>
          <p:cNvPr id="21" name="Shape 17">
            <a:extLst xmlns:a="http://schemas.openxmlformats.org/drawingml/2006/main">
              <a:ext uri="{FF2B5EF4-FFF2-40B4-BE49-F238E27FC236}">
                <a16:creationId xmlns:a16="http://schemas.microsoft.com/office/drawing/2014/main" id="{9D90223C-D061-4C28-AEF4-1155010A40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0B981"/>
          </a:solidFill>
          <a:ln xmlns:a="http://schemas.openxmlformats.org/drawingml/2006/main" w="12700">
            <a:solidFill>
              <a:srgbClr val="10B981"/>
            </a:solidFill>
            <a:prstDash val="solid"/>
          </a:ln>
        </p:spPr>
      </p:sp>
      <p:sp>
        <p:nvSpPr>
          <p:cNvPr id="22" name="Text 18">
            <a:extLst xmlns:a="http://schemas.openxmlformats.org/drawingml/2006/main">
              <a:ext uri="{FF2B5EF4-FFF2-40B4-BE49-F238E27FC236}">
                <a16:creationId xmlns:a16="http://schemas.microsoft.com/office/drawing/2014/main" id="{F1A486DE-A3EF-41DF-8EDE-96F734E684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6560" y="1417320"/>
            <a:ext cx="475488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Fungsi tiap tahap</a:t>
            </a:r>
            <a:endParaRPr sz="900"/>
          </a:p>
        </p:txBody>
      </p:sp>
      <p:sp>
        <p:nvSpPr>
          <p:cNvPr id="23" name="Text 19">
            <a:extLst xmlns:a="http://schemas.openxmlformats.org/drawingml/2006/main">
              <a:ext uri="{FF2B5EF4-FFF2-40B4-BE49-F238E27FC236}">
                <a16:creationId xmlns:a16="http://schemas.microsoft.com/office/drawing/2014/main" id="{17D92E27-231B-4FEB-A0FC-EFD82339A9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5080" y="1783080"/>
            <a:ext cx="5212080" cy="42976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600">
                <a:solidFill>
                  <a:srgbClr val="FFFFFF"/>
                </a:solidFill>
                <a:latin typeface="Aptos"/>
                <a:ea typeface="Aptos"/>
                <a:cs typeface="Aptos"/>
              </a:rPr>
              <a:t>FROM ... AS builder: pasang paket Python.
COPY requirements.txt sebelum source:
cache build tetap berguna saat kode berubah.
FROM ... AS runtime: salin venv dan app.
USER appuser: proses bukan root.
EXPOSE 8000 hanya metadata image.
Tanda titik pada build = build context.</a:t>
            </a:r>
            <a:endParaRPr sz="1600">
              <a:solidFill>
                <a:srgbClr val="FFFFFF"/>
              </a:solidFill>
              <a:latin typeface="Aptos"/>
              <a:ea typeface="Aptos"/>
              <a:cs typeface="Aptos"/>
            </a:endParaRPr>
          </a:p>
        </p:txBody>
      </p:sp>
    </p:spTree>
    <p:extLst>
      <p:ext uri="{BB962C8B-B14F-4D97-AF65-F5344CB8AC3E}">
        <p14:creationId xmlns:p14="http://schemas.microsoft.com/office/powerpoint/2010/main" val="1970672627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3176A820-2F3F-4C43-8396-BC7FCD8C99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92240"/>
            <a:ext cx="7315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BINUS UNIVERSITY  |  Cloud Services  |  Praktikum 5</a:t>
            </a:r>
            <a:endParaRPr sz="9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41E62121-76CB-4CE6-9CA3-676AE83712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47120" y="6492240"/>
            <a:ext cx="457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 b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4</a:t>
            </a:r>
            <a:endParaRPr sz="90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65402310-0C91-4501-82BC-8CE014749D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46520"/>
            <a:ext cx="228600" cy="365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pic>
        <p:nvPicPr>
          <p:cNvPr id="44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b0efb40406a46fa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74320" y="164592"/>
            <a:ext cx="914400" cy="603504"/>
          </a:xfrm>
          <a:prstGeom xmlns:a="http://schemas.openxmlformats.org/drawingml/2006/main" prst="rect">
            <a:avLst/>
          </a:prstGeom>
        </p:spPr>
      </p:pic>
      <p:pic>
        <p:nvPicPr>
          <p:cNvPr id="45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7c83f3cd7da485d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881360" y="182880"/>
            <a:ext cx="1005840" cy="512064"/>
          </a:xfrm>
          <a:prstGeom xmlns:a="http://schemas.openxmlformats.org/drawingml/2006/main" prst="rect">
            <a:avLst/>
          </a:prstGeom>
        </p:spPr>
      </p:pic>
      <p:sp>
        <p:nvSpPr>
          <p:cNvPr id="7" name="Shape 3">
            <a:extLst xmlns:a="http://schemas.openxmlformats.org/drawingml/2006/main">
              <a:ext uri="{FF2B5EF4-FFF2-40B4-BE49-F238E27FC236}">
                <a16:creationId xmlns:a16="http://schemas.microsoft.com/office/drawing/2014/main" id="{01B32D2C-FE81-4B25-8431-C1218AA66C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868680"/>
            <a:ext cx="1124712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8" name="Text 4">
            <a:extLst xmlns:a="http://schemas.openxmlformats.org/drawingml/2006/main">
              <a:ext uri="{FF2B5EF4-FFF2-40B4-BE49-F238E27FC236}">
                <a16:creationId xmlns:a16="http://schemas.microsoft.com/office/drawing/2014/main" id="{325BF967-E8FE-4863-8049-C499A5242B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1680" y="182880"/>
            <a:ext cx="81381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200" b="1">
                <a:solidFill>
                  <a:srgbClr val="1976D2"/>
                </a:solidFill>
                <a:latin typeface="Calibri"/>
                <a:ea typeface="Calibri"/>
                <a:cs typeface="Calibri"/>
              </a:rPr>
              <a:t>Bukti 1 | Image, user, dan port</a:t>
            </a:r>
            <a:endParaRPr sz="2200"/>
          </a:p>
        </p:txBody>
      </p:sp>
      <p:sp>
        <p:nvSpPr>
          <p:cNvPr id="9" name="Text 5">
            <a:extLst xmlns:a="http://schemas.openxmlformats.org/drawingml/2006/main">
              <a:ext uri="{FF2B5EF4-FFF2-40B4-BE49-F238E27FC236}">
                <a16:creationId xmlns:a16="http://schemas.microsoft.com/office/drawing/2014/main" id="{DD4C36EC-136C-41F2-B412-07820659CC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60120"/>
            <a:ext cx="1124712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Output Docker aktual dari build dan container lokal</a:t>
            </a:r>
            <a:endParaRPr sz="1200"/>
          </a:p>
        </p:txBody>
      </p:sp>
      <p:sp>
        <p:nvSpPr>
          <p:cNvPr id="10" name="Shape 6">
            <a:extLst xmlns:a="http://schemas.openxmlformats.org/drawingml/2006/main">
              <a:ext uri="{FF2B5EF4-FFF2-40B4-BE49-F238E27FC236}">
                <a16:creationId xmlns:a16="http://schemas.microsoft.com/office/drawing/2014/main" id="{629F27ED-2A0D-4B29-8875-4DD5992A12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5577840" cy="47548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11" name="Text 7">
            <a:extLst xmlns:a="http://schemas.openxmlformats.org/drawingml/2006/main">
              <a:ext uri="{FF2B5EF4-FFF2-40B4-BE49-F238E27FC236}">
                <a16:creationId xmlns:a16="http://schemas.microsoft.com/office/drawing/2014/main" id="{AE383DCC-F09A-481B-8F10-BDD24E335B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00200"/>
            <a:ext cx="5120640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 spc="300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PERINTAH, FUNGSI, DAN HASIL</a:t>
            </a:r>
            <a:endParaRPr sz="1100"/>
          </a:p>
        </p:txBody>
      </p:sp>
      <p:pic>
        <p:nvPicPr>
          <p:cNvPr id="51" name="Image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514c3bd6e5647d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2697480"/>
            <a:ext cx="292608" cy="292608"/>
          </a:xfrm>
          <a:prstGeom xmlns:a="http://schemas.openxmlformats.org/drawingml/2006/main" prst="rect">
            <a:avLst/>
          </a:prstGeom>
        </p:spPr>
      </p:pic>
      <p:sp>
        <p:nvSpPr>
          <p:cNvPr id="13" name="Text 8">
            <a:extLst xmlns:a="http://schemas.openxmlformats.org/drawingml/2006/main">
              <a:ext uri="{FF2B5EF4-FFF2-40B4-BE49-F238E27FC236}">
                <a16:creationId xmlns:a16="http://schemas.microsoft.com/office/drawing/2014/main" id="{49D3F884-E821-41A0-8378-D885BAAC2B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7008" y="2606040"/>
            <a:ext cx="47091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>
                <a:solidFill>
                  <a:srgbClr val="312124"/>
                </a:solidFill>
                <a:latin typeface="Aptos"/>
                <a:ea typeface="Aptos"/>
                <a:cs typeface="Aptos"/>
              </a:rPr>
              <a:t>docker build membuat image bertag.</a:t>
            </a:r>
            <a:endParaRPr sz="1400">
              <a:solidFill>
                <a:srgbClr val="312124"/>
              </a:solidFill>
              <a:latin typeface="Aptos"/>
              <a:ea typeface="Aptos"/>
              <a:cs typeface="Aptos"/>
            </a:endParaRPr>
          </a:p>
        </p:txBody>
      </p:sp>
      <p:pic>
        <p:nvPicPr>
          <p:cNvPr id="53" name="Image 3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acf349157914bb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3200400"/>
            <a:ext cx="292608" cy="292608"/>
          </a:xfrm>
          <a:prstGeom xmlns:a="http://schemas.openxmlformats.org/drawingml/2006/main" prst="rect">
            <a:avLst/>
          </a:prstGeom>
        </p:spPr>
      </p:pic>
      <p:sp>
        <p:nvSpPr>
          <p:cNvPr id="15" name="Text 9">
            <a:extLst xmlns:a="http://schemas.openxmlformats.org/drawingml/2006/main">
              <a:ext uri="{FF2B5EF4-FFF2-40B4-BE49-F238E27FC236}">
                <a16:creationId xmlns:a16="http://schemas.microsoft.com/office/drawing/2014/main" id="{D7FA931F-D41C-4F62-899C-F2D66F038E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7008" y="3108960"/>
            <a:ext cx="47091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>
                <a:solidFill>
                  <a:srgbClr val="312124"/>
                </a:solidFill>
                <a:latin typeface="Aptos"/>
                <a:ea typeface="Aptos"/>
                <a:cs typeface="Aptos"/>
              </a:rPr>
              <a:t>docker image inspect membaca metadata.</a:t>
            </a:r>
            <a:endParaRPr sz="1400">
              <a:solidFill>
                <a:srgbClr val="312124"/>
              </a:solidFill>
              <a:latin typeface="Aptos"/>
              <a:ea typeface="Aptos"/>
              <a:cs typeface="Aptos"/>
            </a:endParaRPr>
          </a:p>
        </p:txBody>
      </p:sp>
      <p:pic>
        <p:nvPicPr>
          <p:cNvPr id="55" name="Image 4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20ae575521641ca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3703320"/>
            <a:ext cx="292608" cy="292608"/>
          </a:xfrm>
          <a:prstGeom xmlns:a="http://schemas.openxmlformats.org/drawingml/2006/main" prst="rect">
            <a:avLst/>
          </a:prstGeom>
        </p:spPr>
      </p:pic>
      <p:sp>
        <p:nvSpPr>
          <p:cNvPr id="17" name="Text 10">
            <a:extLst xmlns:a="http://schemas.openxmlformats.org/drawingml/2006/main">
              <a:ext uri="{FF2B5EF4-FFF2-40B4-BE49-F238E27FC236}">
                <a16:creationId xmlns:a16="http://schemas.microsoft.com/office/drawing/2014/main" id="{BF34FA6C-BB94-4124-8067-42DE2585E0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7008" y="3611880"/>
            <a:ext cx="47091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>
                <a:solidFill>
                  <a:srgbClr val="312124"/>
                </a:solidFill>
                <a:latin typeface="Aptos"/>
                <a:ea typeface="Aptos"/>
                <a:cs typeface="Aptos"/>
              </a:rPr>
              <a:t>docker run membuat proses container.</a:t>
            </a:r>
            <a:endParaRPr sz="1400">
              <a:solidFill>
                <a:srgbClr val="312124"/>
              </a:solidFill>
              <a:latin typeface="Aptos"/>
              <a:ea typeface="Aptos"/>
              <a:cs typeface="Aptos"/>
            </a:endParaRPr>
          </a:p>
        </p:txBody>
      </p:sp>
      <p:pic>
        <p:nvPicPr>
          <p:cNvPr id="57" name="Image 5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75c58d19a6c4f7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4206240"/>
            <a:ext cx="292608" cy="292608"/>
          </a:xfrm>
          <a:prstGeom xmlns:a="http://schemas.openxmlformats.org/drawingml/2006/main" prst="rect">
            <a:avLst/>
          </a:prstGeom>
        </p:spPr>
      </p:pic>
      <p:sp>
        <p:nvSpPr>
          <p:cNvPr id="19" name="Text 11">
            <a:extLst xmlns:a="http://schemas.openxmlformats.org/drawingml/2006/main">
              <a:ext uri="{FF2B5EF4-FFF2-40B4-BE49-F238E27FC236}">
                <a16:creationId xmlns:a16="http://schemas.microsoft.com/office/drawing/2014/main" id="{BCBB023B-9D97-4B45-A363-7B2B90846F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7008" y="4114800"/>
            <a:ext cx="47091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>
                <a:solidFill>
                  <a:srgbClr val="312124"/>
                </a:solidFill>
                <a:latin typeface="Aptos"/>
                <a:ea typeface="Aptos"/>
                <a:cs typeface="Aptos"/>
              </a:rPr>
              <a:t>-p memetakan host 8000 ke API 8000.</a:t>
            </a:r>
            <a:endParaRPr sz="1400">
              <a:solidFill>
                <a:srgbClr val="312124"/>
              </a:solidFill>
              <a:latin typeface="Aptos"/>
              <a:ea typeface="Aptos"/>
              <a:cs typeface="Aptos"/>
            </a:endParaRPr>
          </a:p>
        </p:txBody>
      </p:sp>
      <p:pic>
        <p:nvPicPr>
          <p:cNvPr id="59" name="Image 6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141944f28124cd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4709160"/>
            <a:ext cx="292608" cy="292608"/>
          </a:xfrm>
          <a:prstGeom xmlns:a="http://schemas.openxmlformats.org/drawingml/2006/main" prst="rect">
            <a:avLst/>
          </a:prstGeom>
        </p:spPr>
      </p:pic>
      <p:sp>
        <p:nvSpPr>
          <p:cNvPr id="21" name="Text 12">
            <a:extLst xmlns:a="http://schemas.openxmlformats.org/drawingml/2006/main">
              <a:ext uri="{FF2B5EF4-FFF2-40B4-BE49-F238E27FC236}">
                <a16:creationId xmlns:a16="http://schemas.microsoft.com/office/drawing/2014/main" id="{5FFDC1BD-F23A-4CB2-8FB5-46DC0FF181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7008" y="4617720"/>
            <a:ext cx="47091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>
                <a:solidFill>
                  <a:srgbClr val="312124"/>
                </a:solidFill>
                <a:latin typeface="Aptos"/>
                <a:ea typeface="Aptos"/>
                <a:cs typeface="Aptos"/>
              </a:rPr>
              <a:t>docker exec id menunjukkan UID 10001.</a:t>
            </a:r>
            <a:endParaRPr sz="1400">
              <a:solidFill>
                <a:srgbClr val="312124"/>
              </a:solidFill>
              <a:latin typeface="Aptos"/>
              <a:ea typeface="Aptos"/>
              <a:cs typeface="Aptos"/>
            </a:endParaRPr>
          </a:p>
        </p:txBody>
      </p:sp>
      <p:pic>
        <p:nvPicPr>
          <p:cNvPr id="61" name="Image 7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5d4c8c61da6496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5212080"/>
            <a:ext cx="292608" cy="292608"/>
          </a:xfrm>
          <a:prstGeom xmlns:a="http://schemas.openxmlformats.org/drawingml/2006/main" prst="rect">
            <a:avLst/>
          </a:prstGeom>
        </p:spPr>
      </p:pic>
      <p:sp>
        <p:nvSpPr>
          <p:cNvPr id="23" name="Text 13">
            <a:extLst xmlns:a="http://schemas.openxmlformats.org/drawingml/2006/main">
              <a:ext uri="{FF2B5EF4-FFF2-40B4-BE49-F238E27FC236}">
                <a16:creationId xmlns:a16="http://schemas.microsoft.com/office/drawing/2014/main" id="{AC7152FE-9287-439F-9954-E438A72977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7008" y="5120640"/>
            <a:ext cx="47091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>
                <a:solidFill>
                  <a:srgbClr val="312124"/>
                </a:solidFill>
                <a:latin typeface="Aptos"/>
                <a:ea typeface="Aptos"/>
                <a:cs typeface="Aptos"/>
              </a:rPr>
              <a:t>Ukuran image dapat berbeda tiap mesin.</a:t>
            </a:r>
            <a:endParaRPr sz="1400">
              <a:solidFill>
                <a:srgbClr val="312124"/>
              </a:solidFill>
              <a:latin typeface="Aptos"/>
              <a:ea typeface="Aptos"/>
              <a:cs typeface="Aptos"/>
            </a:endParaRPr>
          </a:p>
        </p:txBody>
      </p:sp>
      <p:pic>
        <p:nvPicPr>
          <p:cNvPr id="63" name="Image 8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dc0fc7dd3a642a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5715000"/>
            <a:ext cx="292608" cy="292608"/>
          </a:xfrm>
          <a:prstGeom xmlns:a="http://schemas.openxmlformats.org/drawingml/2006/main" prst="rect">
            <a:avLst/>
          </a:prstGeom>
        </p:spPr>
      </p:pic>
      <p:sp>
        <p:nvSpPr>
          <p:cNvPr id="25" name="Text 14">
            <a:extLst xmlns:a="http://schemas.openxmlformats.org/drawingml/2006/main">
              <a:ext uri="{FF2B5EF4-FFF2-40B4-BE49-F238E27FC236}">
                <a16:creationId xmlns:a16="http://schemas.microsoft.com/office/drawing/2014/main" id="{3F8A31E6-5764-4FD6-AE9A-A2B8FAAF12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7008" y="5623560"/>
            <a:ext cx="47091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>
                <a:solidFill>
                  <a:srgbClr val="312124"/>
                </a:solidFill>
                <a:latin typeface="Aptos"/>
                <a:ea typeface="Aptos"/>
                <a:cs typeface="Aptos"/>
              </a:rPr>
              <a:t>Cek nama dan port sebelum lanjut.</a:t>
            </a:r>
            <a:endParaRPr sz="1400">
              <a:solidFill>
                <a:srgbClr val="312124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26" name="Shape 15">
            <a:extLst xmlns:a="http://schemas.openxmlformats.org/drawingml/2006/main">
              <a:ext uri="{FF2B5EF4-FFF2-40B4-BE49-F238E27FC236}">
                <a16:creationId xmlns:a16="http://schemas.microsoft.com/office/drawing/2014/main" id="{DEB391B2-97C7-4F61-96F2-4B9B76C65A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0" y="1417320"/>
            <a:ext cx="5486400" cy="47548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677"/>
          </a:solidFill>
          <a:ln xmlns:a="http://schemas.openxmlformats.org/drawingml/2006/main" w="12700">
            <a:solidFill>
              <a:srgbClr val="002677"/>
            </a:solidFill>
            <a:prstDash val="solid"/>
          </a:ln>
        </p:spPr>
      </p:sp>
      <p:sp>
        <p:nvSpPr>
          <p:cNvPr id="27" name="Text 16">
            <a:extLst xmlns:a="http://schemas.openxmlformats.org/drawingml/2006/main">
              <a:ext uri="{FF2B5EF4-FFF2-40B4-BE49-F238E27FC236}">
                <a16:creationId xmlns:a16="http://schemas.microsoft.com/office/drawing/2014/main" id="{0C349155-9ABB-4395-AA21-FE54677FE2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520" y="1600200"/>
            <a:ext cx="5120640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 spc="300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BUKTI PADA MESIN UJI</a:t>
            </a:r>
            <a:endParaRPr sz="1100"/>
          </a:p>
        </p:txBody>
      </p:sp>
      <p:sp>
        <p:nvSpPr>
          <p:cNvPr id="28" name="Text 17">
            <a:extLst xmlns:a="http://schemas.openxmlformats.org/drawingml/2006/main">
              <a:ext uri="{FF2B5EF4-FFF2-40B4-BE49-F238E27FC236}">
                <a16:creationId xmlns:a16="http://schemas.microsoft.com/office/drawing/2014/main" id="{D22F4850-1B24-4302-BD73-D6ABE194B3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520" y="2606040"/>
            <a:ext cx="5029200" cy="2743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spcAft>
                <a:spcPts val="600"/>
              </a:spcAft>
              <a:buNone/>
            </a:pPr>
            <a:endParaRPr sz="1200"/>
          </a:p>
        </p:txBody>
      </p:sp>
      <p:sp>
        <p:nvSpPr>
          <p:cNvPr id="29" name="Shape 18">
            <a:extLst xmlns:a="http://schemas.openxmlformats.org/drawingml/2006/main">
              <a:ext uri="{FF2B5EF4-FFF2-40B4-BE49-F238E27FC236}">
                <a16:creationId xmlns:a16="http://schemas.microsoft.com/office/drawing/2014/main" id="{4F2D6859-8782-4A41-93D0-7DA7D6CA0B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520" y="5349240"/>
            <a:ext cx="5029200" cy="7315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30" name="Text 19">
            <a:extLst xmlns:a="http://schemas.openxmlformats.org/drawingml/2006/main">
              <a:ext uri="{FF2B5EF4-FFF2-40B4-BE49-F238E27FC236}">
                <a16:creationId xmlns:a16="http://schemas.microsoft.com/office/drawing/2014/main" id="{8E4B399C-6941-46AB-906D-C84660CF42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520" y="5349240"/>
            <a:ext cx="5029200" cy="7315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500" i="1">
                <a:solidFill>
                  <a:srgbClr val="FFFFFF"/>
                </a:solidFill>
                <a:latin typeface="Aptos"/>
                <a:ea typeface="Aptos"/>
                <a:cs typeface="Aptos"/>
              </a:rPr>
              <a:t>Baca tag, UID appuser, dan port 8000.</a:t>
            </a:r>
            <a:endParaRPr sz="1500">
              <a:solidFill>
                <a:srgbClr val="FFFFFF"/>
              </a:solidFill>
              <a:latin typeface="Aptos"/>
              <a:ea typeface="Aptos"/>
              <a:cs typeface="Aptos"/>
            </a:endParaRPr>
          </a:p>
        </p:txBody>
      </p:sp>
      <p:pic>
        <p:nvPicPr>
          <p:cNvPr id="70" name="Picture 3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65ebc4d6c0b460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419088" y="2172843"/>
            <a:ext cx="5084064" cy="2859786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35423165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3F0B1FAC-4297-45D0-AEA9-66D0737E8A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92240"/>
            <a:ext cx="7315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BINUS UNIVERSITY  |  Cloud Services  |  Praktikum 5</a:t>
            </a:r>
            <a:endParaRPr sz="9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02C596A5-CA54-405C-AFEE-54F9AE9B4A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47120" y="6492240"/>
            <a:ext cx="457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 b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5</a:t>
            </a:r>
            <a:endParaRPr sz="90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61C6AB12-80D6-4BE0-8A5B-CAFFB8E33F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46520"/>
            <a:ext cx="228600" cy="365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pic>
        <p:nvPicPr>
          <p:cNvPr id="29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a5eeaf9294f4c2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74320" y="164592"/>
            <a:ext cx="914400" cy="603504"/>
          </a:xfrm>
          <a:prstGeom xmlns:a="http://schemas.openxmlformats.org/drawingml/2006/main" prst="rect">
            <a:avLst/>
          </a:prstGeom>
        </p:spPr>
      </p:pic>
      <p:pic>
        <p:nvPicPr>
          <p:cNvPr id="30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b15560ddd8e47b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881360" y="182880"/>
            <a:ext cx="1005840" cy="512064"/>
          </a:xfrm>
          <a:prstGeom xmlns:a="http://schemas.openxmlformats.org/drawingml/2006/main" prst="rect">
            <a:avLst/>
          </a:prstGeom>
        </p:spPr>
      </p:pic>
      <p:sp>
        <p:nvSpPr>
          <p:cNvPr id="7" name="Shape 3">
            <a:extLst xmlns:a="http://schemas.openxmlformats.org/drawingml/2006/main">
              <a:ext uri="{FF2B5EF4-FFF2-40B4-BE49-F238E27FC236}">
                <a16:creationId xmlns:a16="http://schemas.microsoft.com/office/drawing/2014/main" id="{5AB77872-10A3-4550-81EB-E7F16182D5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868680"/>
            <a:ext cx="1124712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8" name="Text 4">
            <a:extLst xmlns:a="http://schemas.openxmlformats.org/drawingml/2006/main">
              <a:ext uri="{FF2B5EF4-FFF2-40B4-BE49-F238E27FC236}">
                <a16:creationId xmlns:a16="http://schemas.microsoft.com/office/drawing/2014/main" id="{C9C9596D-2829-4681-BF20-5EF4844BA6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1680" y="182880"/>
            <a:ext cx="81381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200" b="1">
                <a:solidFill>
                  <a:srgbClr val="1976D2"/>
                </a:solidFill>
                <a:latin typeface="Calibri"/>
                <a:ea typeface="Calibri"/>
                <a:cs typeface="Calibri"/>
              </a:rPr>
              <a:t>2 | Jalankan API dan buka OpenAPI</a:t>
            </a:r>
            <a:endParaRPr sz="2200"/>
          </a:p>
        </p:txBody>
      </p:sp>
      <p:sp>
        <p:nvSpPr>
          <p:cNvPr id="9" name="Text 5">
            <a:extLst xmlns:a="http://schemas.openxmlformats.org/drawingml/2006/main">
              <a:ext uri="{FF2B5EF4-FFF2-40B4-BE49-F238E27FC236}">
                <a16:creationId xmlns:a16="http://schemas.microsoft.com/office/drawing/2014/main" id="{4504C152-39AC-466E-91A5-24CA1BD31D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60120"/>
            <a:ext cx="1124712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Container hidup terpisah dari image yang disimpan</a:t>
            </a:r>
            <a:endParaRPr sz="1200"/>
          </a:p>
        </p:txBody>
      </p:sp>
      <p:sp>
        <p:nvSpPr>
          <p:cNvPr id="10" name="Shape 6">
            <a:extLst xmlns:a="http://schemas.openxmlformats.org/drawingml/2006/main">
              <a:ext uri="{FF2B5EF4-FFF2-40B4-BE49-F238E27FC236}">
                <a16:creationId xmlns:a16="http://schemas.microsoft.com/office/drawing/2014/main" id="{9CBD709E-2676-4DAC-890E-2ACE45D3B1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5577840" cy="47548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93B"/>
          </a:solidFill>
          <a:ln xmlns:a="http://schemas.openxmlformats.org/drawingml/2006/main" w="12700">
            <a:solidFill>
              <a:srgbClr val="0F172A"/>
            </a:solidFill>
            <a:prstDash val="solid"/>
          </a:ln>
        </p:spPr>
      </p:sp>
      <p:sp>
        <p:nvSpPr>
          <p:cNvPr id="11" name="Shape 7">
            <a:extLst xmlns:a="http://schemas.openxmlformats.org/drawingml/2006/main">
              <a:ext uri="{FF2B5EF4-FFF2-40B4-BE49-F238E27FC236}">
                <a16:creationId xmlns:a16="http://schemas.microsoft.com/office/drawing/2014/main" id="{4AA38FDD-8339-46BA-B8CA-157DA41847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5577840" cy="2743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172A"/>
          </a:solidFill>
          <a:ln xmlns:a="http://schemas.openxmlformats.org/drawingml/2006/main" w="12700">
            <a:solidFill>
              <a:srgbClr val="0F172A"/>
            </a:solidFill>
            <a:prstDash val="solid"/>
          </a:ln>
        </p:spPr>
      </p:sp>
      <p:sp>
        <p:nvSpPr>
          <p:cNvPr id="12" name="Shape 8">
            <a:extLst xmlns:a="http://schemas.openxmlformats.org/drawingml/2006/main">
              <a:ext uri="{FF2B5EF4-FFF2-40B4-BE49-F238E27FC236}">
                <a16:creationId xmlns:a16="http://schemas.microsoft.com/office/drawing/2014/main" id="{52C1274A-89A0-41D0-8A62-D16529A32E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F4444"/>
          </a:solidFill>
          <a:ln xmlns:a="http://schemas.openxmlformats.org/drawingml/2006/main" w="12700">
            <a:solidFill>
              <a:srgbClr val="EF4444"/>
            </a:solidFill>
            <a:prstDash val="solid"/>
          </a:ln>
        </p:spPr>
      </p:sp>
      <p:sp>
        <p:nvSpPr>
          <p:cNvPr id="13" name="Shape 9">
            <a:extLst xmlns:a="http://schemas.openxmlformats.org/drawingml/2006/main">
              <a:ext uri="{FF2B5EF4-FFF2-40B4-BE49-F238E27FC236}">
                <a16:creationId xmlns:a16="http://schemas.microsoft.com/office/drawing/2014/main" id="{DE572F59-CAA6-4C81-BAEA-217DCE0265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59E0B"/>
          </a:solidFill>
          <a:ln xmlns:a="http://schemas.openxmlformats.org/drawingml/2006/main" w="12700">
            <a:solidFill>
              <a:srgbClr val="F59E0B"/>
            </a:solidFill>
            <a:prstDash val="solid"/>
          </a:ln>
        </p:spPr>
      </p:sp>
      <p:sp>
        <p:nvSpPr>
          <p:cNvPr id="14" name="Shape 10">
            <a:extLst xmlns:a="http://schemas.openxmlformats.org/drawingml/2006/main">
              <a:ext uri="{FF2B5EF4-FFF2-40B4-BE49-F238E27FC236}">
                <a16:creationId xmlns:a16="http://schemas.microsoft.com/office/drawing/2014/main" id="{CBC3193E-1D84-4461-92B7-AB36E910A0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0B981"/>
          </a:solidFill>
          <a:ln xmlns:a="http://schemas.openxmlformats.org/drawingml/2006/main" w="12700">
            <a:solidFill>
              <a:srgbClr val="10B981"/>
            </a:solidFill>
            <a:prstDash val="solid"/>
          </a:ln>
        </p:spPr>
      </p:sp>
      <p:sp>
        <p:nvSpPr>
          <p:cNvPr id="15" name="Text 11">
            <a:extLst xmlns:a="http://schemas.openxmlformats.org/drawingml/2006/main">
              <a:ext uri="{FF2B5EF4-FFF2-40B4-BE49-F238E27FC236}">
                <a16:creationId xmlns:a16="http://schemas.microsoft.com/office/drawing/2014/main" id="{CC0B2984-2A1D-481A-A8C7-93867C7275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1417320"/>
            <a:ext cx="484632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Perintah terminal</a:t>
            </a:r>
            <a:endParaRPr sz="900"/>
          </a:p>
        </p:txBody>
      </p:sp>
      <p:sp>
        <p:nvSpPr>
          <p:cNvPr id="16" name="Text 12">
            <a:extLst xmlns:a="http://schemas.openxmlformats.org/drawingml/2006/main">
              <a:ext uri="{FF2B5EF4-FFF2-40B4-BE49-F238E27FC236}">
                <a16:creationId xmlns:a16="http://schemas.microsoft.com/office/drawing/2014/main" id="{EF46B447-8576-4103-9140-1C697F3F65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1783080"/>
            <a:ext cx="5303520" cy="42976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50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docker run --name cloudlab-api -d `
  -p 127.0.0.1:8000:8000 `
  -e APP_ENV=classroom `
  cloud-notes-api:lab05
docker ps --filter name=cloudlab-api
docker logs cloudlab-api
docker exec cloudlab-api id</a:t>
            </a:r>
            <a:endParaRPr sz="1500">
              <a:solidFill>
                <a:srgbClr val="FFFFFF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17" name="Shape 13">
            <a:extLst xmlns:a="http://schemas.openxmlformats.org/drawingml/2006/main">
              <a:ext uri="{FF2B5EF4-FFF2-40B4-BE49-F238E27FC236}">
                <a16:creationId xmlns:a16="http://schemas.microsoft.com/office/drawing/2014/main" id="{D50C2DC1-1060-43D9-B017-85D23D988B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0" y="1417320"/>
            <a:ext cx="5486400" cy="47548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93B"/>
          </a:solidFill>
          <a:ln xmlns:a="http://schemas.openxmlformats.org/drawingml/2006/main" w="12700">
            <a:solidFill>
              <a:srgbClr val="0F172A"/>
            </a:solidFill>
            <a:prstDash val="solid"/>
          </a:ln>
        </p:spPr>
      </p:sp>
      <p:sp>
        <p:nvSpPr>
          <p:cNvPr id="18" name="Shape 14">
            <a:extLst xmlns:a="http://schemas.openxmlformats.org/drawingml/2006/main">
              <a:ext uri="{FF2B5EF4-FFF2-40B4-BE49-F238E27FC236}">
                <a16:creationId xmlns:a16="http://schemas.microsoft.com/office/drawing/2014/main" id="{276CAFE0-9D97-4FFF-84C9-044C0AF35F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0" y="1417320"/>
            <a:ext cx="5486400" cy="2743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172A"/>
          </a:solidFill>
          <a:ln xmlns:a="http://schemas.openxmlformats.org/drawingml/2006/main" w="12700">
            <a:solidFill>
              <a:srgbClr val="0F172A"/>
            </a:solidFill>
            <a:prstDash val="solid"/>
          </a:ln>
        </p:spPr>
      </p:sp>
      <p:sp>
        <p:nvSpPr>
          <p:cNvPr id="19" name="Shape 15">
            <a:extLst xmlns:a="http://schemas.openxmlformats.org/drawingml/2006/main">
              <a:ext uri="{FF2B5EF4-FFF2-40B4-BE49-F238E27FC236}">
                <a16:creationId xmlns:a16="http://schemas.microsoft.com/office/drawing/2014/main" id="{1B4F3ED4-0B6D-4118-BC0C-1374B33495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936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F4444"/>
          </a:solidFill>
          <a:ln xmlns:a="http://schemas.openxmlformats.org/drawingml/2006/main" w="12700">
            <a:solidFill>
              <a:srgbClr val="EF4444"/>
            </a:solidFill>
            <a:prstDash val="solid"/>
          </a:ln>
        </p:spPr>
      </p:sp>
      <p:sp>
        <p:nvSpPr>
          <p:cNvPr id="20" name="Shape 16">
            <a:extLst xmlns:a="http://schemas.openxmlformats.org/drawingml/2006/main">
              <a:ext uri="{FF2B5EF4-FFF2-40B4-BE49-F238E27FC236}">
                <a16:creationId xmlns:a16="http://schemas.microsoft.com/office/drawing/2014/main" id="{A3D260D1-343C-43D8-87CF-2EB6DDD229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52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59E0B"/>
          </a:solidFill>
          <a:ln xmlns:a="http://schemas.openxmlformats.org/drawingml/2006/main" w="12700">
            <a:solidFill>
              <a:srgbClr val="F59E0B"/>
            </a:solidFill>
            <a:prstDash val="solid"/>
          </a:ln>
        </p:spPr>
      </p:sp>
      <p:sp>
        <p:nvSpPr>
          <p:cNvPr id="21" name="Shape 17">
            <a:extLst xmlns:a="http://schemas.openxmlformats.org/drawingml/2006/main">
              <a:ext uri="{FF2B5EF4-FFF2-40B4-BE49-F238E27FC236}">
                <a16:creationId xmlns:a16="http://schemas.microsoft.com/office/drawing/2014/main" id="{A256B8ED-F383-4DA1-B42D-EC8784AACF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0B981"/>
          </a:solidFill>
          <a:ln xmlns:a="http://schemas.openxmlformats.org/drawingml/2006/main" w="12700">
            <a:solidFill>
              <a:srgbClr val="10B981"/>
            </a:solidFill>
            <a:prstDash val="solid"/>
          </a:ln>
        </p:spPr>
      </p:sp>
      <p:sp>
        <p:nvSpPr>
          <p:cNvPr id="22" name="Text 18">
            <a:extLst xmlns:a="http://schemas.openxmlformats.org/drawingml/2006/main">
              <a:ext uri="{FF2B5EF4-FFF2-40B4-BE49-F238E27FC236}">
                <a16:creationId xmlns:a16="http://schemas.microsoft.com/office/drawing/2014/main" id="{90489927-333F-4323-9C59-634051A9B2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6560" y="1417320"/>
            <a:ext cx="475488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Cara kerja dan hasil</a:t>
            </a:r>
            <a:endParaRPr sz="900"/>
          </a:p>
        </p:txBody>
      </p:sp>
      <p:sp>
        <p:nvSpPr>
          <p:cNvPr id="23" name="Text 19">
            <a:extLst xmlns:a="http://schemas.openxmlformats.org/drawingml/2006/main">
              <a:ext uri="{FF2B5EF4-FFF2-40B4-BE49-F238E27FC236}">
                <a16:creationId xmlns:a16="http://schemas.microsoft.com/office/drawing/2014/main" id="{8C662D18-8A3E-46FC-A012-3027CE0F20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5080" y="1783080"/>
            <a:ext cx="5212080" cy="42976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600">
                <a:solidFill>
                  <a:srgbClr val="FFFFFF"/>
                </a:solidFill>
                <a:latin typeface="Aptos"/>
                <a:ea typeface="Aptos"/>
                <a:cs typeface="Aptos"/>
              </a:rPr>
              <a:t>-d menjalankan di latar belakang.
-p membatasi akses host ke loopback.
-e mengisi lingkungan saat runtime.
logs menampilkan Uvicorn siap.
exec id membuktikan user non-root.
Buka http://127.0.0.1:8000/docs.</a:t>
            </a:r>
            <a:endParaRPr sz="1600">
              <a:solidFill>
                <a:srgbClr val="FFFFFF"/>
              </a:solidFill>
              <a:latin typeface="Aptos"/>
              <a:ea typeface="Aptos"/>
              <a:cs typeface="Aptos"/>
            </a:endParaRPr>
          </a:p>
        </p:txBody>
      </p:sp>
    </p:spTree>
    <p:extLst>
      <p:ext uri="{BB962C8B-B14F-4D97-AF65-F5344CB8AC3E}">
        <p14:creationId xmlns:p14="http://schemas.microsoft.com/office/powerpoint/2010/main" val="2586925774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B62832AA-B698-4CD9-8CCC-DDB29F2A41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92240"/>
            <a:ext cx="7315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BINUS UNIVERSITY  |  Cloud Services  |  Praktikum 5</a:t>
            </a:r>
            <a:endParaRPr sz="9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99A4789C-195B-44AD-AC12-5C246CE589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47120" y="6492240"/>
            <a:ext cx="457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 b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6</a:t>
            </a:r>
            <a:endParaRPr sz="90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699461FA-77E5-4033-8FBF-46E6510EB8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46520"/>
            <a:ext cx="228600" cy="365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pic>
        <p:nvPicPr>
          <p:cNvPr id="44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f9382825a844ce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74320" y="164592"/>
            <a:ext cx="914400" cy="603504"/>
          </a:xfrm>
          <a:prstGeom xmlns:a="http://schemas.openxmlformats.org/drawingml/2006/main" prst="rect">
            <a:avLst/>
          </a:prstGeom>
        </p:spPr>
      </p:pic>
      <p:pic>
        <p:nvPicPr>
          <p:cNvPr id="45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49d58023c37431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881360" y="182880"/>
            <a:ext cx="1005840" cy="512064"/>
          </a:xfrm>
          <a:prstGeom xmlns:a="http://schemas.openxmlformats.org/drawingml/2006/main" prst="rect">
            <a:avLst/>
          </a:prstGeom>
        </p:spPr>
      </p:pic>
      <p:sp>
        <p:nvSpPr>
          <p:cNvPr id="7" name="Shape 3">
            <a:extLst xmlns:a="http://schemas.openxmlformats.org/drawingml/2006/main">
              <a:ext uri="{FF2B5EF4-FFF2-40B4-BE49-F238E27FC236}">
                <a16:creationId xmlns:a16="http://schemas.microsoft.com/office/drawing/2014/main" id="{AE34301C-C397-481D-9ED2-6F249AC31D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868680"/>
            <a:ext cx="1124712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8" name="Text 4">
            <a:extLst xmlns:a="http://schemas.openxmlformats.org/drawingml/2006/main">
              <a:ext uri="{FF2B5EF4-FFF2-40B4-BE49-F238E27FC236}">
                <a16:creationId xmlns:a16="http://schemas.microsoft.com/office/drawing/2014/main" id="{ED11A578-6A20-4677-AC1D-0246DB34AD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1680" y="182880"/>
            <a:ext cx="81381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200" b="1">
                <a:solidFill>
                  <a:srgbClr val="1976D2"/>
                </a:solidFill>
                <a:latin typeface="Calibri"/>
                <a:ea typeface="Calibri"/>
                <a:cs typeface="Calibri"/>
              </a:rPr>
              <a:t>Bukti 2 | Dokumentasi web API</a:t>
            </a:r>
            <a:endParaRPr sz="2200"/>
          </a:p>
        </p:txBody>
      </p:sp>
      <p:sp>
        <p:nvSpPr>
          <p:cNvPr id="9" name="Text 5">
            <a:extLst xmlns:a="http://schemas.openxmlformats.org/drawingml/2006/main">
              <a:ext uri="{FF2B5EF4-FFF2-40B4-BE49-F238E27FC236}">
                <a16:creationId xmlns:a16="http://schemas.microsoft.com/office/drawing/2014/main" id="{ABA51FD5-1EBF-4054-88D2-981E52EB78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60120"/>
            <a:ext cx="1124712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FastAPI membuat OpenAPI dari endpoint yang hidup</a:t>
            </a:r>
            <a:endParaRPr sz="1200"/>
          </a:p>
        </p:txBody>
      </p:sp>
      <p:sp>
        <p:nvSpPr>
          <p:cNvPr id="10" name="Shape 6">
            <a:extLst xmlns:a="http://schemas.openxmlformats.org/drawingml/2006/main">
              <a:ext uri="{FF2B5EF4-FFF2-40B4-BE49-F238E27FC236}">
                <a16:creationId xmlns:a16="http://schemas.microsoft.com/office/drawing/2014/main" id="{9BFCFFEC-3E4B-45A3-9E6A-7193E2F82F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5577840" cy="47548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11" name="Text 7">
            <a:extLst xmlns:a="http://schemas.openxmlformats.org/drawingml/2006/main">
              <a:ext uri="{FF2B5EF4-FFF2-40B4-BE49-F238E27FC236}">
                <a16:creationId xmlns:a16="http://schemas.microsoft.com/office/drawing/2014/main" id="{DD7B7942-74B5-4DF7-9A85-2DB08DDBDA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00200"/>
            <a:ext cx="5120640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 spc="300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PERINTAH, FUNGSI, DAN HASIL</a:t>
            </a:r>
            <a:endParaRPr sz="1100"/>
          </a:p>
        </p:txBody>
      </p:sp>
      <p:pic>
        <p:nvPicPr>
          <p:cNvPr id="51" name="Image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a30662146ab406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2697480"/>
            <a:ext cx="292608" cy="292608"/>
          </a:xfrm>
          <a:prstGeom xmlns:a="http://schemas.openxmlformats.org/drawingml/2006/main" prst="rect">
            <a:avLst/>
          </a:prstGeom>
        </p:spPr>
      </p:pic>
      <p:sp>
        <p:nvSpPr>
          <p:cNvPr id="13" name="Text 8">
            <a:extLst xmlns:a="http://schemas.openxmlformats.org/drawingml/2006/main">
              <a:ext uri="{FF2B5EF4-FFF2-40B4-BE49-F238E27FC236}">
                <a16:creationId xmlns:a16="http://schemas.microsoft.com/office/drawing/2014/main" id="{C8720EF1-98BE-440F-875D-4B09A178CB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7008" y="2606040"/>
            <a:ext cx="47091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>
                <a:solidFill>
                  <a:srgbClr val="312124"/>
                </a:solidFill>
                <a:latin typeface="Aptos"/>
                <a:ea typeface="Aptos"/>
                <a:cs typeface="Aptos"/>
              </a:rPr>
              <a:t>Buka URL /docs setelah docker run.</a:t>
            </a:r>
            <a:endParaRPr sz="1400">
              <a:solidFill>
                <a:srgbClr val="312124"/>
              </a:solidFill>
              <a:latin typeface="Aptos"/>
              <a:ea typeface="Aptos"/>
              <a:cs typeface="Aptos"/>
            </a:endParaRPr>
          </a:p>
        </p:txBody>
      </p:sp>
      <p:pic>
        <p:nvPicPr>
          <p:cNvPr id="53" name="Image 3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258d3c5b78e448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3200400"/>
            <a:ext cx="292608" cy="292608"/>
          </a:xfrm>
          <a:prstGeom xmlns:a="http://schemas.openxmlformats.org/drawingml/2006/main" prst="rect">
            <a:avLst/>
          </a:prstGeom>
        </p:spPr>
      </p:pic>
      <p:sp>
        <p:nvSpPr>
          <p:cNvPr id="15" name="Text 9">
            <a:extLst xmlns:a="http://schemas.openxmlformats.org/drawingml/2006/main">
              <a:ext uri="{FF2B5EF4-FFF2-40B4-BE49-F238E27FC236}">
                <a16:creationId xmlns:a16="http://schemas.microsoft.com/office/drawing/2014/main" id="{6665C3DA-6ECC-4602-9F1A-E14264AEDF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7008" y="3108960"/>
            <a:ext cx="47091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>
                <a:solidFill>
                  <a:srgbClr val="312124"/>
                </a:solidFill>
                <a:latin typeface="Aptos"/>
                <a:ea typeface="Aptos"/>
                <a:cs typeface="Aptos"/>
              </a:rPr>
              <a:t>Browser masuk lewat port host 8000.</a:t>
            </a:r>
            <a:endParaRPr sz="1400">
              <a:solidFill>
                <a:srgbClr val="312124"/>
              </a:solidFill>
              <a:latin typeface="Aptos"/>
              <a:ea typeface="Aptos"/>
              <a:cs typeface="Aptos"/>
            </a:endParaRPr>
          </a:p>
        </p:txBody>
      </p:sp>
      <p:pic>
        <p:nvPicPr>
          <p:cNvPr id="55" name="Image 4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585a86d0fc44d3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3703320"/>
            <a:ext cx="292608" cy="292608"/>
          </a:xfrm>
          <a:prstGeom xmlns:a="http://schemas.openxmlformats.org/drawingml/2006/main" prst="rect">
            <a:avLst/>
          </a:prstGeom>
        </p:spPr>
      </p:pic>
      <p:sp>
        <p:nvSpPr>
          <p:cNvPr id="17" name="Text 10">
            <a:extLst xmlns:a="http://schemas.openxmlformats.org/drawingml/2006/main">
              <a:ext uri="{FF2B5EF4-FFF2-40B4-BE49-F238E27FC236}">
                <a16:creationId xmlns:a16="http://schemas.microsoft.com/office/drawing/2014/main" id="{34BB8EC7-539B-441E-9772-4E82EE7B47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7008" y="3611880"/>
            <a:ext cx="47091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>
                <a:solidFill>
                  <a:srgbClr val="312124"/>
                </a:solidFill>
                <a:latin typeface="Aptos"/>
                <a:ea typeface="Aptos"/>
                <a:cs typeface="Aptos"/>
              </a:rPr>
              <a:t>FastAPI menyajikan Swagger UI.</a:t>
            </a:r>
            <a:endParaRPr sz="1400">
              <a:solidFill>
                <a:srgbClr val="312124"/>
              </a:solidFill>
              <a:latin typeface="Aptos"/>
              <a:ea typeface="Aptos"/>
              <a:cs typeface="Aptos"/>
            </a:endParaRPr>
          </a:p>
        </p:txBody>
      </p:sp>
      <p:pic>
        <p:nvPicPr>
          <p:cNvPr id="57" name="Image 5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8ecccedd4984f4d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4206240"/>
            <a:ext cx="292608" cy="292608"/>
          </a:xfrm>
          <a:prstGeom xmlns:a="http://schemas.openxmlformats.org/drawingml/2006/main" prst="rect">
            <a:avLst/>
          </a:prstGeom>
        </p:spPr>
      </p:pic>
      <p:sp>
        <p:nvSpPr>
          <p:cNvPr id="19" name="Text 11">
            <a:extLst xmlns:a="http://schemas.openxmlformats.org/drawingml/2006/main">
              <a:ext uri="{FF2B5EF4-FFF2-40B4-BE49-F238E27FC236}">
                <a16:creationId xmlns:a16="http://schemas.microsoft.com/office/drawing/2014/main" id="{41296507-3FBC-416E-AE94-3FBB6FE5DB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7008" y="4114800"/>
            <a:ext cx="47091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>
                <a:solidFill>
                  <a:srgbClr val="312124"/>
                </a:solidFill>
                <a:latin typeface="Aptos"/>
                <a:ea typeface="Aptos"/>
                <a:cs typeface="Aptos"/>
              </a:rPr>
              <a:t>Cari GET /health dan GET /runtime.</a:t>
            </a:r>
            <a:endParaRPr sz="1400">
              <a:solidFill>
                <a:srgbClr val="312124"/>
              </a:solidFill>
              <a:latin typeface="Aptos"/>
              <a:ea typeface="Aptos"/>
              <a:cs typeface="Aptos"/>
            </a:endParaRPr>
          </a:p>
        </p:txBody>
      </p:sp>
      <p:pic>
        <p:nvPicPr>
          <p:cNvPr id="59" name="Image 6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2b9ce302c17458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4709160"/>
            <a:ext cx="292608" cy="292608"/>
          </a:xfrm>
          <a:prstGeom xmlns:a="http://schemas.openxmlformats.org/drawingml/2006/main" prst="rect">
            <a:avLst/>
          </a:prstGeom>
        </p:spPr>
      </p:pic>
      <p:sp>
        <p:nvSpPr>
          <p:cNvPr id="21" name="Text 12">
            <a:extLst xmlns:a="http://schemas.openxmlformats.org/drawingml/2006/main">
              <a:ext uri="{FF2B5EF4-FFF2-40B4-BE49-F238E27FC236}">
                <a16:creationId xmlns:a16="http://schemas.microsoft.com/office/drawing/2014/main" id="{B19AF6B9-63C6-4F2D-B035-6C9F080F28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7008" y="4617720"/>
            <a:ext cx="47091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>
                <a:solidFill>
                  <a:srgbClr val="312124"/>
                </a:solidFill>
                <a:latin typeface="Aptos"/>
                <a:ea typeface="Aptos"/>
                <a:cs typeface="Aptos"/>
              </a:rPr>
              <a:t>Cari POST /notes dan GET /notes.</a:t>
            </a:r>
            <a:endParaRPr sz="1400">
              <a:solidFill>
                <a:srgbClr val="312124"/>
              </a:solidFill>
              <a:latin typeface="Aptos"/>
              <a:ea typeface="Aptos"/>
              <a:cs typeface="Aptos"/>
            </a:endParaRPr>
          </a:p>
        </p:txBody>
      </p:sp>
      <p:pic>
        <p:nvPicPr>
          <p:cNvPr id="61" name="Image 7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0e6993403c144ff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5212080"/>
            <a:ext cx="292608" cy="292608"/>
          </a:xfrm>
          <a:prstGeom xmlns:a="http://schemas.openxmlformats.org/drawingml/2006/main" prst="rect">
            <a:avLst/>
          </a:prstGeom>
        </p:spPr>
      </p:pic>
      <p:sp>
        <p:nvSpPr>
          <p:cNvPr id="23" name="Text 13">
            <a:extLst xmlns:a="http://schemas.openxmlformats.org/drawingml/2006/main">
              <a:ext uri="{FF2B5EF4-FFF2-40B4-BE49-F238E27FC236}">
                <a16:creationId xmlns:a16="http://schemas.microsoft.com/office/drawing/2014/main" id="{DE6F5406-FD95-4B98-BF5E-9280060E65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7008" y="5120640"/>
            <a:ext cx="47091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>
                <a:solidFill>
                  <a:srgbClr val="312124"/>
                </a:solidFill>
                <a:latin typeface="Aptos"/>
                <a:ea typeface="Aptos"/>
                <a:cs typeface="Aptos"/>
              </a:rPr>
              <a:t>Endpoint menampilkan schema request.</a:t>
            </a:r>
            <a:endParaRPr sz="1400">
              <a:solidFill>
                <a:srgbClr val="312124"/>
              </a:solidFill>
              <a:latin typeface="Aptos"/>
              <a:ea typeface="Aptos"/>
              <a:cs typeface="Aptos"/>
            </a:endParaRPr>
          </a:p>
        </p:txBody>
      </p:sp>
      <p:pic>
        <p:nvPicPr>
          <p:cNvPr id="63" name="Image 8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d4f2ead1d7f451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5715000"/>
            <a:ext cx="292608" cy="292608"/>
          </a:xfrm>
          <a:prstGeom xmlns:a="http://schemas.openxmlformats.org/drawingml/2006/main" prst="rect">
            <a:avLst/>
          </a:prstGeom>
        </p:spPr>
      </p:pic>
      <p:sp>
        <p:nvSpPr>
          <p:cNvPr id="25" name="Text 14">
            <a:extLst xmlns:a="http://schemas.openxmlformats.org/drawingml/2006/main">
              <a:ext uri="{FF2B5EF4-FFF2-40B4-BE49-F238E27FC236}">
                <a16:creationId xmlns:a16="http://schemas.microsoft.com/office/drawing/2014/main" id="{5AEEBCAA-F229-4126-AE63-A05737A0A8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7008" y="5623560"/>
            <a:ext cx="47091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>
                <a:solidFill>
                  <a:srgbClr val="312124"/>
                </a:solidFill>
                <a:latin typeface="Aptos"/>
                <a:ea typeface="Aptos"/>
                <a:cs typeface="Aptos"/>
              </a:rPr>
              <a:t>Jika kosong, lihat docker logs.</a:t>
            </a:r>
            <a:endParaRPr sz="1400">
              <a:solidFill>
                <a:srgbClr val="312124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26" name="Shape 15">
            <a:extLst xmlns:a="http://schemas.openxmlformats.org/drawingml/2006/main">
              <a:ext uri="{FF2B5EF4-FFF2-40B4-BE49-F238E27FC236}">
                <a16:creationId xmlns:a16="http://schemas.microsoft.com/office/drawing/2014/main" id="{6680615F-653A-4764-80A3-18E50FC2FE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0" y="1417320"/>
            <a:ext cx="5486400" cy="47548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677"/>
          </a:solidFill>
          <a:ln xmlns:a="http://schemas.openxmlformats.org/drawingml/2006/main" w="12700">
            <a:solidFill>
              <a:srgbClr val="002677"/>
            </a:solidFill>
            <a:prstDash val="solid"/>
          </a:ln>
        </p:spPr>
      </p:sp>
      <p:sp>
        <p:nvSpPr>
          <p:cNvPr id="27" name="Text 16">
            <a:extLst xmlns:a="http://schemas.openxmlformats.org/drawingml/2006/main">
              <a:ext uri="{FF2B5EF4-FFF2-40B4-BE49-F238E27FC236}">
                <a16:creationId xmlns:a16="http://schemas.microsoft.com/office/drawing/2014/main" id="{F80E154C-7B2A-436E-92F5-F01E178BAF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520" y="1600200"/>
            <a:ext cx="5120640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 spc="300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BUKTI PADA MESIN UJI</a:t>
            </a:r>
            <a:endParaRPr sz="1100"/>
          </a:p>
        </p:txBody>
      </p:sp>
      <p:sp>
        <p:nvSpPr>
          <p:cNvPr id="28" name="Text 17">
            <a:extLst xmlns:a="http://schemas.openxmlformats.org/drawingml/2006/main">
              <a:ext uri="{FF2B5EF4-FFF2-40B4-BE49-F238E27FC236}">
                <a16:creationId xmlns:a16="http://schemas.microsoft.com/office/drawing/2014/main" id="{8CD47091-12E0-4A56-929D-3D53A6C86B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520" y="2606040"/>
            <a:ext cx="5029200" cy="2743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spcAft>
                <a:spcPts val="600"/>
              </a:spcAft>
              <a:buNone/>
            </a:pPr>
            <a:endParaRPr sz="1200"/>
          </a:p>
        </p:txBody>
      </p:sp>
      <p:sp>
        <p:nvSpPr>
          <p:cNvPr id="29" name="Shape 18">
            <a:extLst xmlns:a="http://schemas.openxmlformats.org/drawingml/2006/main">
              <a:ext uri="{FF2B5EF4-FFF2-40B4-BE49-F238E27FC236}">
                <a16:creationId xmlns:a16="http://schemas.microsoft.com/office/drawing/2014/main" id="{29DCAAE7-121F-4388-BC60-443F065379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520" y="5349240"/>
            <a:ext cx="5029200" cy="7315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30" name="Text 19">
            <a:extLst xmlns:a="http://schemas.openxmlformats.org/drawingml/2006/main">
              <a:ext uri="{FF2B5EF4-FFF2-40B4-BE49-F238E27FC236}">
                <a16:creationId xmlns:a16="http://schemas.microsoft.com/office/drawing/2014/main" id="{422767C4-99BC-46C1-AB38-6FD4A84872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520" y="5349240"/>
            <a:ext cx="5029200" cy="7315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500" i="1">
                <a:solidFill>
                  <a:srgbClr val="FFFFFF"/>
                </a:solidFill>
                <a:latin typeface="Aptos"/>
                <a:ea typeface="Aptos"/>
                <a:cs typeface="Aptos"/>
              </a:rPr>
              <a:t>OpenAPI tampil pada localhost:8000/docs.</a:t>
            </a:r>
            <a:endParaRPr sz="1500">
              <a:solidFill>
                <a:srgbClr val="FFFFFF"/>
              </a:solidFill>
              <a:latin typeface="Aptos"/>
              <a:ea typeface="Aptos"/>
              <a:cs typeface="Aptos"/>
            </a:endParaRPr>
          </a:p>
        </p:txBody>
      </p:sp>
      <p:pic>
        <p:nvPicPr>
          <p:cNvPr id="70" name="Picture 3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5d1115cc744484d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799338" y="2057400"/>
            <a:ext cx="4323563" cy="3090672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60103280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81A41396-021E-494B-AAD7-5E7795F192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92240"/>
            <a:ext cx="7315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BINUS UNIVERSITY  |  Cloud Services  |  Praktikum 5</a:t>
            </a:r>
            <a:endParaRPr sz="9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DDF9D0E0-8CFB-4F77-AA8E-EF13E64E7D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47120" y="6492240"/>
            <a:ext cx="457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 b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7</a:t>
            </a:r>
            <a:endParaRPr sz="90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20829D7F-D1E9-435F-8BEF-1B08591AB1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46520"/>
            <a:ext cx="228600" cy="365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pic>
        <p:nvPicPr>
          <p:cNvPr id="29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ef45a1b9af54cd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74320" y="164592"/>
            <a:ext cx="914400" cy="603504"/>
          </a:xfrm>
          <a:prstGeom xmlns:a="http://schemas.openxmlformats.org/drawingml/2006/main" prst="rect">
            <a:avLst/>
          </a:prstGeom>
        </p:spPr>
      </p:pic>
      <p:pic>
        <p:nvPicPr>
          <p:cNvPr id="30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7139cfccb30419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881360" y="182880"/>
            <a:ext cx="1005840" cy="512064"/>
          </a:xfrm>
          <a:prstGeom xmlns:a="http://schemas.openxmlformats.org/drawingml/2006/main" prst="rect">
            <a:avLst/>
          </a:prstGeom>
        </p:spPr>
      </p:pic>
      <p:sp>
        <p:nvSpPr>
          <p:cNvPr id="7" name="Shape 3">
            <a:extLst xmlns:a="http://schemas.openxmlformats.org/drawingml/2006/main">
              <a:ext uri="{FF2B5EF4-FFF2-40B4-BE49-F238E27FC236}">
                <a16:creationId xmlns:a16="http://schemas.microsoft.com/office/drawing/2014/main" id="{0BE131A5-B9E1-487C-A35A-0CFDA724A5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868680"/>
            <a:ext cx="1124712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8" name="Text 4">
            <a:extLst xmlns:a="http://schemas.openxmlformats.org/drawingml/2006/main">
              <a:ext uri="{FF2B5EF4-FFF2-40B4-BE49-F238E27FC236}">
                <a16:creationId xmlns:a16="http://schemas.microsoft.com/office/drawing/2014/main" id="{542A26E8-13BE-47A8-A5B5-3D3F3BCF68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1680" y="182880"/>
            <a:ext cx="81381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200" b="1">
                <a:solidFill>
                  <a:srgbClr val="1976D2"/>
                </a:solidFill>
                <a:latin typeface="Calibri"/>
                <a:ea typeface="Calibri"/>
                <a:cs typeface="Calibri"/>
              </a:rPr>
              <a:t>3 | Uji request dan respons HTTP</a:t>
            </a:r>
            <a:endParaRPr sz="2200"/>
          </a:p>
        </p:txBody>
      </p:sp>
      <p:sp>
        <p:nvSpPr>
          <p:cNvPr id="9" name="Text 5">
            <a:extLst xmlns:a="http://schemas.openxmlformats.org/drawingml/2006/main">
              <a:ext uri="{FF2B5EF4-FFF2-40B4-BE49-F238E27FC236}">
                <a16:creationId xmlns:a16="http://schemas.microsoft.com/office/drawing/2014/main" id="{1550B486-D4D2-4FFE-A415-3C0BB005A0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60120"/>
            <a:ext cx="1124712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PowerShell: terminal Windows; contoh Bash ada di modul</a:t>
            </a:r>
            <a:endParaRPr sz="1200"/>
          </a:p>
        </p:txBody>
      </p:sp>
      <p:sp>
        <p:nvSpPr>
          <p:cNvPr id="10" name="Shape 6">
            <a:extLst xmlns:a="http://schemas.openxmlformats.org/drawingml/2006/main">
              <a:ext uri="{FF2B5EF4-FFF2-40B4-BE49-F238E27FC236}">
                <a16:creationId xmlns:a16="http://schemas.microsoft.com/office/drawing/2014/main" id="{EF7EFBC4-1A6C-4932-A7AE-FA84628526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5577840" cy="47548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93B"/>
          </a:solidFill>
          <a:ln xmlns:a="http://schemas.openxmlformats.org/drawingml/2006/main" w="12700">
            <a:solidFill>
              <a:srgbClr val="0F172A"/>
            </a:solidFill>
            <a:prstDash val="solid"/>
          </a:ln>
        </p:spPr>
      </p:sp>
      <p:sp>
        <p:nvSpPr>
          <p:cNvPr id="11" name="Shape 7">
            <a:extLst xmlns:a="http://schemas.openxmlformats.org/drawingml/2006/main">
              <a:ext uri="{FF2B5EF4-FFF2-40B4-BE49-F238E27FC236}">
                <a16:creationId xmlns:a16="http://schemas.microsoft.com/office/drawing/2014/main" id="{0B009937-CFDA-47D9-B6D1-21061F585A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5577840" cy="2743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172A"/>
          </a:solidFill>
          <a:ln xmlns:a="http://schemas.openxmlformats.org/drawingml/2006/main" w="12700">
            <a:solidFill>
              <a:srgbClr val="0F172A"/>
            </a:solidFill>
            <a:prstDash val="solid"/>
          </a:ln>
        </p:spPr>
      </p:sp>
      <p:sp>
        <p:nvSpPr>
          <p:cNvPr id="12" name="Shape 8">
            <a:extLst xmlns:a="http://schemas.openxmlformats.org/drawingml/2006/main">
              <a:ext uri="{FF2B5EF4-FFF2-40B4-BE49-F238E27FC236}">
                <a16:creationId xmlns:a16="http://schemas.microsoft.com/office/drawing/2014/main" id="{BC906492-56DA-4687-B811-B8E0FD9235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F4444"/>
          </a:solidFill>
          <a:ln xmlns:a="http://schemas.openxmlformats.org/drawingml/2006/main" w="12700">
            <a:solidFill>
              <a:srgbClr val="EF4444"/>
            </a:solidFill>
            <a:prstDash val="solid"/>
          </a:ln>
        </p:spPr>
      </p:sp>
      <p:sp>
        <p:nvSpPr>
          <p:cNvPr id="13" name="Shape 9">
            <a:extLst xmlns:a="http://schemas.openxmlformats.org/drawingml/2006/main">
              <a:ext uri="{FF2B5EF4-FFF2-40B4-BE49-F238E27FC236}">
                <a16:creationId xmlns:a16="http://schemas.microsoft.com/office/drawing/2014/main" id="{BD40E66E-C769-45CB-AFC4-6C5F156BF7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59E0B"/>
          </a:solidFill>
          <a:ln xmlns:a="http://schemas.openxmlformats.org/drawingml/2006/main" w="12700">
            <a:solidFill>
              <a:srgbClr val="F59E0B"/>
            </a:solidFill>
            <a:prstDash val="solid"/>
          </a:ln>
        </p:spPr>
      </p:sp>
      <p:sp>
        <p:nvSpPr>
          <p:cNvPr id="14" name="Shape 10">
            <a:extLst xmlns:a="http://schemas.openxmlformats.org/drawingml/2006/main">
              <a:ext uri="{FF2B5EF4-FFF2-40B4-BE49-F238E27FC236}">
                <a16:creationId xmlns:a16="http://schemas.microsoft.com/office/drawing/2014/main" id="{88055D29-36F6-4A8F-A558-BC0D36CF25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0B981"/>
          </a:solidFill>
          <a:ln xmlns:a="http://schemas.openxmlformats.org/drawingml/2006/main" w="12700">
            <a:solidFill>
              <a:srgbClr val="10B981"/>
            </a:solidFill>
            <a:prstDash val="solid"/>
          </a:ln>
        </p:spPr>
      </p:sp>
      <p:sp>
        <p:nvSpPr>
          <p:cNvPr id="15" name="Text 11">
            <a:extLst xmlns:a="http://schemas.openxmlformats.org/drawingml/2006/main">
              <a:ext uri="{FF2B5EF4-FFF2-40B4-BE49-F238E27FC236}">
                <a16:creationId xmlns:a16="http://schemas.microsoft.com/office/drawing/2014/main" id="{4F4F13C5-7A0F-485C-98ED-684C529B54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1417320"/>
            <a:ext cx="484632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PowerShell</a:t>
            </a:r>
            <a:endParaRPr sz="900"/>
          </a:p>
        </p:txBody>
      </p:sp>
      <p:sp>
        <p:nvSpPr>
          <p:cNvPr id="16" name="Text 12">
            <a:extLst xmlns:a="http://schemas.openxmlformats.org/drawingml/2006/main">
              <a:ext uri="{FF2B5EF4-FFF2-40B4-BE49-F238E27FC236}">
                <a16:creationId xmlns:a16="http://schemas.microsoft.com/office/drawing/2014/main" id="{216BD602-565D-4B39-B21C-0850A89452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1783080"/>
            <a:ext cx="5303520" cy="42976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50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Invoke-RestMethod http://127.0.0.1:8000/health
Invoke-RestMethod http://127.0.0.1:8000/runtime
$body = '{"title":"Docker","content":"Kelas"}'
Invoke-RestMethod http://127.0.0.1:8000/notes `
  -Method Post -ContentType application/json `
  -Body $body
Invoke-RestMethod http://127.0.0.1:8000/notes</a:t>
            </a:r>
            <a:endParaRPr sz="1500">
              <a:solidFill>
                <a:srgbClr val="FFFFFF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17" name="Shape 13">
            <a:extLst xmlns:a="http://schemas.openxmlformats.org/drawingml/2006/main">
              <a:ext uri="{FF2B5EF4-FFF2-40B4-BE49-F238E27FC236}">
                <a16:creationId xmlns:a16="http://schemas.microsoft.com/office/drawing/2014/main" id="{4FC6667E-BC5A-4494-A9AC-9AC77F6C9C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0" y="1417320"/>
            <a:ext cx="5486400" cy="47548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93B"/>
          </a:solidFill>
          <a:ln xmlns:a="http://schemas.openxmlformats.org/drawingml/2006/main" w="12700">
            <a:solidFill>
              <a:srgbClr val="0F172A"/>
            </a:solidFill>
            <a:prstDash val="solid"/>
          </a:ln>
        </p:spPr>
      </p:sp>
      <p:sp>
        <p:nvSpPr>
          <p:cNvPr id="18" name="Shape 14">
            <a:extLst xmlns:a="http://schemas.openxmlformats.org/drawingml/2006/main">
              <a:ext uri="{FF2B5EF4-FFF2-40B4-BE49-F238E27FC236}">
                <a16:creationId xmlns:a16="http://schemas.microsoft.com/office/drawing/2014/main" id="{1DD64200-FD8A-4112-90FF-65870FAAB0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0" y="1417320"/>
            <a:ext cx="5486400" cy="2743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172A"/>
          </a:solidFill>
          <a:ln xmlns:a="http://schemas.openxmlformats.org/drawingml/2006/main" w="12700">
            <a:solidFill>
              <a:srgbClr val="0F172A"/>
            </a:solidFill>
            <a:prstDash val="solid"/>
          </a:ln>
        </p:spPr>
      </p:sp>
      <p:sp>
        <p:nvSpPr>
          <p:cNvPr id="19" name="Shape 15">
            <a:extLst xmlns:a="http://schemas.openxmlformats.org/drawingml/2006/main">
              <a:ext uri="{FF2B5EF4-FFF2-40B4-BE49-F238E27FC236}">
                <a16:creationId xmlns:a16="http://schemas.microsoft.com/office/drawing/2014/main" id="{B8FAD6A4-6D3E-4B3F-B232-6A162033BF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936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F4444"/>
          </a:solidFill>
          <a:ln xmlns:a="http://schemas.openxmlformats.org/drawingml/2006/main" w="12700">
            <a:solidFill>
              <a:srgbClr val="EF4444"/>
            </a:solidFill>
            <a:prstDash val="solid"/>
          </a:ln>
        </p:spPr>
      </p:sp>
      <p:sp>
        <p:nvSpPr>
          <p:cNvPr id="20" name="Shape 16">
            <a:extLst xmlns:a="http://schemas.openxmlformats.org/drawingml/2006/main">
              <a:ext uri="{FF2B5EF4-FFF2-40B4-BE49-F238E27FC236}">
                <a16:creationId xmlns:a16="http://schemas.microsoft.com/office/drawing/2014/main" id="{B34F514C-D843-421F-9034-94FF2F5896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52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59E0B"/>
          </a:solidFill>
          <a:ln xmlns:a="http://schemas.openxmlformats.org/drawingml/2006/main" w="12700">
            <a:solidFill>
              <a:srgbClr val="F59E0B"/>
            </a:solidFill>
            <a:prstDash val="solid"/>
          </a:ln>
        </p:spPr>
      </p:sp>
      <p:sp>
        <p:nvSpPr>
          <p:cNvPr id="21" name="Shape 17">
            <a:extLst xmlns:a="http://schemas.openxmlformats.org/drawingml/2006/main">
              <a:ext uri="{FF2B5EF4-FFF2-40B4-BE49-F238E27FC236}">
                <a16:creationId xmlns:a16="http://schemas.microsoft.com/office/drawing/2014/main" id="{DFB0AA80-B6E3-4FB5-A7D7-3DD8CCCB15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0B981"/>
          </a:solidFill>
          <a:ln xmlns:a="http://schemas.openxmlformats.org/drawingml/2006/main" w="12700">
            <a:solidFill>
              <a:srgbClr val="10B981"/>
            </a:solidFill>
            <a:prstDash val="solid"/>
          </a:ln>
        </p:spPr>
      </p:sp>
      <p:sp>
        <p:nvSpPr>
          <p:cNvPr id="22" name="Text 18">
            <a:extLst xmlns:a="http://schemas.openxmlformats.org/drawingml/2006/main">
              <a:ext uri="{FF2B5EF4-FFF2-40B4-BE49-F238E27FC236}">
                <a16:creationId xmlns:a16="http://schemas.microsoft.com/office/drawing/2014/main" id="{F14AEEB9-FF00-40A8-871F-075FDA8E3A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6560" y="1417320"/>
            <a:ext cx="475488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Arti hasil</a:t>
            </a:r>
            <a:endParaRPr sz="900"/>
          </a:p>
        </p:txBody>
      </p:sp>
      <p:sp>
        <p:nvSpPr>
          <p:cNvPr id="23" name="Text 19">
            <a:extLst xmlns:a="http://schemas.openxmlformats.org/drawingml/2006/main">
              <a:ext uri="{FF2B5EF4-FFF2-40B4-BE49-F238E27FC236}">
                <a16:creationId xmlns:a16="http://schemas.microsoft.com/office/drawing/2014/main" id="{8C5BA441-A1CC-4C65-B69D-A9B0E6EEC5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5080" y="1783080"/>
            <a:ext cx="5212080" cy="42976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600">
                <a:solidFill>
                  <a:srgbClr val="FFFFFF"/>
                </a:solidFill>
                <a:latin typeface="Aptos"/>
                <a:ea typeface="Aptos"/>
                <a:cs typeface="Aptos"/>
              </a:rPr>
              <a:t>/health membuktikan proses merespons.
/runtime menunjukkan APP_ENV=classroom
dan storage=memory.
POST membuat item, HTTP 201.
GET membaca item yang sama.
Data saat ini berada di memori proses,
belum di PostgreSQL.</a:t>
            </a:r>
            <a:endParaRPr sz="1600">
              <a:solidFill>
                <a:srgbClr val="FFFFFF"/>
              </a:solidFill>
              <a:latin typeface="Aptos"/>
              <a:ea typeface="Aptos"/>
              <a:cs typeface="Aptos"/>
            </a:endParaRPr>
          </a:p>
        </p:txBody>
      </p:sp>
    </p:spTree>
    <p:extLst>
      <p:ext uri="{BB962C8B-B14F-4D97-AF65-F5344CB8AC3E}">
        <p14:creationId xmlns:p14="http://schemas.microsoft.com/office/powerpoint/2010/main" val="1587538053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37D1690F-F165-4F75-85B1-7C6ABE417B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92240"/>
            <a:ext cx="7315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BINUS UNIVERSITY  |  Cloud Services  |  Praktikum 5</a:t>
            </a:r>
            <a:endParaRPr sz="9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5200C0D8-C3B9-42ED-9CDD-139F06078B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47120" y="6492240"/>
            <a:ext cx="457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 b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8</a:t>
            </a:r>
            <a:endParaRPr sz="90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2BDAFDFB-A98B-460A-956C-B87FC12325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46520"/>
            <a:ext cx="228600" cy="365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pic>
        <p:nvPicPr>
          <p:cNvPr id="44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735da054a0b48c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74320" y="164592"/>
            <a:ext cx="914400" cy="603504"/>
          </a:xfrm>
          <a:prstGeom xmlns:a="http://schemas.openxmlformats.org/drawingml/2006/main" prst="rect">
            <a:avLst/>
          </a:prstGeom>
        </p:spPr>
      </p:pic>
      <p:pic>
        <p:nvPicPr>
          <p:cNvPr id="45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848ddacc7c6477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881360" y="182880"/>
            <a:ext cx="1005840" cy="512064"/>
          </a:xfrm>
          <a:prstGeom xmlns:a="http://schemas.openxmlformats.org/drawingml/2006/main" prst="rect">
            <a:avLst/>
          </a:prstGeom>
        </p:spPr>
      </p:pic>
      <p:sp>
        <p:nvSpPr>
          <p:cNvPr id="7" name="Shape 3">
            <a:extLst xmlns:a="http://schemas.openxmlformats.org/drawingml/2006/main">
              <a:ext uri="{FF2B5EF4-FFF2-40B4-BE49-F238E27FC236}">
                <a16:creationId xmlns:a16="http://schemas.microsoft.com/office/drawing/2014/main" id="{D39FCBC8-085B-43DB-8BF1-132A0E9F28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868680"/>
            <a:ext cx="1124712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8" name="Text 4">
            <a:extLst xmlns:a="http://schemas.openxmlformats.org/drawingml/2006/main">
              <a:ext uri="{FF2B5EF4-FFF2-40B4-BE49-F238E27FC236}">
                <a16:creationId xmlns:a16="http://schemas.microsoft.com/office/drawing/2014/main" id="{FD078660-2977-42F6-9938-F3468D523E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1680" y="182880"/>
            <a:ext cx="81381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200" b="1">
                <a:solidFill>
                  <a:srgbClr val="1976D2"/>
                </a:solidFill>
                <a:latin typeface="Calibri"/>
                <a:ea typeface="Calibri"/>
                <a:cs typeface="Calibri"/>
              </a:rPr>
              <a:t>Bukti 3 | Health, runtime, POST, GET</a:t>
            </a:r>
            <a:endParaRPr sz="2200"/>
          </a:p>
        </p:txBody>
      </p:sp>
      <p:sp>
        <p:nvSpPr>
          <p:cNvPr id="9" name="Text 5">
            <a:extLst xmlns:a="http://schemas.openxmlformats.org/drawingml/2006/main">
              <a:ext uri="{FF2B5EF4-FFF2-40B4-BE49-F238E27FC236}">
                <a16:creationId xmlns:a16="http://schemas.microsoft.com/office/drawing/2014/main" id="{47E8AC49-400F-4641-B8A8-A4111A835B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60120"/>
            <a:ext cx="1124712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Satu alur baca dan tulis Cloud Notes</a:t>
            </a:r>
            <a:endParaRPr sz="1200"/>
          </a:p>
        </p:txBody>
      </p:sp>
      <p:sp>
        <p:nvSpPr>
          <p:cNvPr id="10" name="Shape 6">
            <a:extLst xmlns:a="http://schemas.openxmlformats.org/drawingml/2006/main">
              <a:ext uri="{FF2B5EF4-FFF2-40B4-BE49-F238E27FC236}">
                <a16:creationId xmlns:a16="http://schemas.microsoft.com/office/drawing/2014/main" id="{D4B7DB16-2868-4CFB-86BA-61E28A6E1E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5577840" cy="47548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11" name="Text 7">
            <a:extLst xmlns:a="http://schemas.openxmlformats.org/drawingml/2006/main">
              <a:ext uri="{FF2B5EF4-FFF2-40B4-BE49-F238E27FC236}">
                <a16:creationId xmlns:a16="http://schemas.microsoft.com/office/drawing/2014/main" id="{2ABB4B9F-783D-49B8-8E84-66DEE7B96E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00200"/>
            <a:ext cx="5120640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 spc="300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PERINTAH, FUNGSI, DAN HASIL</a:t>
            </a:r>
            <a:endParaRPr sz="1100"/>
          </a:p>
        </p:txBody>
      </p:sp>
      <p:pic>
        <p:nvPicPr>
          <p:cNvPr id="51" name="Image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a294352522a479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2697480"/>
            <a:ext cx="292608" cy="292608"/>
          </a:xfrm>
          <a:prstGeom xmlns:a="http://schemas.openxmlformats.org/drawingml/2006/main" prst="rect">
            <a:avLst/>
          </a:prstGeom>
        </p:spPr>
      </p:pic>
      <p:sp>
        <p:nvSpPr>
          <p:cNvPr id="13" name="Text 8">
            <a:extLst xmlns:a="http://schemas.openxmlformats.org/drawingml/2006/main">
              <a:ext uri="{FF2B5EF4-FFF2-40B4-BE49-F238E27FC236}">
                <a16:creationId xmlns:a16="http://schemas.microsoft.com/office/drawing/2014/main" id="{21B8F3DD-819C-4A45-82A4-9C187902E7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7008" y="2606040"/>
            <a:ext cx="47091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>
                <a:solidFill>
                  <a:srgbClr val="312124"/>
                </a:solidFill>
                <a:latin typeface="Aptos"/>
                <a:ea typeface="Aptos"/>
                <a:cs typeface="Aptos"/>
              </a:rPr>
              <a:t>GET /health memeriksa API.</a:t>
            </a:r>
            <a:endParaRPr sz="1400">
              <a:solidFill>
                <a:srgbClr val="312124"/>
              </a:solidFill>
              <a:latin typeface="Aptos"/>
              <a:ea typeface="Aptos"/>
              <a:cs typeface="Aptos"/>
            </a:endParaRPr>
          </a:p>
        </p:txBody>
      </p:sp>
      <p:pic>
        <p:nvPicPr>
          <p:cNvPr id="53" name="Image 3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64b6823d2804fd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3200400"/>
            <a:ext cx="292608" cy="292608"/>
          </a:xfrm>
          <a:prstGeom xmlns:a="http://schemas.openxmlformats.org/drawingml/2006/main" prst="rect">
            <a:avLst/>
          </a:prstGeom>
        </p:spPr>
      </p:pic>
      <p:sp>
        <p:nvSpPr>
          <p:cNvPr id="15" name="Text 9">
            <a:extLst xmlns:a="http://schemas.openxmlformats.org/drawingml/2006/main">
              <a:ext uri="{FF2B5EF4-FFF2-40B4-BE49-F238E27FC236}">
                <a16:creationId xmlns:a16="http://schemas.microsoft.com/office/drawing/2014/main" id="{8B34538D-C99A-4D60-9896-DDB83EB0F8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7008" y="3108960"/>
            <a:ext cx="47091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>
                <a:solidFill>
                  <a:srgbClr val="312124"/>
                </a:solidFill>
                <a:latin typeface="Aptos"/>
                <a:ea typeface="Aptos"/>
                <a:cs typeface="Aptos"/>
              </a:rPr>
              <a:t>GET /runtime membaca APP_ENV.</a:t>
            </a:r>
            <a:endParaRPr sz="1400">
              <a:solidFill>
                <a:srgbClr val="312124"/>
              </a:solidFill>
              <a:latin typeface="Aptos"/>
              <a:ea typeface="Aptos"/>
              <a:cs typeface="Aptos"/>
            </a:endParaRPr>
          </a:p>
        </p:txBody>
      </p:sp>
      <p:pic>
        <p:nvPicPr>
          <p:cNvPr id="55" name="Image 4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9fc62ab1a90495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3703320"/>
            <a:ext cx="292608" cy="292608"/>
          </a:xfrm>
          <a:prstGeom xmlns:a="http://schemas.openxmlformats.org/drawingml/2006/main" prst="rect">
            <a:avLst/>
          </a:prstGeom>
        </p:spPr>
      </p:pic>
      <p:sp>
        <p:nvSpPr>
          <p:cNvPr id="17" name="Text 10">
            <a:extLst xmlns:a="http://schemas.openxmlformats.org/drawingml/2006/main">
              <a:ext uri="{FF2B5EF4-FFF2-40B4-BE49-F238E27FC236}">
                <a16:creationId xmlns:a16="http://schemas.microsoft.com/office/drawing/2014/main" id="{6F0803C6-D1E3-4789-AB5C-F5AA208B93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7008" y="3611880"/>
            <a:ext cx="47091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>
                <a:solidFill>
                  <a:srgbClr val="312124"/>
                </a:solidFill>
                <a:latin typeface="Aptos"/>
                <a:ea typeface="Aptos"/>
                <a:cs typeface="Aptos"/>
              </a:rPr>
              <a:t>POST /notes mengirim JSON.</a:t>
            </a:r>
            <a:endParaRPr sz="1400">
              <a:solidFill>
                <a:srgbClr val="312124"/>
              </a:solidFill>
              <a:latin typeface="Aptos"/>
              <a:ea typeface="Aptos"/>
              <a:cs typeface="Aptos"/>
            </a:endParaRPr>
          </a:p>
        </p:txBody>
      </p:sp>
      <p:pic>
        <p:nvPicPr>
          <p:cNvPr id="57" name="Image 5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84a4c1611c84e1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4206240"/>
            <a:ext cx="292608" cy="292608"/>
          </a:xfrm>
          <a:prstGeom xmlns:a="http://schemas.openxmlformats.org/drawingml/2006/main" prst="rect">
            <a:avLst/>
          </a:prstGeom>
        </p:spPr>
      </p:pic>
      <p:sp>
        <p:nvSpPr>
          <p:cNvPr id="19" name="Text 11">
            <a:extLst xmlns:a="http://schemas.openxmlformats.org/drawingml/2006/main">
              <a:ext uri="{FF2B5EF4-FFF2-40B4-BE49-F238E27FC236}">
                <a16:creationId xmlns:a16="http://schemas.microsoft.com/office/drawing/2014/main" id="{B689D715-113F-4786-A9EA-3C3BC1106B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7008" y="4114800"/>
            <a:ext cx="47091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>
                <a:solidFill>
                  <a:srgbClr val="312124"/>
                </a:solidFill>
                <a:latin typeface="Aptos"/>
                <a:ea typeface="Aptos"/>
                <a:cs typeface="Aptos"/>
              </a:rPr>
              <a:t>FastAPI membuat ID catatan.</a:t>
            </a:r>
            <a:endParaRPr sz="1400">
              <a:solidFill>
                <a:srgbClr val="312124"/>
              </a:solidFill>
              <a:latin typeface="Aptos"/>
              <a:ea typeface="Aptos"/>
              <a:cs typeface="Aptos"/>
            </a:endParaRPr>
          </a:p>
        </p:txBody>
      </p:sp>
      <p:pic>
        <p:nvPicPr>
          <p:cNvPr id="59" name="Image 6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ddd1fc4c4984f2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4709160"/>
            <a:ext cx="292608" cy="292608"/>
          </a:xfrm>
          <a:prstGeom xmlns:a="http://schemas.openxmlformats.org/drawingml/2006/main" prst="rect">
            <a:avLst/>
          </a:prstGeom>
        </p:spPr>
      </p:pic>
      <p:sp>
        <p:nvSpPr>
          <p:cNvPr id="21" name="Text 12">
            <a:extLst xmlns:a="http://schemas.openxmlformats.org/drawingml/2006/main">
              <a:ext uri="{FF2B5EF4-FFF2-40B4-BE49-F238E27FC236}">
                <a16:creationId xmlns:a16="http://schemas.microsoft.com/office/drawing/2014/main" id="{E4831475-F991-47F8-B116-071D79B5F1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7008" y="4617720"/>
            <a:ext cx="47091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>
                <a:solidFill>
                  <a:srgbClr val="312124"/>
                </a:solidFill>
                <a:latin typeface="Aptos"/>
                <a:ea typeface="Aptos"/>
                <a:cs typeface="Aptos"/>
              </a:rPr>
              <a:t>GET /notes membaca daftar terbaru.</a:t>
            </a:r>
            <a:endParaRPr sz="1400">
              <a:solidFill>
                <a:srgbClr val="312124"/>
              </a:solidFill>
              <a:latin typeface="Aptos"/>
              <a:ea typeface="Aptos"/>
              <a:cs typeface="Aptos"/>
            </a:endParaRPr>
          </a:p>
        </p:txBody>
      </p:sp>
      <p:pic>
        <p:nvPicPr>
          <p:cNvPr id="61" name="Image 7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5bc748dcedf4fe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5212080"/>
            <a:ext cx="292608" cy="292608"/>
          </a:xfrm>
          <a:prstGeom xmlns:a="http://schemas.openxmlformats.org/drawingml/2006/main" prst="rect">
            <a:avLst/>
          </a:prstGeom>
        </p:spPr>
      </p:pic>
      <p:sp>
        <p:nvSpPr>
          <p:cNvPr id="23" name="Text 13">
            <a:extLst xmlns:a="http://schemas.openxmlformats.org/drawingml/2006/main">
              <a:ext uri="{FF2B5EF4-FFF2-40B4-BE49-F238E27FC236}">
                <a16:creationId xmlns:a16="http://schemas.microsoft.com/office/drawing/2014/main" id="{6A01F202-6B4B-4CE9-A9ED-92D21620A5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7008" y="5120640"/>
            <a:ext cx="47091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>
                <a:solidFill>
                  <a:srgbClr val="312124"/>
                </a:solidFill>
                <a:latin typeface="Aptos"/>
                <a:ea typeface="Aptos"/>
                <a:cs typeface="Aptos"/>
              </a:rPr>
              <a:t>ID dapat berbeda di komputer lain.</a:t>
            </a:r>
            <a:endParaRPr sz="1400">
              <a:solidFill>
                <a:srgbClr val="312124"/>
              </a:solidFill>
              <a:latin typeface="Aptos"/>
              <a:ea typeface="Aptos"/>
              <a:cs typeface="Aptos"/>
            </a:endParaRPr>
          </a:p>
        </p:txBody>
      </p:sp>
      <p:pic>
        <p:nvPicPr>
          <p:cNvPr id="63" name="Image 8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21dd43b74f64cf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5715000"/>
            <a:ext cx="292608" cy="292608"/>
          </a:xfrm>
          <a:prstGeom xmlns:a="http://schemas.openxmlformats.org/drawingml/2006/main" prst="rect">
            <a:avLst/>
          </a:prstGeom>
        </p:spPr>
      </p:pic>
      <p:sp>
        <p:nvSpPr>
          <p:cNvPr id="25" name="Text 14">
            <a:extLst xmlns:a="http://schemas.openxmlformats.org/drawingml/2006/main">
              <a:ext uri="{FF2B5EF4-FFF2-40B4-BE49-F238E27FC236}">
                <a16:creationId xmlns:a16="http://schemas.microsoft.com/office/drawing/2014/main" id="{C8CF284B-596A-4E15-B36E-FEA8F181A3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7008" y="5623560"/>
            <a:ext cx="47091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>
                <a:solidFill>
                  <a:srgbClr val="312124"/>
                </a:solidFill>
                <a:latin typeface="Aptos"/>
                <a:ea typeface="Aptos"/>
                <a:cs typeface="Aptos"/>
              </a:rPr>
              <a:t>Bandingkan judul sebelum/sesudah.</a:t>
            </a:r>
            <a:endParaRPr sz="1400">
              <a:solidFill>
                <a:srgbClr val="312124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26" name="Shape 15">
            <a:extLst xmlns:a="http://schemas.openxmlformats.org/drawingml/2006/main">
              <a:ext uri="{FF2B5EF4-FFF2-40B4-BE49-F238E27FC236}">
                <a16:creationId xmlns:a16="http://schemas.microsoft.com/office/drawing/2014/main" id="{EBBA64D0-5A1F-41F5-ADBB-F3628C3DAE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0" y="1417320"/>
            <a:ext cx="5486400" cy="47548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677"/>
          </a:solidFill>
          <a:ln xmlns:a="http://schemas.openxmlformats.org/drawingml/2006/main" w="12700">
            <a:solidFill>
              <a:srgbClr val="002677"/>
            </a:solidFill>
            <a:prstDash val="solid"/>
          </a:ln>
        </p:spPr>
      </p:sp>
      <p:sp>
        <p:nvSpPr>
          <p:cNvPr id="27" name="Text 16">
            <a:extLst xmlns:a="http://schemas.openxmlformats.org/drawingml/2006/main">
              <a:ext uri="{FF2B5EF4-FFF2-40B4-BE49-F238E27FC236}">
                <a16:creationId xmlns:a16="http://schemas.microsoft.com/office/drawing/2014/main" id="{F93B6FBA-EBF8-4CE7-8FD0-1285046CED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520" y="1600200"/>
            <a:ext cx="5120640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 spc="300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BUKTI PADA MESIN UJI</a:t>
            </a:r>
            <a:endParaRPr sz="1100"/>
          </a:p>
        </p:txBody>
      </p:sp>
      <p:sp>
        <p:nvSpPr>
          <p:cNvPr id="28" name="Text 17">
            <a:extLst xmlns:a="http://schemas.openxmlformats.org/drawingml/2006/main">
              <a:ext uri="{FF2B5EF4-FFF2-40B4-BE49-F238E27FC236}">
                <a16:creationId xmlns:a16="http://schemas.microsoft.com/office/drawing/2014/main" id="{91813A75-E7B7-4EC5-8D3B-80B050F561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520" y="2606040"/>
            <a:ext cx="5029200" cy="2743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spcAft>
                <a:spcPts val="600"/>
              </a:spcAft>
              <a:buNone/>
            </a:pPr>
            <a:endParaRPr sz="1200"/>
          </a:p>
        </p:txBody>
      </p:sp>
      <p:sp>
        <p:nvSpPr>
          <p:cNvPr id="29" name="Shape 18">
            <a:extLst xmlns:a="http://schemas.openxmlformats.org/drawingml/2006/main">
              <a:ext uri="{FF2B5EF4-FFF2-40B4-BE49-F238E27FC236}">
                <a16:creationId xmlns:a16="http://schemas.microsoft.com/office/drawing/2014/main" id="{24D0E304-2674-4327-9089-436C00B6BE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520" y="5349240"/>
            <a:ext cx="5029200" cy="7315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30" name="Text 19">
            <a:extLst xmlns:a="http://schemas.openxmlformats.org/drawingml/2006/main">
              <a:ext uri="{FF2B5EF4-FFF2-40B4-BE49-F238E27FC236}">
                <a16:creationId xmlns:a16="http://schemas.microsoft.com/office/drawing/2014/main" id="{C3C8DCEE-F101-4F75-815A-E51E45674C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520" y="5349240"/>
            <a:ext cx="5029200" cy="7315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500" i="1">
                <a:solidFill>
                  <a:srgbClr val="FFFFFF"/>
                </a:solidFill>
                <a:latin typeface="Aptos"/>
                <a:ea typeface="Aptos"/>
                <a:cs typeface="Aptos"/>
              </a:rPr>
              <a:t>Status sehat dan catatan baru terlihat.</a:t>
            </a:r>
            <a:endParaRPr sz="1500">
              <a:solidFill>
                <a:srgbClr val="FFFFFF"/>
              </a:solidFill>
              <a:latin typeface="Aptos"/>
              <a:ea typeface="Aptos"/>
              <a:cs typeface="Aptos"/>
            </a:endParaRPr>
          </a:p>
        </p:txBody>
      </p:sp>
      <p:pic>
        <p:nvPicPr>
          <p:cNvPr id="70" name="Picture 3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69c6f40d8ce4d3d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419088" y="2172843"/>
            <a:ext cx="5084064" cy="2859786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03576036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A49D98AC-5F7F-4709-834C-D303B52E0F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92240"/>
            <a:ext cx="7315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BINUS UNIVERSITY  |  Cloud Services  |  Praktikum 5</a:t>
            </a:r>
            <a:endParaRPr sz="9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2458FC16-116F-4454-850E-2DB5624D57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47120" y="6492240"/>
            <a:ext cx="457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 b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9</a:t>
            </a:r>
            <a:endParaRPr sz="90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483E267D-F69D-494C-A64F-8535C8737E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46520"/>
            <a:ext cx="228600" cy="365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pic>
        <p:nvPicPr>
          <p:cNvPr id="29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12a77ce2d6c4f8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74320" y="164592"/>
            <a:ext cx="914400" cy="603504"/>
          </a:xfrm>
          <a:prstGeom xmlns:a="http://schemas.openxmlformats.org/drawingml/2006/main" prst="rect">
            <a:avLst/>
          </a:prstGeom>
        </p:spPr>
      </p:pic>
      <p:pic>
        <p:nvPicPr>
          <p:cNvPr id="30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dca11ea966c4cd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881360" y="182880"/>
            <a:ext cx="1005840" cy="512064"/>
          </a:xfrm>
          <a:prstGeom xmlns:a="http://schemas.openxmlformats.org/drawingml/2006/main" prst="rect">
            <a:avLst/>
          </a:prstGeom>
        </p:spPr>
      </p:pic>
      <p:sp>
        <p:nvSpPr>
          <p:cNvPr id="7" name="Shape 3">
            <a:extLst xmlns:a="http://schemas.openxmlformats.org/drawingml/2006/main">
              <a:ext uri="{FF2B5EF4-FFF2-40B4-BE49-F238E27FC236}">
                <a16:creationId xmlns:a16="http://schemas.microsoft.com/office/drawing/2014/main" id="{F4A1A31B-AEEB-41E0-808C-AFDD12D41B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868680"/>
            <a:ext cx="1124712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8" name="Text 4">
            <a:extLst xmlns:a="http://schemas.openxmlformats.org/drawingml/2006/main">
              <a:ext uri="{FF2B5EF4-FFF2-40B4-BE49-F238E27FC236}">
                <a16:creationId xmlns:a16="http://schemas.microsoft.com/office/drawing/2014/main" id="{61FEAFCC-A483-491B-A0F6-B28DD5E3F8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1680" y="182880"/>
            <a:ext cx="81381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200" b="1">
                <a:solidFill>
                  <a:srgbClr val="1976D2"/>
                </a:solidFill>
                <a:latin typeface="Calibri"/>
                <a:ea typeface="Calibri"/>
                <a:cs typeface="Calibri"/>
              </a:rPr>
              <a:t>4 | Uji validasi dan reset proses</a:t>
            </a:r>
            <a:endParaRPr sz="2200"/>
          </a:p>
        </p:txBody>
      </p:sp>
      <p:sp>
        <p:nvSpPr>
          <p:cNvPr id="9" name="Text 5">
            <a:extLst xmlns:a="http://schemas.openxmlformats.org/drawingml/2006/main">
              <a:ext uri="{FF2B5EF4-FFF2-40B4-BE49-F238E27FC236}">
                <a16:creationId xmlns:a16="http://schemas.microsoft.com/office/drawing/2014/main" id="{60A7B53A-26A8-4A3A-A1D5-358EBE7FBA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60120"/>
            <a:ext cx="1124712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Simulasi kegagalan input dan hilangnya state sementara</a:t>
            </a:r>
            <a:endParaRPr sz="1200"/>
          </a:p>
        </p:txBody>
      </p:sp>
      <p:sp>
        <p:nvSpPr>
          <p:cNvPr id="10" name="Shape 6">
            <a:extLst xmlns:a="http://schemas.openxmlformats.org/drawingml/2006/main">
              <a:ext uri="{FF2B5EF4-FFF2-40B4-BE49-F238E27FC236}">
                <a16:creationId xmlns:a16="http://schemas.microsoft.com/office/drawing/2014/main" id="{00435253-6016-4F4F-AC22-3B4A4D5F4F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5577840" cy="47548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93B"/>
          </a:solidFill>
          <a:ln xmlns:a="http://schemas.openxmlformats.org/drawingml/2006/main" w="12700">
            <a:solidFill>
              <a:srgbClr val="0F172A"/>
            </a:solidFill>
            <a:prstDash val="solid"/>
          </a:ln>
        </p:spPr>
      </p:sp>
      <p:sp>
        <p:nvSpPr>
          <p:cNvPr id="11" name="Shape 7">
            <a:extLst xmlns:a="http://schemas.openxmlformats.org/drawingml/2006/main">
              <a:ext uri="{FF2B5EF4-FFF2-40B4-BE49-F238E27FC236}">
                <a16:creationId xmlns:a16="http://schemas.microsoft.com/office/drawing/2014/main" id="{FEE3EF06-E15D-4EA4-8B85-2DACAB14F0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5577840" cy="2743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172A"/>
          </a:solidFill>
          <a:ln xmlns:a="http://schemas.openxmlformats.org/drawingml/2006/main" w="12700">
            <a:solidFill>
              <a:srgbClr val="0F172A"/>
            </a:solidFill>
            <a:prstDash val="solid"/>
          </a:ln>
        </p:spPr>
      </p:sp>
      <p:sp>
        <p:nvSpPr>
          <p:cNvPr id="12" name="Shape 8">
            <a:extLst xmlns:a="http://schemas.openxmlformats.org/drawingml/2006/main">
              <a:ext uri="{FF2B5EF4-FFF2-40B4-BE49-F238E27FC236}">
                <a16:creationId xmlns:a16="http://schemas.microsoft.com/office/drawing/2014/main" id="{D0480F6F-00EF-4E5F-8ECA-CB27F67993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F4444"/>
          </a:solidFill>
          <a:ln xmlns:a="http://schemas.openxmlformats.org/drawingml/2006/main" w="12700">
            <a:solidFill>
              <a:srgbClr val="EF4444"/>
            </a:solidFill>
            <a:prstDash val="solid"/>
          </a:ln>
        </p:spPr>
      </p:sp>
      <p:sp>
        <p:nvSpPr>
          <p:cNvPr id="13" name="Shape 9">
            <a:extLst xmlns:a="http://schemas.openxmlformats.org/drawingml/2006/main">
              <a:ext uri="{FF2B5EF4-FFF2-40B4-BE49-F238E27FC236}">
                <a16:creationId xmlns:a16="http://schemas.microsoft.com/office/drawing/2014/main" id="{CBAD3BE7-D024-44F0-923A-E05A7EBE80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59E0B"/>
          </a:solidFill>
          <a:ln xmlns:a="http://schemas.openxmlformats.org/drawingml/2006/main" w="12700">
            <a:solidFill>
              <a:srgbClr val="F59E0B"/>
            </a:solidFill>
            <a:prstDash val="solid"/>
          </a:ln>
        </p:spPr>
      </p:sp>
      <p:sp>
        <p:nvSpPr>
          <p:cNvPr id="14" name="Shape 10">
            <a:extLst xmlns:a="http://schemas.openxmlformats.org/drawingml/2006/main">
              <a:ext uri="{FF2B5EF4-FFF2-40B4-BE49-F238E27FC236}">
                <a16:creationId xmlns:a16="http://schemas.microsoft.com/office/drawing/2014/main" id="{1B7B5A7F-EE12-42DD-A6B6-BD66DF09A5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0B981"/>
          </a:solidFill>
          <a:ln xmlns:a="http://schemas.openxmlformats.org/drawingml/2006/main" w="12700">
            <a:solidFill>
              <a:srgbClr val="10B981"/>
            </a:solidFill>
            <a:prstDash val="solid"/>
          </a:ln>
        </p:spPr>
      </p:sp>
      <p:sp>
        <p:nvSpPr>
          <p:cNvPr id="15" name="Text 11">
            <a:extLst xmlns:a="http://schemas.openxmlformats.org/drawingml/2006/main">
              <a:ext uri="{FF2B5EF4-FFF2-40B4-BE49-F238E27FC236}">
                <a16:creationId xmlns:a16="http://schemas.microsoft.com/office/drawing/2014/main" id="{28620E4A-F55F-4430-B93D-46CF853FCE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1417320"/>
            <a:ext cx="484632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PowerShell</a:t>
            </a:r>
            <a:endParaRPr sz="900"/>
          </a:p>
        </p:txBody>
      </p:sp>
      <p:sp>
        <p:nvSpPr>
          <p:cNvPr id="16" name="Text 12">
            <a:extLst xmlns:a="http://schemas.openxmlformats.org/drawingml/2006/main">
              <a:ext uri="{FF2B5EF4-FFF2-40B4-BE49-F238E27FC236}">
                <a16:creationId xmlns:a16="http://schemas.microsoft.com/office/drawing/2014/main" id="{2C692646-7FC7-4A6F-9F51-D98924020F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1783080"/>
            <a:ext cx="5303520" cy="42976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50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$bad = '{"title":"","content":"uji"}'
try {
  Invoke-WebRequest http://127.0.0.1:8000/notes `
    -Method Post -ContentType application/json `
    -Body $bad -UseBasicParsing
} catch { [int]$_.Exception.Response.StatusCode }
docker rm -f cloudlab-api
# Jalankan ulang docker run pada slide 5.
Invoke-RestMethod http://127.0.0.1:8000/notes</a:t>
            </a:r>
            <a:endParaRPr sz="1500">
              <a:solidFill>
                <a:srgbClr val="FFFFFF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17" name="Shape 13">
            <a:extLst xmlns:a="http://schemas.openxmlformats.org/drawingml/2006/main">
              <a:ext uri="{FF2B5EF4-FFF2-40B4-BE49-F238E27FC236}">
                <a16:creationId xmlns:a16="http://schemas.microsoft.com/office/drawing/2014/main" id="{8165690C-A924-4219-BEBF-8CC330782B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0" y="1417320"/>
            <a:ext cx="5486400" cy="47548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93B"/>
          </a:solidFill>
          <a:ln xmlns:a="http://schemas.openxmlformats.org/drawingml/2006/main" w="12700">
            <a:solidFill>
              <a:srgbClr val="0F172A"/>
            </a:solidFill>
            <a:prstDash val="solid"/>
          </a:ln>
        </p:spPr>
      </p:sp>
      <p:sp>
        <p:nvSpPr>
          <p:cNvPr id="18" name="Shape 14">
            <a:extLst xmlns:a="http://schemas.openxmlformats.org/drawingml/2006/main">
              <a:ext uri="{FF2B5EF4-FFF2-40B4-BE49-F238E27FC236}">
                <a16:creationId xmlns:a16="http://schemas.microsoft.com/office/drawing/2014/main" id="{3263ACB3-C1D0-4CFA-A71E-2B496622E5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0" y="1417320"/>
            <a:ext cx="5486400" cy="2743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172A"/>
          </a:solidFill>
          <a:ln xmlns:a="http://schemas.openxmlformats.org/drawingml/2006/main" w="12700">
            <a:solidFill>
              <a:srgbClr val="0F172A"/>
            </a:solidFill>
            <a:prstDash val="solid"/>
          </a:ln>
        </p:spPr>
      </p:sp>
      <p:sp>
        <p:nvSpPr>
          <p:cNvPr id="19" name="Shape 15">
            <a:extLst xmlns:a="http://schemas.openxmlformats.org/drawingml/2006/main">
              <a:ext uri="{FF2B5EF4-FFF2-40B4-BE49-F238E27FC236}">
                <a16:creationId xmlns:a16="http://schemas.microsoft.com/office/drawing/2014/main" id="{05B1250A-F57A-44F7-BA37-D8C8E6079E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936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F4444"/>
          </a:solidFill>
          <a:ln xmlns:a="http://schemas.openxmlformats.org/drawingml/2006/main" w="12700">
            <a:solidFill>
              <a:srgbClr val="EF4444"/>
            </a:solidFill>
            <a:prstDash val="solid"/>
          </a:ln>
        </p:spPr>
      </p:sp>
      <p:sp>
        <p:nvSpPr>
          <p:cNvPr id="20" name="Shape 16">
            <a:extLst xmlns:a="http://schemas.openxmlformats.org/drawingml/2006/main">
              <a:ext uri="{FF2B5EF4-FFF2-40B4-BE49-F238E27FC236}">
                <a16:creationId xmlns:a16="http://schemas.microsoft.com/office/drawing/2014/main" id="{1A65B0E3-2B3A-4293-91BB-6E8F3CC7D6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52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59E0B"/>
          </a:solidFill>
          <a:ln xmlns:a="http://schemas.openxmlformats.org/drawingml/2006/main" w="12700">
            <a:solidFill>
              <a:srgbClr val="F59E0B"/>
            </a:solidFill>
            <a:prstDash val="solid"/>
          </a:ln>
        </p:spPr>
      </p:sp>
      <p:sp>
        <p:nvSpPr>
          <p:cNvPr id="21" name="Shape 17">
            <a:extLst xmlns:a="http://schemas.openxmlformats.org/drawingml/2006/main">
              <a:ext uri="{FF2B5EF4-FFF2-40B4-BE49-F238E27FC236}">
                <a16:creationId xmlns:a16="http://schemas.microsoft.com/office/drawing/2014/main" id="{E461400D-D4A9-4F10-AE1D-9CB0DC72C8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0B981"/>
          </a:solidFill>
          <a:ln xmlns:a="http://schemas.openxmlformats.org/drawingml/2006/main" w="12700">
            <a:solidFill>
              <a:srgbClr val="10B981"/>
            </a:solidFill>
            <a:prstDash val="solid"/>
          </a:ln>
        </p:spPr>
      </p:sp>
      <p:sp>
        <p:nvSpPr>
          <p:cNvPr id="22" name="Text 18">
            <a:extLst xmlns:a="http://schemas.openxmlformats.org/drawingml/2006/main">
              <a:ext uri="{FF2B5EF4-FFF2-40B4-BE49-F238E27FC236}">
                <a16:creationId xmlns:a16="http://schemas.microsoft.com/office/drawing/2014/main" id="{F3552A46-126E-4F12-9953-F11365CBE8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6560" y="1417320"/>
            <a:ext cx="475488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Kasus kerja</a:t>
            </a:r>
            <a:endParaRPr sz="900"/>
          </a:p>
        </p:txBody>
      </p:sp>
      <p:sp>
        <p:nvSpPr>
          <p:cNvPr id="23" name="Text 19">
            <a:extLst xmlns:a="http://schemas.openxmlformats.org/drawingml/2006/main">
              <a:ext uri="{FF2B5EF4-FFF2-40B4-BE49-F238E27FC236}">
                <a16:creationId xmlns:a16="http://schemas.microsoft.com/office/drawing/2014/main" id="{5715419D-CADB-4636-B31E-087F36ADAD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5080" y="1783080"/>
            <a:ext cx="5212080" cy="42976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600">
                <a:solidFill>
                  <a:srgbClr val="FFFFFF"/>
                </a:solidFill>
                <a:latin typeface="Aptos"/>
                <a:ea typeface="Aptos"/>
                <a:cs typeface="Aptos"/>
              </a:rPr>
              <a:t>Validasi Pydantic menolak title kosong:
HTTP 422, aplikasi tetap hidup.
Container baru memulai proses baru;
dictionary catatan kembali kosong.
Ini alasan Lab 06 menambah Postgres.
Jangan mengandalkan memori proses
untuk data yang harus bertahan.</a:t>
            </a:r>
            <a:endParaRPr sz="1600">
              <a:solidFill>
                <a:srgbClr val="FFFFFF"/>
              </a:solidFill>
              <a:latin typeface="Aptos"/>
              <a:ea typeface="Aptos"/>
              <a:cs typeface="Aptos"/>
            </a:endParaRPr>
          </a:p>
        </p:txBody>
      </p:sp>
    </p:spTree>
    <p:extLst>
      <p:ext uri="{BB962C8B-B14F-4D97-AF65-F5344CB8AC3E}">
        <p14:creationId xmlns:p14="http://schemas.microsoft.com/office/powerpoint/2010/main" val="1831730859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8624679A-EF07-46AA-AC57-A32F0DF6B8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92240"/>
            <a:ext cx="7315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BINUS UNIVERSITY  |  Cloud Services  |  Praktikum 5</a:t>
            </a:r>
            <a:endParaRPr sz="9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EB5B7D2A-7166-43CD-B75B-EB4A760CE1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47120" y="6492240"/>
            <a:ext cx="457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 b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10</a:t>
            </a:r>
            <a:endParaRPr sz="90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B01393B2-0861-4A50-B969-1AE54227B0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46520"/>
            <a:ext cx="228600" cy="365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pic>
        <p:nvPicPr>
          <p:cNvPr id="44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8571ed7ffb64e2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74320" y="164592"/>
            <a:ext cx="914400" cy="603504"/>
          </a:xfrm>
          <a:prstGeom xmlns:a="http://schemas.openxmlformats.org/drawingml/2006/main" prst="rect">
            <a:avLst/>
          </a:prstGeom>
        </p:spPr>
      </p:pic>
      <p:pic>
        <p:nvPicPr>
          <p:cNvPr id="45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b70c94a864d449f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881360" y="182880"/>
            <a:ext cx="1005840" cy="512064"/>
          </a:xfrm>
          <a:prstGeom xmlns:a="http://schemas.openxmlformats.org/drawingml/2006/main" prst="rect">
            <a:avLst/>
          </a:prstGeom>
        </p:spPr>
      </p:pic>
      <p:sp>
        <p:nvSpPr>
          <p:cNvPr id="7" name="Shape 3">
            <a:extLst xmlns:a="http://schemas.openxmlformats.org/drawingml/2006/main">
              <a:ext uri="{FF2B5EF4-FFF2-40B4-BE49-F238E27FC236}">
                <a16:creationId xmlns:a16="http://schemas.microsoft.com/office/drawing/2014/main" id="{B6E7E515-4CAD-4068-A020-1902FBAC00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868680"/>
            <a:ext cx="1124712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8" name="Text 4">
            <a:extLst xmlns:a="http://schemas.openxmlformats.org/drawingml/2006/main">
              <a:ext uri="{FF2B5EF4-FFF2-40B4-BE49-F238E27FC236}">
                <a16:creationId xmlns:a16="http://schemas.microsoft.com/office/drawing/2014/main" id="{1ED970ED-F97E-4028-B149-2551458B2C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1680" y="182880"/>
            <a:ext cx="81381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200" b="1">
                <a:solidFill>
                  <a:srgbClr val="1976D2"/>
                </a:solidFill>
                <a:latin typeface="Calibri"/>
                <a:ea typeface="Calibri"/>
                <a:cs typeface="Calibri"/>
              </a:rPr>
              <a:t>Bukti 4 | 422 dan data sementara</a:t>
            </a:r>
            <a:endParaRPr sz="2200"/>
          </a:p>
        </p:txBody>
      </p:sp>
      <p:sp>
        <p:nvSpPr>
          <p:cNvPr id="9" name="Text 5">
            <a:extLst xmlns:a="http://schemas.openxmlformats.org/drawingml/2006/main">
              <a:ext uri="{FF2B5EF4-FFF2-40B4-BE49-F238E27FC236}">
                <a16:creationId xmlns:a16="http://schemas.microsoft.com/office/drawing/2014/main" id="{CA4ECB65-DEBB-4D0A-8631-6009C80E35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60120"/>
            <a:ext cx="1124712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Respons gagal yang diharapkan, lalu container baru</a:t>
            </a:r>
            <a:endParaRPr sz="1200"/>
          </a:p>
        </p:txBody>
      </p:sp>
      <p:sp>
        <p:nvSpPr>
          <p:cNvPr id="10" name="Shape 6">
            <a:extLst xmlns:a="http://schemas.openxmlformats.org/drawingml/2006/main">
              <a:ext uri="{FF2B5EF4-FFF2-40B4-BE49-F238E27FC236}">
                <a16:creationId xmlns:a16="http://schemas.microsoft.com/office/drawing/2014/main" id="{BCC18F37-EE0F-431B-B82A-2A2219B5DC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5577840" cy="47548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11" name="Text 7">
            <a:extLst xmlns:a="http://schemas.openxmlformats.org/drawingml/2006/main">
              <a:ext uri="{FF2B5EF4-FFF2-40B4-BE49-F238E27FC236}">
                <a16:creationId xmlns:a16="http://schemas.microsoft.com/office/drawing/2014/main" id="{FC09281D-3002-4B59-87A6-058045CED5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00200"/>
            <a:ext cx="5120640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 spc="300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PERINTAH, FUNGSI, DAN HASIL</a:t>
            </a:r>
            <a:endParaRPr sz="1100"/>
          </a:p>
        </p:txBody>
      </p:sp>
      <p:pic>
        <p:nvPicPr>
          <p:cNvPr id="51" name="Image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6f45f49f25043e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2697480"/>
            <a:ext cx="292608" cy="292608"/>
          </a:xfrm>
          <a:prstGeom xmlns:a="http://schemas.openxmlformats.org/drawingml/2006/main" prst="rect">
            <a:avLst/>
          </a:prstGeom>
        </p:spPr>
      </p:pic>
      <p:sp>
        <p:nvSpPr>
          <p:cNvPr id="13" name="Text 8">
            <a:extLst xmlns:a="http://schemas.openxmlformats.org/drawingml/2006/main">
              <a:ext uri="{FF2B5EF4-FFF2-40B4-BE49-F238E27FC236}">
                <a16:creationId xmlns:a16="http://schemas.microsoft.com/office/drawing/2014/main" id="{5B092584-FD60-4C53-AF4D-437A1578FB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7008" y="2606040"/>
            <a:ext cx="47091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>
                <a:solidFill>
                  <a:srgbClr val="312124"/>
                </a:solidFill>
                <a:latin typeface="Aptos"/>
                <a:ea typeface="Aptos"/>
                <a:cs typeface="Aptos"/>
              </a:rPr>
              <a:t>Kirim POST dengan title kosong.</a:t>
            </a:r>
            <a:endParaRPr sz="1400">
              <a:solidFill>
                <a:srgbClr val="312124"/>
              </a:solidFill>
              <a:latin typeface="Aptos"/>
              <a:ea typeface="Aptos"/>
              <a:cs typeface="Aptos"/>
            </a:endParaRPr>
          </a:p>
        </p:txBody>
      </p:sp>
      <p:pic>
        <p:nvPicPr>
          <p:cNvPr id="53" name="Image 3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628d5927d6042aa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3200400"/>
            <a:ext cx="292608" cy="292608"/>
          </a:xfrm>
          <a:prstGeom xmlns:a="http://schemas.openxmlformats.org/drawingml/2006/main" prst="rect">
            <a:avLst/>
          </a:prstGeom>
        </p:spPr>
      </p:pic>
      <p:sp>
        <p:nvSpPr>
          <p:cNvPr id="15" name="Text 9">
            <a:extLst xmlns:a="http://schemas.openxmlformats.org/drawingml/2006/main">
              <a:ext uri="{FF2B5EF4-FFF2-40B4-BE49-F238E27FC236}">
                <a16:creationId xmlns:a16="http://schemas.microsoft.com/office/drawing/2014/main" id="{85772F5D-B135-4A9D-A83D-8D972D3195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7008" y="3108960"/>
            <a:ext cx="47091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>
                <a:solidFill>
                  <a:srgbClr val="312124"/>
                </a:solidFill>
                <a:latin typeface="Aptos"/>
                <a:ea typeface="Aptos"/>
                <a:cs typeface="Aptos"/>
              </a:rPr>
              <a:t>HTTP 422 berarti input ditolak.</a:t>
            </a:r>
            <a:endParaRPr sz="1400">
              <a:solidFill>
                <a:srgbClr val="312124"/>
              </a:solidFill>
              <a:latin typeface="Aptos"/>
              <a:ea typeface="Aptos"/>
              <a:cs typeface="Aptos"/>
            </a:endParaRPr>
          </a:p>
        </p:txBody>
      </p:sp>
      <p:pic>
        <p:nvPicPr>
          <p:cNvPr id="55" name="Image 4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b2c87632eb9490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3703320"/>
            <a:ext cx="292608" cy="292608"/>
          </a:xfrm>
          <a:prstGeom xmlns:a="http://schemas.openxmlformats.org/drawingml/2006/main" prst="rect">
            <a:avLst/>
          </a:prstGeom>
        </p:spPr>
      </p:pic>
      <p:sp>
        <p:nvSpPr>
          <p:cNvPr id="17" name="Text 10">
            <a:extLst xmlns:a="http://schemas.openxmlformats.org/drawingml/2006/main">
              <a:ext uri="{FF2B5EF4-FFF2-40B4-BE49-F238E27FC236}">
                <a16:creationId xmlns:a16="http://schemas.microsoft.com/office/drawing/2014/main" id="{8A381A57-3E3C-49A3-B05A-1B87A41C88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7008" y="3611880"/>
            <a:ext cx="47091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>
                <a:solidFill>
                  <a:srgbClr val="312124"/>
                </a:solidFill>
                <a:latin typeface="Aptos"/>
                <a:ea typeface="Aptos"/>
                <a:cs typeface="Aptos"/>
              </a:rPr>
              <a:t>Hapus hanya container cloudlab-api.</a:t>
            </a:r>
            <a:endParaRPr sz="1400">
              <a:solidFill>
                <a:srgbClr val="312124"/>
              </a:solidFill>
              <a:latin typeface="Aptos"/>
              <a:ea typeface="Aptos"/>
              <a:cs typeface="Aptos"/>
            </a:endParaRPr>
          </a:p>
        </p:txBody>
      </p:sp>
      <p:pic>
        <p:nvPicPr>
          <p:cNvPr id="57" name="Image 5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d8d7277a29d4af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4206240"/>
            <a:ext cx="292608" cy="292608"/>
          </a:xfrm>
          <a:prstGeom xmlns:a="http://schemas.openxmlformats.org/drawingml/2006/main" prst="rect">
            <a:avLst/>
          </a:prstGeom>
        </p:spPr>
      </p:pic>
      <p:sp>
        <p:nvSpPr>
          <p:cNvPr id="19" name="Text 11">
            <a:extLst xmlns:a="http://schemas.openxmlformats.org/drawingml/2006/main">
              <a:ext uri="{FF2B5EF4-FFF2-40B4-BE49-F238E27FC236}">
                <a16:creationId xmlns:a16="http://schemas.microsoft.com/office/drawing/2014/main" id="{FDA997C0-F7E1-4557-9691-647AD7B8D6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7008" y="4114800"/>
            <a:ext cx="47091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>
                <a:solidFill>
                  <a:srgbClr val="312124"/>
                </a:solidFill>
                <a:latin typeface="Aptos"/>
                <a:ea typeface="Aptos"/>
                <a:cs typeface="Aptos"/>
              </a:rPr>
              <a:t>docker run ulang dari image sama.</a:t>
            </a:r>
            <a:endParaRPr sz="1400">
              <a:solidFill>
                <a:srgbClr val="312124"/>
              </a:solidFill>
              <a:latin typeface="Aptos"/>
              <a:ea typeface="Aptos"/>
              <a:cs typeface="Aptos"/>
            </a:endParaRPr>
          </a:p>
        </p:txBody>
      </p:sp>
      <p:pic>
        <p:nvPicPr>
          <p:cNvPr id="59" name="Image 6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cdf962fb41b479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4709160"/>
            <a:ext cx="292608" cy="292608"/>
          </a:xfrm>
          <a:prstGeom xmlns:a="http://schemas.openxmlformats.org/drawingml/2006/main" prst="rect">
            <a:avLst/>
          </a:prstGeom>
        </p:spPr>
      </p:pic>
      <p:sp>
        <p:nvSpPr>
          <p:cNvPr id="21" name="Text 12">
            <a:extLst xmlns:a="http://schemas.openxmlformats.org/drawingml/2006/main">
              <a:ext uri="{FF2B5EF4-FFF2-40B4-BE49-F238E27FC236}">
                <a16:creationId xmlns:a16="http://schemas.microsoft.com/office/drawing/2014/main" id="{28572721-2678-4962-BFE7-0E319C1265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7008" y="4617720"/>
            <a:ext cx="47091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>
                <a:solidFill>
                  <a:srgbClr val="312124"/>
                </a:solidFill>
                <a:latin typeface="Aptos"/>
                <a:ea typeface="Aptos"/>
                <a:cs typeface="Aptos"/>
              </a:rPr>
              <a:t>GET /notes kini daftar kosong.</a:t>
            </a:r>
            <a:endParaRPr sz="1400">
              <a:solidFill>
                <a:srgbClr val="312124"/>
              </a:solidFill>
              <a:latin typeface="Aptos"/>
              <a:ea typeface="Aptos"/>
              <a:cs typeface="Aptos"/>
            </a:endParaRPr>
          </a:p>
        </p:txBody>
      </p:sp>
      <p:pic>
        <p:nvPicPr>
          <p:cNvPr id="61" name="Image 7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715200802cd480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5212080"/>
            <a:ext cx="292608" cy="292608"/>
          </a:xfrm>
          <a:prstGeom xmlns:a="http://schemas.openxmlformats.org/drawingml/2006/main" prst="rect">
            <a:avLst/>
          </a:prstGeom>
        </p:spPr>
      </p:pic>
      <p:sp>
        <p:nvSpPr>
          <p:cNvPr id="23" name="Text 13">
            <a:extLst xmlns:a="http://schemas.openxmlformats.org/drawingml/2006/main">
              <a:ext uri="{FF2B5EF4-FFF2-40B4-BE49-F238E27FC236}">
                <a16:creationId xmlns:a16="http://schemas.microsoft.com/office/drawing/2014/main" id="{021796A0-F676-4BDD-8B3F-27E6DC749D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7008" y="5120640"/>
            <a:ext cx="47091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>
                <a:solidFill>
                  <a:srgbClr val="312124"/>
                </a:solidFill>
                <a:latin typeface="Aptos"/>
                <a:ea typeface="Aptos"/>
                <a:cs typeface="Aptos"/>
              </a:rPr>
              <a:t>Image tetap ada di docker image ls.</a:t>
            </a:r>
            <a:endParaRPr sz="1400">
              <a:solidFill>
                <a:srgbClr val="312124"/>
              </a:solidFill>
              <a:latin typeface="Aptos"/>
              <a:ea typeface="Aptos"/>
              <a:cs typeface="Aptos"/>
            </a:endParaRPr>
          </a:p>
        </p:txBody>
      </p:sp>
      <p:pic>
        <p:nvPicPr>
          <p:cNvPr id="63" name="Image 8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fa38d22863d4efd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5715000"/>
            <a:ext cx="292608" cy="292608"/>
          </a:xfrm>
          <a:prstGeom xmlns:a="http://schemas.openxmlformats.org/drawingml/2006/main" prst="rect">
            <a:avLst/>
          </a:prstGeom>
        </p:spPr>
      </p:pic>
      <p:sp>
        <p:nvSpPr>
          <p:cNvPr id="25" name="Text 14">
            <a:extLst xmlns:a="http://schemas.openxmlformats.org/drawingml/2006/main">
              <a:ext uri="{FF2B5EF4-FFF2-40B4-BE49-F238E27FC236}">
                <a16:creationId xmlns:a16="http://schemas.microsoft.com/office/drawing/2014/main" id="{F2DB9346-1D8C-4DD1-91FE-408EF18D23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7008" y="5623560"/>
            <a:ext cx="47091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>
                <a:solidFill>
                  <a:srgbClr val="312124"/>
                </a:solidFill>
                <a:latin typeface="Aptos"/>
                <a:ea typeface="Aptos"/>
                <a:cs typeface="Aptos"/>
              </a:rPr>
              <a:t>Pilih DB untuk data persisten.</a:t>
            </a:r>
            <a:endParaRPr sz="1400">
              <a:solidFill>
                <a:srgbClr val="312124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26" name="Shape 15">
            <a:extLst xmlns:a="http://schemas.openxmlformats.org/drawingml/2006/main">
              <a:ext uri="{FF2B5EF4-FFF2-40B4-BE49-F238E27FC236}">
                <a16:creationId xmlns:a16="http://schemas.microsoft.com/office/drawing/2014/main" id="{1D921015-826D-4AE9-AFC7-D3EBBECA95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0" y="1417320"/>
            <a:ext cx="5486400" cy="47548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677"/>
          </a:solidFill>
          <a:ln xmlns:a="http://schemas.openxmlformats.org/drawingml/2006/main" w="12700">
            <a:solidFill>
              <a:srgbClr val="002677"/>
            </a:solidFill>
            <a:prstDash val="solid"/>
          </a:ln>
        </p:spPr>
      </p:sp>
      <p:sp>
        <p:nvSpPr>
          <p:cNvPr id="27" name="Text 16">
            <a:extLst xmlns:a="http://schemas.openxmlformats.org/drawingml/2006/main">
              <a:ext uri="{FF2B5EF4-FFF2-40B4-BE49-F238E27FC236}">
                <a16:creationId xmlns:a16="http://schemas.microsoft.com/office/drawing/2014/main" id="{A819DC53-4BD1-4ED9-A52F-1DE320E632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520" y="1600200"/>
            <a:ext cx="5120640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 spc="300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BUKTI PADA MESIN UJI</a:t>
            </a:r>
            <a:endParaRPr sz="1100"/>
          </a:p>
        </p:txBody>
      </p:sp>
      <p:sp>
        <p:nvSpPr>
          <p:cNvPr id="28" name="Text 17">
            <a:extLst xmlns:a="http://schemas.openxmlformats.org/drawingml/2006/main">
              <a:ext uri="{FF2B5EF4-FFF2-40B4-BE49-F238E27FC236}">
                <a16:creationId xmlns:a16="http://schemas.microsoft.com/office/drawing/2014/main" id="{AEADEA6A-BB29-4392-8C90-0308C1E818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520" y="2606040"/>
            <a:ext cx="5029200" cy="2743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spcAft>
                <a:spcPts val="600"/>
              </a:spcAft>
              <a:buNone/>
            </a:pPr>
            <a:endParaRPr sz="1200"/>
          </a:p>
        </p:txBody>
      </p:sp>
      <p:sp>
        <p:nvSpPr>
          <p:cNvPr id="29" name="Shape 18">
            <a:extLst xmlns:a="http://schemas.openxmlformats.org/drawingml/2006/main">
              <a:ext uri="{FF2B5EF4-FFF2-40B4-BE49-F238E27FC236}">
                <a16:creationId xmlns:a16="http://schemas.microsoft.com/office/drawing/2014/main" id="{3100BA45-8CEF-48DC-A26F-5298B6763D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520" y="5349240"/>
            <a:ext cx="5029200" cy="7315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30" name="Text 19">
            <a:extLst xmlns:a="http://schemas.openxmlformats.org/drawingml/2006/main">
              <a:ext uri="{FF2B5EF4-FFF2-40B4-BE49-F238E27FC236}">
                <a16:creationId xmlns:a16="http://schemas.microsoft.com/office/drawing/2014/main" id="{4117F50E-E590-4F60-8D72-E48B805851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520" y="5349240"/>
            <a:ext cx="5029200" cy="7315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500" i="1">
                <a:solidFill>
                  <a:srgbClr val="FFFFFF"/>
                </a:solidFill>
                <a:latin typeface="Aptos"/>
                <a:ea typeface="Aptos"/>
                <a:cs typeface="Aptos"/>
              </a:rPr>
              <a:t>422 terlihat; catatan lama hilang setelah run ulang.</a:t>
            </a:r>
            <a:endParaRPr sz="1500">
              <a:solidFill>
                <a:srgbClr val="FFFFFF"/>
              </a:solidFill>
              <a:latin typeface="Aptos"/>
              <a:ea typeface="Aptos"/>
              <a:cs typeface="Aptos"/>
            </a:endParaRPr>
          </a:p>
        </p:txBody>
      </p:sp>
      <p:pic>
        <p:nvPicPr>
          <p:cNvPr id="70" name="Picture 3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9fa382e1fae477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419088" y="2172843"/>
            <a:ext cx="5084064" cy="2859786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94703036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E767B853-88DA-46F7-8507-F96078F1AD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92240"/>
            <a:ext cx="7315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BINUS UNIVERSITY  |  Cloud Services  |  Praktikum 5</a:t>
            </a:r>
            <a:endParaRPr sz="9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43D5766B-F073-4FE3-916A-7D321E8042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47120" y="6492240"/>
            <a:ext cx="457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 b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11</a:t>
            </a:r>
            <a:endParaRPr sz="90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C45828F8-46C5-40F1-8CEA-789FDA9DEF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46520"/>
            <a:ext cx="228600" cy="365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pic>
        <p:nvPicPr>
          <p:cNvPr id="29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dbb35e07c3243e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74320" y="164592"/>
            <a:ext cx="914400" cy="603504"/>
          </a:xfrm>
          <a:prstGeom xmlns:a="http://schemas.openxmlformats.org/drawingml/2006/main" prst="rect">
            <a:avLst/>
          </a:prstGeom>
        </p:spPr>
      </p:pic>
      <p:pic>
        <p:nvPicPr>
          <p:cNvPr id="30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d15a70dfd6041f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881360" y="182880"/>
            <a:ext cx="1005840" cy="512064"/>
          </a:xfrm>
          <a:prstGeom xmlns:a="http://schemas.openxmlformats.org/drawingml/2006/main" prst="rect">
            <a:avLst/>
          </a:prstGeom>
        </p:spPr>
      </p:pic>
      <p:sp>
        <p:nvSpPr>
          <p:cNvPr id="7" name="Shape 3">
            <a:extLst xmlns:a="http://schemas.openxmlformats.org/drawingml/2006/main">
              <a:ext uri="{FF2B5EF4-FFF2-40B4-BE49-F238E27FC236}">
                <a16:creationId xmlns:a16="http://schemas.microsoft.com/office/drawing/2014/main" id="{654E2DC9-BE3F-436C-94E9-B24365D29E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868680"/>
            <a:ext cx="1124712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8" name="Text 4">
            <a:extLst xmlns:a="http://schemas.openxmlformats.org/drawingml/2006/main">
              <a:ext uri="{FF2B5EF4-FFF2-40B4-BE49-F238E27FC236}">
                <a16:creationId xmlns:a16="http://schemas.microsoft.com/office/drawing/2014/main" id="{FC1423DE-7B38-45B1-9068-7222697BE9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1680" y="182880"/>
            <a:ext cx="81381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200" b="1">
                <a:solidFill>
                  <a:srgbClr val="1976D2"/>
                </a:solidFill>
                <a:latin typeface="Calibri"/>
                <a:ea typeface="Calibri"/>
                <a:cs typeface="Calibri"/>
              </a:rPr>
              <a:t>5 | Kunci tantangan GET /stats</a:t>
            </a:r>
            <a:endParaRPr sz="2200"/>
          </a:p>
        </p:txBody>
      </p:sp>
      <p:sp>
        <p:nvSpPr>
          <p:cNvPr id="9" name="Text 5">
            <a:extLst xmlns:a="http://schemas.openxmlformats.org/drawingml/2006/main">
              <a:ext uri="{FF2B5EF4-FFF2-40B4-BE49-F238E27FC236}">
                <a16:creationId xmlns:a16="http://schemas.microsoft.com/office/drawing/2014/main" id="{FF17EF05-2EC6-4863-AEE2-46BB27C270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60120"/>
            <a:ext cx="1124712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Kasus support: jumlah catatan tanpa membaca seluruh isi</a:t>
            </a:r>
            <a:endParaRPr sz="1200"/>
          </a:p>
        </p:txBody>
      </p:sp>
      <p:sp>
        <p:nvSpPr>
          <p:cNvPr id="10" name="Shape 6">
            <a:extLst xmlns:a="http://schemas.openxmlformats.org/drawingml/2006/main">
              <a:ext uri="{FF2B5EF4-FFF2-40B4-BE49-F238E27FC236}">
                <a16:creationId xmlns:a16="http://schemas.microsoft.com/office/drawing/2014/main" id="{C837DE09-938D-489D-8BA0-8BE53289EB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5577840" cy="47548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93B"/>
          </a:solidFill>
          <a:ln xmlns:a="http://schemas.openxmlformats.org/drawingml/2006/main" w="12700">
            <a:solidFill>
              <a:srgbClr val="0F172A"/>
            </a:solidFill>
            <a:prstDash val="solid"/>
          </a:ln>
        </p:spPr>
      </p:sp>
      <p:sp>
        <p:nvSpPr>
          <p:cNvPr id="11" name="Shape 7">
            <a:extLst xmlns:a="http://schemas.openxmlformats.org/drawingml/2006/main">
              <a:ext uri="{FF2B5EF4-FFF2-40B4-BE49-F238E27FC236}">
                <a16:creationId xmlns:a16="http://schemas.microsoft.com/office/drawing/2014/main" id="{7C8B180D-8BFF-4881-A672-71FA806E3B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5577840" cy="2743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172A"/>
          </a:solidFill>
          <a:ln xmlns:a="http://schemas.openxmlformats.org/drawingml/2006/main" w="12700">
            <a:solidFill>
              <a:srgbClr val="0F172A"/>
            </a:solidFill>
            <a:prstDash val="solid"/>
          </a:ln>
        </p:spPr>
      </p:sp>
      <p:sp>
        <p:nvSpPr>
          <p:cNvPr id="12" name="Shape 8">
            <a:extLst xmlns:a="http://schemas.openxmlformats.org/drawingml/2006/main">
              <a:ext uri="{FF2B5EF4-FFF2-40B4-BE49-F238E27FC236}">
                <a16:creationId xmlns:a16="http://schemas.microsoft.com/office/drawing/2014/main" id="{DFFF52FE-DD78-4CCF-96A9-3D63DC183A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F4444"/>
          </a:solidFill>
          <a:ln xmlns:a="http://schemas.openxmlformats.org/drawingml/2006/main" w="12700">
            <a:solidFill>
              <a:srgbClr val="EF4444"/>
            </a:solidFill>
            <a:prstDash val="solid"/>
          </a:ln>
        </p:spPr>
      </p:sp>
      <p:sp>
        <p:nvSpPr>
          <p:cNvPr id="13" name="Shape 9">
            <a:extLst xmlns:a="http://schemas.openxmlformats.org/drawingml/2006/main">
              <a:ext uri="{FF2B5EF4-FFF2-40B4-BE49-F238E27FC236}">
                <a16:creationId xmlns:a16="http://schemas.microsoft.com/office/drawing/2014/main" id="{92E09B65-FC72-4F6C-837D-3BE058F06E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59E0B"/>
          </a:solidFill>
          <a:ln xmlns:a="http://schemas.openxmlformats.org/drawingml/2006/main" w="12700">
            <a:solidFill>
              <a:srgbClr val="F59E0B"/>
            </a:solidFill>
            <a:prstDash val="solid"/>
          </a:ln>
        </p:spPr>
      </p:sp>
      <p:sp>
        <p:nvSpPr>
          <p:cNvPr id="14" name="Shape 10">
            <a:extLst xmlns:a="http://schemas.openxmlformats.org/drawingml/2006/main">
              <a:ext uri="{FF2B5EF4-FFF2-40B4-BE49-F238E27FC236}">
                <a16:creationId xmlns:a16="http://schemas.microsoft.com/office/drawing/2014/main" id="{30D89E5B-3A78-456B-9CD6-D8D24E676F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0B981"/>
          </a:solidFill>
          <a:ln xmlns:a="http://schemas.openxmlformats.org/drawingml/2006/main" w="12700">
            <a:solidFill>
              <a:srgbClr val="10B981"/>
            </a:solidFill>
            <a:prstDash val="solid"/>
          </a:ln>
        </p:spPr>
      </p:sp>
      <p:sp>
        <p:nvSpPr>
          <p:cNvPr id="15" name="Text 11">
            <a:extLst xmlns:a="http://schemas.openxmlformats.org/drawingml/2006/main">
              <a:ext uri="{FF2B5EF4-FFF2-40B4-BE49-F238E27FC236}">
                <a16:creationId xmlns:a16="http://schemas.microsoft.com/office/drawing/2014/main" id="{03F4D8C6-7856-4DD9-B9F4-45A4A40931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1417320"/>
            <a:ext cx="484632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Tambahkan ke app/main.py</a:t>
            </a:r>
            <a:endParaRPr sz="900"/>
          </a:p>
        </p:txBody>
      </p:sp>
      <p:sp>
        <p:nvSpPr>
          <p:cNvPr id="16" name="Text 12">
            <a:extLst xmlns:a="http://schemas.openxmlformats.org/drawingml/2006/main">
              <a:ext uri="{FF2B5EF4-FFF2-40B4-BE49-F238E27FC236}">
                <a16:creationId xmlns:a16="http://schemas.microsoft.com/office/drawing/2014/main" id="{849E5ED7-4DB8-45BD-8631-79B90BB0CC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1783080"/>
            <a:ext cx="5303520" cy="42976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50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@app.get("/stats")
def stats() -&gt; dict[str, int]:
    with _lock:
        titles = [x["title"]
                  for x in _notes.values()]
        longest = max(map(len, titles),
                      default=0)
        return {
          "note_count": len(titles),
          "longest_title_chars": longest,
        }</a:t>
            </a:r>
            <a:endParaRPr sz="1500">
              <a:solidFill>
                <a:srgbClr val="FFFFFF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17" name="Shape 13">
            <a:extLst xmlns:a="http://schemas.openxmlformats.org/drawingml/2006/main">
              <a:ext uri="{FF2B5EF4-FFF2-40B4-BE49-F238E27FC236}">
                <a16:creationId xmlns:a16="http://schemas.microsoft.com/office/drawing/2014/main" id="{D226ECB3-87B2-480A-8E75-582C180DC8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0" y="1417320"/>
            <a:ext cx="5486400" cy="47548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93B"/>
          </a:solidFill>
          <a:ln xmlns:a="http://schemas.openxmlformats.org/drawingml/2006/main" w="12700">
            <a:solidFill>
              <a:srgbClr val="0F172A"/>
            </a:solidFill>
            <a:prstDash val="solid"/>
          </a:ln>
        </p:spPr>
      </p:sp>
      <p:sp>
        <p:nvSpPr>
          <p:cNvPr id="18" name="Shape 14">
            <a:extLst xmlns:a="http://schemas.openxmlformats.org/drawingml/2006/main">
              <a:ext uri="{FF2B5EF4-FFF2-40B4-BE49-F238E27FC236}">
                <a16:creationId xmlns:a16="http://schemas.microsoft.com/office/drawing/2014/main" id="{C4CF3401-9A67-4E75-98F9-28ADEE05D7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0" y="1417320"/>
            <a:ext cx="5486400" cy="2743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172A"/>
          </a:solidFill>
          <a:ln xmlns:a="http://schemas.openxmlformats.org/drawingml/2006/main" w="12700">
            <a:solidFill>
              <a:srgbClr val="0F172A"/>
            </a:solidFill>
            <a:prstDash val="solid"/>
          </a:ln>
        </p:spPr>
      </p:sp>
      <p:sp>
        <p:nvSpPr>
          <p:cNvPr id="19" name="Shape 15">
            <a:extLst xmlns:a="http://schemas.openxmlformats.org/drawingml/2006/main">
              <a:ext uri="{FF2B5EF4-FFF2-40B4-BE49-F238E27FC236}">
                <a16:creationId xmlns:a16="http://schemas.microsoft.com/office/drawing/2014/main" id="{EE85D73E-F6F0-40F0-9E87-26418E8A92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936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F4444"/>
          </a:solidFill>
          <a:ln xmlns:a="http://schemas.openxmlformats.org/drawingml/2006/main" w="12700">
            <a:solidFill>
              <a:srgbClr val="EF4444"/>
            </a:solidFill>
            <a:prstDash val="solid"/>
          </a:ln>
        </p:spPr>
      </p:sp>
      <p:sp>
        <p:nvSpPr>
          <p:cNvPr id="20" name="Shape 16">
            <a:extLst xmlns:a="http://schemas.openxmlformats.org/drawingml/2006/main">
              <a:ext uri="{FF2B5EF4-FFF2-40B4-BE49-F238E27FC236}">
                <a16:creationId xmlns:a16="http://schemas.microsoft.com/office/drawing/2014/main" id="{C6CB8DE7-53C7-462A-A302-A9A2002997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52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59E0B"/>
          </a:solidFill>
          <a:ln xmlns:a="http://schemas.openxmlformats.org/drawingml/2006/main" w="12700">
            <a:solidFill>
              <a:srgbClr val="F59E0B"/>
            </a:solidFill>
            <a:prstDash val="solid"/>
          </a:ln>
        </p:spPr>
      </p:sp>
      <p:sp>
        <p:nvSpPr>
          <p:cNvPr id="21" name="Shape 17">
            <a:extLst xmlns:a="http://schemas.openxmlformats.org/drawingml/2006/main">
              <a:ext uri="{FF2B5EF4-FFF2-40B4-BE49-F238E27FC236}">
                <a16:creationId xmlns:a16="http://schemas.microsoft.com/office/drawing/2014/main" id="{75E80A3A-299A-44E3-BF41-FA9C89527A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0B981"/>
          </a:solidFill>
          <a:ln xmlns:a="http://schemas.openxmlformats.org/drawingml/2006/main" w="12700">
            <a:solidFill>
              <a:srgbClr val="10B981"/>
            </a:solidFill>
            <a:prstDash val="solid"/>
          </a:ln>
        </p:spPr>
      </p:sp>
      <p:sp>
        <p:nvSpPr>
          <p:cNvPr id="22" name="Text 18">
            <a:extLst xmlns:a="http://schemas.openxmlformats.org/drawingml/2006/main">
              <a:ext uri="{FF2B5EF4-FFF2-40B4-BE49-F238E27FC236}">
                <a16:creationId xmlns:a16="http://schemas.microsoft.com/office/drawing/2014/main" id="{6D5D69DA-33EB-4B48-9AA1-2AE057A98B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6560" y="1417320"/>
            <a:ext cx="475488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Uji kunci</a:t>
            </a:r>
            <a:endParaRPr sz="900"/>
          </a:p>
        </p:txBody>
      </p:sp>
      <p:sp>
        <p:nvSpPr>
          <p:cNvPr id="23" name="Text 19">
            <a:extLst xmlns:a="http://schemas.openxmlformats.org/drawingml/2006/main">
              <a:ext uri="{FF2B5EF4-FFF2-40B4-BE49-F238E27FC236}">
                <a16:creationId xmlns:a16="http://schemas.microsoft.com/office/drawing/2014/main" id="{69E12D5E-33F9-4347-8F37-AE82AB3053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5080" y="1783080"/>
            <a:ext cx="5212080" cy="42976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600">
                <a:solidFill>
                  <a:srgbClr val="FFFFFF"/>
                </a:solidFill>
                <a:latin typeface="Aptos"/>
                <a:ea typeface="Aptos"/>
                <a:cs typeface="Aptos"/>
              </a:rPr>
              <a:t>Build ulang: cloud-notes-api:stats.
Jalankan container dari tag baru.
GET /stats awal: 0 dan 0.
POST dua catatan, GET /stats lagi.
_lock memberi snapshot konsisten.
default=0 menangani daftar kosong.
File host berubah tidak otomatis
mengubah image yang sudah dibuat.</a:t>
            </a:r>
            <a:endParaRPr sz="1600">
              <a:solidFill>
                <a:srgbClr val="FFFFFF"/>
              </a:solidFill>
              <a:latin typeface="Aptos"/>
              <a:ea typeface="Aptos"/>
              <a:cs typeface="Aptos"/>
            </a:endParaRPr>
          </a:p>
        </p:txBody>
      </p:sp>
    </p:spTree>
    <p:extLst>
      <p:ext uri="{BB962C8B-B14F-4D97-AF65-F5344CB8AC3E}">
        <p14:creationId xmlns:p14="http://schemas.microsoft.com/office/powerpoint/2010/main" val="2659934064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D6303DED-9921-4461-ACCB-618F9D39D1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92240"/>
            <a:ext cx="7315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BINUS UNIVERSITY  |  Cloud Services  |  Praktikum 5</a:t>
            </a:r>
            <a:endParaRPr sz="9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2C829700-C8EB-43DB-8EE0-26BF3CC6F3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47120" y="6492240"/>
            <a:ext cx="457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 b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12</a:t>
            </a:r>
            <a:endParaRPr sz="90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7E763774-B9E8-4C9B-94A0-CD14CEFC4E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46520"/>
            <a:ext cx="228600" cy="365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pic>
        <p:nvPicPr>
          <p:cNvPr id="29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4e1e74a98e04e4f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74320" y="164592"/>
            <a:ext cx="914400" cy="603504"/>
          </a:xfrm>
          <a:prstGeom xmlns:a="http://schemas.openxmlformats.org/drawingml/2006/main" prst="rect">
            <a:avLst/>
          </a:prstGeom>
        </p:spPr>
      </p:pic>
      <p:pic>
        <p:nvPicPr>
          <p:cNvPr id="30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5f9b99aa40f44c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881360" y="182880"/>
            <a:ext cx="1005840" cy="512064"/>
          </a:xfrm>
          <a:prstGeom xmlns:a="http://schemas.openxmlformats.org/drawingml/2006/main" prst="rect">
            <a:avLst/>
          </a:prstGeom>
        </p:spPr>
      </p:pic>
      <p:sp>
        <p:nvSpPr>
          <p:cNvPr id="7" name="Shape 3">
            <a:extLst xmlns:a="http://schemas.openxmlformats.org/drawingml/2006/main">
              <a:ext uri="{FF2B5EF4-FFF2-40B4-BE49-F238E27FC236}">
                <a16:creationId xmlns:a16="http://schemas.microsoft.com/office/drawing/2014/main" id="{2E525BDC-1551-43FE-983D-E6DCAF5470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868680"/>
            <a:ext cx="1124712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8" name="Text 4">
            <a:extLst xmlns:a="http://schemas.openxmlformats.org/drawingml/2006/main">
              <a:ext uri="{FF2B5EF4-FFF2-40B4-BE49-F238E27FC236}">
                <a16:creationId xmlns:a16="http://schemas.microsoft.com/office/drawing/2014/main" id="{16C4EE2D-53BB-436D-929B-EADBFC031E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1680" y="182880"/>
            <a:ext cx="81381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200" b="1">
                <a:solidFill>
                  <a:srgbClr val="1976D2"/>
                </a:solidFill>
                <a:latin typeface="Calibri"/>
                <a:ea typeface="Calibri"/>
                <a:cs typeface="Calibri"/>
              </a:rPr>
              <a:t>6 | Port alternatif saat Lab 06 aktif</a:t>
            </a:r>
            <a:endParaRPr sz="2200"/>
          </a:p>
        </p:txBody>
      </p:sp>
      <p:sp>
        <p:nvSpPr>
          <p:cNvPr id="9" name="Text 5">
            <a:extLst xmlns:a="http://schemas.openxmlformats.org/drawingml/2006/main">
              <a:ext uri="{FF2B5EF4-FFF2-40B4-BE49-F238E27FC236}">
                <a16:creationId xmlns:a16="http://schemas.microsoft.com/office/drawing/2014/main" id="{EE27FE6C-DAF7-43FC-B31F-E6C9ECD936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60120"/>
            <a:ext cx="1124712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Docker Desktop menunjukkan host 8005 menuju port container 8000</a:t>
            </a:r>
            <a:endParaRPr sz="1200"/>
          </a:p>
        </p:txBody>
      </p:sp>
      <p:sp>
        <p:nvSpPr>
          <p:cNvPr id="10" name="Shape 6">
            <a:extLst xmlns:a="http://schemas.openxmlformats.org/drawingml/2006/main">
              <a:ext uri="{FF2B5EF4-FFF2-40B4-BE49-F238E27FC236}">
                <a16:creationId xmlns:a16="http://schemas.microsoft.com/office/drawing/2014/main" id="{5343CB5E-BCF3-4650-92EE-87867A374D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5577840" cy="47548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93B"/>
          </a:solidFill>
          <a:ln xmlns:a="http://schemas.openxmlformats.org/drawingml/2006/main" w="12700">
            <a:solidFill>
              <a:srgbClr val="0F172A"/>
            </a:solidFill>
            <a:prstDash val="solid"/>
          </a:ln>
        </p:spPr>
      </p:sp>
      <p:sp>
        <p:nvSpPr>
          <p:cNvPr id="11" name="Shape 7">
            <a:extLst xmlns:a="http://schemas.openxmlformats.org/drawingml/2006/main">
              <a:ext uri="{FF2B5EF4-FFF2-40B4-BE49-F238E27FC236}">
                <a16:creationId xmlns:a16="http://schemas.microsoft.com/office/drawing/2014/main" id="{D1FC35A9-BCF3-4455-AB4F-11BDEE0C4C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5577840" cy="2743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172A"/>
          </a:solidFill>
          <a:ln xmlns:a="http://schemas.openxmlformats.org/drawingml/2006/main" w="12700">
            <a:solidFill>
              <a:srgbClr val="0F172A"/>
            </a:solidFill>
            <a:prstDash val="solid"/>
          </a:ln>
        </p:spPr>
      </p:sp>
      <p:sp>
        <p:nvSpPr>
          <p:cNvPr id="12" name="Shape 8">
            <a:extLst xmlns:a="http://schemas.openxmlformats.org/drawingml/2006/main">
              <a:ext uri="{FF2B5EF4-FFF2-40B4-BE49-F238E27FC236}">
                <a16:creationId xmlns:a16="http://schemas.microsoft.com/office/drawing/2014/main" id="{D5407821-3C57-408E-ADC6-5626B19186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F4444"/>
          </a:solidFill>
          <a:ln xmlns:a="http://schemas.openxmlformats.org/drawingml/2006/main" w="12700">
            <a:solidFill>
              <a:srgbClr val="EF4444"/>
            </a:solidFill>
            <a:prstDash val="solid"/>
          </a:ln>
        </p:spPr>
      </p:sp>
      <p:sp>
        <p:nvSpPr>
          <p:cNvPr id="13" name="Shape 9">
            <a:extLst xmlns:a="http://schemas.openxmlformats.org/drawingml/2006/main">
              <a:ext uri="{FF2B5EF4-FFF2-40B4-BE49-F238E27FC236}">
                <a16:creationId xmlns:a16="http://schemas.microsoft.com/office/drawing/2014/main" id="{4FCEA20D-E82F-4059-8613-A99F8C8818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59E0B"/>
          </a:solidFill>
          <a:ln xmlns:a="http://schemas.openxmlformats.org/drawingml/2006/main" w="12700">
            <a:solidFill>
              <a:srgbClr val="F59E0B"/>
            </a:solidFill>
            <a:prstDash val="solid"/>
          </a:ln>
        </p:spPr>
      </p:sp>
      <p:sp>
        <p:nvSpPr>
          <p:cNvPr id="14" name="Shape 10">
            <a:extLst xmlns:a="http://schemas.openxmlformats.org/drawingml/2006/main">
              <a:ext uri="{FF2B5EF4-FFF2-40B4-BE49-F238E27FC236}">
                <a16:creationId xmlns:a16="http://schemas.microsoft.com/office/drawing/2014/main" id="{6DD8D67A-37D8-4E79-A7C2-4D1F888569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0B981"/>
          </a:solidFill>
          <a:ln xmlns:a="http://schemas.openxmlformats.org/drawingml/2006/main" w="12700">
            <a:solidFill>
              <a:srgbClr val="10B981"/>
            </a:solidFill>
            <a:prstDash val="solid"/>
          </a:ln>
        </p:spPr>
      </p:sp>
      <p:sp>
        <p:nvSpPr>
          <p:cNvPr id="15" name="Text 11">
            <a:extLst xmlns:a="http://schemas.openxmlformats.org/drawingml/2006/main">
              <a:ext uri="{FF2B5EF4-FFF2-40B4-BE49-F238E27FC236}">
                <a16:creationId xmlns:a16="http://schemas.microsoft.com/office/drawing/2014/main" id="{F0FC0DE8-C916-44A3-BC4C-1BB105DA1A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1417320"/>
            <a:ext cx="484632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PowerShell</a:t>
            </a:r>
            <a:endParaRPr sz="900"/>
          </a:p>
        </p:txBody>
      </p:sp>
      <p:sp>
        <p:nvSpPr>
          <p:cNvPr id="16" name="Text 12">
            <a:extLst xmlns:a="http://schemas.openxmlformats.org/drawingml/2006/main">
              <a:ext uri="{FF2B5EF4-FFF2-40B4-BE49-F238E27FC236}">
                <a16:creationId xmlns:a16="http://schemas.microsoft.com/office/drawing/2014/main" id="{FAF4A754-DA2C-4DEF-B303-FECA794B81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1783080"/>
            <a:ext cx="5303520" cy="42976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50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docker run --name cloudlab-api-visual -d `
  -p 127.0.0.1:8005:8000 `
  -e APP_ENV=classroom `
  cloud-notes-api:lab05
docker ps --filter name=cloudlab-api-visual
Invoke-RestMethod `
  http://127.0.0.1:8005/health</a:t>
            </a:r>
            <a:endParaRPr sz="1500">
              <a:solidFill>
                <a:srgbClr val="FFFFFF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17" name="Shape 13">
            <a:extLst xmlns:a="http://schemas.openxmlformats.org/drawingml/2006/main">
              <a:ext uri="{FF2B5EF4-FFF2-40B4-BE49-F238E27FC236}">
                <a16:creationId xmlns:a16="http://schemas.microsoft.com/office/drawing/2014/main" id="{E9511EF6-AC1D-401B-875F-9FA16E4D06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0" y="1417320"/>
            <a:ext cx="5486400" cy="47548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93B"/>
          </a:solidFill>
          <a:ln xmlns:a="http://schemas.openxmlformats.org/drawingml/2006/main" w="12700">
            <a:solidFill>
              <a:srgbClr val="0F172A"/>
            </a:solidFill>
            <a:prstDash val="solid"/>
          </a:ln>
        </p:spPr>
      </p:sp>
      <p:sp>
        <p:nvSpPr>
          <p:cNvPr id="18" name="Shape 14">
            <a:extLst xmlns:a="http://schemas.openxmlformats.org/drawingml/2006/main">
              <a:ext uri="{FF2B5EF4-FFF2-40B4-BE49-F238E27FC236}">
                <a16:creationId xmlns:a16="http://schemas.microsoft.com/office/drawing/2014/main" id="{CCAE4FA6-21F6-4C49-B452-F34198D3F6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0" y="1417320"/>
            <a:ext cx="5486400" cy="2743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172A"/>
          </a:solidFill>
          <a:ln xmlns:a="http://schemas.openxmlformats.org/drawingml/2006/main" w="12700">
            <a:solidFill>
              <a:srgbClr val="0F172A"/>
            </a:solidFill>
            <a:prstDash val="solid"/>
          </a:ln>
        </p:spPr>
      </p:sp>
      <p:sp>
        <p:nvSpPr>
          <p:cNvPr id="19" name="Shape 15">
            <a:extLst xmlns:a="http://schemas.openxmlformats.org/drawingml/2006/main">
              <a:ext uri="{FF2B5EF4-FFF2-40B4-BE49-F238E27FC236}">
                <a16:creationId xmlns:a16="http://schemas.microsoft.com/office/drawing/2014/main" id="{65873150-8443-4307-83C6-BF3BAE6278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936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F4444"/>
          </a:solidFill>
          <a:ln xmlns:a="http://schemas.openxmlformats.org/drawingml/2006/main" w="12700">
            <a:solidFill>
              <a:srgbClr val="EF4444"/>
            </a:solidFill>
            <a:prstDash val="solid"/>
          </a:ln>
        </p:spPr>
      </p:sp>
      <p:sp>
        <p:nvSpPr>
          <p:cNvPr id="20" name="Shape 16">
            <a:extLst xmlns:a="http://schemas.openxmlformats.org/drawingml/2006/main">
              <a:ext uri="{FF2B5EF4-FFF2-40B4-BE49-F238E27FC236}">
                <a16:creationId xmlns:a16="http://schemas.microsoft.com/office/drawing/2014/main" id="{B7111EDB-7E68-4792-8405-171D8BA369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52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59E0B"/>
          </a:solidFill>
          <a:ln xmlns:a="http://schemas.openxmlformats.org/drawingml/2006/main" w="12700">
            <a:solidFill>
              <a:srgbClr val="F59E0B"/>
            </a:solidFill>
            <a:prstDash val="solid"/>
          </a:ln>
        </p:spPr>
      </p:sp>
      <p:sp>
        <p:nvSpPr>
          <p:cNvPr id="21" name="Shape 17">
            <a:extLst xmlns:a="http://schemas.openxmlformats.org/drawingml/2006/main">
              <a:ext uri="{FF2B5EF4-FFF2-40B4-BE49-F238E27FC236}">
                <a16:creationId xmlns:a16="http://schemas.microsoft.com/office/drawing/2014/main" id="{78C7B973-EAB6-4CAD-9720-7D9041CEAE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0B981"/>
          </a:solidFill>
          <a:ln xmlns:a="http://schemas.openxmlformats.org/drawingml/2006/main" w="12700">
            <a:solidFill>
              <a:srgbClr val="10B981"/>
            </a:solidFill>
            <a:prstDash val="solid"/>
          </a:ln>
        </p:spPr>
      </p:sp>
      <p:sp>
        <p:nvSpPr>
          <p:cNvPr id="22" name="Text 18">
            <a:extLst xmlns:a="http://schemas.openxmlformats.org/drawingml/2006/main">
              <a:ext uri="{FF2B5EF4-FFF2-40B4-BE49-F238E27FC236}">
                <a16:creationId xmlns:a16="http://schemas.microsoft.com/office/drawing/2014/main" id="{F7D5B8AC-37F3-47B4-81A0-E5F3F07432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6560" y="1417320"/>
            <a:ext cx="475488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Cara kerja pemetaan port</a:t>
            </a:r>
            <a:endParaRPr sz="900"/>
          </a:p>
        </p:txBody>
      </p:sp>
      <p:sp>
        <p:nvSpPr>
          <p:cNvPr id="23" name="Text 19">
            <a:extLst xmlns:a="http://schemas.openxmlformats.org/drawingml/2006/main">
              <a:ext uri="{FF2B5EF4-FFF2-40B4-BE49-F238E27FC236}">
                <a16:creationId xmlns:a16="http://schemas.microsoft.com/office/drawing/2014/main" id="{8A9F721B-850F-404E-908F-A4AFC60DE2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5080" y="1783080"/>
            <a:ext cx="5212080" cy="42976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600">
                <a:solidFill>
                  <a:srgbClr val="FFFFFF"/>
                </a:solidFill>
                <a:latin typeface="Aptos"/>
                <a:ea typeface="Aptos"/>
                <a:cs typeface="Aptos"/>
              </a:rPr>
              <a:t>8005 = port host yang dibuka browser.
8000 = port Uvicorn di container.
Lab 06 boleh tetap memakai host 8000.
Satu host port tidak boleh dipakai ganda.
Buka http://127.0.0.1:8005/docs.
Nama container harus unik pada engine.</a:t>
            </a:r>
            <a:endParaRPr sz="1600">
              <a:solidFill>
                <a:srgbClr val="FFFFFF"/>
              </a:solidFill>
              <a:latin typeface="Aptos"/>
              <a:ea typeface="Aptos"/>
              <a:cs typeface="Aptos"/>
            </a:endParaRPr>
          </a:p>
        </p:txBody>
      </p:sp>
    </p:spTree>
    <p:extLst>
      <p:ext uri="{BB962C8B-B14F-4D97-AF65-F5344CB8AC3E}">
        <p14:creationId xmlns:p14="http://schemas.microsoft.com/office/powerpoint/2010/main" val="1114197881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BE34EF0E-B515-4551-A6C5-E090CBC17B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92240"/>
            <a:ext cx="7315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BINUS UNIVERSITY  |  Cloud Services  |  Praktikum 5</a:t>
            </a:r>
            <a:endParaRPr sz="9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EE24341D-08B7-44BF-B256-ED78D70AC7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47120" y="6492240"/>
            <a:ext cx="457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 b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13</a:t>
            </a:r>
            <a:endParaRPr sz="90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74AD45B5-AB7D-4C24-91D5-89ADD9E973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46520"/>
            <a:ext cx="228600" cy="365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pic>
        <p:nvPicPr>
          <p:cNvPr id="44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0b08ef1375a43c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74320" y="164592"/>
            <a:ext cx="914400" cy="603504"/>
          </a:xfrm>
          <a:prstGeom xmlns:a="http://schemas.openxmlformats.org/drawingml/2006/main" prst="rect">
            <a:avLst/>
          </a:prstGeom>
        </p:spPr>
      </p:pic>
      <p:pic>
        <p:nvPicPr>
          <p:cNvPr id="45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90eb92cdea8438d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881360" y="182880"/>
            <a:ext cx="1005840" cy="512064"/>
          </a:xfrm>
          <a:prstGeom xmlns:a="http://schemas.openxmlformats.org/drawingml/2006/main" prst="rect">
            <a:avLst/>
          </a:prstGeom>
        </p:spPr>
      </p:pic>
      <p:sp>
        <p:nvSpPr>
          <p:cNvPr id="7" name="Shape 3">
            <a:extLst xmlns:a="http://schemas.openxmlformats.org/drawingml/2006/main">
              <a:ext uri="{FF2B5EF4-FFF2-40B4-BE49-F238E27FC236}">
                <a16:creationId xmlns:a16="http://schemas.microsoft.com/office/drawing/2014/main" id="{E8B2DF1D-7817-4C6B-B8F1-7BCA9C8938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868680"/>
            <a:ext cx="1124712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8" name="Text 4">
            <a:extLst xmlns:a="http://schemas.openxmlformats.org/drawingml/2006/main">
              <a:ext uri="{FF2B5EF4-FFF2-40B4-BE49-F238E27FC236}">
                <a16:creationId xmlns:a16="http://schemas.microsoft.com/office/drawing/2014/main" id="{632F7897-36B5-4304-833F-E83718E3A1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1680" y="182880"/>
            <a:ext cx="81381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200" b="1">
                <a:solidFill>
                  <a:srgbClr val="1976D2"/>
                </a:solidFill>
                <a:latin typeface="Calibri"/>
                <a:ea typeface="Calibri"/>
                <a:cs typeface="Calibri"/>
              </a:rPr>
              <a:t>Bukti 5 | Docker Desktop port 8005</a:t>
            </a:r>
            <a:endParaRPr sz="2200"/>
          </a:p>
        </p:txBody>
      </p:sp>
      <p:sp>
        <p:nvSpPr>
          <p:cNvPr id="9" name="Text 5">
            <a:extLst xmlns:a="http://schemas.openxmlformats.org/drawingml/2006/main">
              <a:ext uri="{FF2B5EF4-FFF2-40B4-BE49-F238E27FC236}">
                <a16:creationId xmlns:a16="http://schemas.microsoft.com/office/drawing/2014/main" id="{56C20F17-AFBC-499D-AA6F-784E2041AF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60120"/>
            <a:ext cx="1124712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Tampilan aktual container Cloud Notes ketika Lab 06 memakai port 8000</a:t>
            </a:r>
            <a:endParaRPr sz="1200"/>
          </a:p>
        </p:txBody>
      </p:sp>
      <p:sp>
        <p:nvSpPr>
          <p:cNvPr id="10" name="Shape 6">
            <a:extLst xmlns:a="http://schemas.openxmlformats.org/drawingml/2006/main">
              <a:ext uri="{FF2B5EF4-FFF2-40B4-BE49-F238E27FC236}">
                <a16:creationId xmlns:a16="http://schemas.microsoft.com/office/drawing/2014/main" id="{FD50D318-E4D0-4B09-86A1-4BFA3818E9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5577840" cy="47548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11" name="Text 7">
            <a:extLst xmlns:a="http://schemas.openxmlformats.org/drawingml/2006/main">
              <a:ext uri="{FF2B5EF4-FFF2-40B4-BE49-F238E27FC236}">
                <a16:creationId xmlns:a16="http://schemas.microsoft.com/office/drawing/2014/main" id="{DEA2A30E-7E54-4C52-BF6A-771549BE3A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00200"/>
            <a:ext cx="5120640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 spc="300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PERINTAH, FUNGSI, DAN HASIL</a:t>
            </a:r>
            <a:endParaRPr sz="1100"/>
          </a:p>
        </p:txBody>
      </p:sp>
      <p:pic>
        <p:nvPicPr>
          <p:cNvPr id="51" name="Image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924e55e381a491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2697480"/>
            <a:ext cx="292608" cy="292608"/>
          </a:xfrm>
          <a:prstGeom xmlns:a="http://schemas.openxmlformats.org/drawingml/2006/main" prst="rect">
            <a:avLst/>
          </a:prstGeom>
        </p:spPr>
      </p:pic>
      <p:sp>
        <p:nvSpPr>
          <p:cNvPr id="13" name="Text 8">
            <a:extLst xmlns:a="http://schemas.openxmlformats.org/drawingml/2006/main">
              <a:ext uri="{FF2B5EF4-FFF2-40B4-BE49-F238E27FC236}">
                <a16:creationId xmlns:a16="http://schemas.microsoft.com/office/drawing/2014/main" id="{2196158A-C9E2-4C11-9F27-89056F459E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7008" y="2606040"/>
            <a:ext cx="47091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>
                <a:solidFill>
                  <a:srgbClr val="312124"/>
                </a:solidFill>
                <a:latin typeface="Aptos"/>
                <a:ea typeface="Aptos"/>
                <a:cs typeface="Aptos"/>
              </a:rPr>
              <a:t>Buka Docker Desktop: Containers.</a:t>
            </a:r>
            <a:endParaRPr sz="1400">
              <a:solidFill>
                <a:srgbClr val="312124"/>
              </a:solidFill>
              <a:latin typeface="Aptos"/>
              <a:ea typeface="Aptos"/>
              <a:cs typeface="Aptos"/>
            </a:endParaRPr>
          </a:p>
        </p:txBody>
      </p:sp>
      <p:pic>
        <p:nvPicPr>
          <p:cNvPr id="53" name="Image 3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290cb0d67dc4d8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3200400"/>
            <a:ext cx="292608" cy="292608"/>
          </a:xfrm>
          <a:prstGeom xmlns:a="http://schemas.openxmlformats.org/drawingml/2006/main" prst="rect">
            <a:avLst/>
          </a:prstGeom>
        </p:spPr>
      </p:pic>
      <p:sp>
        <p:nvSpPr>
          <p:cNvPr id="15" name="Text 9">
            <a:extLst xmlns:a="http://schemas.openxmlformats.org/drawingml/2006/main">
              <a:ext uri="{FF2B5EF4-FFF2-40B4-BE49-F238E27FC236}">
                <a16:creationId xmlns:a16="http://schemas.microsoft.com/office/drawing/2014/main" id="{C5E0BD21-09B0-4D03-980A-50199649AB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7008" y="3108960"/>
            <a:ext cx="47091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>
                <a:solidFill>
                  <a:srgbClr val="312124"/>
                </a:solidFill>
                <a:latin typeface="Aptos"/>
                <a:ea typeface="Aptos"/>
                <a:cs typeface="Aptos"/>
              </a:rPr>
              <a:t>Cari cloudlab-api-visual.</a:t>
            </a:r>
            <a:endParaRPr sz="1400">
              <a:solidFill>
                <a:srgbClr val="312124"/>
              </a:solidFill>
              <a:latin typeface="Aptos"/>
              <a:ea typeface="Aptos"/>
              <a:cs typeface="Aptos"/>
            </a:endParaRPr>
          </a:p>
        </p:txBody>
      </p:sp>
      <p:pic>
        <p:nvPicPr>
          <p:cNvPr id="55" name="Image 4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cc73f4ae18f435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3703320"/>
            <a:ext cx="292608" cy="292608"/>
          </a:xfrm>
          <a:prstGeom xmlns:a="http://schemas.openxmlformats.org/drawingml/2006/main" prst="rect">
            <a:avLst/>
          </a:prstGeom>
        </p:spPr>
      </p:pic>
      <p:sp>
        <p:nvSpPr>
          <p:cNvPr id="17" name="Text 10">
            <a:extLst xmlns:a="http://schemas.openxmlformats.org/drawingml/2006/main">
              <a:ext uri="{FF2B5EF4-FFF2-40B4-BE49-F238E27FC236}">
                <a16:creationId xmlns:a16="http://schemas.microsoft.com/office/drawing/2014/main" id="{1C365243-86E6-46BD-9C8D-561EB6615D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7008" y="3611880"/>
            <a:ext cx="47091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>
                <a:solidFill>
                  <a:srgbClr val="312124"/>
                </a:solidFill>
                <a:latin typeface="Aptos"/>
                <a:ea typeface="Aptos"/>
                <a:cs typeface="Aptos"/>
              </a:rPr>
              <a:t>Titik hijau berarti container hidup.</a:t>
            </a:r>
            <a:endParaRPr sz="1400">
              <a:solidFill>
                <a:srgbClr val="312124"/>
              </a:solidFill>
              <a:latin typeface="Aptos"/>
              <a:ea typeface="Aptos"/>
              <a:cs typeface="Aptos"/>
            </a:endParaRPr>
          </a:p>
        </p:txBody>
      </p:sp>
      <p:pic>
        <p:nvPicPr>
          <p:cNvPr id="57" name="Image 5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406aac30c78439f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4206240"/>
            <a:ext cx="292608" cy="292608"/>
          </a:xfrm>
          <a:prstGeom xmlns:a="http://schemas.openxmlformats.org/drawingml/2006/main" prst="rect">
            <a:avLst/>
          </a:prstGeom>
        </p:spPr>
      </p:pic>
      <p:sp>
        <p:nvSpPr>
          <p:cNvPr id="19" name="Text 11">
            <a:extLst xmlns:a="http://schemas.openxmlformats.org/drawingml/2006/main">
              <a:ext uri="{FF2B5EF4-FFF2-40B4-BE49-F238E27FC236}">
                <a16:creationId xmlns:a16="http://schemas.microsoft.com/office/drawing/2014/main" id="{BEA8301D-F13C-400E-82CB-E72B95EC18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7008" y="4114800"/>
            <a:ext cx="47091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>
                <a:solidFill>
                  <a:srgbClr val="312124"/>
                </a:solidFill>
                <a:latin typeface="Aptos"/>
                <a:ea typeface="Aptos"/>
                <a:cs typeface="Aptos"/>
              </a:rPr>
              <a:t>Kolom Port(s) menunjukkan 8005:8000.</a:t>
            </a:r>
            <a:endParaRPr sz="1400">
              <a:solidFill>
                <a:srgbClr val="312124"/>
              </a:solidFill>
              <a:latin typeface="Aptos"/>
              <a:ea typeface="Aptos"/>
              <a:cs typeface="Aptos"/>
            </a:endParaRPr>
          </a:p>
        </p:txBody>
      </p:sp>
      <p:pic>
        <p:nvPicPr>
          <p:cNvPr id="59" name="Image 6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a1908e9a72b48a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4709160"/>
            <a:ext cx="292608" cy="292608"/>
          </a:xfrm>
          <a:prstGeom xmlns:a="http://schemas.openxmlformats.org/drawingml/2006/main" prst="rect">
            <a:avLst/>
          </a:prstGeom>
        </p:spPr>
      </p:pic>
      <p:sp>
        <p:nvSpPr>
          <p:cNvPr id="21" name="Text 12">
            <a:extLst xmlns:a="http://schemas.openxmlformats.org/drawingml/2006/main">
              <a:ext uri="{FF2B5EF4-FFF2-40B4-BE49-F238E27FC236}">
                <a16:creationId xmlns:a16="http://schemas.microsoft.com/office/drawing/2014/main" id="{E3B47864-5F09-4F6C-993E-140E84EF8B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7008" y="4617720"/>
            <a:ext cx="47091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>
                <a:solidFill>
                  <a:srgbClr val="312124"/>
                </a:solidFill>
                <a:latin typeface="Aptos"/>
                <a:ea typeface="Aptos"/>
                <a:cs typeface="Aptos"/>
              </a:rPr>
              <a:t>Klik port untuk membuka web host.</a:t>
            </a:r>
            <a:endParaRPr sz="1400">
              <a:solidFill>
                <a:srgbClr val="312124"/>
              </a:solidFill>
              <a:latin typeface="Aptos"/>
              <a:ea typeface="Aptos"/>
              <a:cs typeface="Aptos"/>
            </a:endParaRPr>
          </a:p>
        </p:txBody>
      </p:sp>
      <p:pic>
        <p:nvPicPr>
          <p:cNvPr id="61" name="Image 7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2bf0ea7f64f47b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5212080"/>
            <a:ext cx="292608" cy="292608"/>
          </a:xfrm>
          <a:prstGeom xmlns:a="http://schemas.openxmlformats.org/drawingml/2006/main" prst="rect">
            <a:avLst/>
          </a:prstGeom>
        </p:spPr>
      </p:pic>
      <p:sp>
        <p:nvSpPr>
          <p:cNvPr id="23" name="Text 13">
            <a:extLst xmlns:a="http://schemas.openxmlformats.org/drawingml/2006/main">
              <a:ext uri="{FF2B5EF4-FFF2-40B4-BE49-F238E27FC236}">
                <a16:creationId xmlns:a16="http://schemas.microsoft.com/office/drawing/2014/main" id="{3F026E13-1B39-4C4C-A1BC-722C821F4C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7008" y="5120640"/>
            <a:ext cx="47091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>
                <a:solidFill>
                  <a:srgbClr val="312124"/>
                </a:solidFill>
                <a:latin typeface="Aptos"/>
                <a:ea typeface="Aptos"/>
                <a:cs typeface="Aptos"/>
              </a:rPr>
              <a:t>Container tetap mendengar port 8000.</a:t>
            </a:r>
            <a:endParaRPr sz="1400">
              <a:solidFill>
                <a:srgbClr val="312124"/>
              </a:solidFill>
              <a:latin typeface="Aptos"/>
              <a:ea typeface="Aptos"/>
              <a:cs typeface="Aptos"/>
            </a:endParaRPr>
          </a:p>
        </p:txBody>
      </p:sp>
      <p:pic>
        <p:nvPicPr>
          <p:cNvPr id="63" name="Image 8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fec7cf319dc4f7d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5715000"/>
            <a:ext cx="292608" cy="292608"/>
          </a:xfrm>
          <a:prstGeom xmlns:a="http://schemas.openxmlformats.org/drawingml/2006/main" prst="rect">
            <a:avLst/>
          </a:prstGeom>
        </p:spPr>
      </p:pic>
      <p:sp>
        <p:nvSpPr>
          <p:cNvPr id="25" name="Text 14">
            <a:extLst xmlns:a="http://schemas.openxmlformats.org/drawingml/2006/main">
              <a:ext uri="{FF2B5EF4-FFF2-40B4-BE49-F238E27FC236}">
                <a16:creationId xmlns:a16="http://schemas.microsoft.com/office/drawing/2014/main" id="{99C70399-BAE8-43AF-B6AF-268F3B9345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7008" y="5623560"/>
            <a:ext cx="47091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>
                <a:solidFill>
                  <a:srgbClr val="312124"/>
                </a:solidFill>
                <a:latin typeface="Aptos"/>
                <a:ea typeface="Aptos"/>
                <a:cs typeface="Aptos"/>
              </a:rPr>
              <a:t>docker ps membaca engine yang sama.</a:t>
            </a:r>
            <a:endParaRPr sz="1400">
              <a:solidFill>
                <a:srgbClr val="312124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26" name="Shape 15">
            <a:extLst xmlns:a="http://schemas.openxmlformats.org/drawingml/2006/main">
              <a:ext uri="{FF2B5EF4-FFF2-40B4-BE49-F238E27FC236}">
                <a16:creationId xmlns:a16="http://schemas.microsoft.com/office/drawing/2014/main" id="{D4223056-FB19-46C8-A0BE-D28FF2DB26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0" y="1417320"/>
            <a:ext cx="5486400" cy="47548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677"/>
          </a:solidFill>
          <a:ln xmlns:a="http://schemas.openxmlformats.org/drawingml/2006/main" w="12700">
            <a:solidFill>
              <a:srgbClr val="002677"/>
            </a:solidFill>
            <a:prstDash val="solid"/>
          </a:ln>
        </p:spPr>
      </p:sp>
      <p:sp>
        <p:nvSpPr>
          <p:cNvPr id="27" name="Text 16">
            <a:extLst xmlns:a="http://schemas.openxmlformats.org/drawingml/2006/main">
              <a:ext uri="{FF2B5EF4-FFF2-40B4-BE49-F238E27FC236}">
                <a16:creationId xmlns:a16="http://schemas.microsoft.com/office/drawing/2014/main" id="{DB23192B-BE08-4653-98EC-CEF96EE04F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520" y="1600200"/>
            <a:ext cx="5120640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 b="1" spc="300">
                <a:solidFill>
                  <a:srgbClr val="F37021"/>
                </a:solidFill>
                <a:latin typeface="Calibri"/>
                <a:ea typeface="Calibri"/>
                <a:cs typeface="Calibri"/>
              </a:rPr>
              <a:t>BUKTI PADA MESIN UJI</a:t>
            </a:r>
            <a:endParaRPr sz="1100"/>
          </a:p>
        </p:txBody>
      </p:sp>
      <p:sp>
        <p:nvSpPr>
          <p:cNvPr id="28" name="Text 17">
            <a:extLst xmlns:a="http://schemas.openxmlformats.org/drawingml/2006/main">
              <a:ext uri="{FF2B5EF4-FFF2-40B4-BE49-F238E27FC236}">
                <a16:creationId xmlns:a16="http://schemas.microsoft.com/office/drawing/2014/main" id="{CFE40829-985D-459B-94D8-02C39D4FBD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520" y="2606040"/>
            <a:ext cx="5029200" cy="2743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/>
          <a:lstStyle xmlns:a="http://schemas.openxmlformats.org/drawingml/2006/main"/>
          <a:p xmlns:a="http://schemas.openxmlformats.org/drawingml/2006/main">
            <a:pPr marL="0" indent="0">
              <a:spcAft>
                <a:spcPts val="600"/>
              </a:spcAft>
              <a:buNone/>
            </a:pPr>
            <a:endParaRPr sz="1200"/>
          </a:p>
        </p:txBody>
      </p:sp>
      <p:sp>
        <p:nvSpPr>
          <p:cNvPr id="29" name="Shape 18">
            <a:extLst xmlns:a="http://schemas.openxmlformats.org/drawingml/2006/main">
              <a:ext uri="{FF2B5EF4-FFF2-40B4-BE49-F238E27FC236}">
                <a16:creationId xmlns:a16="http://schemas.microsoft.com/office/drawing/2014/main" id="{74512C47-64B7-48B3-9A66-FC5730F27B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520" y="5349240"/>
            <a:ext cx="5029200" cy="7315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sp>
        <p:nvSpPr>
          <p:cNvPr id="30" name="Text 19">
            <a:extLst xmlns:a="http://schemas.openxmlformats.org/drawingml/2006/main">
              <a:ext uri="{FF2B5EF4-FFF2-40B4-BE49-F238E27FC236}">
                <a16:creationId xmlns:a16="http://schemas.microsoft.com/office/drawing/2014/main" id="{F9F7D7FD-31C2-40D6-BFB4-1EA2409034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520" y="5349240"/>
            <a:ext cx="5029200" cy="7315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500" i="1">
                <a:solidFill>
                  <a:srgbClr val="FFFFFF"/>
                </a:solidFill>
                <a:latin typeface="Aptos"/>
                <a:ea typeface="Aptos"/>
                <a:cs typeface="Aptos"/>
              </a:rPr>
              <a:t>cloudlab-api-visual hidup pada host 8005.</a:t>
            </a:r>
            <a:endParaRPr sz="1500">
              <a:solidFill>
                <a:srgbClr val="FFFFFF"/>
              </a:solidFill>
              <a:latin typeface="Aptos"/>
              <a:ea typeface="Aptos"/>
              <a:cs typeface="Aptos"/>
            </a:endParaRPr>
          </a:p>
        </p:txBody>
      </p:sp>
      <p:pic>
        <p:nvPicPr>
          <p:cNvPr id="70" name="Picture 3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7c1736fab8f4df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419088" y="2219216"/>
            <a:ext cx="5084064" cy="276704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55888603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74195355-432D-4B00-AD25-4B70A7ADC8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92240"/>
            <a:ext cx="7315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BINUS UNIVERSITY  |  Cloud Services  |  Praktikum 5</a:t>
            </a:r>
            <a:endParaRPr sz="9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AC4F8F65-9AE5-4627-BE35-AF97F69AFD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47120" y="6492240"/>
            <a:ext cx="457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 b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14</a:t>
            </a:r>
            <a:endParaRPr sz="90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76118AA0-25CF-4D4A-8218-C6F92C9F60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46520"/>
            <a:ext cx="228600" cy="365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pic>
        <p:nvPicPr>
          <p:cNvPr id="29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34de468efb34ad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74320" y="164592"/>
            <a:ext cx="914400" cy="603504"/>
          </a:xfrm>
          <a:prstGeom xmlns:a="http://schemas.openxmlformats.org/drawingml/2006/main" prst="rect">
            <a:avLst/>
          </a:prstGeom>
        </p:spPr>
      </p:pic>
      <p:pic>
        <p:nvPicPr>
          <p:cNvPr id="30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06704a2d94948c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881360" y="182880"/>
            <a:ext cx="1005840" cy="512064"/>
          </a:xfrm>
          <a:prstGeom xmlns:a="http://schemas.openxmlformats.org/drawingml/2006/main" prst="rect">
            <a:avLst/>
          </a:prstGeom>
        </p:spPr>
      </p:pic>
      <p:sp>
        <p:nvSpPr>
          <p:cNvPr id="7" name="Shape 3">
            <a:extLst xmlns:a="http://schemas.openxmlformats.org/drawingml/2006/main">
              <a:ext uri="{FF2B5EF4-FFF2-40B4-BE49-F238E27FC236}">
                <a16:creationId xmlns:a16="http://schemas.microsoft.com/office/drawing/2014/main" id="{F2E8A019-D718-4BF9-9879-C24D1B3172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868680"/>
            <a:ext cx="1124712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8" name="Text 4">
            <a:extLst xmlns:a="http://schemas.openxmlformats.org/drawingml/2006/main">
              <a:ext uri="{FF2B5EF4-FFF2-40B4-BE49-F238E27FC236}">
                <a16:creationId xmlns:a16="http://schemas.microsoft.com/office/drawing/2014/main" id="{D4A67422-4888-47C4-BF0C-472CF1855D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1680" y="182880"/>
            <a:ext cx="81381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200" b="1">
                <a:solidFill>
                  <a:srgbClr val="1976D2"/>
                </a:solidFill>
                <a:latin typeface="Calibri"/>
                <a:ea typeface="Calibri"/>
                <a:cs typeface="Calibri"/>
              </a:rPr>
              <a:t>7 | Bersihkan dan push kode</a:t>
            </a:r>
            <a:endParaRPr sz="2200"/>
          </a:p>
        </p:txBody>
      </p:sp>
      <p:sp>
        <p:nvSpPr>
          <p:cNvPr id="9" name="Text 5">
            <a:extLst xmlns:a="http://schemas.openxmlformats.org/drawingml/2006/main">
              <a:ext uri="{FF2B5EF4-FFF2-40B4-BE49-F238E27FC236}">
                <a16:creationId xmlns:a16="http://schemas.microsoft.com/office/drawing/2014/main" id="{55F76346-7EDD-4753-91EF-69D6A37307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60120"/>
            <a:ext cx="1124712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Git menyimpan source; registry menyimpan image</a:t>
            </a:r>
            <a:endParaRPr sz="1200"/>
          </a:p>
        </p:txBody>
      </p:sp>
      <p:sp>
        <p:nvSpPr>
          <p:cNvPr id="10" name="Shape 6">
            <a:extLst xmlns:a="http://schemas.openxmlformats.org/drawingml/2006/main">
              <a:ext uri="{FF2B5EF4-FFF2-40B4-BE49-F238E27FC236}">
                <a16:creationId xmlns:a16="http://schemas.microsoft.com/office/drawing/2014/main" id="{CFB16BB9-E389-4800-96CF-0F48DDBD60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5577840" cy="47548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93B"/>
          </a:solidFill>
          <a:ln xmlns:a="http://schemas.openxmlformats.org/drawingml/2006/main" w="12700">
            <a:solidFill>
              <a:srgbClr val="0F172A"/>
            </a:solidFill>
            <a:prstDash val="solid"/>
          </a:ln>
        </p:spPr>
      </p:sp>
      <p:sp>
        <p:nvSpPr>
          <p:cNvPr id="11" name="Shape 7">
            <a:extLst xmlns:a="http://schemas.openxmlformats.org/drawingml/2006/main">
              <a:ext uri="{FF2B5EF4-FFF2-40B4-BE49-F238E27FC236}">
                <a16:creationId xmlns:a16="http://schemas.microsoft.com/office/drawing/2014/main" id="{E58CAF1F-3439-4600-9C21-DF7D9C4264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17320"/>
            <a:ext cx="5577840" cy="2743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172A"/>
          </a:solidFill>
          <a:ln xmlns:a="http://schemas.openxmlformats.org/drawingml/2006/main" w="12700">
            <a:solidFill>
              <a:srgbClr val="0F172A"/>
            </a:solidFill>
            <a:prstDash val="solid"/>
          </a:ln>
        </p:spPr>
      </p:sp>
      <p:sp>
        <p:nvSpPr>
          <p:cNvPr id="12" name="Shape 8">
            <a:extLst xmlns:a="http://schemas.openxmlformats.org/drawingml/2006/main">
              <a:ext uri="{FF2B5EF4-FFF2-40B4-BE49-F238E27FC236}">
                <a16:creationId xmlns:a16="http://schemas.microsoft.com/office/drawing/2014/main" id="{6C1D234B-9666-4595-B18B-1E4F1C4DCF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F4444"/>
          </a:solidFill>
          <a:ln xmlns:a="http://schemas.openxmlformats.org/drawingml/2006/main" w="12700">
            <a:solidFill>
              <a:srgbClr val="EF4444"/>
            </a:solidFill>
            <a:prstDash val="solid"/>
          </a:ln>
        </p:spPr>
      </p:sp>
      <p:sp>
        <p:nvSpPr>
          <p:cNvPr id="13" name="Shape 9">
            <a:extLst xmlns:a="http://schemas.openxmlformats.org/drawingml/2006/main">
              <a:ext uri="{FF2B5EF4-FFF2-40B4-BE49-F238E27FC236}">
                <a16:creationId xmlns:a16="http://schemas.microsoft.com/office/drawing/2014/main" id="{790D9D94-F0D7-40D1-B170-BCF0A0136F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59E0B"/>
          </a:solidFill>
          <a:ln xmlns:a="http://schemas.openxmlformats.org/drawingml/2006/main" w="12700">
            <a:solidFill>
              <a:srgbClr val="F59E0B"/>
            </a:solidFill>
            <a:prstDash val="solid"/>
          </a:ln>
        </p:spPr>
      </p:sp>
      <p:sp>
        <p:nvSpPr>
          <p:cNvPr id="14" name="Shape 10">
            <a:extLst xmlns:a="http://schemas.openxmlformats.org/drawingml/2006/main">
              <a:ext uri="{FF2B5EF4-FFF2-40B4-BE49-F238E27FC236}">
                <a16:creationId xmlns:a16="http://schemas.microsoft.com/office/drawing/2014/main" id="{8C25078D-558F-47D4-9267-E84C0DF2F1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0B981"/>
          </a:solidFill>
          <a:ln xmlns:a="http://schemas.openxmlformats.org/drawingml/2006/main" w="12700">
            <a:solidFill>
              <a:srgbClr val="10B981"/>
            </a:solidFill>
            <a:prstDash val="solid"/>
          </a:ln>
        </p:spPr>
      </p:sp>
      <p:sp>
        <p:nvSpPr>
          <p:cNvPr id="15" name="Text 11">
            <a:extLst xmlns:a="http://schemas.openxmlformats.org/drawingml/2006/main">
              <a:ext uri="{FF2B5EF4-FFF2-40B4-BE49-F238E27FC236}">
                <a16:creationId xmlns:a16="http://schemas.microsoft.com/office/drawing/2014/main" id="{71539AB2-7747-47B6-8962-FC9B7F61D9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1417320"/>
            <a:ext cx="484632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Perintah terminal</a:t>
            </a:r>
            <a:endParaRPr sz="900"/>
          </a:p>
        </p:txBody>
      </p:sp>
      <p:sp>
        <p:nvSpPr>
          <p:cNvPr id="16" name="Text 12">
            <a:extLst xmlns:a="http://schemas.openxmlformats.org/drawingml/2006/main">
              <a:ext uri="{FF2B5EF4-FFF2-40B4-BE49-F238E27FC236}">
                <a16:creationId xmlns:a16="http://schemas.microsoft.com/office/drawing/2014/main" id="{4661CF0F-6CD8-4132-80A2-55B17FCDD6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1783080"/>
            <a:ext cx="5303520" cy="42976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50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docker rm -f cloudlab-api
docker rm -f cloudlab-api-visual
git status --short
git add Dockerfile .dockerignore requirements.txt
git add app MODUL_MAHASISWA.md hasil
git diff --cached --name-only
git diff --cached --check
git commit -m "lab05: uji Cloud Notes API"
git push</a:t>
            </a:r>
            <a:endParaRPr sz="1500">
              <a:solidFill>
                <a:srgbClr val="FFFFFF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17" name="Shape 13">
            <a:extLst xmlns:a="http://schemas.openxmlformats.org/drawingml/2006/main">
              <a:ext uri="{FF2B5EF4-FFF2-40B4-BE49-F238E27FC236}">
                <a16:creationId xmlns:a16="http://schemas.microsoft.com/office/drawing/2014/main" id="{60191EEF-864E-4C15-B4C2-2DA9238187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0" y="1417320"/>
            <a:ext cx="5486400" cy="47548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93B"/>
          </a:solidFill>
          <a:ln xmlns:a="http://schemas.openxmlformats.org/drawingml/2006/main" w="12700">
            <a:solidFill>
              <a:srgbClr val="0F172A"/>
            </a:solidFill>
            <a:prstDash val="solid"/>
          </a:ln>
        </p:spPr>
      </p:sp>
      <p:sp>
        <p:nvSpPr>
          <p:cNvPr id="18" name="Shape 14">
            <a:extLst xmlns:a="http://schemas.openxmlformats.org/drawingml/2006/main">
              <a:ext uri="{FF2B5EF4-FFF2-40B4-BE49-F238E27FC236}">
                <a16:creationId xmlns:a16="http://schemas.microsoft.com/office/drawing/2014/main" id="{3053A71C-47DB-4A89-934F-7218DE42E5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0" y="1417320"/>
            <a:ext cx="5486400" cy="2743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172A"/>
          </a:solidFill>
          <a:ln xmlns:a="http://schemas.openxmlformats.org/drawingml/2006/main" w="12700">
            <a:solidFill>
              <a:srgbClr val="0F172A"/>
            </a:solidFill>
            <a:prstDash val="solid"/>
          </a:ln>
        </p:spPr>
      </p:sp>
      <p:sp>
        <p:nvSpPr>
          <p:cNvPr id="19" name="Shape 15">
            <a:extLst xmlns:a="http://schemas.openxmlformats.org/drawingml/2006/main">
              <a:ext uri="{FF2B5EF4-FFF2-40B4-BE49-F238E27FC236}">
                <a16:creationId xmlns:a16="http://schemas.microsoft.com/office/drawing/2014/main" id="{F2DC2A5A-B639-4BF2-A96E-D156F9940B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936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F4444"/>
          </a:solidFill>
          <a:ln xmlns:a="http://schemas.openxmlformats.org/drawingml/2006/main" w="12700">
            <a:solidFill>
              <a:srgbClr val="EF4444"/>
            </a:solidFill>
            <a:prstDash val="solid"/>
          </a:ln>
        </p:spPr>
      </p:sp>
      <p:sp>
        <p:nvSpPr>
          <p:cNvPr id="20" name="Shape 16">
            <a:extLst xmlns:a="http://schemas.openxmlformats.org/drawingml/2006/main">
              <a:ext uri="{FF2B5EF4-FFF2-40B4-BE49-F238E27FC236}">
                <a16:creationId xmlns:a16="http://schemas.microsoft.com/office/drawing/2014/main" id="{79925180-116A-40F5-9878-221B63FC3C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52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59E0B"/>
          </a:solidFill>
          <a:ln xmlns:a="http://schemas.openxmlformats.org/drawingml/2006/main" w="12700">
            <a:solidFill>
              <a:srgbClr val="F59E0B"/>
            </a:solidFill>
            <a:prstDash val="solid"/>
          </a:ln>
        </p:spPr>
      </p:sp>
      <p:sp>
        <p:nvSpPr>
          <p:cNvPr id="21" name="Shape 17">
            <a:extLst xmlns:a="http://schemas.openxmlformats.org/drawingml/2006/main">
              <a:ext uri="{FF2B5EF4-FFF2-40B4-BE49-F238E27FC236}">
                <a16:creationId xmlns:a16="http://schemas.microsoft.com/office/drawing/2014/main" id="{90F7A00B-013E-4E4A-AB1E-260CB67F8B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0" y="1499616"/>
            <a:ext cx="109728" cy="10972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0B981"/>
          </a:solidFill>
          <a:ln xmlns:a="http://schemas.openxmlformats.org/drawingml/2006/main" w="12700">
            <a:solidFill>
              <a:srgbClr val="10B981"/>
            </a:solidFill>
            <a:prstDash val="solid"/>
          </a:ln>
        </p:spPr>
      </p:sp>
      <p:sp>
        <p:nvSpPr>
          <p:cNvPr id="22" name="Text 18">
            <a:extLst xmlns:a="http://schemas.openxmlformats.org/drawingml/2006/main">
              <a:ext uri="{FF2B5EF4-FFF2-40B4-BE49-F238E27FC236}">
                <a16:creationId xmlns:a16="http://schemas.microsoft.com/office/drawing/2014/main" id="{AC76C490-D97D-4F2E-AB27-7D90C611F3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6560" y="1417320"/>
            <a:ext cx="475488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00">
                <a:solidFill>
                  <a:srgbClr val="94A3B8"/>
                </a:solidFill>
                <a:latin typeface="Consolas"/>
                <a:ea typeface="Consolas"/>
                <a:cs typeface="Consolas"/>
              </a:rPr>
              <a:t>Pemeriksaan sebelum push</a:t>
            </a:r>
            <a:endParaRPr sz="900"/>
          </a:p>
        </p:txBody>
      </p:sp>
      <p:sp>
        <p:nvSpPr>
          <p:cNvPr id="23" name="Text 19">
            <a:extLst xmlns:a="http://schemas.openxmlformats.org/drawingml/2006/main">
              <a:ext uri="{FF2B5EF4-FFF2-40B4-BE49-F238E27FC236}">
                <a16:creationId xmlns:a16="http://schemas.microsoft.com/office/drawing/2014/main" id="{34F5181F-B800-4768-9A92-DDF237A7B9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5080" y="1783080"/>
            <a:ext cx="5212080" cy="42976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spcAft>
                <a:spcPts val="200"/>
              </a:spcAft>
              <a:buNone/>
            </a:pPr>
            <a:r>
              <a:rPr sz="1600">
                <a:solidFill>
                  <a:srgbClr val="FFFFFF"/>
                </a:solidFill>
                <a:latin typeface="Aptos"/>
                <a:ea typeface="Aptos"/>
                <a:cs typeface="Aptos"/>
              </a:rPr>
              <a:t>Jangan stage .env, token, atau cache.
Simpan screenshot hasil Anda sendiri.
Jika folder hasil/bukti belum ada,
hapus argumen itu dari git add.
Docker Hub opsional: tag, login,
push hanya dengan akun yang tersedia.</a:t>
            </a:r>
            <a:endParaRPr sz="1600">
              <a:solidFill>
                <a:srgbClr val="FFFFFF"/>
              </a:solidFill>
              <a:latin typeface="Aptos"/>
              <a:ea typeface="Aptos"/>
              <a:cs typeface="Aptos"/>
            </a:endParaRPr>
          </a:p>
        </p:txBody>
      </p:sp>
    </p:spTree>
    <p:extLst>
      <p:ext uri="{BB962C8B-B14F-4D97-AF65-F5344CB8AC3E}">
        <p14:creationId xmlns:p14="http://schemas.microsoft.com/office/powerpoint/2010/main" val="494078226"/>
      </p:ext>
    </p:extLst>
  </p:cSld>
</p:sld>
</file>

<file path=ppt/slides/slide1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B087EB02-3B3B-4002-A075-345A84CD57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92240"/>
            <a:ext cx="7315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BINUS UNIVERSITY  |  Cloud Services  |  Praktikum 5</a:t>
            </a:r>
            <a:endParaRPr sz="9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7DCFB412-28DE-4EC3-9AC2-0CB24E23F0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47120" y="6492240"/>
            <a:ext cx="457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 b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15</a:t>
            </a:r>
            <a:endParaRPr sz="90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025ACCF0-05B2-4F91-827D-85AB5E0A09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46520"/>
            <a:ext cx="228600" cy="365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pic>
        <p:nvPicPr>
          <p:cNvPr id="43" name="Picture 4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82107c9f879490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74320" y="164592"/>
            <a:ext cx="914400" cy="603504"/>
          </a:xfrm>
          <a:prstGeom xmlns:a="http://schemas.openxmlformats.org/drawingml/2006/main" prst="rect">
            <a:avLst/>
          </a:prstGeom>
        </p:spPr>
      </p:pic>
      <p:pic>
        <p:nvPicPr>
          <p:cNvPr id="44" name="Picture 5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7cb11ba2dce443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881360" y="182880"/>
            <a:ext cx="1005840" cy="512064"/>
          </a:xfrm>
          <a:prstGeom xmlns:a="http://schemas.openxmlformats.org/drawingml/2006/main" prst="rect">
            <a:avLst/>
          </a:prstGeom>
        </p:spPr>
      </p:pic>
      <p:sp>
        <p:nvSpPr>
          <p:cNvPr id="7" name="Shape 3">
            <a:extLst xmlns:a="http://schemas.openxmlformats.org/drawingml/2006/main">
              <a:ext uri="{FF2B5EF4-FFF2-40B4-BE49-F238E27FC236}">
                <a16:creationId xmlns:a16="http://schemas.microsoft.com/office/drawing/2014/main" id="{0C0E3C9E-B1C7-4BC7-9179-F2FCB1ED89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868680"/>
            <a:ext cx="1124712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8" name="Text 4">
            <a:extLst xmlns:a="http://schemas.openxmlformats.org/drawingml/2006/main">
              <a:ext uri="{FF2B5EF4-FFF2-40B4-BE49-F238E27FC236}">
                <a16:creationId xmlns:a16="http://schemas.microsoft.com/office/drawing/2014/main" id="{21EBAC95-D75E-4D81-98C9-5A6B42212B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1680" y="182880"/>
            <a:ext cx="81381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200" b="1">
                <a:solidFill>
                  <a:srgbClr val="1976D2"/>
                </a:solidFill>
                <a:latin typeface="Calibri"/>
                <a:ea typeface="Calibri"/>
                <a:cs typeface="Calibri"/>
              </a:rPr>
              <a:t>Bukti awal | Dockerfile dan Engine</a:t>
            </a:r>
            <a:endParaRPr sz="2200"/>
          </a:p>
        </p:txBody>
      </p:sp>
      <p:sp>
        <p:nvSpPr>
          <p:cNvPr id="9" name="Text 5">
            <a:extLst xmlns:a="http://schemas.openxmlformats.org/drawingml/2006/main">
              <a:ext uri="{FF2B5EF4-FFF2-40B4-BE49-F238E27FC236}">
                <a16:creationId xmlns:a16="http://schemas.microsoft.com/office/drawing/2014/main" id="{96EC1A75-5648-45FB-B3BB-0A9A7E910E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60120"/>
            <a:ext cx="1124712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docker version menguji daemon; Select-String membaca instruksi Dockerfile</a:t>
            </a:r>
            <a:endParaRPr sz="1200"/>
          </a:p>
        </p:txBody>
      </p:sp>
      <p:sp>
        <p:nvSpPr>
          <p:cNvPr id="27" name="Rectangle 26">
            <a:extLst xmlns:a="http://schemas.openxmlformats.org/drawingml/2006/main">
              <a:ext uri="{FF2B5EF4-FFF2-40B4-BE49-F238E27FC236}">
                <a16:creationId xmlns:a16="http://schemas.microsoft.com/office/drawing/2014/main" id="{CA2C3FC3-2268-3632-60A5-8F36FCCD90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09700"/>
            <a:ext cx="11252200" cy="388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8FC"/>
          </a:solidFill>
          <a:ln xmlns:a="http://schemas.openxmlformats.org/drawingml/2006/main">
            <a:solidFill>
              <a:srgbClr val="D3DEEE"/>
            </a:solidFill>
          </a:ln>
        </p:spPr>
        <p:style>
          <a:lnRef xmlns:a="http://schemas.openxmlformats.org/drawingml/2006/main" idx="2">
            <a:schemeClr val="accent1">
              <a:shade val="1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30" name="Rectangle 29">
            <a:extLst xmlns:a="http://schemas.openxmlformats.org/drawingml/2006/main">
              <a:ext uri="{FF2B5EF4-FFF2-40B4-BE49-F238E27FC236}">
                <a16:creationId xmlns:a16="http://schemas.microsoft.com/office/drawing/2014/main" id="{784C38AF-D50D-3EDB-2A20-35E5881441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397500"/>
            <a:ext cx="11252200" cy="787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777"/>
          </a:solidFill>
          <a:ln xmlns:a="http://schemas.openxmlformats.org/drawingml/2006/main" w="12700" cmpd="sng">
            <a:noFill/>
            <a:prstDash val="solid"/>
          </a:ln>
        </p:spPr>
        <p:style>
          <a:lnRef xmlns:a="http://schemas.openxmlformats.org/drawingml/2006/main" idx="2">
            <a:schemeClr val="accent1">
              <a:shade val="1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31" name="TextBox 30">
            <a:extLst xmlns:a="http://schemas.openxmlformats.org/drawingml/2006/main">
              <a:ext uri="{FF2B5EF4-FFF2-40B4-BE49-F238E27FC236}">
                <a16:creationId xmlns:a16="http://schemas.microsoft.com/office/drawing/2014/main" id="{78179848-0254-FC95-B234-981E0248F0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000" y="5499100"/>
            <a:ext cx="3429000" cy="276999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vert="horz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r>
              <a:rPr sz="1050" b="1">
                <a:solidFill>
                  <a:srgbClr val="F37021"/>
                </a:solidFill>
                <a:latin typeface="Arial"/>
                <a:ea typeface="Arial"/>
                <a:cs typeface="Arial"/>
              </a:rPr>
              <a:t>BUILD</a:t>
            </a:r>
          </a:p>
        </p:txBody>
      </p:sp>
      <p:sp>
        <p:nvSpPr>
          <p:cNvPr id="32" name="TextBox 31">
            <a:extLst xmlns:a="http://schemas.openxmlformats.org/drawingml/2006/main">
              <a:ext uri="{FF2B5EF4-FFF2-40B4-BE49-F238E27FC236}">
                <a16:creationId xmlns:a16="http://schemas.microsoft.com/office/drawing/2014/main" id="{9F041FD0-C768-9242-FF37-021E9D2B6B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000" y="5727700"/>
            <a:ext cx="3429000" cy="276999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vert="horz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r>
              <a:rPr sz="1300">
                <a:solidFill>
                  <a:srgbClr val="FFFFFF"/>
                </a:solidFill>
                <a:latin typeface="Arial"/>
                <a:ea typeface="Arial"/>
                <a:cs typeface="Arial"/>
              </a:rPr>
              <a:t>FROM builder; RUN pip</a:t>
            </a:r>
          </a:p>
        </p:txBody>
      </p:sp>
      <p:sp>
        <p:nvSpPr>
          <p:cNvPr id="33" name="TextBox 32">
            <a:extLst xmlns:a="http://schemas.openxmlformats.org/drawingml/2006/main">
              <a:ext uri="{FF2B5EF4-FFF2-40B4-BE49-F238E27FC236}">
                <a16:creationId xmlns:a16="http://schemas.microsoft.com/office/drawing/2014/main" id="{AF74B100-F150-BE1A-A13C-CBD2FCE7D1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8000" y="5499100"/>
            <a:ext cx="3429000" cy="276999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vert="horz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r>
              <a:rPr sz="1050" b="1">
                <a:solidFill>
                  <a:srgbClr val="F37021"/>
                </a:solidFill>
                <a:latin typeface="Arial"/>
                <a:ea typeface="Arial"/>
                <a:cs typeface="Arial"/>
              </a:rPr>
              <a:t>RUNTIME</a:t>
            </a:r>
          </a:p>
        </p:txBody>
      </p:sp>
      <p:sp>
        <p:nvSpPr>
          <p:cNvPr id="34" name="TextBox 33">
            <a:extLst xmlns:a="http://schemas.openxmlformats.org/drawingml/2006/main">
              <a:ext uri="{FF2B5EF4-FFF2-40B4-BE49-F238E27FC236}">
                <a16:creationId xmlns:a16="http://schemas.microsoft.com/office/drawing/2014/main" id="{B864305D-94C1-CBA2-4912-2EC5B11805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8000" y="5727700"/>
            <a:ext cx="3429000" cy="276999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vert="horz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r>
              <a:rPr sz="1300">
                <a:solidFill>
                  <a:srgbClr val="FFFFFF"/>
                </a:solidFill>
                <a:latin typeface="Arial"/>
                <a:ea typeface="Arial"/>
                <a:cs typeface="Arial"/>
              </a:rPr>
              <a:t>USER appuser; CMD API</a:t>
            </a:r>
          </a:p>
        </p:txBody>
      </p:sp>
      <p:sp>
        <p:nvSpPr>
          <p:cNvPr id="35" name="TextBox 34">
            <a:extLst xmlns:a="http://schemas.openxmlformats.org/drawingml/2006/main">
              <a:ext uri="{FF2B5EF4-FFF2-40B4-BE49-F238E27FC236}">
                <a16:creationId xmlns:a16="http://schemas.microsoft.com/office/drawing/2014/main" id="{7FEE0EF9-5060-12FC-A5E6-E5367599FF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5499100"/>
            <a:ext cx="3429000" cy="276999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vert="horz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r>
              <a:rPr sz="1050" b="1">
                <a:solidFill>
                  <a:srgbClr val="F37021"/>
                </a:solidFill>
                <a:latin typeface="Arial"/>
                <a:ea typeface="Arial"/>
                <a:cs typeface="Arial"/>
              </a:rPr>
              <a:t>PORT</a:t>
            </a:r>
          </a:p>
        </p:txBody>
      </p:sp>
      <p:sp>
        <p:nvSpPr>
          <p:cNvPr id="36" name="TextBox 35">
            <a:extLst xmlns:a="http://schemas.openxmlformats.org/drawingml/2006/main">
              <a:ext uri="{FF2B5EF4-FFF2-40B4-BE49-F238E27FC236}">
                <a16:creationId xmlns:a16="http://schemas.microsoft.com/office/drawing/2014/main" id="{B7FAF8FA-E512-3BA5-B85A-15159888CA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5727700"/>
            <a:ext cx="3429000" cy="276999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vert="horz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r>
              <a:rPr sz="1300">
                <a:solidFill>
                  <a:srgbClr val="FFFFFF"/>
                </a:solidFill>
                <a:latin typeface="Arial"/>
                <a:ea typeface="Arial"/>
                <a:cs typeface="Arial"/>
              </a:rPr>
              <a:t>Container mendengar 8000</a:t>
            </a:r>
          </a:p>
        </p:txBody>
      </p:sp>
      <p:pic>
        <p:nvPicPr>
          <p:cNvPr id="56" name="Picture 36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3f13fd4f2bf478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911350" y="1490898"/>
            <a:ext cx="10343900" cy="3723804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75105011"/>
      </p:ext>
    </p:extLst>
  </p:cSld>
</p:sld>
</file>

<file path=ppt/slides/slide1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D67C57EB-DB2F-4960-A145-F4D54849A6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92240"/>
            <a:ext cx="7315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BINUS UNIVERSITY  |  Cloud Services  |  Praktikum 5</a:t>
            </a:r>
            <a:endParaRPr sz="9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F6F837AA-8E7C-4B6D-9133-0DAEF4C480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47120" y="6492240"/>
            <a:ext cx="457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900" b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16</a:t>
            </a:r>
            <a:endParaRPr sz="90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FBA28D69-11D5-46BA-9D13-9E2646DC6D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46520"/>
            <a:ext cx="228600" cy="3657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7021"/>
          </a:solidFill>
          <a:ln xmlns:a="http://schemas.openxmlformats.org/drawingml/2006/main" w="12700">
            <a:solidFill>
              <a:srgbClr val="F37021"/>
            </a:solidFill>
            <a:prstDash val="solid"/>
          </a:ln>
        </p:spPr>
      </p:sp>
      <p:pic>
        <p:nvPicPr>
          <p:cNvPr id="43" name="Picture 4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62ad243d86a425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74320" y="164592"/>
            <a:ext cx="914400" cy="603504"/>
          </a:xfrm>
          <a:prstGeom xmlns:a="http://schemas.openxmlformats.org/drawingml/2006/main" prst="rect">
            <a:avLst/>
          </a:prstGeom>
        </p:spPr>
      </p:pic>
      <p:pic>
        <p:nvPicPr>
          <p:cNvPr id="44" name="Picture 5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4cf8ed326bc4b1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881360" y="182880"/>
            <a:ext cx="1005840" cy="512064"/>
          </a:xfrm>
          <a:prstGeom xmlns:a="http://schemas.openxmlformats.org/drawingml/2006/main" prst="rect">
            <a:avLst/>
          </a:prstGeom>
        </p:spPr>
      </p:pic>
      <p:sp>
        <p:nvSpPr>
          <p:cNvPr id="7" name="Shape 3">
            <a:extLst xmlns:a="http://schemas.openxmlformats.org/drawingml/2006/main">
              <a:ext uri="{FF2B5EF4-FFF2-40B4-BE49-F238E27FC236}">
                <a16:creationId xmlns:a16="http://schemas.microsoft.com/office/drawing/2014/main" id="{468ECEF0-5C08-49F7-A03F-0156C572AA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868680"/>
            <a:ext cx="1124712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E2E8F0"/>
            </a:solidFill>
            <a:prstDash val="solid"/>
          </a:ln>
        </p:spPr>
      </p:sp>
      <p:sp>
        <p:nvSpPr>
          <p:cNvPr id="8" name="Text 4">
            <a:extLst xmlns:a="http://schemas.openxmlformats.org/drawingml/2006/main">
              <a:ext uri="{FF2B5EF4-FFF2-40B4-BE49-F238E27FC236}">
                <a16:creationId xmlns:a16="http://schemas.microsoft.com/office/drawing/2014/main" id="{05C2984C-7C12-4C32-BA83-68CA1E1701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1680" y="182880"/>
            <a:ext cx="81381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200" b="1">
                <a:solidFill>
                  <a:srgbClr val="1976D2"/>
                </a:solidFill>
                <a:latin typeface="Calibri"/>
                <a:ea typeface="Calibri"/>
                <a:cs typeface="Calibri"/>
              </a:rPr>
              <a:t>Bukti Git | repo Lab 05 terbit</a:t>
            </a:r>
            <a:endParaRPr sz="2200"/>
          </a:p>
        </p:txBody>
      </p:sp>
      <p:sp>
        <p:nvSpPr>
          <p:cNvPr id="9" name="Text 5">
            <a:extLst xmlns:a="http://schemas.openxmlformats.org/drawingml/2006/main">
              <a:ext uri="{FF2B5EF4-FFF2-40B4-BE49-F238E27FC236}">
                <a16:creationId xmlns:a16="http://schemas.microsoft.com/office/drawing/2014/main" id="{95EABBF5-FF50-4476-96E7-D989A3DD72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960120"/>
            <a:ext cx="1124712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Push memperbarui origin/main; SHA sama membuktikan commit terbit</a:t>
            </a:r>
            <a:endParaRPr sz="1200"/>
          </a:p>
        </p:txBody>
      </p:sp>
      <p:sp>
        <p:nvSpPr>
          <p:cNvPr id="27" name="Rectangle 26">
            <a:extLst xmlns:a="http://schemas.openxmlformats.org/drawingml/2006/main">
              <a:ext uri="{FF2B5EF4-FFF2-40B4-BE49-F238E27FC236}">
                <a16:creationId xmlns:a16="http://schemas.microsoft.com/office/drawing/2014/main" id="{CA2C3FC3-2268-3632-60A5-8F36FCCD90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409700"/>
            <a:ext cx="11252200" cy="388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8FC"/>
          </a:solidFill>
          <a:ln xmlns:a="http://schemas.openxmlformats.org/drawingml/2006/main">
            <a:solidFill>
              <a:srgbClr val="D3DEEE"/>
            </a:solidFill>
          </a:ln>
        </p:spPr>
        <p:style>
          <a:lnRef xmlns:a="http://schemas.openxmlformats.org/drawingml/2006/main" idx="2">
            <a:schemeClr val="accent1">
              <a:shade val="1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30" name="Rectangle 29">
            <a:extLst xmlns:a="http://schemas.openxmlformats.org/drawingml/2006/main">
              <a:ext uri="{FF2B5EF4-FFF2-40B4-BE49-F238E27FC236}">
                <a16:creationId xmlns:a16="http://schemas.microsoft.com/office/drawing/2014/main" id="{784C38AF-D50D-3EDB-2A20-35E5881441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397500"/>
            <a:ext cx="11252200" cy="787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777"/>
          </a:solidFill>
          <a:ln xmlns:a="http://schemas.openxmlformats.org/drawingml/2006/main" w="12700" cmpd="sng">
            <a:noFill/>
            <a:prstDash val="solid"/>
          </a:ln>
        </p:spPr>
        <p:style>
          <a:lnRef xmlns:a="http://schemas.openxmlformats.org/drawingml/2006/main" idx="2">
            <a:schemeClr val="accent1">
              <a:shade val="1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31" name="TextBox 30">
            <a:extLst xmlns:a="http://schemas.openxmlformats.org/drawingml/2006/main">
              <a:ext uri="{FF2B5EF4-FFF2-40B4-BE49-F238E27FC236}">
                <a16:creationId xmlns:a16="http://schemas.microsoft.com/office/drawing/2014/main" id="{78179848-0254-FC95-B234-981E0248F0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000" y="5499100"/>
            <a:ext cx="3429000" cy="276999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vert="horz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r>
              <a:rPr sz="1050" b="1">
                <a:solidFill>
                  <a:srgbClr val="F37021"/>
                </a:solidFill>
                <a:latin typeface="Arial"/>
                <a:ea typeface="Arial"/>
                <a:cs typeface="Arial"/>
              </a:rPr>
              <a:t>TUJUAN</a:t>
            </a:r>
          </a:p>
        </p:txBody>
      </p:sp>
      <p:sp>
        <p:nvSpPr>
          <p:cNvPr id="32" name="TextBox 31">
            <a:extLst xmlns:a="http://schemas.openxmlformats.org/drawingml/2006/main">
              <a:ext uri="{FF2B5EF4-FFF2-40B4-BE49-F238E27FC236}">
                <a16:creationId xmlns:a16="http://schemas.microsoft.com/office/drawing/2014/main" id="{9F041FD0-C768-9242-FF37-021E9D2B6B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000" y="5727700"/>
            <a:ext cx="3429000" cy="276999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vert="horz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r>
              <a:rPr sz="1300">
                <a:solidFill>
                  <a:srgbClr val="FFFFFF"/>
                </a:solidFill>
                <a:latin typeface="Arial"/>
                <a:ea typeface="Arial"/>
                <a:cs typeface="Arial"/>
              </a:rPr>
              <a:t>origin = meet5CloudService</a:t>
            </a:r>
          </a:p>
        </p:txBody>
      </p:sp>
      <p:sp>
        <p:nvSpPr>
          <p:cNvPr id="33" name="TextBox 32">
            <a:extLst xmlns:a="http://schemas.openxmlformats.org/drawingml/2006/main">
              <a:ext uri="{FF2B5EF4-FFF2-40B4-BE49-F238E27FC236}">
                <a16:creationId xmlns:a16="http://schemas.microsoft.com/office/drawing/2014/main" id="{AF74B100-F150-BE1A-A13C-CBD2FCE7D1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8000" y="5499100"/>
            <a:ext cx="3429000" cy="276999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vert="horz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r>
              <a:rPr sz="1050" b="1">
                <a:solidFill>
                  <a:srgbClr val="F37021"/>
                </a:solidFill>
                <a:latin typeface="Arial"/>
                <a:ea typeface="Arial"/>
                <a:cs typeface="Arial"/>
              </a:rPr>
              <a:t>HASIL PUSH</a:t>
            </a:r>
          </a:p>
        </p:txBody>
      </p:sp>
      <p:sp>
        <p:nvSpPr>
          <p:cNvPr id="34" name="TextBox 33">
            <a:extLst xmlns:a="http://schemas.openxmlformats.org/drawingml/2006/main">
              <a:ext uri="{FF2B5EF4-FFF2-40B4-BE49-F238E27FC236}">
                <a16:creationId xmlns:a16="http://schemas.microsoft.com/office/drawing/2014/main" id="{B864305D-94C1-CBA2-4912-2EC5B11805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8000" y="5727700"/>
            <a:ext cx="3429000" cy="276999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vert="horz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r>
              <a:rPr sz="1300">
                <a:solidFill>
                  <a:srgbClr val="FFFFFF"/>
                </a:solidFill>
                <a:latin typeface="Arial"/>
                <a:ea typeface="Arial"/>
                <a:cs typeface="Arial"/>
              </a:rPr>
              <a:t>SHA lokal = remote saat uji</a:t>
            </a:r>
          </a:p>
        </p:txBody>
      </p:sp>
      <p:sp>
        <p:nvSpPr>
          <p:cNvPr id="35" name="TextBox 34">
            <a:extLst xmlns:a="http://schemas.openxmlformats.org/drawingml/2006/main">
              <a:ext uri="{FF2B5EF4-FFF2-40B4-BE49-F238E27FC236}">
                <a16:creationId xmlns:a16="http://schemas.microsoft.com/office/drawing/2014/main" id="{7FEE0EF9-5060-12FC-A5E6-E5367599FF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5499100"/>
            <a:ext cx="3429000" cy="276999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vert="horz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r>
              <a:rPr sz="1050" b="1">
                <a:solidFill>
                  <a:srgbClr val="F37021"/>
                </a:solidFill>
                <a:latin typeface="Arial"/>
                <a:ea typeface="Arial"/>
                <a:cs typeface="Arial"/>
              </a:rPr>
              <a:t>MAHASISWA</a:t>
            </a:r>
          </a:p>
        </p:txBody>
      </p:sp>
      <p:sp>
        <p:nvSpPr>
          <p:cNvPr id="36" name="TextBox 35">
            <a:extLst xmlns:a="http://schemas.openxmlformats.org/drawingml/2006/main">
              <a:ext uri="{FF2B5EF4-FFF2-40B4-BE49-F238E27FC236}">
                <a16:creationId xmlns:a16="http://schemas.microsoft.com/office/drawing/2014/main" id="{B7FAF8FA-E512-3BA5-B85A-15159888CA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5727700"/>
            <a:ext cx="3429000" cy="276999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vert="horz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r>
              <a:rPr sz="1300">
                <a:solidFill>
                  <a:srgbClr val="FFFFFF"/>
                </a:solidFill>
                <a:latin typeface="Arial"/>
                <a:ea typeface="Arial"/>
                <a:cs typeface="Arial"/>
              </a:rPr>
              <a:t>git push -u origin main</a:t>
            </a:r>
          </a:p>
        </p:txBody>
      </p:sp>
      <p:pic>
        <p:nvPicPr>
          <p:cNvPr id="56" name="Picture 36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df85480159d400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146439" y="1490898"/>
            <a:ext cx="9873722" cy="3723804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18548475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2026-10-07T17:18:20.0910000Z</dcterms:created>
  <dcterms:modified xsi:type="dcterms:W3CDTF">2026-10-07T17:18:20.0920000Z</dcterms:modified>
</coreProperties>
</file>