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af603835104d7d" /><Relationship Type="http://schemas.openxmlformats.org/officeDocument/2006/relationships/extended-properties" Target="/docProps/app.xml" Id="R00f9826633034c3b" /><Relationship Type="http://schemas.openxmlformats.org/officeDocument/2006/relationships/officeDocument" Target="/ppt/presentation.xml" Id="Rb33ad7f938f2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979fb7b27b4171"/>
  </p:sldMasterIdLst>
  <p:notesMasterIdLst>
    <p:notesMasterId xmlns:r="http://schemas.openxmlformats.org/officeDocument/2006/relationships" r:id="Rf455857789de45da"/>
  </p:notesMasterIdLst>
  <p:sldIdLst>
    <p:sldId xmlns:r="http://schemas.openxmlformats.org/officeDocument/2006/relationships" id="256" r:id="R960d5afe6b4a487a"/>
    <p:sldId xmlns:r="http://schemas.openxmlformats.org/officeDocument/2006/relationships" id="257" r:id="Rfd01d976ff874f46"/>
    <p:sldId xmlns:r="http://schemas.openxmlformats.org/officeDocument/2006/relationships" id="258" r:id="R87935cb9cb7e4466"/>
    <p:sldId xmlns:r="http://schemas.openxmlformats.org/officeDocument/2006/relationships" id="259" r:id="Rf2af61c2c62442c3"/>
    <p:sldId xmlns:r="http://schemas.openxmlformats.org/officeDocument/2006/relationships" id="260" r:id="R3a768f3677a84f46"/>
    <p:sldId xmlns:r="http://schemas.openxmlformats.org/officeDocument/2006/relationships" id="261" r:id="R1d0eca96de6b4ba1"/>
    <p:sldId xmlns:r="http://schemas.openxmlformats.org/officeDocument/2006/relationships" id="262" r:id="R3c525d1bd20d4972"/>
    <p:sldId xmlns:r="http://schemas.openxmlformats.org/officeDocument/2006/relationships" id="263" r:id="R4d9f7c7deb44477d"/>
    <p:sldId xmlns:r="http://schemas.openxmlformats.org/officeDocument/2006/relationships" id="264" r:id="R4a84e10d5d9d461e"/>
    <p:sldId xmlns:r="http://schemas.openxmlformats.org/officeDocument/2006/relationships" id="265" r:id="R8002fcd451004352"/>
    <p:sldId xmlns:r="http://schemas.openxmlformats.org/officeDocument/2006/relationships" id="266" r:id="R25fd9cde495b4f69"/>
    <p:sldId xmlns:r="http://schemas.openxmlformats.org/officeDocument/2006/relationships" id="267" r:id="Rc69fb68651904a63"/>
    <p:sldId xmlns:r="http://schemas.openxmlformats.org/officeDocument/2006/relationships" id="268" r:id="Rac77ce3996634ffa"/>
    <p:sldId xmlns:r="http://schemas.openxmlformats.org/officeDocument/2006/relationships" id="269" r:id="R5371e7f3061f4c4e"/>
    <p:sldId xmlns:r="http://schemas.openxmlformats.org/officeDocument/2006/relationships" id="270" r:id="Rc679cc3e67c2478d"/>
    <p:sldId xmlns:r="http://schemas.openxmlformats.org/officeDocument/2006/relationships" id="271" r:id="Rb14f2ec211c8411d"/>
    <p:sldId xmlns:r="http://schemas.openxmlformats.org/officeDocument/2006/relationships" id="272" r:id="Rf4c4db1a4925406d"/>
    <p:sldId xmlns:r="http://schemas.openxmlformats.org/officeDocument/2006/relationships" id="273" r:id="R252a1cbee070420e"/>
    <p:sldId xmlns:r="http://schemas.openxmlformats.org/officeDocument/2006/relationships" id="274" r:id="Rc3d88f979459412b"/>
    <p:sldId xmlns:r="http://schemas.openxmlformats.org/officeDocument/2006/relationships" id="275" r:id="Rbe0969ff239e46d6"/>
    <p:sldId xmlns:r="http://schemas.openxmlformats.org/officeDocument/2006/relationships" id="276" r:id="Re6246271e81c4fb8"/>
    <p:sldId xmlns:r="http://schemas.openxmlformats.org/officeDocument/2006/relationships" id="277" r:id="Rd34981bcf8404deb"/>
    <p:sldId xmlns:r="http://schemas.openxmlformats.org/officeDocument/2006/relationships" id="278" r:id="Rae9790f0ec2b4046"/>
    <p:sldId xmlns:r="http://schemas.openxmlformats.org/officeDocument/2006/relationships" id="279" r:id="R4a0b8e17aa544ec1"/>
    <p:sldId xmlns:r="http://schemas.openxmlformats.org/officeDocument/2006/relationships" id="280" r:id="Rfd8451b31b57403d"/>
    <p:sldId xmlns:r="http://schemas.openxmlformats.org/officeDocument/2006/relationships" id="281" r:id="Ra924b42cde7b4bf5"/>
    <p:sldId xmlns:r="http://schemas.openxmlformats.org/officeDocument/2006/relationships" id="282" r:id="Rf5184227a3874ca7"/>
    <p:sldId xmlns:r="http://schemas.openxmlformats.org/officeDocument/2006/relationships" id="283" r:id="R042c1a0711be4a99"/>
    <p:sldId xmlns:r="http://schemas.openxmlformats.org/officeDocument/2006/relationships" id="284" r:id="R1e5630a0cb874055"/>
    <p:sldId xmlns:r="http://schemas.openxmlformats.org/officeDocument/2006/relationships" id="285" r:id="R10caf8e4c311463b"/>
    <p:sldId xmlns:r="http://schemas.openxmlformats.org/officeDocument/2006/relationships" id="286" r:id="Rdf3333df2c134c52"/>
    <p:sldId xmlns:r="http://schemas.openxmlformats.org/officeDocument/2006/relationships" id="287" r:id="R9e6e4398ba4a4dbe"/>
    <p:sldId xmlns:r="http://schemas.openxmlformats.org/officeDocument/2006/relationships" id="288" r:id="R74c55a1f8f1649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c68fe1dfe643aa" /><Relationship Type="http://schemas.openxmlformats.org/officeDocument/2006/relationships/slideMaster" Target="/ppt/slideMasters/slideMaster1.xml" Id="R3f979fb7b27b4171" /><Relationship Type="http://schemas.openxmlformats.org/officeDocument/2006/relationships/notesMaster" Target="/ppt/notesMasters/notesMaster1.xml" Id="Rf455857789de45da" /><Relationship Type="http://schemas.openxmlformats.org/officeDocument/2006/relationships/presProps" Target="/ppt/presProps.xml" Id="Rb39ba925508048d5" /><Relationship Type="http://schemas.openxmlformats.org/officeDocument/2006/relationships/viewProps" Target="/ppt/viewProps.xml" Id="Rb458a34ebd834b20" /><Relationship Type="http://schemas.openxmlformats.org/officeDocument/2006/relationships/tableStyles" Target="/ppt/tableStyles.xml" Id="R8b3523fab24d49ae" /><Relationship Type="http://schemas.openxmlformats.org/officeDocument/2006/relationships/slide" Target="/ppt/slides/slide1.xml" Id="R960d5afe6b4a487a" /><Relationship Type="http://schemas.openxmlformats.org/officeDocument/2006/relationships/slide" Target="/ppt/slides/slide2.xml" Id="Rfd01d976ff874f46" /><Relationship Type="http://schemas.openxmlformats.org/officeDocument/2006/relationships/slide" Target="/ppt/slides/slide3.xml" Id="R87935cb9cb7e4466" /><Relationship Type="http://schemas.openxmlformats.org/officeDocument/2006/relationships/slide" Target="/ppt/slides/slide4.xml" Id="Rf2af61c2c62442c3" /><Relationship Type="http://schemas.openxmlformats.org/officeDocument/2006/relationships/slide" Target="/ppt/slides/slide5.xml" Id="R3a768f3677a84f46" /><Relationship Type="http://schemas.openxmlformats.org/officeDocument/2006/relationships/slide" Target="/ppt/slides/slide6.xml" Id="R1d0eca96de6b4ba1" /><Relationship Type="http://schemas.openxmlformats.org/officeDocument/2006/relationships/slide" Target="/ppt/slides/slide7.xml" Id="R3c525d1bd20d4972" /><Relationship Type="http://schemas.openxmlformats.org/officeDocument/2006/relationships/slide" Target="/ppt/slides/slide8.xml" Id="R4d9f7c7deb44477d" /><Relationship Type="http://schemas.openxmlformats.org/officeDocument/2006/relationships/slide" Target="/ppt/slides/slide9.xml" Id="R4a84e10d5d9d461e" /><Relationship Type="http://schemas.openxmlformats.org/officeDocument/2006/relationships/slide" Target="/ppt/slides/slide10.xml" Id="R8002fcd451004352" /><Relationship Type="http://schemas.openxmlformats.org/officeDocument/2006/relationships/slide" Target="/ppt/slides/slide11.xml" Id="R25fd9cde495b4f69" /><Relationship Type="http://schemas.openxmlformats.org/officeDocument/2006/relationships/slide" Target="/ppt/slides/slide12.xml" Id="Rc69fb68651904a63" /><Relationship Type="http://schemas.openxmlformats.org/officeDocument/2006/relationships/slide" Target="/ppt/slides/slide13.xml" Id="Rac77ce3996634ffa" /><Relationship Type="http://schemas.openxmlformats.org/officeDocument/2006/relationships/slide" Target="/ppt/slides/slide14.xml" Id="R5371e7f3061f4c4e" /><Relationship Type="http://schemas.openxmlformats.org/officeDocument/2006/relationships/slide" Target="/ppt/slides/slide15.xml" Id="Rc679cc3e67c2478d" /><Relationship Type="http://schemas.openxmlformats.org/officeDocument/2006/relationships/slide" Target="/ppt/slides/slide16.xml" Id="Rb14f2ec211c8411d" /><Relationship Type="http://schemas.openxmlformats.org/officeDocument/2006/relationships/slide" Target="/ppt/slides/slide17.xml" Id="Rf4c4db1a4925406d" /><Relationship Type="http://schemas.openxmlformats.org/officeDocument/2006/relationships/slide" Target="/ppt/slides/slide18.xml" Id="R252a1cbee070420e" /><Relationship Type="http://schemas.openxmlformats.org/officeDocument/2006/relationships/slide" Target="/ppt/slides/slide19.xml" Id="Rc3d88f979459412b" /><Relationship Type="http://schemas.openxmlformats.org/officeDocument/2006/relationships/slide" Target="/ppt/slides/slide20.xml" Id="Rbe0969ff239e46d6" /><Relationship Type="http://schemas.openxmlformats.org/officeDocument/2006/relationships/slide" Target="/ppt/slides/slide21.xml" Id="Re6246271e81c4fb8" /><Relationship Type="http://schemas.openxmlformats.org/officeDocument/2006/relationships/slide" Target="/ppt/slides/slide22.xml" Id="Rd34981bcf8404deb" /><Relationship Type="http://schemas.openxmlformats.org/officeDocument/2006/relationships/slide" Target="/ppt/slides/slide23.xml" Id="Rae9790f0ec2b4046" /><Relationship Type="http://schemas.openxmlformats.org/officeDocument/2006/relationships/slide" Target="/ppt/slides/slide24.xml" Id="R4a0b8e17aa544ec1" /><Relationship Type="http://schemas.openxmlformats.org/officeDocument/2006/relationships/slide" Target="/ppt/slides/slide25.xml" Id="Rfd8451b31b57403d" /><Relationship Type="http://schemas.openxmlformats.org/officeDocument/2006/relationships/slide" Target="/ppt/slides/slide26.xml" Id="Ra924b42cde7b4bf5" /><Relationship Type="http://schemas.openxmlformats.org/officeDocument/2006/relationships/slide" Target="/ppt/slides/slide27.xml" Id="Rf5184227a3874ca7" /><Relationship Type="http://schemas.openxmlformats.org/officeDocument/2006/relationships/slide" Target="/ppt/slides/slide28.xml" Id="R042c1a0711be4a99" /><Relationship Type="http://schemas.openxmlformats.org/officeDocument/2006/relationships/slide" Target="/ppt/slides/slide29.xml" Id="R1e5630a0cb874055" /><Relationship Type="http://schemas.openxmlformats.org/officeDocument/2006/relationships/slide" Target="/ppt/slides/slide30.xml" Id="R10caf8e4c311463b" /><Relationship Type="http://schemas.openxmlformats.org/officeDocument/2006/relationships/slide" Target="/ppt/slides/slide31.xml" Id="Rdf3333df2c134c52" /><Relationship Type="http://schemas.openxmlformats.org/officeDocument/2006/relationships/slide" Target="/ppt/slides/slide32.xml" Id="R9e6e4398ba4a4dbe" /><Relationship Type="http://schemas.openxmlformats.org/officeDocument/2006/relationships/slide" Target="/ppt/slides/slide33.xml" Id="R74c55a1f8f16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eb0aac8f4b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0189bcfd3f47a0" /><Relationship Type="http://schemas.openxmlformats.org/officeDocument/2006/relationships/notesMaster" Target="/ppt/notesMasters/notesMaster1.xml" Id="Rafc3428ea7b840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5a55cab024fb4" /><Relationship Type="http://schemas.openxmlformats.org/officeDocument/2006/relationships/notesMaster" Target="/ppt/notesMasters/notesMaster1.xml" Id="R1622843e6b27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7f5681a1194162" /><Relationship Type="http://schemas.openxmlformats.org/officeDocument/2006/relationships/notesMaster" Target="/ppt/notesMasters/notesMaster1.xml" Id="R54db252510744b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d6e573be7543a8" /><Relationship Type="http://schemas.openxmlformats.org/officeDocument/2006/relationships/notesMaster" Target="/ppt/notesMasters/notesMaster1.xml" Id="R1032a42c3eb3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72476d015d4154" /><Relationship Type="http://schemas.openxmlformats.org/officeDocument/2006/relationships/notesMaster" Target="/ppt/notesMasters/notesMaster1.xml" Id="R31ab8eb79f0d46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7290bbf01e4ddd" /><Relationship Type="http://schemas.openxmlformats.org/officeDocument/2006/relationships/notesMaster" Target="/ppt/notesMasters/notesMaster1.xml" Id="R2df01d2ded0742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275be4a0934c1e" /><Relationship Type="http://schemas.openxmlformats.org/officeDocument/2006/relationships/notesMaster" Target="/ppt/notesMasters/notesMaster1.xml" Id="R33a445e884f749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7cd0efda634c18" /><Relationship Type="http://schemas.openxmlformats.org/officeDocument/2006/relationships/notesMaster" Target="/ppt/notesMasters/notesMaster1.xml" Id="Re09ea294f1b443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f502977f064d67" /><Relationship Type="http://schemas.openxmlformats.org/officeDocument/2006/relationships/notesMaster" Target="/ppt/notesMasters/notesMaster1.xml" Id="R2e28e804610248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23b31c3be441ac" /><Relationship Type="http://schemas.openxmlformats.org/officeDocument/2006/relationships/notesMaster" Target="/ppt/notesMasters/notesMaster1.xml" Id="R281794e6f17c45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be7188ec9b4d2f" /><Relationship Type="http://schemas.openxmlformats.org/officeDocument/2006/relationships/notesMaster" Target="/ppt/notesMasters/notesMaster1.xml" Id="Ref9ae4f88ec04a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e691381073437a" /><Relationship Type="http://schemas.openxmlformats.org/officeDocument/2006/relationships/notesMaster" Target="/ppt/notesMasters/notesMaster1.xml" Id="R2fcd7cc0a6384e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031ab301634a79" /><Relationship Type="http://schemas.openxmlformats.org/officeDocument/2006/relationships/notesMaster" Target="/ppt/notesMasters/notesMaster1.xml" Id="Rf4ffc2095d6847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bb79df11af4802" /><Relationship Type="http://schemas.openxmlformats.org/officeDocument/2006/relationships/notesMaster" Target="/ppt/notesMasters/notesMaster1.xml" Id="R7a1f95b09f3944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41adaaf7834ade" /><Relationship Type="http://schemas.openxmlformats.org/officeDocument/2006/relationships/notesMaster" Target="/ppt/notesMasters/notesMaster1.xml" Id="R4d9c3b1d2f6d4e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bcfc2193d9406f" /><Relationship Type="http://schemas.openxmlformats.org/officeDocument/2006/relationships/notesMaster" Target="/ppt/notesMasters/notesMaster1.xml" Id="Rfad7e34c5d6041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ef77ad98854d55" /><Relationship Type="http://schemas.openxmlformats.org/officeDocument/2006/relationships/notesMaster" Target="/ppt/notesMasters/notesMaster1.xml" Id="R1cc7eaee775a4b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6af519d3114b3d" /><Relationship Type="http://schemas.openxmlformats.org/officeDocument/2006/relationships/notesMaster" Target="/ppt/notesMasters/notesMaster1.xml" Id="Rdaf7f714ef8b48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bda55b7edd4c8e" /><Relationship Type="http://schemas.openxmlformats.org/officeDocument/2006/relationships/notesMaster" Target="/ppt/notesMasters/notesMaster1.xml" Id="R03d2462338af43a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fea23d797f48b8" /><Relationship Type="http://schemas.openxmlformats.org/officeDocument/2006/relationships/notesMaster" Target="/ppt/notesMasters/notesMaster1.xml" Id="R5edd71eefebb41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498de4c77e4e27" /><Relationship Type="http://schemas.openxmlformats.org/officeDocument/2006/relationships/notesMaster" Target="/ppt/notesMasters/notesMaster1.xml" Id="Ref23863e3b0543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c03452e9564f43" /><Relationship Type="http://schemas.openxmlformats.org/officeDocument/2006/relationships/notesMaster" Target="/ppt/notesMasters/notesMaster1.xml" Id="R86c64c0430b640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9a50c2add74859" /><Relationship Type="http://schemas.openxmlformats.org/officeDocument/2006/relationships/notesMaster" Target="/ppt/notesMasters/notesMaster1.xml" Id="Rce9a0d834e0c4c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0dd385b657447a" /><Relationship Type="http://schemas.openxmlformats.org/officeDocument/2006/relationships/notesMaster" Target="/ppt/notesMasters/notesMaster1.xml" Id="Rb798740b4d3f4b7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cd921ea96154918" /><Relationship Type="http://schemas.openxmlformats.org/officeDocument/2006/relationships/notesMaster" Target="/ppt/notesMasters/notesMaster1.xml" Id="Rb7e7ff9420cc4b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f3e0b1fc5c4ac0" /><Relationship Type="http://schemas.openxmlformats.org/officeDocument/2006/relationships/notesMaster" Target="/ppt/notesMasters/notesMaster1.xml" Id="Rc600a2bdaf3f4e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ac0275353f74081" /><Relationship Type="http://schemas.openxmlformats.org/officeDocument/2006/relationships/notesMaster" Target="/ppt/notesMasters/notesMaster1.xml" Id="R6c96ac7a5611458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b588d5954fb4981" /><Relationship Type="http://schemas.openxmlformats.org/officeDocument/2006/relationships/notesMaster" Target="/ppt/notesMasters/notesMaster1.xml" Id="R324dbf8946b9435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8454fa6ce64f4e" /><Relationship Type="http://schemas.openxmlformats.org/officeDocument/2006/relationships/notesMaster" Target="/ppt/notesMasters/notesMaster1.xml" Id="Rb7e341747ad24d7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9a80922b5954125" /><Relationship Type="http://schemas.openxmlformats.org/officeDocument/2006/relationships/notesMaster" Target="/ppt/notesMasters/notesMaster1.xml" Id="Rea73df42bb2d471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79de529206441dd" /><Relationship Type="http://schemas.openxmlformats.org/officeDocument/2006/relationships/notesMaster" Target="/ppt/notesMasters/notesMaster1.xml" Id="Rad85559dce004c7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fac73106ab244e4" /><Relationship Type="http://schemas.openxmlformats.org/officeDocument/2006/relationships/notesMaster" Target="/ppt/notesMasters/notesMaster1.xml" Id="R799088c15d9a477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2ed57d083df4bc8" /><Relationship Type="http://schemas.openxmlformats.org/officeDocument/2006/relationships/notesMaster" Target="/ppt/notesMasters/notesMaster1.xml" Id="Rd7e07a0512e7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Jembatan ke Lab 05. Repo: https://github.com/SeedFlora/meet5CloudService. RPS: COMP6991031. Periksa langkah praktik dan perintah pada README repo. Bacaan: https://docs.docker.com/get-started/docker-concepts/building-images/writing-a-dockerfile/. Video: https://www.docker.com/resources/docker-intro-and-overview-on-demand-training/.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Pemantik 2 menit: Kasus kerja: tim menerima API catatan baru. Image harus bisa dibangun ulang, dijalankan tanpa root, dan diuji sebelum rilis.</a:t>
            </a:r>
          </a:p>
          <a:p xmlns:a="http://schemas.openxmlformats.org/drawingml/2006/main">
            <a:r>
              <a:t>Tanya kelas: Prediksi: apa yang terjadi pada catatan ketika container dihapus dan dibuat lagi?</a:t>
            </a:r>
          </a:p>
          <a:p xmlns:a="http://schemas.openxmlformats.org/drawingml/2006/main">
            <a:r>
              <a:t>Bacaan resmi: https://docs.docker.com/get-started/docker-concepts/building-images/writing-a-dockerfile/</a:t>
            </a:r>
          </a:p>
          <a:p xmlns:a="http://schemas.openxmlformats.org/drawingml/2006/main">
            <a:r>
              <a:t>Video resmi: https://www.docker.com/resources/docker-intro-and-overview-on-demand-training/</a:t>
            </a:r>
          </a:p>
          <a:p xmlns:a="http://schemas.openxmlformats.org/drawingml/2006/main">
            <a:r>
              <a:t>Praktik terhubung: https://github.com/SeedFlora/meet5CloudService</a:t>
            </a:r>
          </a:p>
          <a:p xmlns:a="http://schemas.openxmlformats.org/drawingml/2006/main">
            <a:r>
              <a:t>Ilustrasi: dibuat khusus untuk materi kelas dengan imagegen, bukan foto atau bukti hasil lab. Verifikasi tautan sumber dilakukan 8 Oktober 2026; pemutaran stream video tidak diuji. Lokasi dan harga layanan dapat berubah. Untuk P08, INP menggantikan FID sebagai Core Web Vital (https://web.dev/articles/inp).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c09cbf1e347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7365a571d46b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aaae3621f4d69" /><Relationship Type="http://schemas.openxmlformats.org/officeDocument/2006/relationships/slideLayout" Target="/ppt/slideLayouts/slideLayout1.xml" Id="R73a1200f7eef4ba1" /><Relationship Type="http://schemas.openxmlformats.org/officeDocument/2006/relationships/slideLayout" Target="/ppt/slideLayouts/slideLayout2.xml" Id="Rf0b55ecfe9cd4e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1200f7eef4ba1"/>
    <p:sldLayoutId xmlns:r="http://schemas.openxmlformats.org/officeDocument/2006/relationships" id="2147483650" r:id="Rf0b55ecfe9cd4e2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52c109eec4fcb" /><Relationship Type="http://schemas.openxmlformats.org/officeDocument/2006/relationships/image" Target="/ppt/media/image.jpeg" Id="R8694aa2e952e4ff8" /><Relationship Type="http://schemas.openxmlformats.org/officeDocument/2006/relationships/image" Target="/ppt/media/image.png" Id="R7ccdc6272c5a43ab" /><Relationship Type="http://schemas.openxmlformats.org/officeDocument/2006/relationships/image" Target="/ppt/media/image2.png" Id="R0442152b5eab44e8" /><Relationship Type="http://schemas.openxmlformats.org/officeDocument/2006/relationships/notesSlide" Target="/ppt/notesSlides/notesSlide1.xml" Id="Reff8c1c40a554d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d784a02942c3" /><Relationship Type="http://schemas.openxmlformats.org/officeDocument/2006/relationships/image" Target="/ppt/media/image.png" Id="Ra8d054a1136e449b" /><Relationship Type="http://schemas.openxmlformats.org/officeDocument/2006/relationships/image" Target="/ppt/media/image2.png" Id="R6b5bed4e09e345a5" /><Relationship Type="http://schemas.openxmlformats.org/officeDocument/2006/relationships/image" Target="/ppt/media/image3.png" Id="R89f5064c3f45490f" /><Relationship Type="http://schemas.openxmlformats.org/officeDocument/2006/relationships/image" Target="/ppt/media/image4.png" Id="R394d1f1bd06a4b17" /><Relationship Type="http://schemas.openxmlformats.org/officeDocument/2006/relationships/image" Target="/ppt/media/image5.png" Id="R1b0d6b3975c24b56" /><Relationship Type="http://schemas.openxmlformats.org/officeDocument/2006/relationships/image" Target="/ppt/media/image6.png" Id="Rac185abf574e4742" /><Relationship Type="http://schemas.openxmlformats.org/officeDocument/2006/relationships/image" Target="/ppt/media/image7.png" Id="R7059717993494a15" /><Relationship Type="http://schemas.openxmlformats.org/officeDocument/2006/relationships/notesSlide" Target="/ppt/notesSlides/notesSlide2.xml" Id="Rd0255fbab5dc4c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00ddd30ad4d61" /><Relationship Type="http://schemas.openxmlformats.org/officeDocument/2006/relationships/image" Target="/ppt/media/image.png" Id="R17af36d9996a4b93" /><Relationship Type="http://schemas.openxmlformats.org/officeDocument/2006/relationships/image" Target="/ppt/media/image2.png" Id="R6b51151a02f84dbe" /><Relationship Type="http://schemas.openxmlformats.org/officeDocument/2006/relationships/image" Target="/ppt/media/image8.png" Id="Rfd70b6432f274a0f" /><Relationship Type="http://schemas.openxmlformats.org/officeDocument/2006/relationships/image" Target="/ppt/media/image6.png" Id="Rc191aa8fd13d47ed" /><Relationship Type="http://schemas.openxmlformats.org/officeDocument/2006/relationships/image" Target="/ppt/media/image9.png" Id="R1c14cf0de332493e" /><Relationship Type="http://schemas.openxmlformats.org/officeDocument/2006/relationships/image" Target="/ppt/media/image10.png" Id="Re437b6b559004e96" /><Relationship Type="http://schemas.openxmlformats.org/officeDocument/2006/relationships/notesSlide" Target="/ppt/notesSlides/notesSlide3.xml" Id="R1efa800c641843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7964d5a8f476c" /><Relationship Type="http://schemas.openxmlformats.org/officeDocument/2006/relationships/image" Target="/ppt/media/image.png" Id="R15dcb1cb988c430f" /><Relationship Type="http://schemas.openxmlformats.org/officeDocument/2006/relationships/image" Target="/ppt/media/image2.png" Id="R021162573a5e4656" /><Relationship Type="http://schemas.openxmlformats.org/officeDocument/2006/relationships/notesSlide" Target="/ppt/notesSlides/notesSlide4.xml" Id="R1bbddb3fffce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60d09bc8a467f" /><Relationship Type="http://schemas.openxmlformats.org/officeDocument/2006/relationships/image" Target="/ppt/media/image.png" Id="Rcd7240a9e6cc44eb" /><Relationship Type="http://schemas.openxmlformats.org/officeDocument/2006/relationships/image" Target="/ppt/media/image2.png" Id="R1242ff4470704a48" /><Relationship Type="http://schemas.openxmlformats.org/officeDocument/2006/relationships/image" Target="/ppt/media/image8.png" Id="R65cf18bbeb354f2d" /><Relationship Type="http://schemas.openxmlformats.org/officeDocument/2006/relationships/image" Target="/ppt/media/image11.png" Id="R4ff0995483034463" /><Relationship Type="http://schemas.openxmlformats.org/officeDocument/2006/relationships/image" Target="/ppt/media/image6.png" Id="R2381c4f121cd4d5b" /><Relationship Type="http://schemas.openxmlformats.org/officeDocument/2006/relationships/image" Target="/ppt/media/image12.png" Id="Rdbff661750e44095" /><Relationship Type="http://schemas.openxmlformats.org/officeDocument/2006/relationships/image" Target="/ppt/media/image7.png" Id="R5406b19db6054819" /><Relationship Type="http://schemas.openxmlformats.org/officeDocument/2006/relationships/notesSlide" Target="/ppt/notesSlides/notesSlide5.xml" Id="Raa9706b2dae44c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d3931a6ad4f63" /><Relationship Type="http://schemas.openxmlformats.org/officeDocument/2006/relationships/image" Target="/ppt/media/image.png" Id="R4d1b41c19c924dd9" /><Relationship Type="http://schemas.openxmlformats.org/officeDocument/2006/relationships/image" Target="/ppt/media/image2.png" Id="R3509278ec8c8433a" /><Relationship Type="http://schemas.openxmlformats.org/officeDocument/2006/relationships/notesSlide" Target="/ppt/notesSlides/notesSlide6.xml" Id="R8adc946d95b543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cedc25fe746c7" /><Relationship Type="http://schemas.openxmlformats.org/officeDocument/2006/relationships/image" Target="/ppt/media/image.png" Id="Rbb07bb795b044ce3" /><Relationship Type="http://schemas.openxmlformats.org/officeDocument/2006/relationships/image" Target="/ppt/media/image2.png" Id="Rdcd8f7e59c814ddb" /><Relationship Type="http://schemas.openxmlformats.org/officeDocument/2006/relationships/notesSlide" Target="/ppt/notesSlides/notesSlide7.xml" Id="Rbcd2c6b1bcf348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ceeba84d54477" /><Relationship Type="http://schemas.openxmlformats.org/officeDocument/2006/relationships/image" Target="/ppt/media/image.png" Id="Refa37968a72a4276" /><Relationship Type="http://schemas.openxmlformats.org/officeDocument/2006/relationships/image" Target="/ppt/media/image2.png" Id="Ra6d3941ebcba46a1" /><Relationship Type="http://schemas.openxmlformats.org/officeDocument/2006/relationships/notesSlide" Target="/ppt/notesSlides/notesSlide8.xml" Id="Rcc1ca7611ab04e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c304aad0f4a83" /><Relationship Type="http://schemas.openxmlformats.org/officeDocument/2006/relationships/image" Target="/ppt/media/image.png" Id="Ra607483f93af416a" /><Relationship Type="http://schemas.openxmlformats.org/officeDocument/2006/relationships/image" Target="/ppt/media/image2.png" Id="Ra1d6dd698e5c4101" /><Relationship Type="http://schemas.openxmlformats.org/officeDocument/2006/relationships/image" Target="/ppt/media/image13.png" Id="R7a092f94d9d44cd1" /><Relationship Type="http://schemas.openxmlformats.org/officeDocument/2006/relationships/image" Target="/ppt/media/image9.png" Id="R342714b4e76f4b24" /><Relationship Type="http://schemas.openxmlformats.org/officeDocument/2006/relationships/image" Target="/ppt/media/image14.png" Id="Ra9c12eb97a8d4f04" /><Relationship Type="http://schemas.openxmlformats.org/officeDocument/2006/relationships/image" Target="/ppt/media/image11.png" Id="R77b5151fd15f4770" /><Relationship Type="http://schemas.openxmlformats.org/officeDocument/2006/relationships/notesSlide" Target="/ppt/notesSlides/notesSlide9.xml" Id="R3fb5d45c0c3543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c636d13fa48aa" /><Relationship Type="http://schemas.openxmlformats.org/officeDocument/2006/relationships/image" Target="/ppt/media/image.png" Id="R6340b8de297845d3" /><Relationship Type="http://schemas.openxmlformats.org/officeDocument/2006/relationships/image" Target="/ppt/media/image2.png" Id="R14a18906c0ba494e" /><Relationship Type="http://schemas.openxmlformats.org/officeDocument/2006/relationships/notesSlide" Target="/ppt/notesSlides/notesSlide10.xml" Id="Rbf0633a02f424d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76ddbf5394022" /><Relationship Type="http://schemas.openxmlformats.org/officeDocument/2006/relationships/image" Target="/ppt/media/image.png" Id="R374f81ae5acc4497" /><Relationship Type="http://schemas.openxmlformats.org/officeDocument/2006/relationships/image" Target="/ppt/media/image2.png" Id="R3fbb27eddf32441b" /><Relationship Type="http://schemas.openxmlformats.org/officeDocument/2006/relationships/notesSlide" Target="/ppt/notesSlides/notesSlide11.xml" Id="R390c0213e5d444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536e0f6a84801" /><Relationship Type="http://schemas.openxmlformats.org/officeDocument/2006/relationships/image" Target="/ppt/media/image.png" Id="R2cf2cc4570a8469b" /><Relationship Type="http://schemas.openxmlformats.org/officeDocument/2006/relationships/image" Target="/ppt/media/image2.png" Id="Rd44b4ddb36264811" /><Relationship Type="http://schemas.openxmlformats.org/officeDocument/2006/relationships/notesSlide" Target="/ppt/notesSlides/notesSlide12.xml" Id="Rc977c526cb5343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e5659c05647d1" /><Relationship Type="http://schemas.openxmlformats.org/officeDocument/2006/relationships/image" Target="/ppt/media/image.png" Id="Rc38f875cc31e42aa" /><Relationship Type="http://schemas.openxmlformats.org/officeDocument/2006/relationships/image" Target="/ppt/media/image2.png" Id="R84e0156445cc4449" /><Relationship Type="http://schemas.openxmlformats.org/officeDocument/2006/relationships/notesSlide" Target="/ppt/notesSlides/notesSlide13.xml" Id="R23abfff5d9604d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df412e6134ad4" /><Relationship Type="http://schemas.openxmlformats.org/officeDocument/2006/relationships/image" Target="/ppt/media/image.png" Id="Re30d357aaf874ff8" /><Relationship Type="http://schemas.openxmlformats.org/officeDocument/2006/relationships/image" Target="/ppt/media/image2.png" Id="Rc5b8894689da43b8" /><Relationship Type="http://schemas.openxmlformats.org/officeDocument/2006/relationships/notesSlide" Target="/ppt/notesSlides/notesSlide14.xml" Id="R5c240f0689a74b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01bf191e640e5" /><Relationship Type="http://schemas.openxmlformats.org/officeDocument/2006/relationships/image" Target="/ppt/media/image.png" Id="Rb83dd16796624820" /><Relationship Type="http://schemas.openxmlformats.org/officeDocument/2006/relationships/image" Target="/ppt/media/image2.png" Id="R080bebfbf47d4f73" /><Relationship Type="http://schemas.openxmlformats.org/officeDocument/2006/relationships/notesSlide" Target="/ppt/notesSlides/notesSlide15.xml" Id="R8545f4b8ac3c44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75fd42b974d59" /><Relationship Type="http://schemas.openxmlformats.org/officeDocument/2006/relationships/image" Target="/ppt/media/image.png" Id="R1747113022514925" /><Relationship Type="http://schemas.openxmlformats.org/officeDocument/2006/relationships/image" Target="/ppt/media/image2.png" Id="Rb0469721f0094a78" /><Relationship Type="http://schemas.openxmlformats.org/officeDocument/2006/relationships/notesSlide" Target="/ppt/notesSlides/notesSlide16.xml" Id="R63e39686a21a42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c38dbce5441a9" /><Relationship Type="http://schemas.openxmlformats.org/officeDocument/2006/relationships/image" Target="/ppt/media/image.png" Id="R13169c4f75c8496e" /><Relationship Type="http://schemas.openxmlformats.org/officeDocument/2006/relationships/image" Target="/ppt/media/image2.png" Id="R1b9f23a3cde94458" /><Relationship Type="http://schemas.openxmlformats.org/officeDocument/2006/relationships/notesSlide" Target="/ppt/notesSlides/notesSlide17.xml" Id="Rdfe1f2a9066049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cb6e2991546f1" /><Relationship Type="http://schemas.openxmlformats.org/officeDocument/2006/relationships/image" Target="/ppt/media/image.png" Id="R1480e8b25a5c4776" /><Relationship Type="http://schemas.openxmlformats.org/officeDocument/2006/relationships/image" Target="/ppt/media/image2.png" Id="R0181fb76992f4986" /><Relationship Type="http://schemas.openxmlformats.org/officeDocument/2006/relationships/notesSlide" Target="/ppt/notesSlides/notesSlide18.xml" Id="R41e33e1563854d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9941549f349a7" /><Relationship Type="http://schemas.openxmlformats.org/officeDocument/2006/relationships/image" Target="/ppt/media/image.png" Id="Raecd9577c1374693" /><Relationship Type="http://schemas.openxmlformats.org/officeDocument/2006/relationships/image" Target="/ppt/media/image2.png" Id="Rce92dd68a18d4fdd" /><Relationship Type="http://schemas.openxmlformats.org/officeDocument/2006/relationships/notesSlide" Target="/ppt/notesSlides/notesSlide19.xml" Id="Rbd60c045b93147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69963f00445fb" /><Relationship Type="http://schemas.openxmlformats.org/officeDocument/2006/relationships/image" Target="/ppt/media/image.png" Id="R4a11ccb50b6d4eb3" /><Relationship Type="http://schemas.openxmlformats.org/officeDocument/2006/relationships/image" Target="/ppt/media/image2.png" Id="Re7071c7f2b104de0" /><Relationship Type="http://schemas.openxmlformats.org/officeDocument/2006/relationships/notesSlide" Target="/ppt/notesSlides/notesSlide20.xml" Id="R6ab5443fa5b5491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a593fd531424f" /><Relationship Type="http://schemas.openxmlformats.org/officeDocument/2006/relationships/image" Target="/ppt/media/image.png" Id="Rdcdf214e425143d6" /><Relationship Type="http://schemas.openxmlformats.org/officeDocument/2006/relationships/image" Target="/ppt/media/image2.png" Id="Rc9a04925e3fa4196" /><Relationship Type="http://schemas.openxmlformats.org/officeDocument/2006/relationships/notesSlide" Target="/ppt/notesSlides/notesSlide21.xml" Id="R0742251aa9d4438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10925455147aa" /><Relationship Type="http://schemas.openxmlformats.org/officeDocument/2006/relationships/image" Target="/ppt/media/image.png" Id="R799f764a866149e8" /><Relationship Type="http://schemas.openxmlformats.org/officeDocument/2006/relationships/image" Target="/ppt/media/image2.png" Id="R17eedc36aada43a3" /><Relationship Type="http://schemas.openxmlformats.org/officeDocument/2006/relationships/image" Target="/ppt/media/image13.png" Id="R40184847fd354027" /><Relationship Type="http://schemas.openxmlformats.org/officeDocument/2006/relationships/notesSlide" Target="/ppt/notesSlides/notesSlide22.xml" Id="R21f89b0285bc49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6f663d99548c8" /><Relationship Type="http://schemas.openxmlformats.org/officeDocument/2006/relationships/image" Target="/ppt/media/image.png" Id="Re469d03bbff842bf" /><Relationship Type="http://schemas.openxmlformats.org/officeDocument/2006/relationships/image" Target="/ppt/media/image2.png" Id="Ra1e54b1a2da248d7" /><Relationship Type="http://schemas.openxmlformats.org/officeDocument/2006/relationships/notesSlide" Target="/ppt/notesSlides/notesSlide23.xml" Id="R49077df0dbd748e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89fbdc20f449d" /><Relationship Type="http://schemas.openxmlformats.org/officeDocument/2006/relationships/image" Target="/ppt/media/image.png" Id="R0968587ff8b94223" /><Relationship Type="http://schemas.openxmlformats.org/officeDocument/2006/relationships/image" Target="/ppt/media/image2.png" Id="Rb32e3d241fea4d39" /><Relationship Type="http://schemas.openxmlformats.org/officeDocument/2006/relationships/notesSlide" Target="/ppt/notesSlides/notesSlide24.xml" Id="Rb1f3f8da35644c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c32cc60174f73" /><Relationship Type="http://schemas.openxmlformats.org/officeDocument/2006/relationships/image" Target="/ppt/media/image.png" Id="R04522fd9c96c469a" /><Relationship Type="http://schemas.openxmlformats.org/officeDocument/2006/relationships/image" Target="/ppt/media/image2.png" Id="R35fbe92b3d044cf3" /><Relationship Type="http://schemas.openxmlformats.org/officeDocument/2006/relationships/image" Target="/ppt/media/image5.png" Id="R6f5077e8170c4165" /><Relationship Type="http://schemas.openxmlformats.org/officeDocument/2006/relationships/image" Target="/ppt/media/image10.png" Id="Rc6132a0d43594754" /><Relationship Type="http://schemas.openxmlformats.org/officeDocument/2006/relationships/notesSlide" Target="/ppt/notesSlides/notesSlide25.xml" Id="R750e489c3f9f49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b76d9e88d4d64" /><Relationship Type="http://schemas.openxmlformats.org/officeDocument/2006/relationships/image" Target="/ppt/media/image.png" Id="Rc5bc5cf32a374f87" /><Relationship Type="http://schemas.openxmlformats.org/officeDocument/2006/relationships/image" Target="/ppt/media/image2.png" Id="R4e714dcb2f6746cf" /><Relationship Type="http://schemas.openxmlformats.org/officeDocument/2006/relationships/notesSlide" Target="/ppt/notesSlides/notesSlide26.xml" Id="R62c66da15ff141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204966b2b4770" /><Relationship Type="http://schemas.openxmlformats.org/officeDocument/2006/relationships/image" Target="/ppt/media/image.png" Id="R5b09c0067a374044" /><Relationship Type="http://schemas.openxmlformats.org/officeDocument/2006/relationships/image" Target="/ppt/media/image2.png" Id="R81b5ce56f48746d0" /><Relationship Type="http://schemas.openxmlformats.org/officeDocument/2006/relationships/image" Target="/ppt/media/image15.png" Id="Rab0b203b81704667" /><Relationship Type="http://schemas.openxmlformats.org/officeDocument/2006/relationships/image" Target="/ppt/media/image16.png" Id="R3e39b6e038f64717" /><Relationship Type="http://schemas.openxmlformats.org/officeDocument/2006/relationships/image" Target="/ppt/media/image17.png" Id="R5a504728c58a434e" /><Relationship Type="http://schemas.openxmlformats.org/officeDocument/2006/relationships/image" Target="/ppt/media/image8.png" Id="Rd90639493ae44e5c" /><Relationship Type="http://schemas.openxmlformats.org/officeDocument/2006/relationships/image" Target="/ppt/media/image18.png" Id="R7bd49a77183548fe" /><Relationship Type="http://schemas.openxmlformats.org/officeDocument/2006/relationships/notesSlide" Target="/ppt/notesSlides/notesSlide27.xml" Id="Rdcceb5c13d644b8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792221bc44da6" /><Relationship Type="http://schemas.openxmlformats.org/officeDocument/2006/relationships/image" Target="/ppt/media/image.png" Id="R6357d5c182164496" /><Relationship Type="http://schemas.openxmlformats.org/officeDocument/2006/relationships/image" Target="/ppt/media/image2.png" Id="Ra56760567957495d" /><Relationship Type="http://schemas.openxmlformats.org/officeDocument/2006/relationships/notesSlide" Target="/ppt/notesSlides/notesSlide28.xml" Id="R1beb3190ad8b4f0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8b4b747c6439e" /><Relationship Type="http://schemas.openxmlformats.org/officeDocument/2006/relationships/image" Target="/ppt/media/image.png" Id="Rc35d5d8402284f3d" /><Relationship Type="http://schemas.openxmlformats.org/officeDocument/2006/relationships/image" Target="/ppt/media/image2.png" Id="Ra6cf77fa06524896" /><Relationship Type="http://schemas.openxmlformats.org/officeDocument/2006/relationships/notesSlide" Target="/ppt/notesSlides/notesSlide29.xml" Id="R05ca137c0a3f483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7c3c236fe4238" /><Relationship Type="http://schemas.openxmlformats.org/officeDocument/2006/relationships/image" Target="/ppt/media/image.png" Id="R9f6a0b8ba86b4123" /><Relationship Type="http://schemas.openxmlformats.org/officeDocument/2006/relationships/image" Target="/ppt/media/image2.png" Id="Rb57969791fd34421" /><Relationship Type="http://schemas.openxmlformats.org/officeDocument/2006/relationships/notesSlide" Target="/ppt/notesSlides/notesSlide30.xml" Id="Re7d1762168b04da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c532af66243d1" /><Relationship Type="http://schemas.openxmlformats.org/officeDocument/2006/relationships/image" Target="/ppt/media/image.png" Id="Rd2d71a3e7f494d0b" /><Relationship Type="http://schemas.openxmlformats.org/officeDocument/2006/relationships/image" Target="/ppt/media/image2.png" Id="Rfac9e8aa94b8431d" /><Relationship Type="http://schemas.openxmlformats.org/officeDocument/2006/relationships/image" Target="/ppt/media/image19.png" Id="Ra8125c67707d4fb6" /><Relationship Type="http://schemas.openxmlformats.org/officeDocument/2006/relationships/image" Target="/ppt/media/image20.png" Id="R341aca28d4d04fe3" /><Relationship Type="http://schemas.openxmlformats.org/officeDocument/2006/relationships/image" Target="/ppt/media/image21.png" Id="Re286973f95c34856" /><Relationship Type="http://schemas.openxmlformats.org/officeDocument/2006/relationships/notesSlide" Target="/ppt/notesSlides/notesSlide31.xml" Id="R057eae4db57b413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ce5aa37b549bb" /><Relationship Type="http://schemas.openxmlformats.org/officeDocument/2006/relationships/hyperlink" Target="https://github.com/SeedFlora/meet5CloudService" TargetMode="External" Id="Ra6afe85543f54fe5" /><Relationship Type="http://schemas.openxmlformats.org/officeDocument/2006/relationships/hyperlink" Target="https://github.com/SeedFlora/meet5CloudService" TargetMode="External" Id="R5675b3366bd040d6" /><Relationship Type="http://schemas.openxmlformats.org/officeDocument/2006/relationships/notesSlide" Target="/ppt/notesSlides/notesSlide32.xml" Id="Rdfaa60ea4c3f4d1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9a1575f894bc9" /><Relationship Type="http://schemas.openxmlformats.org/officeDocument/2006/relationships/hyperlink" Target="https://docs.docker.com/get-started/docker-concepts/building-images/writing-a-dockerfile/" TargetMode="External" Id="R2f3330a897f142be" /><Relationship Type="http://schemas.openxmlformats.org/officeDocument/2006/relationships/hyperlink" Target="https://www.docker.com/resources/docker-intro-and-overview-on-demand-training/" TargetMode="External" Id="R2c7c92ac1f344c0c" /><Relationship Type="http://schemas.openxmlformats.org/officeDocument/2006/relationships/hyperlink" Target="https://github.com/SeedFlora/meet5CloudService" TargetMode="External" Id="R23b1c7a14fbc4dcb" /><Relationship Type="http://schemas.openxmlformats.org/officeDocument/2006/relationships/image" Target="/ppt/media/image22.png" Id="R4943cd78051b4053" /><Relationship Type="http://schemas.openxmlformats.org/officeDocument/2006/relationships/notesSlide" Target="/ppt/notesSlides/notesSlide33.xml" Id="Rc85e7ba46e6d4cb1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694aa2e952e4ff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dc6272c5a43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2152b5eab44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791F6FB8-88A3-4B25-8F8D-6AF668AD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7C71C59F-C6E8-436D-B29C-05E82550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11247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CORE</a:t>
            </a:r>
            <a:endParaRPr sz="56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DA9D5D7-DEAB-4DD7-A424-A342A352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Dockerfile, Build Cache, Multi-stage, Optimasi</a:t>
            </a:r>
            <a:endParaRPr sz="2200"/>
          </a:p>
        </p:txBody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38B50C3-12C3-489A-859C-8A540851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B2062B6-4D9C-48D7-93C7-EB31E232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5  |  100 MENIT</a:t>
            </a:r>
            <a:endParaRPr sz="1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60C0697-032D-4B41-9FB9-56F1A32C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EF93737-0E31-4348-B15C-93B521A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31149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040292-9337-45BC-8CEF-039684B3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123FF1-D8DF-4CEC-8482-2181F9CF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768828-B0B8-496F-95D8-EA919CED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054a1136e44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bed4e09e345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7237CFA-ACA7-499D-9788-1B8BF9C0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1EF8C2D-27C4-4D33-9081-6E863EE8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Pertemuan 4 &amp; Agenda Hari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D11C916-E1C1-4229-8882-A187B333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konsep container ke pembuatan image sendiri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3524D0E-10C5-4756-BDA7-281FEA21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1BEAFCC-89A6-4C23-B1E2-33091FC3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DI PERTEMUAN 4, KITA SUDAH: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Virt + Container</a:t>
            </a:r>
            <a:endParaRPr sz="1100"/>
          </a:p>
        </p:txBody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5064c3f45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309493E-6B3B-441B-8FCF-4247257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VM = full OS, Container = isolated process</a:t>
            </a:r>
            <a:endParaRPr sz="1200"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d1f1bd06a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D4B0FB14-129B-4977-907A-46FED95E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Namespace + cgroup = fondasi container</a:t>
            </a:r>
            <a:endParaRPr sz="1200"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d6b3975c24b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5F4FA181-9498-409D-87B7-EC50600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arch: CLI -&gt; daemon -&gt; registry</a:t>
            </a:r>
            <a:endParaRPr sz="1200"/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85abf574e47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D8A3BE02-6264-4620-8C1B-47C66A24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Image layered + immutable, container ephemeral</a:t>
            </a:r>
            <a:endParaRPr sz="1200"/>
          </a:p>
        </p:txBody>
      </p:sp>
      <p:pic>
        <p:nvPicPr>
          <p:cNvPr id="5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9717993494a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75888120-D179-475C-8810-627F466C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Volume untuk persistent data (named, bind)</a:t>
            </a:r>
            <a:endParaRPr sz="12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45790661-D20D-471E-AE98-40CB99E8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5C1616BA-8EFE-4CC4-93EB-31F60667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HARI INI, KITA AKAN: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Core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E7DDE0BD-B32E-4C67-98BB-587307E0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Dockerfile fundamentals + 14 instruksi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Build instructions deep dive (FROM, RUN, CMD)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Build process + layer caching strategy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Image optimization (alpine, multi-stage)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Tagging strategy + push ke registry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Security best practices (non-root, scan)</a:t>
            </a:r>
            <a:endParaRPr sz="1200"/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70E40D76-117C-4FC6-A96A-15E22AD8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Lab 05: bangun dan uji Cloud Notes API dalam container, sebagai komponen proyek kelompok.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2727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27A307-1317-4281-A8DF-EFAA7F46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87D28E-0DC8-4381-9572-1E9A4BA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375E13-CD35-4A40-9B81-DB58DBCD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f36d9996a4b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1151a02f84d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B3F0431-2CE4-4DEE-BF58-14CF01B3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3BC6C85-E037-421A-B26E-3E946500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5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BD8A6A-BBF5-4E6A-BD9A-A0F41566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6E52CB4-08E7-4756-8309-56FE1008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A31A4C6-35CF-44A2-8783-6C162331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F5F4413-9525-4793-86FF-F9E3285A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5637FFE-2134-4390-8F09-D81AE573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0b6432f274a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0A138F8-FD5C-4A14-B428-09C7FC5A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Menulis</a:t>
            </a:r>
            <a:endParaRPr sz="18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DCAC673A-4261-4B39-A9F5-F99E9255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Dockerfile produksi untuk aplikasi web (Node.js, Python) dengan struktur clean.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60BCE48-A51E-479A-81A8-2F2F1D5E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AAC10ACF-7921-4B3B-BC00-058974FE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A916B5A-291B-4199-AC98-CE0AB451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88D4100E-6982-45BF-889E-18A4C3F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1aa8fd13d47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1750F69-F0E4-4831-B37C-77288C48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Memahami</a:t>
            </a:r>
            <a:endParaRPr sz="18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8539E2AC-2ACF-4E94-B631-78007D8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cache + layer ordering untuk percepat build &amp; minimize rebuild.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7BFB61AD-C3C4-4BAE-B8EA-45A4C5A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6B890FD-16E4-471A-BE64-3BEFA347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B690E2EA-3461-40CB-BCB5-CA802362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2BADDEDC-B734-47E4-BBB4-BD42DBEF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4cf0de33249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8974A3F0-03A3-442C-99FB-5CB06A8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Mengoptimasi</a:t>
            </a:r>
            <a:endParaRPr sz="18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C612AE3F-0D27-469E-80B8-18EE69F0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ukuran image pakai alpine + multi-stage build (1.2 GB -&gt; 150 MB).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EF7FF3FD-ACAC-47D4-BBB0-6E3AB02A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0DF17B53-7080-4E51-A614-2D381FF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1D2E042E-D0D7-4F31-ABA1-B780BD88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67176767-4FD6-4AE8-A3C1-1971BFF7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7b6b559004e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4D052741-A4B1-4CFA-A542-E79CBD3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Menerbitkan</a:t>
            </a:r>
            <a:endParaRPr sz="18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4B065385-911A-4916-934F-B640927C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image ke registry (Docker Hub, ghcr.io) dengan tagging strategy yang benar.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569B92F8-8634-4A90-9EB5-D217C144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LO2 (Apply – build production-grade Docker images)  +  LO1 (Analyze – pilih base image &amp; optimasi strategy)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70056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CDB829-2708-4B40-83D9-9AFFBA6A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35AEAD5-1191-44E9-9A9E-642F565D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17F418-81D4-4C00-A9F7-F12DFBBF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9859EC7-0C37-4D06-B788-542680B8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CB3B325-2D9C-499D-997E-83E0596F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FAF96EB-9C7C-4938-85A8-2FA67542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8B1FFE-8F5C-45D0-A219-0CE1D42D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cb1cb988c43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162573a5e4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52241EC-E8D1-4863-A67E-15E239B4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CDB9F40-5716-4950-97D0-25C24C1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Dockerfile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Fundamentals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8FA54A4-4C82-46C4-8354-D7B0B0D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9E09DEC-B28A-48CB-9627-79E8080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Resep untuk bikin image - text file dengan instruksi step-by-step.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978547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FFCA19-27E3-46E7-8B92-C112FAB8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A2C36B-FCA8-43BC-80D0-A0A922EA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CA4820A-9778-4F57-ABE8-F2964436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240a9e6cc44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2ff4470704a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50AB65D-941B-4DF9-A84F-542A3DD7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A25472-A781-4DFE-BF1F-D574BED1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Apa itu Dockerfile?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C8AB2CF-8CE1-45E6-9C5A-F8F721E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Blueprint yang mendefinisikan image - text file biasa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C5F0EEF-79D0-4BAD-98CA-F1750D7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6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f18bbeb35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9164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4E3411B-3A0E-4DDB-9D85-B020B7A9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5448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Dockerfile = text file berisi instruksi step-by-step untuk membangun image.</a:t>
            </a:r>
            <a:endParaRPr sz="16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439C13E-B650-4395-9BBC-7BF0267E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65960"/>
            <a:ext cx="9601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Filename: 'Dockerfile' (tanpa ekstensi, capital D). Tiap baris jadi 1 layer di image yang dihasilkan.</a:t>
            </a:r>
            <a:endParaRPr sz="12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5636905C-BCEA-454F-8330-82771F4C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Flow: Dari Source ke Image yang Jalan</a:t>
            </a:r>
            <a:endParaRPr sz="14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44CCDD6F-A733-43C1-BAFE-A8A1158B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194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2A3B4DBC-2A21-4213-A822-4D246267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617FB2DC-760E-4582-AC95-C9912DB7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/>
          </a:p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f18bbeb35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440" y="39319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86945F8F-0C5C-4D9E-879A-32A1AA75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Source code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Dockerfile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E410FC5-F09D-4F5F-8477-B4AB674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251960"/>
            <a:ext cx="11887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815B71AC-5F22-4729-B54B-111EA1A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291840"/>
            <a:ext cx="2194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253678D1-3B97-4C3D-8BB5-D7C10A1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2918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A73252B5-4D97-4300-B5DF-4516938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2918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/>
          </a:p>
        </p:txBody>
      </p:sp>
      <p:pic>
        <p:nvPicPr>
          <p:cNvPr id="7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099548303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6160" y="39319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053A52DC-2A9F-4D50-8BC3-078ACA8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66344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build</a:t>
            </a:r>
            <a:endParaRPr sz="1200"/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E5DA29A2-7B32-4763-8197-2C6D5191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4251960"/>
            <a:ext cx="11887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D1AF6315-0568-426E-BCB2-33D9DCBD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91840"/>
            <a:ext cx="2194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4E514AFE-CF9E-4979-A5E4-962B406D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918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7BFAF897-54AD-486E-BD1C-CED9707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918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/>
          </a:p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1c4f121cd4d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7880" y="39319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8997809B-4A67-472E-A3B1-27D11ACE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66344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Image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(tagged)</a:t>
            </a:r>
            <a:endParaRPr sz="1200"/>
          </a:p>
        </p:txBody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E7572111-BB87-4D35-BA1A-FF167673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4251960"/>
            <a:ext cx="11887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6A5BCE4B-3C69-4D21-893C-290C910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91840"/>
            <a:ext cx="2194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B54028DD-7A69-46EF-8DAE-59883196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918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681B8503-D0EB-4054-B468-4155811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918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800"/>
          </a:p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f661750e4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39319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B75A8C6A-8429-4A41-B400-53F09DB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344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run</a:t>
            </a:r>
            <a:endParaRPr sz="1200"/>
          </a:p>
        </p:txBody>
      </p:sp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F10C4C06-F638-4436-BD68-0EECECC3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251960"/>
            <a:ext cx="11887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4B4E0F8C-54C7-4584-BA2B-56886D26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291840"/>
            <a:ext cx="2194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74D707FA-C21B-4EB2-A0CD-D43FE7F0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29184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E15C3EAB-7E43-4C4C-9632-01F618F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2918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800"/>
          </a:p>
        </p:txBody>
      </p:sp>
      <p:pic>
        <p:nvPicPr>
          <p:cNvPr id="9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6b19db6054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61320" y="39319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253E7A16-3860-447A-A444-3D8D4C6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66344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Container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running</a:t>
            </a:r>
            <a:endParaRPr sz="1200"/>
          </a:p>
        </p:txBody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2AA1AA7B-71EF-413D-B576-F4A093FA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Filosofi: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satu image = satu aplikasi. Reproducible: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kalau Dockerfile sama, hasilnya identik di mana pun di-build.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88528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CFE35C5-A05B-4EE7-9CD7-E7A41B99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D0F682-0180-4D6B-9446-915AFF9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B06EC1-AAA6-4D4B-8895-3DB671FA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b41c19c92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8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9278ec8c843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F6D48B5-585E-41CD-A8AC-E2DFDE14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86544C0-2A43-43E7-9DA4-91496B1E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14 Dockerfile Instructions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1E8EAF0-A0C6-417C-9A24-0D8A637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Semua yang akan kita pakai - dikelompokkan per fungsi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F3B9B64-32E0-4FED-BA9A-3CF747A7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58C4623-9DA7-4A62-A47F-F217D430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6467420-42AB-4035-852E-CEDBEB9B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Base &amp; Build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6EFE397-22BD-4E51-B016-D4F0EE94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CEF071F-1094-4553-B13F-65263429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08ED4C1-F415-449F-8F6B-CAB35D3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FROM</a:t>
            </a:r>
            <a:endParaRPr sz="12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B909AC7-4A82-4617-B794-AD6DD5D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9572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Pilih base image (wajib)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B5DEBF4-0421-44FA-9824-0225524E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1752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5AD7A68-3DCC-40D6-8AC2-9500248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1752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F754D68-8DB8-4828-A963-07450204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175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ARG</a:t>
            </a:r>
            <a:endParaRPr sz="12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64954C-7C9C-468B-A8A4-804F1CDC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0156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Variabel build-time</a:t>
            </a:r>
            <a:endParaRPr sz="1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584F30-575F-4CDF-822C-ED058592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2336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6F1CC4B-CEEA-49EC-B3F7-A67E960F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2336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63FAB13-5B86-473F-8F3A-993B5D3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233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RUN</a:t>
            </a:r>
            <a:endParaRPr sz="12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8035E90-2CE7-41D7-A92B-0CF92620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0740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Eksekusi command saat build</a:t>
            </a:r>
            <a:endParaRPr sz="10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6242EB4E-805E-4FC8-856A-48E06D46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E6D7FAE8-21C7-46A3-8C7D-BC792C85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F56C7B0-E13D-44DB-A079-A46B6EBB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Filesystem</a:t>
            </a:r>
            <a:endParaRPr sz="13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F6014A8-2E5B-4A2C-9C02-95BF49AD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01168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DA1E9E9F-DAE9-4777-84A0-83123FFC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01168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2C80B65-FD4D-4CC9-8C8E-8E4384F4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01168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COPY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F6F754C6-39A4-4D07-B894-C323932B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39572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Copy file dari host ke image</a:t>
            </a:r>
            <a:endParaRPr sz="10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C60B2FFF-3CF4-4F35-93C8-E929F3B8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01752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42D32C0B-82A1-4FB9-8B71-D0F28852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01752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300AD1F-0C76-407A-804A-99BC6D2E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0175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ADD</a:t>
            </a:r>
            <a:endParaRPr sz="12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160A7059-C311-4FC0-85FC-B307783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40156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Mirip COPY + auto-extract</a:t>
            </a:r>
            <a:endParaRPr sz="10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2F9C615C-4D86-4997-A48D-FD37E8C8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02336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DA85228C-5C90-4C77-B5D4-723213DD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02336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AB7AF83-EE33-44CD-9436-DFA07AB0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0233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WORKDIR</a:t>
            </a:r>
            <a:endParaRPr sz="12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073AC2BF-13E3-4F71-98F3-13BD172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40740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 direktori kerja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C3A8DC79-7FAA-46E9-9EFD-407837F9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502920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9E7A981-F64D-458A-8C4B-F3953752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502920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9F2D1DB-4E2D-4E08-97D7-0CCBED30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502920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VOLUME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617D2678-CEEA-4412-8817-76BE9FBB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41324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Mark mount point</a:t>
            </a:r>
            <a:endParaRPr sz="100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7DF5EA42-3DE3-4A0C-8212-706002D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7082C8F-4094-42E8-A077-5307BC8A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56490CE9-78F0-4C85-8CC8-BF9F46EF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Runtime</a:t>
            </a:r>
            <a:endParaRPr sz="130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D53F7FE6-E9D9-4D03-8EF2-097142F7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01168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50E92743-31FA-401F-ACD9-715DDCAF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01168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970FA281-A26B-4BEE-9490-060C9C78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01168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CMD</a:t>
            </a:r>
            <a:endParaRPr sz="12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3705E161-9EE2-44C9-B660-39A19AE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39572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Default command saat run</a:t>
            </a:r>
            <a:endParaRPr sz="1000"/>
          </a:p>
        </p:txBody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0F248959-CD71-4A14-8039-2B9C49CD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01752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2" name="Shape 48">
            <a:extLst xmlns:a="http://schemas.openxmlformats.org/drawingml/2006/main">
              <a:ext uri="{FF2B5EF4-FFF2-40B4-BE49-F238E27FC236}">
                <a16:creationId xmlns:a16="http://schemas.microsoft.com/office/drawing/2014/main" id="{88FA5CE5-0574-4D4F-9FCE-9F503759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01752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E8DA6C53-8D6F-48F8-B2AD-43F869B1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0175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ENTRYPOINT</a:t>
            </a:r>
            <a:endParaRPr sz="12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4978442A-BC37-42EC-B540-F521FDA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40156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Wajib di-jalankan saat run</a:t>
            </a:r>
            <a:endParaRPr sz="1000"/>
          </a:p>
        </p:txBody>
      </p:sp>
      <p:sp>
        <p:nvSpPr>
          <p:cNvPr id="55" name="Shape 51">
            <a:extLst xmlns:a="http://schemas.openxmlformats.org/drawingml/2006/main">
              <a:ext uri="{FF2B5EF4-FFF2-40B4-BE49-F238E27FC236}">
                <a16:creationId xmlns:a16="http://schemas.microsoft.com/office/drawing/2014/main" id="{7190E152-52BC-40B7-BB74-A82D1AB3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02336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6" name="Shape 52">
            <a:extLst xmlns:a="http://schemas.openxmlformats.org/drawingml/2006/main">
              <a:ext uri="{FF2B5EF4-FFF2-40B4-BE49-F238E27FC236}">
                <a16:creationId xmlns:a16="http://schemas.microsoft.com/office/drawing/2014/main" id="{B4E9155E-E057-429F-A2EF-26C924FD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02336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33823F71-F975-4283-AA66-C0589A6A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0233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ENV</a:t>
            </a:r>
            <a:endParaRPr sz="1200"/>
          </a:p>
        </p:txBody>
      </p:sp>
      <p:sp>
        <p:nvSpPr>
          <p:cNvPr id="58" name="Text 54">
            <a:extLst xmlns:a="http://schemas.openxmlformats.org/drawingml/2006/main">
              <a:ext uri="{FF2B5EF4-FFF2-40B4-BE49-F238E27FC236}">
                <a16:creationId xmlns:a16="http://schemas.microsoft.com/office/drawing/2014/main" id="{37E7C25A-2F1E-4B60-82D0-6E76ED3A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40740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Environment variable</a:t>
            </a:r>
            <a:endParaRPr sz="1000"/>
          </a:p>
        </p:txBody>
      </p:sp>
      <p:sp>
        <p:nvSpPr>
          <p:cNvPr id="59" name="Shape 55">
            <a:extLst xmlns:a="http://schemas.openxmlformats.org/drawingml/2006/main">
              <a:ext uri="{FF2B5EF4-FFF2-40B4-BE49-F238E27FC236}">
                <a16:creationId xmlns:a16="http://schemas.microsoft.com/office/drawing/2014/main" id="{101B73B4-02ED-4C57-ACBD-E5847FCC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02920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0" name="Shape 56">
            <a:extLst xmlns:a="http://schemas.openxmlformats.org/drawingml/2006/main">
              <a:ext uri="{FF2B5EF4-FFF2-40B4-BE49-F238E27FC236}">
                <a16:creationId xmlns:a16="http://schemas.microsoft.com/office/drawing/2014/main" id="{F42F6660-FE04-4B26-885F-B898E100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02920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1" name="Text 57">
            <a:extLst xmlns:a="http://schemas.openxmlformats.org/drawingml/2006/main">
              <a:ext uri="{FF2B5EF4-FFF2-40B4-BE49-F238E27FC236}">
                <a16:creationId xmlns:a16="http://schemas.microsoft.com/office/drawing/2014/main" id="{F3204BA1-4677-47C7-A98C-62983E43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02920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EXPOSE</a:t>
            </a:r>
            <a:endParaRPr sz="1200"/>
          </a:p>
        </p:txBody>
      </p:sp>
      <p:sp>
        <p:nvSpPr>
          <p:cNvPr id="62" name="Text 58">
            <a:extLst xmlns:a="http://schemas.openxmlformats.org/drawingml/2006/main">
              <a:ext uri="{FF2B5EF4-FFF2-40B4-BE49-F238E27FC236}">
                <a16:creationId xmlns:a16="http://schemas.microsoft.com/office/drawing/2014/main" id="{BCFB48BE-044E-4576-8BC1-19AA6EC5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41324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Dokumentasi port</a:t>
            </a:r>
            <a:endParaRPr sz="1000"/>
          </a:p>
        </p:txBody>
      </p:sp>
      <p:sp>
        <p:nvSpPr>
          <p:cNvPr id="63" name="Shape 59">
            <a:extLst xmlns:a="http://schemas.openxmlformats.org/drawingml/2006/main">
              <a:ext uri="{FF2B5EF4-FFF2-40B4-BE49-F238E27FC236}">
                <a16:creationId xmlns:a16="http://schemas.microsoft.com/office/drawing/2014/main" id="{97231C23-532D-4031-BF03-B0D39BF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4" name="Shape 60">
            <a:extLst xmlns:a="http://schemas.openxmlformats.org/drawingml/2006/main">
              <a:ext uri="{FF2B5EF4-FFF2-40B4-BE49-F238E27FC236}">
                <a16:creationId xmlns:a16="http://schemas.microsoft.com/office/drawing/2014/main" id="{8D8EEA04-9884-4714-AB68-3D0797F8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65" name="Text 61">
            <a:extLst xmlns:a="http://schemas.openxmlformats.org/drawingml/2006/main">
              <a:ext uri="{FF2B5EF4-FFF2-40B4-BE49-F238E27FC236}">
                <a16:creationId xmlns:a16="http://schemas.microsoft.com/office/drawing/2014/main" id="{911E9529-A3DA-4EB7-A801-E290F2EE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Meta &amp; Security</a:t>
            </a:r>
            <a:endParaRPr sz="1300"/>
          </a:p>
        </p:txBody>
      </p:sp>
      <p:sp>
        <p:nvSpPr>
          <p:cNvPr id="66" name="Shape 62">
            <a:extLst xmlns:a="http://schemas.openxmlformats.org/drawingml/2006/main">
              <a:ext uri="{FF2B5EF4-FFF2-40B4-BE49-F238E27FC236}">
                <a16:creationId xmlns:a16="http://schemas.microsoft.com/office/drawing/2014/main" id="{BEA41271-1428-4AE6-9A00-A007E476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01168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7" name="Shape 63">
            <a:extLst xmlns:a="http://schemas.openxmlformats.org/drawingml/2006/main">
              <a:ext uri="{FF2B5EF4-FFF2-40B4-BE49-F238E27FC236}">
                <a16:creationId xmlns:a16="http://schemas.microsoft.com/office/drawing/2014/main" id="{08656186-A7FF-41FC-AB3C-32BA9C14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01168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8" name="Text 64">
            <a:extLst xmlns:a="http://schemas.openxmlformats.org/drawingml/2006/main">
              <a:ext uri="{FF2B5EF4-FFF2-40B4-BE49-F238E27FC236}">
                <a16:creationId xmlns:a16="http://schemas.microsoft.com/office/drawing/2014/main" id="{46887531-841F-492B-978A-18ABE9CC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01168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USER</a:t>
            </a:r>
            <a:endParaRPr sz="1200"/>
          </a:p>
        </p:txBody>
      </p:sp>
      <p:sp>
        <p:nvSpPr>
          <p:cNvPr id="69" name="Text 65">
            <a:extLst xmlns:a="http://schemas.openxmlformats.org/drawingml/2006/main">
              <a:ext uri="{FF2B5EF4-FFF2-40B4-BE49-F238E27FC236}">
                <a16:creationId xmlns:a16="http://schemas.microsoft.com/office/drawing/2014/main" id="{46A30C6A-5FC3-41D4-9264-00EABF10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9572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 non-root user</a:t>
            </a:r>
            <a:endParaRPr sz="1000"/>
          </a:p>
        </p:txBody>
      </p:sp>
      <p:sp>
        <p:nvSpPr>
          <p:cNvPr id="70" name="Shape 66">
            <a:extLst xmlns:a="http://schemas.openxmlformats.org/drawingml/2006/main">
              <a:ext uri="{FF2B5EF4-FFF2-40B4-BE49-F238E27FC236}">
                <a16:creationId xmlns:a16="http://schemas.microsoft.com/office/drawing/2014/main" id="{B755D775-DA7C-4147-89E8-989A913E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01752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1" name="Shape 67">
            <a:extLst xmlns:a="http://schemas.openxmlformats.org/drawingml/2006/main">
              <a:ext uri="{FF2B5EF4-FFF2-40B4-BE49-F238E27FC236}">
                <a16:creationId xmlns:a16="http://schemas.microsoft.com/office/drawing/2014/main" id="{DE3167CC-FAF6-46EE-8C82-FD1E787A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01752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72" name="Text 68">
            <a:extLst xmlns:a="http://schemas.openxmlformats.org/drawingml/2006/main">
              <a:ext uri="{FF2B5EF4-FFF2-40B4-BE49-F238E27FC236}">
                <a16:creationId xmlns:a16="http://schemas.microsoft.com/office/drawing/2014/main" id="{9B45B730-ED12-4B92-BE4D-13A68596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0175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</a:t>
            </a:r>
            <a:endParaRPr sz="1200"/>
          </a:p>
        </p:txBody>
      </p:sp>
      <p:sp>
        <p:nvSpPr>
          <p:cNvPr id="73" name="Text 69">
            <a:extLst xmlns:a="http://schemas.openxmlformats.org/drawingml/2006/main">
              <a:ext uri="{FF2B5EF4-FFF2-40B4-BE49-F238E27FC236}">
                <a16:creationId xmlns:a16="http://schemas.microsoft.com/office/drawing/2014/main" id="{4311B913-ADC0-47BD-BBCA-1C3C8EFB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40156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Metadata image (key=val)</a:t>
            </a:r>
            <a:endParaRPr sz="1000"/>
          </a:p>
        </p:txBody>
      </p:sp>
      <p:sp>
        <p:nvSpPr>
          <p:cNvPr id="74" name="Shape 70">
            <a:extLst xmlns:a="http://schemas.openxmlformats.org/drawingml/2006/main">
              <a:ext uri="{FF2B5EF4-FFF2-40B4-BE49-F238E27FC236}">
                <a16:creationId xmlns:a16="http://schemas.microsoft.com/office/drawing/2014/main" id="{92BE7B46-B8F1-4442-AB63-398E3FCB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023360"/>
            <a:ext cx="2423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5" name="Shape 71">
            <a:extLst xmlns:a="http://schemas.openxmlformats.org/drawingml/2006/main">
              <a:ext uri="{FF2B5EF4-FFF2-40B4-BE49-F238E27FC236}">
                <a16:creationId xmlns:a16="http://schemas.microsoft.com/office/drawing/2014/main" id="{4E16CA76-82E3-4F8F-9F1E-6267E908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02336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76" name="Text 72">
            <a:extLst xmlns:a="http://schemas.openxmlformats.org/drawingml/2006/main">
              <a:ext uri="{FF2B5EF4-FFF2-40B4-BE49-F238E27FC236}">
                <a16:creationId xmlns:a16="http://schemas.microsoft.com/office/drawing/2014/main" id="{D9E17E5B-5185-4DAE-8293-E505D50F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0233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HEALTHCHECK</a:t>
            </a:r>
            <a:endParaRPr sz="1200"/>
          </a:p>
        </p:txBody>
      </p:sp>
      <p:sp>
        <p:nvSpPr>
          <p:cNvPr id="77" name="Text 73">
            <a:extLst xmlns:a="http://schemas.openxmlformats.org/drawingml/2006/main">
              <a:ext uri="{FF2B5EF4-FFF2-40B4-BE49-F238E27FC236}">
                <a16:creationId xmlns:a16="http://schemas.microsoft.com/office/drawing/2014/main" id="{8B1E58F9-3357-4859-AD94-7070CD5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407408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container sehat / tidak</a:t>
            </a:r>
            <a:endParaRPr sz="1000"/>
          </a:p>
        </p:txBody>
      </p:sp>
      <p:sp>
        <p:nvSpPr>
          <p:cNvPr id="78" name="Text 74">
            <a:extLst xmlns:a="http://schemas.openxmlformats.org/drawingml/2006/main">
              <a:ext uri="{FF2B5EF4-FFF2-40B4-BE49-F238E27FC236}">
                <a16:creationId xmlns:a16="http://schemas.microsoft.com/office/drawing/2014/main" id="{C3326EFA-1ADA-4699-8B89-FA444EE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Wajib hafal: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FROM, RUN, COPY, WORKDIR, ENV, EXPOSE, USER, CMD/ENTRYPOINT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 -  90% Dockerfile cuma pakai 8 instruksi ini.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58933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AE3557-318E-47FE-8022-C562A1D8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A2F5A4-091E-45A6-9A9A-2B73C985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2AC52A3-ED8E-4518-A6E2-8E857D77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7bb795b044c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8f7e59c814d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B16D606-3CFC-4165-977A-6BA7456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457E301-0F4D-44A7-8BF1-3DF10828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Contoh Dockerfile Pertama - Node.js App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85AAB07-837F-49B7-892C-B0E3DECA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baris, jadi image yang bisa di-deploy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EFBA26B-CB00-4C28-9711-AEE3A01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E54A884-96D6-4E92-B447-CD24100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8FEFFAB-12CD-44B7-9CB4-5F5C63E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F49B5BA-B73C-4027-B2FD-C124D899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A8146B0-EEFB-461C-8A40-6C48F7D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A2F93DE-2C11-40AD-A69E-5814D890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Dockerfile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910E6C4-2258-406D-A6CF-5B8BC492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Base image dari Docker Hub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</a:t>
            </a:r>
            <a:r>
              <a:rPr sz="12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node:20-alpine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Direktori kerja di image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WORKDIR </a:t>
            </a: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/usr/src/app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Copy package.json dulu (cache layer)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COPY </a:t>
            </a: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package*.json ./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RUN </a:t>
            </a: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npm ci --only=production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Copy source code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COPY </a:t>
            </a: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 .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Expose + run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EXPOSE </a:t>
            </a: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3000</a:t>
            </a:r>
            <a:endParaRPr sz="1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CMD </a:t>
            </a: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["node", "server.js"]</a:t>
            </a:r>
            <a:endParaRPr sz="12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ED53269-E4C8-49C6-AC7E-D73B7448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2C17A724-5692-4EE5-8F15-828CFE04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E2E335B-F13F-49B6-A5C4-00BEDFEB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82DA5B9F-081F-4F3F-891A-D080632D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D0598ADD-5249-48C6-AE15-0F204A3C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0029BDB-3CA4-48EB-B0AA-F529ABA2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build + run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7D238D50-889D-4BA5-80F3-DE7F34B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Build image dari Dockerfile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docker build -t myapp:1.0 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[+] Building 12.4s (10/10) FINISHED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=&gt; [1/5] FROM node:20-alpine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=&gt; [2/5] WORKDIR /usr/src/app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=&gt; [3/5] COPY package*.json ./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=&gt; [4/5] RUN npm ci --only=production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=&gt; [5/5] COPY . 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=&gt; exporting to image, sha256:a8b3c2...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Run container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docker run -d -p 3000:3000 myapp:1.0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Test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localhost:3000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Hello from Docker!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902195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20CA46-A39A-46A8-914B-ED6C92C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2C1DEC-FCE4-499C-9A16-5EFF473A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E5BC6FB-BADB-4680-AB75-276E39FD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9FE1AE0-793B-47DF-9882-832EEC57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1427B4-0835-472D-8612-DC62493C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0078F55-B06E-43BF-AE26-A569569D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EDFFF3A-03B4-4817-862D-AD9E77DB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37968a72a4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3941ebcba46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5882194-46BF-490B-8D53-E55BB24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6E304FF-F9E7-40E6-9E02-06E9FE8D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Instructions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Deep Dive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E8618D6-633B-4AE4-B7AD-BA9490A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D989134-5D6E-4CBA-89D8-07B7408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FROM, RUN, COPY, CMD, ENTRYPOINT - dibedah satu-satu.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42179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69CC6E-1B53-42C4-BA2C-8C7C1DA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65B36A-4711-4A71-AA26-8D00E5CB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DF7C89E-86CD-4402-8C1C-038EFE79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7483f93af41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6dd698e5c4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7A95CCF-4560-4147-81A3-586E6C8A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34D69E3-1F4D-4139-A183-BBC420B5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FROM - Memilih Base Image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EA3F590-77CC-4C15-A1D0-17876DE5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Instruksi pertama di setiap Dockerfile - tentukan starting point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2A6CF26-8B56-4ADD-9D88-5A4C4E50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96E67B1-A0A7-4501-9CC3-085297E3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&lt;image&gt;:&lt;tag&gt;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-  satu Dockerfile bisa punya banyak FROM (multi-stage build).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Wajib di baris pertama. Image dasar yang jadi fondasi semua layer di atasnya.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2F6EE07-92AE-4C03-B438-16445753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Strategi Pilih Base Image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F175193-487E-4695-8DAB-BE224B38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7432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2f94d9d4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1546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3329C85-0FE2-4F89-8773-6EB4B0B8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896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Pakai Official Image</a:t>
            </a:r>
            <a:endParaRPr sz="12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2535F7B-D738-4E1D-BD18-181CF0E2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468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node, python, nginx - sudah maintained Docker Inc. Aman &amp; ter-update.</a:t>
            </a:r>
            <a:endParaRPr sz="10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0CF919E5-2F65-47E7-A40A-80448B8F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971800"/>
            <a:ext cx="27432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5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714b4e76f4b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4720" y="31546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518D63D7-2A89-4854-979B-488D50A8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10896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Pin Version Spesifik</a:t>
            </a:r>
            <a:endParaRPr sz="12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8BC62935-3313-4D7E-81C6-B9121802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703320"/>
            <a:ext cx="2468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node:20-alpine bukan node:latest. Reproducible &amp; predictable.</a:t>
            </a:r>
            <a:endParaRPr sz="10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41A50425-411D-4C35-B126-5F1B7C1C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971800"/>
            <a:ext cx="27432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6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12eb97a8d4f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5080" y="31546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CF2001FA-E0C6-4004-A9B3-CB49021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10896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Pilih yang Minimal</a:t>
            </a:r>
            <a:endParaRPr sz="120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D0C0BB0E-53A5-41EE-BEFD-78FDF527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03320"/>
            <a:ext cx="2468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alpine / distroless / slim variant - lebih kecil + attack surface kecil.</a:t>
            </a:r>
            <a:endParaRPr sz="100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C537F2B8-36D3-4DA6-9143-36D5BE73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971800"/>
            <a:ext cx="27432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6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5151fd15f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5440" y="31546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9E5F3697-77E9-4AEB-8DF0-8C611437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10896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Cek Image Trusted</a:t>
            </a:r>
            <a:endParaRPr sz="1200"/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133B2788-31DD-445E-A86A-69B10696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703320"/>
            <a:ext cx="2468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'Official' badge + jumlah downloads di Docker Hub.</a:t>
            </a:r>
            <a:endParaRPr sz="1000"/>
          </a:p>
        </p:txBody>
      </p:sp>
      <p:sp>
        <p:nvSpPr>
          <p:cNvPr id="29" name="Shape 21">
            <a:extLst xmlns:a="http://schemas.openxmlformats.org/drawingml/2006/main">
              <a:ext uri="{FF2B5EF4-FFF2-40B4-BE49-F238E27FC236}">
                <a16:creationId xmlns:a16="http://schemas.microsoft.com/office/drawing/2014/main" id="{BBDE0C09-6F56-4DC0-ADC4-A8EEFF98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1124712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A3ADAAF8-D9DA-4035-A800-0F39E399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F1CFFA46-CEC4-4D01-8AF4-FF6BAF9F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00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660CBDE0-400E-4D47-BE92-F278561B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00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05B31529-12CD-4E5D-9F1B-3BBB517C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000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E6DC4049-578A-4751-8D32-64B31451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177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FROM examples</a:t>
            </a:r>
            <a:endParaRPr sz="9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AD53EEEE-A1FF-40B3-A93E-D3FE96EC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98348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FROM node:20-alpine                # Recommended: pin major + alpine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FROM python:3.12-slim               # Slim Debian, no extra packages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FROM gcr.io/distroless/static       # No shell, no package manager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FROM scratch                        # Empty - untuk binary statis (Go)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FROM node:latest                    # BAD: floating tag, tidak reproducible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907300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4521B1-7849-42A8-AAAA-75994201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59B304-99E1-4B20-B85E-91161740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76E797B-489B-4AB3-B6E6-493BE6AB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0b8de297845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18906c0ba49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48E3161-580E-4634-B97C-D8EDE2EC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6A063B2-77BA-4E04-8C35-FB5AFE5F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RUN vs CMD vs ENTRYPOINT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4A9F339-8D5C-4B8A-91FC-FBE2035F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Tiga instruksi paling sering disalahpahami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6EEBC45-CD07-453A-8D66-083D04C9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84ECB7E-FC27-4FA3-AE03-E98CA001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789EB79-2DF1-451F-90B1-C322EE6F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0876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</a:t>
            </a:r>
            <a:endParaRPr sz="2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03EEA06-B67E-4D20-9868-3D40A880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time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788668D-FD71-41ED-9C8C-041D5522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Eksekusi command + commit hasilnya jadi layer baru.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0C716DC-09FA-40CC-983F-71B0098C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33375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Install package, compile, generate file.</a:t>
            </a:r>
            <a:endParaRPr sz="10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6A3894A-ABFA-4C8C-BCE0-32C6B5D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3337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9BE6B4C-16A7-4D6D-B9BB-FEEE40E6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09160"/>
            <a:ext cx="31546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RUN apt update &amp;&amp; apt install -y curl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E1EAFE2-02F6-42CC-99A0-0AE62B3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423AEE8-C959-4B4E-9D2F-E099F85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B0A373A7-C81B-4BDB-A74E-C889B678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0876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CMD</a:t>
            </a:r>
            <a:endParaRPr sz="22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63EABA1-C111-4E10-89F9-50F049D6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7452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RUNTIME default</a:t>
            </a:r>
            <a:endParaRPr sz="10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5FD5459-6673-4FE1-B7EA-67C6E2A3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3172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Default command saat 'docker run' (boleh di-override).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90C223-9237-4D09-B3F4-C16A9054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83280"/>
            <a:ext cx="33375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Cuma boleh 1 CMD per Dockerfile. Bisa ditimpa argument run.</a:t>
            </a:r>
            <a:endParaRPr sz="10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D2CC0EFE-5039-4541-90D2-15413A21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617720"/>
            <a:ext cx="3337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A0325D2-5B1F-4AA4-BB04-07446BE7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9160"/>
            <a:ext cx="31546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CMD ["node", "server.js"]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C2F8E10A-5598-46F8-95BA-988E4FBB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684A4363-C98F-4022-9729-5A476BA3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940EF99F-9E43-489D-A24F-CF9433D1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50876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ENTRYPOINT</a:t>
            </a:r>
            <a:endParaRPr sz="22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C4846302-F29D-4619-B5EE-BF91BF0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2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RUNTIME wajib</a:t>
            </a:r>
            <a:endParaRPr sz="10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8BE1681-73FE-4607-B51B-4FAB3A4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3172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Command yang SELALU jalan - argument run jadi parameter ENTRYPOINT.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3FA15720-94FF-44F2-AA73-CC80BBA1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33375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 untuk image yang behave seperti executable.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AA437FD-5B0C-444F-924C-99CDED5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17720"/>
            <a:ext cx="3337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B68EF3E-78E5-438E-8B53-A8443FFD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31546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ENTRYPOINT ["node"]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CMD ["server.js"]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B53A2E5A-B6F1-450C-8176-A7019F3E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Pattern umum: </a:t>
            </a:r>
            <a:r>
              <a:rPr sz="1100" b="1" i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ENTRYPOINT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untuk binary (e.g. node, python), </a:t>
            </a:r>
            <a:r>
              <a:rPr sz="1100" b="1" i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CMD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untuk default argument (e.g. server.js). Bisa di-override saat run.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050939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BEC20B-FF6D-44CD-9139-645A893F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BB0CB7-DE1B-44B8-96D9-1A6A4DC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DE9BA6A-18F7-47B5-B319-0C39D9C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f81ae5acc44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b27eddf3244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5CD6DB8-A5A1-48C8-BBF3-464A2B31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86B3A69-BCAC-4C02-A886-9FF81063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COPY, ADD, WORKDIR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1AAEC8F-941C-40C0-AD08-527581C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Filesystem manipulation di image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F99872E-35AB-4A17-B312-54E99912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4564775-6C4B-4C0E-A9BF-1A2EA135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COPY vs ADD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7BCD076-9F53-4A7C-B488-58B3368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Keduanya copy file ke image. Pakai COPY hampir selalu - lebih predictable.</a:t>
            </a:r>
            <a:endParaRPr sz="11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9B8AD52-544A-446A-B00E-5BF18710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5212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3C1ECDC-6C14-4F03-B083-2959C261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822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A191123-B797-42D2-9B6F-7C3F9F50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82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COPY</a:t>
            </a:r>
            <a:endParaRPr sz="13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0C67E97-321A-4C65-8054-73A14AF0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6888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Copy file/folder dari build context ke image. Sederhana dan eksplisit.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DFAE565-67BF-4731-A56E-AEBD2168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80360"/>
            <a:ext cx="4160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COPY src/ /app/src/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2E8A2F4-6C1E-4E25-BBEB-B16648DA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521208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3E3E18B-E18E-45C5-9786-3B5F291E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82296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2EC8892-BF63-4EFE-A193-BF923FFB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8229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ADD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EDFC5C64-CA98-4231-B0DD-4D420513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74720"/>
            <a:ext cx="4160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COPY + auto-extract tar/gzip + bisa download dari URL. "Magic" yang sering bikin bug.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BCA87F2-EEEC-4EBD-90BA-8D9274DC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69080"/>
            <a:ext cx="4160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ADD app.tar.gz /opt/  # auto-extract!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2513554-F15E-4E29-80D3-8E3B5CE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89120"/>
            <a:ext cx="4160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ADD https://x.com/f.zip /tmp/ # download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99FD431-8D98-47A3-A917-75AC0C1D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52120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62ACA8F-BA90-4143-8C33-C08685DA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49377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Rule: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COPY by default. Pakai ADD hanya kalau butuh auto-extract tar.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download URL: pakai curl/wget di RUN supaya layer-nya audit-able.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DC3E842-2A2B-4F2E-89CF-5C04E654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C50D4E00-8143-4330-84EB-142DC448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WORKDIR - Direktori Kerja</a:t>
            </a:r>
            <a:endParaRPr sz="14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3314185-628B-4302-A7B7-B718650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 'cd' untuk RUN, CMD, ENTRYPOINT, COPY, ADD selanjutnya. Direktori dibuat otomatis kalau belum ada.</a:t>
            </a:r>
            <a:endParaRPr sz="11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4132259-9482-4A57-A7D0-9A15EEA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512064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0C7529DC-1674-463C-9417-42F36F6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51206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1B02473-D677-4598-A0EA-C435002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254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4263262A-19A3-4382-AB9A-5575D988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254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472FDA3A-CB66-44D4-A4E2-2F775324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8254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ECE12B36-7306-44F4-9A12-1819F210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74320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WORKDIR vs RUN cd</a:t>
            </a:r>
            <a:endParaRPr sz="9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38BE095-1E94-44FD-B584-D3A0D0A5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08960"/>
            <a:ext cx="484632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BAD - kontext cd lost di layer baru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RUN cd /app &amp;&amp; touch a.txt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RUN cd /app &amp;&amp; touch b.txt   # /app?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GOOD - WORKDIR persist antar layer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touch a.txt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touch b.txt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package.json .   # ke /app/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Bisa relative path - cumulative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WORKDIR /a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WORKDIR b   # sekarang /a/b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632862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F40374-ED1D-441A-BBC8-3E067967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8D8F16-5D9D-4D98-A7B1-C67E6E9B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40456BA-0123-4B30-98BA-080399A9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2cc4570a8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b4ddb36264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F2B2AC3-EF48-4167-A468-A53DA0F3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8CE3214-EEA1-4430-B2E1-5DD3EC43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ENV vs ARG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5B5221F-0904-4FAD-A78A-F8451DB8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Variabel di Dockerfile - kapan pakai yang mana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E49C60E-7BB6-4D30-85A7-FCA4583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5C20E88-D727-46FA-BEBC-D2B183C8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D9B972A-F4DF-4C89-B99B-715FE9F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ENV  -  Runtime Variable</a:t>
            </a:r>
            <a:endParaRPr sz="16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179B211-D091-4692-BA3D-8BACC48B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Tetap ada saat container running. Persist di environment proses.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6F148CF-5F81-46AE-9E30-AAD12E3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5212080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C46330B-BF53-4CE7-8A4E-1EBB3942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52120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0DF607A-62F7-4CEB-8E96-AE0F5CB0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977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ABFB1FA-7E31-401F-8B93-7A71A429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7977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CE66C78-CA8D-4E9B-BA0A-FDE3190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7977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E96D537-6012-4DB8-8F96-6D5ABE23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97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ENV examples</a:t>
            </a:r>
            <a:endParaRPr sz="9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C3F1215-DC42-48C5-AAE0-735F7F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49377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Set saat build, persist saat run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ENV NODE_ENV=production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ENV PORT=3000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ENV PATH=/app/bin:$PATH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Pakai di Dockerfile sendiri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EXPOSE $PORT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Override saat docker run: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docker run -e NODE_ENV=dev myapp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Use case: config app, secret (jangan!)</a:t>
            </a:r>
            <a:endParaRPr sz="11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F84B722-0B6C-471C-9214-E9C4DF0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B37CBAF-961A-44D1-B194-A44B03EB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CBD3837-5CC2-40AD-9E2F-658C66EC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ARG  -  Build-time Variable</a:t>
            </a:r>
            <a:endParaRPr sz="16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E1CEFB4F-2419-4C50-A411-ECC3284D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Hanya tersedia saat build. Hilang di image final &amp; runtime.</a:t>
            </a:r>
            <a:endParaRPr sz="11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75B0BE2-F4D8-4C91-B1A8-D13683AC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7480"/>
            <a:ext cx="5120640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CD6F2E-449B-43D4-9360-A2305A2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7480"/>
            <a:ext cx="51206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EF8F3534-630D-463F-B6B7-CCE7DB16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7977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3BA68D09-2273-4CF7-A918-75373C94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7977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29699E2-43E8-4A81-8A62-B0E98ED0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7977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F5983D7-5AA2-4BD4-BB37-09B5B06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9748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ARG examples</a:t>
            </a:r>
            <a:endParaRPr sz="9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E2D9BC9-04A7-4FB0-8E3B-1A9E62E5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63240"/>
            <a:ext cx="484632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Deklarasi dengan default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ARG NODE_VERSION=20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 node:$NODE_VERSION-alpine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Tanpa default - wajib pass saat build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ARG GIT_COMMIT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LABEL commit=$GIT_COMMIT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Pass saat build: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docker build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--build-arg NODE_VERSION=22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--build-arg GIT_COMMIT=abc123 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Use case: build target, version pinning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727908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6D191F-483C-49FB-9A29-09B6367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884832-FFD1-469A-B168-04C4778F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B9F22D-4362-4087-B293-82601148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f875cc31e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0156445cc4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AAFBBCC-627B-43E9-9AC8-8531FF4F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A2F2558-ECA9-4FB4-B480-A4956C1F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EXPOSE, USER, HEALTHCHECK, LABEL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FD26638-0EF5-4E32-A346-D7572D72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Meta-instructions untuk dokumentasi + security + monitoring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3443BB7-F8DB-473F-8B46-EC804D1A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66F4630-BC3E-4ED8-8815-301C26A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962518A-D0AB-43DE-BB35-323504DD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EXPOSE</a:t>
            </a:r>
            <a:endParaRPr sz="17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09090C0-D47E-4C31-8F26-34C5C9D3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233172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Dokumentasi port yang dipakai (tidak buka port secara fisik). Untuk konsumsi tooling.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2B7A23D-0FC9-433D-AD0D-C786172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23317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BDE94BE-21BA-4AF7-90B2-A4B5A589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21488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EXPOSE 3000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EXPOSE 443/tcp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E0F81C4-20EE-4997-A020-244BA2D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4E3054B0-A6CF-40D3-9BED-EE157BC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CCEDA84D-DE0C-4046-B080-87344830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USER</a:t>
            </a:r>
            <a:endParaRPr sz="17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4224AD6-2BA8-4D27-8108-3646CE1D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94560"/>
            <a:ext cx="233172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container sebagai non-root user. Best practice keamanan utama.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B44F8DB9-8A53-4CCA-9E99-D5275F00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160520"/>
            <a:ext cx="23317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33F98D4-F129-4880-AE57-D3BAB702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251960"/>
            <a:ext cx="21488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RUN adduser -D app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USER app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67664AE-B308-48BC-B224-62244A7C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A70CD399-B965-45C1-A139-0F94666D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B2E5F16-330D-4ECB-9290-1B3A1431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HEALTHCHECK</a:t>
            </a:r>
            <a:endParaRPr sz="17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CE15BF4-3C9C-4131-8E56-5A77D278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194560"/>
            <a:ext cx="233172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Command yang dijalankan periodically untuk cek container sehat / tidak.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93B5D6D-7877-47C6-A453-0FC18EC9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160520"/>
            <a:ext cx="23317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DDA568C-CEAF-4030-B7FB-D4E37475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251960"/>
            <a:ext cx="21488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HEALTHCHECK --interval=30s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CMD curl -f http://localhost/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31C03CA-2FAD-4F81-A09E-3E7B25FB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FF7194B-4D24-4028-88A7-AA148A9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733CF3C9-0216-44D2-9162-462511FF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LABEL</a:t>
            </a:r>
            <a:endParaRPr sz="17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4E3231B-3004-423F-BD54-34F9EC69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194560"/>
            <a:ext cx="233172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Metadata key=value di image. Untuk filtering &amp; dokumentasi.</a:t>
            </a:r>
            <a:endParaRPr sz="11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DFB51C4-FFED-441F-B527-CABB7BA8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160520"/>
            <a:ext cx="23317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351B21A-5565-4DF0-B806-15042AE6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4251960"/>
            <a:ext cx="21488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 version="1.0"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LABEL maintainer="budi@bdg"</a:t>
            </a:r>
            <a:endParaRPr sz="10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B94F585-0E21-48BC-A3A7-16901765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Catatan: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EXPOSE bukan port mapping. Mapping tetap pakai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-p host:container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saat docker run.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06425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20A163-C37C-4B07-BA53-054A7DBE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63026F-D8C3-4646-B50E-202B19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AD7FCB-E5C6-4628-8487-B6747412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BBE2DC2-D09A-4C24-9DCC-4E4C6CD2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2AB881F-FD70-4AFF-AEEC-553DB4B9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B5DD14-AC3E-441D-92F3-C4679015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34CCB38-115A-4ED0-8C9D-47E7D34F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d357aaf874f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8894689da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18F4E64-AEB8-42DC-B29E-C1DF1CED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5373FE1-5B8A-4E3D-BFA5-813330E9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Process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Layer Cache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424E1FD-32BA-4A9E-84A3-B475E2E3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5DB9761-67B6-41C1-B7EE-F2FC89CD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Bagaimana docker build bekerja - dan kenapa urutan instruksi penting.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280187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832C49-756D-46AD-BB96-9AE2F6E7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654FF3-347A-4B88-AAF9-1589B734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32524B-82EA-4493-A1CF-A925FC71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dd16796624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bebfbf47d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5793E07-DDC5-4731-A345-2A4CD4C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779E06E-B759-4914-99E0-BC44CCA7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docker build - Step by Step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6519B07-A5DC-4F35-A99B-AB681F2B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Apa yang terjadi saat Anda eksekusi 'docker build'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A6411C2-A89C-4C38-BABF-F72FCAC2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5A4AD57-88EF-4C9B-BD4E-845B45F4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D2FD0C8-694A-4475-8BA7-0479465E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8BDEB7E-FB12-42BB-9C66-8559C9D7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50876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Send Build Context</a:t>
            </a:r>
            <a:endParaRPr sz="1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D68C8B0-7260-4912-B034-4E6998A8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82880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Folder current di-kirim ke Docker daemon (semua file di working dir!).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3E7E348B-70E1-455A-A853-62672DE0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1247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33799C3-B607-4DA3-888D-33F3D17F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231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353464F-621C-4638-88A8-BC2CA635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231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0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F96907B-FED8-4E0E-96D2-2787857F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7744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Parse Dockerfile</a:t>
            </a:r>
            <a:endParaRPr sz="14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DC81C11-9764-4826-A935-F56F6C1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9748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Daemon baca Dockerfile, validasi instruksi, plan layer-layer yang akan dibuat.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924EE41-0C75-461A-8FD9-458F5C1F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4680"/>
            <a:ext cx="11247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4BE923D-D369-4C4F-9E33-0B33681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918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9AFB69-D6F9-411D-BF93-84005C69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918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A918B2A8-CE59-48FF-A071-B9BCDB28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4612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Execute Each Instruction</a:t>
            </a:r>
            <a:endParaRPr sz="14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F6DBED7-95E6-4FDF-A48D-511E4A2D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6616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Tiap baris jadi 1 layer baru. Cache di-cek dulu sebelum eksekusi.</a:t>
            </a:r>
            <a:endParaRPr sz="11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6BCF98A7-CC32-48C5-9DB8-E166854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11247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CCD43D2-CC5D-4107-9FA3-B69E96EC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60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C029380-DFB5-46E4-82B4-45CD716D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605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0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28A4051-668E-425E-BFE3-62BD56C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1480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Commit Layer</a:t>
            </a:r>
            <a:endParaRPr sz="14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69F01C8E-5A87-4D37-9E88-114A2D9D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Setelah eksekusi, snapshot filesystem disimpan sebagai read-only layer.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A615BFD8-5F9F-43C8-916B-1600F409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11247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187ACCD-54CB-41E7-B15D-844D378D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96F90AFA-84DE-4680-9F6B-A4557DD5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20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6DFD8E7-60A2-4276-909A-0AEE6E32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9834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Tag Final Image</a:t>
            </a:r>
            <a:endParaRPr sz="1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1237F7B-F51D-4CBF-BD5F-4AAEF84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0352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Semua layer di-stack jadi 1 image, di-tag dengan nama yang user kasih (-t).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393AC1B9-31F2-4EAC-A95C-02FA8788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788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Optimasi penting: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context (folder current) di-send ke daemon SEMUANYA. Pakai .dockerignore!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601583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AB1282-DDC8-4794-9F7B-56B1D6E5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D881E4-F97D-488A-95E9-D8E4191F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04368DA-C75C-4B54-8B8D-6F93995F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71130225149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69721f0094a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D89CCBD-8554-4BCB-8740-2B64619B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59DB46D-5AC6-4643-A9A6-2F9FF8D8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Layer Caching - Urutan Instruksi Penting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F0DEEDA-9839-4149-97EC-300DE34E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Aturan #1 Docker: yang jarang berubah ditaruh di atas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3A65880-DBB5-4FB6-B90B-C32D1666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D749B2B-201E-4A69-8B89-6A3CD40B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Cache rule: 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cek hash tiap instruksi. Kalau sama -&gt; pakai cache. Kalau beda -&gt; rebuild + </a:t>
            </a: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semua layer di bawahnya juga rebuild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Strategi: taruh instruksi yang JARANG BERUBAH di atas, yang SERING BERUBAH di bawah.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53B8C83-2970-4355-89CD-C69527CD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2A07DDA-C91E-49C3-91F5-39474D9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CB7D6A6-C6A6-4BD6-8B92-81E8EE61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C0CF47A-F7DE-4795-94EB-C26BC634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35F8C24-4FC6-4F26-8044-7AED50D6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87BBA09-E491-4E1A-A63A-B7B5B7B5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BAD - rebuild npm install setiap kali code berubah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6523A6D0-1E84-4609-A766-8DF4F4A2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node:20-alpine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COPY . 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RUN npm install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CMD ["node", "server.js"]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Problem: edit 1 baris server.js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-&gt; COPY . . berubah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-&gt; npm install rebuild juga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# -&gt; wait 2 menit lagi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A1D2F51-B3B1-49D1-B629-0A517EAE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6DF92B9-4B53-447C-B195-05A7A655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7B9F15C-7E00-4E35-BCE2-303D41EB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1AEF27C3-D9FF-4F4F-B394-B3487448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2982DB3-4592-4714-8FCC-143B6111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F65D2F4B-B11F-4F97-934A-FD0D882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GOOD - dependency dipisah, cache npm install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77028D9-1C6F-4A32-83F7-DC592E14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node:20-alpine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COPY package*.json ./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RUN npm ci --only=production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. 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CMD ["node", "server.js"]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Edit server.js -&gt; COPY . . rebuild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Tapi npm install tetap cached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-&gt; rebuild 5 detik :)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785920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C27C59-D1D3-4983-9456-AB40D6FF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859F35-1C45-4004-BDFB-CE7029EB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FEDFCE-27BC-483A-A325-05567DB9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69c4f75c849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f23a3cde9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BADA1EC-F73D-4A14-BABD-00D2AB68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6EC9CA-7740-414E-99B4-B24955BB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.dockerignore - Exclude dari Build Context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73DABE8-8E13-4102-AEC8-57151910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Mirip .gitignore, untuk hemat build context size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365EF9B-A591-4181-B578-92894146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00DD077-9038-438E-98F1-EE16432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Kenapa Penting?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2CF8328-D417-41ED-B787-553299A8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493776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context di-send full ke daemon (semua file)</a:t>
            </a:r>
            <a:endParaRPr sz="11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node_modules/ bisa GB+ - bikin build lambat</a:t>
            </a:r>
            <a:endParaRPr sz="11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Mencegah secret (.env) accidentally masuk image</a:t>
            </a:r>
            <a:endParaRPr sz="11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COPY . . jadi predictable - tidak include sampah</a:t>
            </a:r>
            <a:endParaRPr sz="11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Speed up cache invalidation (lebih sedikit file)</a:t>
            </a:r>
            <a:endParaRPr sz="11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2431A2C5-B7F4-4F4A-B887-E9708E08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52120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81F817F-62F5-4F2C-8326-F9C2A75D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49377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Rule of thumb: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kalau ada di .gitignore, biasanya ada di .dockerignore juga. Plus: tambah </a:t>
            </a: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Dockerfile, .git, .env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yang tidak perlu masuk image.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EBA1D6E-80FE-4466-BBF1-1181B0E1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56A58AF-C92B-4F1D-BD53-7C864553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E38E46F-F21F-4D1A-AD49-1CD854AB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B78C48A-F603-4911-B92B-5265EB38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448688A-E9AA-4929-BE21-20EB9EE4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A9AF955-60C8-4D27-A6AC-411CAC2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.dockerignore (Node.js project)</a:t>
            </a:r>
            <a:endParaRPr sz="9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45B67A61-3A65-411C-970A-CBFE8B79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Dependencies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node_modules/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npm-debug.log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Build artifacts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dist/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build/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.next/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Git + IDE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.git/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.vscode/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.idea/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Secrets &amp; env (CRITICAL!)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.env*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*.pem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secrets/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Test + docs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tests/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*.md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Dockerfile*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27389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66D3F6-6B71-4C07-8FF3-0F7C0DE8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F7A761-20F7-47BB-93E3-CA16387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341F022-AFFA-412C-9F6B-C1BFB738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2894E1-1A76-4DEE-8732-656EEE12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9165E20-A483-408A-9591-5EC8B94F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F72A51A-9D24-42BA-8E16-3F4AC74D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817510-3EF5-4E01-82D7-307B7B1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0e8b25a5c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1fb76992f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0AC25E9-1A67-47D7-9055-5995C033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20F980F-02A2-407D-813E-840D2EB9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Image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Optimization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2539796F-EECA-463C-90AE-79A7D663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B60FC53-668E-48DB-AFCB-421693F5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Dari 1.2 GB ke 150 MB - tanpa kehilangan functionality.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059489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A3F296B-107E-4B62-B779-EEB88F5C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ABDA658-D051-4DEA-B46B-6CF97BFE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CF279A-83CA-4F31-BE6B-2A109F1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d9577c137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2dd68a18d4f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BB85570-D8A5-4466-B020-4D394300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552A140-E5C1-4B9C-8ACB-55DCC04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Base Image Comparison - Node.js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B5A723A-01D2-48F0-80A3-CD12F4F1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Pilihan base dengan size yang sangat berbeda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1FEC755-CE2B-4068-9ABD-B3F6157A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3DFC149-F48C-448D-B085-6C139433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Image size matters: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hemat bandwidth (pull lebih cepat), hemat storage (registry + host), kurangi attack surface.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1FB7144-7312-4F2F-AEFB-469C87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269748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A23F6AF-733A-4C67-B84F-563EC0A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A7DF663-1355-4296-B721-97AD9F32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node:20</a:t>
            </a:r>
            <a:endParaRPr sz="13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93BDC77-351A-4635-8F23-82CE5A3B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1.1 GB</a:t>
            </a:r>
            <a:endParaRPr sz="3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B755D44-8674-4747-9FE0-491F2F3D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Debian (full)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B3110D-BED8-4821-BAA0-E701FC41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77640"/>
            <a:ext cx="24231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 Debian + dev tools. Compatible semua native module.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97695B5-6836-410B-AF7D-DD669AD4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120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4EEAF4AC-2F68-47DC-BD52-96032CBE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B682C58-C43B-4E6B-AB4A-B5664906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Build stage</a:t>
            </a:r>
            <a:endParaRPr sz="11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DE25918C-2FBC-403C-AE4C-82185E9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423160"/>
            <a:ext cx="269748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5736376-56AF-4BC5-A56F-B8D6C95F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42316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7D77DB1-4025-42FB-91EA-6D0BF629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42316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node:20-slim</a:t>
            </a:r>
            <a:endParaRPr sz="13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DCE5066-78CA-4638-8851-3388EAC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97180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240 MB</a:t>
            </a:r>
            <a:endParaRPr sz="3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9B6D3F8-BC27-417F-8578-A6FA4E55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61188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Debian slim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EE6C38BA-9437-46E9-B1F4-216B4BA8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977640"/>
            <a:ext cx="24231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Debian minimal, no docs/locales. Trade-off bagus.</a:t>
            </a:r>
            <a:endParaRPr sz="105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FEA79BFB-89D8-459D-A890-0D84FEB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52120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DFAE062-850F-4A5A-BCCE-7B297FE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53035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1B7B3DDE-0C13-4445-B3BC-D713D80C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55321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Production default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A0D6192D-BCF6-44C3-BD1E-E2BD1B91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423160"/>
            <a:ext cx="269748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7F5FB899-8C68-49F4-97C7-8B4DBAE0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42316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6F685303-D951-4C56-99FE-3FF29C44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42316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node:20-alpine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BB267ECA-22F1-4DB9-80F9-A191D5F4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97180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150 MB</a:t>
            </a:r>
            <a:endParaRPr sz="30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87141910-2122-4380-825B-9E0D263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61188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Alpine Linux</a:t>
            </a:r>
            <a:endParaRPr sz="1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A3B4228-C66F-44C9-99FB-027C37E6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977640"/>
            <a:ext cx="24231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musl libc. Bisa break native module (e.g. canvas, sharp).</a:t>
            </a:r>
            <a:endParaRPr sz="105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A25312B1-F82B-4F12-9F07-EDEC782D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2120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CF56ED47-F85D-4BB3-9F4D-003AF3CF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3035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AACABAC9-CE90-4BF9-936D-4CCDB23F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5321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Production minimal</a:t>
            </a:r>
            <a:endParaRPr sz="11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114AF925-5573-4876-B366-D0993703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423160"/>
            <a:ext cx="269748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3C017932-EADA-486C-B1AA-E45C47C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42316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4030AA99-95DE-4045-B836-1438F66E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42316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distroless/node</a:t>
            </a:r>
            <a:endParaRPr sz="13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EBAD97BE-97CD-45FC-A4D9-B621C4B6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97180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180 MB</a:t>
            </a:r>
            <a:endParaRPr sz="30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6EDDE5F7-EBED-456E-9E6F-AE636A0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61188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 OS layer</a:t>
            </a:r>
            <a:endParaRPr sz="10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9047BC6F-4DF2-4C02-83A9-9CAB777F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977640"/>
            <a:ext cx="24231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Cuma runtime + lib. No shell, no apt, no package manager.</a:t>
            </a:r>
            <a:endParaRPr sz="105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5B1C9432-3A2F-4E7F-B1F7-7AE4E97C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52120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F39A6A1F-5393-4DB8-8D0F-2FAC97FD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53035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F6927F4-550E-43DF-B2C4-E1D3ABF0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55321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Max security</a:t>
            </a:r>
            <a:endParaRPr sz="11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1BE78CDA-38A1-441B-A349-FFFC8B25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Rekomendasi: </a:t>
            </a:r>
            <a:r>
              <a:rPr sz="1100" b="1" i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alpine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production. </a:t>
            </a:r>
            <a:r>
              <a:rPr sz="1100" b="1" i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slim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kalau punya native module yg break di alpine. </a:t>
            </a:r>
            <a:r>
              <a:rPr sz="1100" b="1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distroless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kalau security paranoid.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212052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469D24-32FB-4B57-BE9E-3A9D5E5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562E25-E391-4A90-A1D1-9115C7D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B37AE4-3B79-4D33-B4BE-BFC4C60E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1ccb50b6d4e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71c7f2b104d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97E8E9D-765F-4E50-9B3B-3A1755DD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FB4D180-98F8-454B-961E-9CFD3ECB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Multi-Stage Build - The Killer Feature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50EA0C4-D98A-4825-9DFE-BF056F6C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Pisahkan build environment dari runtime - image final super kecil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564BB6B-EAFA-4A27-A79F-1F9C52F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C5ADF3F-31BC-41EC-9F28-9259D38A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Ide: 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punya BANYAK FROM di 1 Dockerfile. Stage akhir cuma include yang dibutuhkan runtime.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Compiler, build tools, source code -&gt; stage 1 (builder). Final image -&gt; stage 2 (runner) cuma binary + runtime.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2BB663C-4970-4126-A762-CE653834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521208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0421B6D-D89A-4697-8D75-2F4EF0E7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0F5AA24-9BE1-4570-A5EF-97D214F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5212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1: BUILDER  (1.2 GB)</a:t>
            </a:r>
            <a:endParaRPr sz="13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7BDA007-DF00-4988-8C7C-31E00168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48463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 Node.js + npm + tools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Source code lengkap (.ts, .map)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node_modules (dev + prod)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tooling (webpack, tsc)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 fixtures, README, dll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5935083-4911-4D36-94BD-1D884066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77640"/>
            <a:ext cx="640080" cy="5029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E3D9684-ADD0-40DE-BE77-803D435A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65760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COPY</a:t>
            </a:r>
            <a:endParaRPr sz="9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49B3758-9D71-4498-AF25-48CCB0B5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521208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4479A0C-849F-44FE-A339-90487551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C9D4702-D9DC-45E3-A536-AC7194C2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5212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2: RUNNER  (150 MB)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2AA179D-F732-4098-9D47-5D693B19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46120"/>
            <a:ext cx="48463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node:20-alpine (minimal)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Compiled output (dist/)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node_modules production only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package.json (untuk metadata)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ada dev dependency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27590D1E-002B-4306-B53C-6F4D7B70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932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Hasil: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image final hanya berisi yang DIBUTUHKAN saat run. Build tools tidak ikut deploy.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854940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B5B309-DBEA-40C3-9772-C5A3E49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57D625-43CB-42EE-B57C-C0BEFCBE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B5E9402-85EF-4EA8-A47D-EACD15ED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f214e425143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04925e3fa41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1568AC8-E9FF-41D7-B06F-3F97247C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32D047E-EECF-4EDD-B8E1-6BBCCA15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Multi-Stage Example - Node.js App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0BE0130-5795-4BE9-A284-734F9771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Dockerfile lengkap dengan builder + runner stages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4F2B7AD-5F73-4B2A-960E-D2573B15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C946A52-4197-489E-8E75-7C2657C8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898123D-08ED-4A79-9741-45138C3E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E92A498-38CE-4386-BF24-A3F32759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D38715D-8F63-4C75-9B1C-51FC2B7E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2A82D74-7DBD-4432-A14D-432A6D79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Dockerfile - multi-stage Node.js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98D97D9-A77B-4F90-9E8A-2223E7A9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============ Stage 1: BUILDER ============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</a:t>
            </a: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node:20</a:t>
            </a: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AS 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builder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package*.json ./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npm ci                       # install ALL deps termasuk dev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. 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npm run build                # compile TS -&gt; JS di dist/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============ Stage 2: RUNNER =============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</a:t>
            </a: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node:20-alpine</a:t>
            </a: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AS 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runner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ENV NODE_ENV=production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Copy SELECTIVELY dari stage builder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COPY --from=builder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/app/package*.json ./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npm ci --only=production    # cuma prod deps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COPY --from=builder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/app/dist ./dist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Non-root user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USER node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EXPOSE 3000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CMD ["node", "dist/server.js"]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234641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D6454F7-C1D6-49A4-A3E9-6C6CFC5D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C5BCAF-783F-4ED2-823B-BA9E3A71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E9CA35-8084-43EB-AAFC-DB8CFAE7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f764a8661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edc36aada43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6519FFE-4EE4-466A-A555-1B5AA5E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8FA818A-92CE-492A-8BCB-016CA76C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Image Optimization - Best Practices Checklist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16C4DD4-8B61-4888-B455-A508B8E7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aturan untuk Dockerfile produksi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67DD374-0AF3-400F-82F2-7668F063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5544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F1496D4-4C84-4A6D-B33C-09A060CC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0876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Pin Version</a:t>
            </a:r>
            <a:endParaRPr sz="13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01CE7C7-A6DB-485E-B6D8-2DB5B0DC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node:20-alpine, bukan node:latest. Reproducible builds.</a:t>
            </a:r>
            <a:endParaRPr sz="10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11B9681F-186E-4E50-984E-406D1CD4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5544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4BC6415B-81D3-40EB-AFED-54FE0DC8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50876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Alpine / Distroless</a:t>
            </a:r>
            <a:endParaRPr sz="13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5F62EE57-12C6-4F06-8D18-47B5DC2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6596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Base minimal untuk reduce size + attack surface.</a:t>
            </a:r>
            <a:endParaRPr sz="10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7495D47C-4F6A-4A62-8A5D-4F13BEF8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5544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0B2D4738-FC0C-480A-ADDF-441A8A1F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50876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Multi-Stage Build</a:t>
            </a:r>
            <a:endParaRPr sz="1300"/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87B74AF5-4E1B-4051-ABFE-EBEB496D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6596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Separate build dari runtime. Final image kecil.</a:t>
            </a:r>
            <a:endParaRPr sz="1000"/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9FDD2993-4DC5-4169-B9E5-4880DA4A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2743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8411879D-72AA-4031-9046-AC798D1B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Layer Ordering</a:t>
            </a:r>
            <a:endParaRPr sz="1300"/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E1BA5763-9A9C-4768-8A5C-9DF1581E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5468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Dependency dulu (jarang berubah), code belakangan.</a:t>
            </a:r>
            <a:endParaRPr sz="1000"/>
          </a:p>
        </p:txBody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C5FE04D3-CED6-450D-B909-3A13C8DE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60604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2743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710089FC-20A7-4149-8CAC-8418CE5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Combine RUN</a:t>
            </a:r>
            <a:endParaRPr sz="1300"/>
          </a:p>
        </p:txBody>
      </p:sp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8B08AB48-D18C-479A-BF89-1702BFE4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5468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RUN apt update &amp;&amp; apt install ... &amp;&amp; rm -rf /var/lib/apt/lists/*</a:t>
            </a:r>
            <a:endParaRPr sz="1000"/>
          </a:p>
        </p:txBody>
      </p:sp>
      <p:sp>
        <p:nvSpPr>
          <p:cNvPr id="30" name="Shape 21">
            <a:extLst xmlns:a="http://schemas.openxmlformats.org/drawingml/2006/main">
              <a:ext uri="{FF2B5EF4-FFF2-40B4-BE49-F238E27FC236}">
                <a16:creationId xmlns:a16="http://schemas.microsoft.com/office/drawing/2014/main" id="{BE2B2B33-BAFE-4F46-94AE-BEA5A567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60604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2743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2" name="Text 22">
            <a:extLst xmlns:a="http://schemas.openxmlformats.org/drawingml/2006/main">
              <a:ext uri="{FF2B5EF4-FFF2-40B4-BE49-F238E27FC236}">
                <a16:creationId xmlns:a16="http://schemas.microsoft.com/office/drawing/2014/main" id="{A923D675-E47D-40FF-B3C1-34B2BB9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69748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.dockerignore</a:t>
            </a:r>
            <a:endParaRPr sz="1300"/>
          </a:p>
        </p:txBody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6EFB50F7-695B-4865-8624-BADAC2AF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15468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Exclude node_modules, .git, .env, build artifacts.</a:t>
            </a:r>
            <a:endParaRPr sz="1000"/>
          </a:p>
        </p:txBody>
      </p:sp>
      <p:sp>
        <p:nvSpPr>
          <p:cNvPr id="34" name="Shape 24">
            <a:extLst xmlns:a="http://schemas.openxmlformats.org/drawingml/2006/main">
              <a:ext uri="{FF2B5EF4-FFF2-40B4-BE49-F238E27FC236}">
                <a16:creationId xmlns:a16="http://schemas.microsoft.com/office/drawing/2014/main" id="{A82CE825-419F-49C5-BD3B-18227D28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931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6" name="Text 25">
            <a:extLst xmlns:a="http://schemas.openxmlformats.org/drawingml/2006/main">
              <a:ext uri="{FF2B5EF4-FFF2-40B4-BE49-F238E27FC236}">
                <a16:creationId xmlns:a16="http://schemas.microsoft.com/office/drawing/2014/main" id="{43928BDC-8BBB-4701-A36C-828CD05D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862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Non-root USER</a:t>
            </a:r>
            <a:endParaRPr sz="1300"/>
          </a:p>
        </p:txBody>
      </p:sp>
      <p:sp>
        <p:nvSpPr>
          <p:cNvPr id="37" name="Text 26">
            <a:extLst xmlns:a="http://schemas.openxmlformats.org/drawingml/2006/main">
              <a:ext uri="{FF2B5EF4-FFF2-40B4-BE49-F238E27FC236}">
                <a16:creationId xmlns:a16="http://schemas.microsoft.com/office/drawing/2014/main" id="{5DFD171D-0A3B-4DE9-A728-32CC01CB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4340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node atau USER appuser. Tidak run sebagai root.</a:t>
            </a:r>
            <a:endParaRPr sz="1000"/>
          </a:p>
        </p:txBody>
      </p:sp>
      <p:sp>
        <p:nvSpPr>
          <p:cNvPr id="38" name="Shape 27">
            <a:extLst xmlns:a="http://schemas.openxmlformats.org/drawingml/2006/main">
              <a:ext uri="{FF2B5EF4-FFF2-40B4-BE49-F238E27FC236}">
                <a16:creationId xmlns:a16="http://schemas.microsoft.com/office/drawing/2014/main" id="{3F0117AE-CB4C-42DE-87E2-CD3AAD7E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931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0" name="Text 28">
            <a:extLst xmlns:a="http://schemas.openxmlformats.org/drawingml/2006/main">
              <a:ext uri="{FF2B5EF4-FFF2-40B4-BE49-F238E27FC236}">
                <a16:creationId xmlns:a16="http://schemas.microsoft.com/office/drawing/2014/main" id="{64C66E12-3503-4A61-8D68-EB7FEC31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No Secrets in Image</a:t>
            </a:r>
            <a:endParaRPr sz="1300"/>
          </a:p>
        </p:txBody>
      </p:sp>
      <p:sp>
        <p:nvSpPr>
          <p:cNvPr id="41" name="Text 29">
            <a:extLst xmlns:a="http://schemas.openxmlformats.org/drawingml/2006/main">
              <a:ext uri="{FF2B5EF4-FFF2-40B4-BE49-F238E27FC236}">
                <a16:creationId xmlns:a16="http://schemas.microsoft.com/office/drawing/2014/main" id="{1760B321-BB54-48F3-A9E6-8F919D94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34340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--build-arg / runtime env / secrets management.</a:t>
            </a:r>
            <a:endParaRPr sz="1000"/>
          </a:p>
        </p:txBody>
      </p:sp>
      <p:sp>
        <p:nvSpPr>
          <p:cNvPr id="42" name="Shape 30">
            <a:extLst xmlns:a="http://schemas.openxmlformats.org/drawingml/2006/main">
              <a:ext uri="{FF2B5EF4-FFF2-40B4-BE49-F238E27FC236}">
                <a16:creationId xmlns:a16="http://schemas.microsoft.com/office/drawing/2014/main" id="{DD42BFC5-8B7E-45F6-8C51-99598BC7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3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931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4" name="Text 31">
            <a:extLst xmlns:a="http://schemas.openxmlformats.org/drawingml/2006/main">
              <a:ext uri="{FF2B5EF4-FFF2-40B4-BE49-F238E27FC236}">
                <a16:creationId xmlns:a16="http://schemas.microsoft.com/office/drawing/2014/main" id="{9709C649-5708-45A3-95BC-D3D3EB22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8862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HEALTHCHECK</a:t>
            </a:r>
            <a:endParaRPr sz="1300"/>
          </a:p>
        </p:txBody>
      </p:sp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89822081-8E24-4965-B7B3-E066441F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34340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Tambah HEALTHCHECK supaya orchestrator tahu container hidup.</a:t>
            </a:r>
            <a:endParaRPr sz="1000"/>
          </a:p>
        </p:txBody>
      </p:sp>
      <p:sp>
        <p:nvSpPr>
          <p:cNvPr id="46" name="Shape 33">
            <a:extLst xmlns:a="http://schemas.openxmlformats.org/drawingml/2006/main">
              <a:ext uri="{FF2B5EF4-FFF2-40B4-BE49-F238E27FC236}">
                <a16:creationId xmlns:a16="http://schemas.microsoft.com/office/drawing/2014/main" id="{0CCA5D85-BCEC-4CEA-8146-C6B9980E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3703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7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4847fd3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51206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8" name="Text 34">
            <a:extLst xmlns:a="http://schemas.openxmlformats.org/drawingml/2006/main">
              <a:ext uri="{FF2B5EF4-FFF2-40B4-BE49-F238E27FC236}">
                <a16:creationId xmlns:a16="http://schemas.microsoft.com/office/drawing/2014/main" id="{9152379C-D56B-40E5-ACCA-7D9ECF72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749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Scan dengan Trivy</a:t>
            </a:r>
            <a:endParaRPr sz="1300"/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582D96C6-A8B1-4A12-B87D-D238BA32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CVE di base image sebelum push ke registry.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88185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E37C71-E4CB-4FD0-B25A-E0D96589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A78C53-D5A3-4E7D-AB3C-90298E52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A1040BF-E47A-4C40-92D5-6A9B8D84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81B233F-D971-4A6A-8092-370A6AF3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B8C5EC5-266E-4201-8000-AA3A43BE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87148B9-9DD6-4C60-B187-F4373A75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5EFB563-BE18-4A3A-BEA0-638747D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9d03bbff8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54b1a2da248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25AF763-037F-4619-8C7F-E96CF07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E8569E5-6BBC-4FE5-8BD7-F28C54C5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Tagging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Registry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DEB683E-E87B-4128-83D1-BACFC7A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35345A-68AC-4650-A0DE-F25736FE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Bagaimana nama image, dan publish ke registry untuk di-share.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9101628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AC44F1-96D7-4C90-8828-821755B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B3D4F0-251F-4B7B-B1EF-CF8F9E4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36348B9-05BB-4A7B-99AF-0B70588C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8587ff8b942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e3d241fea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60D091C-5612-4A7D-A390-DF840753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5C469E3-3CF8-4EF3-B73C-9929039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Image Tagging Strategy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CDE60DA-AA33-44D5-A68F-17FA41B1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Nama image yang baik = mudah deploy, mudah rollback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DED4CFF-2B0F-4BF4-AA7F-9A0DBF00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1195EBD-D4B4-4D2D-B80B-067F872A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Format: </a:t>
            </a: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[registry/]&lt;namespace&gt;/&lt;image&gt;:&lt;tag&gt;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sz="1100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ghcr.io/seedflora/myapp:1.2.0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7DB769F-CADC-45BF-862D-FAC9B9EB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557784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6B69B0B-6910-4A1E-8614-1097A8D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5577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3EF1FC2-F2E2-4547-B4A1-69FFBF3D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688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Semantic Version</a:t>
            </a:r>
            <a:endParaRPr sz="13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1D80D28D-A666-412C-B29D-556C4649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888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RECOMMENDED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12F7288-061B-4A80-8E6D-2C799223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17520"/>
            <a:ext cx="53035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411756C-A482-4A0C-B601-E14B5C51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myapp:1.2.3</a:t>
            </a:r>
            <a:endParaRPr sz="12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FE1494F-DE08-4E0D-B1DD-784C0162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20440"/>
            <a:ext cx="5303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MAJOR.MINOR.PATCH. Format paling jelas + cocok untuk release.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91B8B10-DED9-4B8D-B1F3-C54E067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68880"/>
            <a:ext cx="557784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CCA4C87-6F46-40E5-9CB0-FA4F5C2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68880"/>
            <a:ext cx="5577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DFC5AA79-57EF-4D0C-95DA-431603D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88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 SHA</a:t>
            </a:r>
            <a:endParaRPr sz="13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E46851ED-D88F-49D0-BD55-F7F3551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46888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RECOMMENDED</a:t>
            </a:r>
            <a:endParaRPr sz="10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5C9F362A-E5EF-4B7C-B538-D54055AA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17520"/>
            <a:ext cx="53035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20C170F-F607-417B-ADB4-5A3BA078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myapp:a3f8b1c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AE0B4E6-251C-4504-9F17-02DB84E7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20440"/>
            <a:ext cx="5303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Immutable &amp; unique - 1 commit = 1 image. CI/CD-friendly.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F28A7C7-4A96-41F7-B6A5-5A1ADDEC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557784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EE94750D-1836-48EA-B1EB-918EB0B7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5577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FE2E7C2-CECE-4CCB-BDDD-A22B33A3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976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Date-based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C5CFC158-FEEE-43EF-965E-543123C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768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RECOMMENDED</a:t>
            </a:r>
            <a:endParaRPr sz="10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BACD4568-F495-45E2-9101-75E6F11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46320"/>
            <a:ext cx="53035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8B5D2A8-3A13-4CD5-A868-C12C3852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myapp:2026-05-15</a:t>
            </a:r>
            <a:endParaRPr sz="12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DFE209BD-26C8-4A50-B370-865955F9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49240"/>
            <a:ext cx="5303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 untuk nightly build / daily release. Mudah diurutkan.</a:t>
            </a:r>
            <a:endParaRPr sz="11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2477B13-996D-4CA0-8F94-798643E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97680"/>
            <a:ext cx="557784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25A74B2A-587E-4AED-B56F-3027E4D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97680"/>
            <a:ext cx="5577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907F5B4C-6FCA-4565-9C6B-3CD9F314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976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:latest</a:t>
            </a:r>
            <a:endParaRPr sz="13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B2EBF83F-8E4B-498E-8781-71EDA5A5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429768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AVOID</a:t>
            </a:r>
            <a:endParaRPr sz="10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023CA291-C492-465C-A06A-4F51FCE7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846320"/>
            <a:ext cx="53035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2161C421-205B-43AE-A9DA-3DB52701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4632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myapp:latest</a:t>
            </a:r>
            <a:endParaRPr sz="12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4D5EED5C-B97D-4E6D-8A77-FCCF80F1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303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PITFALL! Floating tag - tidak reproducible. Production = pin version.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A39D5D3-7607-4819-8B90-E2610D83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 tip: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kombinasi: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myapp:1.2.3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myapp:1.2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myapp:1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- 1 image, 3 tag. Customer bisa pilih granularity.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135341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D2B4915-A508-49E1-8CC8-38C39533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A6AA03-E428-45E9-A7E6-44F09575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4BD93B1-54C8-420F-870A-D7C9BE86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22fd9c96c46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be92b3d04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7436C6D-A78B-4FC4-8FB3-F13D6F88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DC3BCF4-4732-44D4-800A-D0F49287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Push ke Registry - Docker Hub vs ghcr.io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756B104-07EA-494C-BBF1-7C5AAAB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Publish image supaya bisa di-pull dari mana saja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3A7FEC3-99E2-4AA1-836D-372BB49E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C3919A5-F305-432D-A4B1-AE1E067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077e8170c41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1CB780-99A9-4CA6-AA36-3615DE9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17320"/>
            <a:ext cx="4846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Hub  -  docker.io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6464A4E-A113-495E-921D-95624388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52120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Default registry - tidak perlu prefix di image name</a:t>
            </a:r>
            <a:endParaRPr sz="11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Kebijakan repo gratis berubah; cek Docker Hub</a:t>
            </a:r>
            <a:endParaRPr sz="11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Batas pull berbeda menurut jenis akun; cek docs</a:t>
            </a:r>
            <a:endParaRPr sz="11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Username jadi namespace: docker.io/seedflora/myapp</a:t>
            </a:r>
            <a:endParaRPr sz="11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B80804A0-1DD5-4FE6-B9FD-14875141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0B41DF95-991C-47BD-8F03-5D8227A6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32a0d43594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33E744FB-C0C1-440E-82FF-D4874E4D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17320"/>
            <a:ext cx="4663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 Container Registry  -  ghcr.io</a:t>
            </a:r>
            <a:endParaRPr sz="14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6E6799A8-3332-4A85-AA21-517C1A9A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51206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Terintegrasi GitHub - auto-build dari Actions</a:t>
            </a:r>
            <a:endParaRPr sz="11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Akses dan biaya mengikuti paket GitHub Packages</a:t>
            </a:r>
            <a:endParaRPr sz="11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kebijakan penggunaan GitHub Packages</a:t>
            </a:r>
            <a:endParaRPr sz="11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Image path = repo path: ghcr.io/seedflora/myapp</a:t>
            </a:r>
            <a:endParaRPr sz="11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827FFC2C-A6BF-49BB-9CAB-9A3F236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112471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5CA02D0E-69E4-401A-80F2-8008AF7D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0EB80DAD-91A2-4CE3-AFE9-8BB2CE86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056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6662E4B2-186B-40D5-8BB6-D71385A4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6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A5272AA8-C867-4379-BFBE-CE557A7D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056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3C253266-49B8-49B0-A069-E23C8C15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2336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build + tag + push ke ghcr.io</a:t>
            </a:r>
            <a:endParaRPr sz="9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B0B98095-2F80-4360-B19D-A3A9AEC8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0"/>
            <a:ext cx="10972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Login ke registry (perlu GitHub personal access token)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$GH_TOKEN | docker login ghcr.io -u seedflora --password-stdin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Login Succeeded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Build dengan tag yang sesuai format registry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docker build -t ghcr.io/seedflora/myapp:1.2.0 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Push ke registry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docker push ghcr.io/seedflora/myapp:1.2.0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1.2.0: digest: sha256:a3f8... size: 4.2MB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456215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0DE6B6-DC5F-47B7-A4CD-866D9664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D6C5A6-D8FE-4121-B7DB-A996600F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B65EA0-3231-4243-BC69-04BFC4B3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63D583B-EF80-4542-93F4-79F1D401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B943060-2648-41F3-9EA4-5753F325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0BFDC4-E5B7-4B3B-ACD1-E1D78881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6630740-18F0-4247-908A-DA942B6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c5cf32a37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14dcb2f6746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BD6CF7E-C05A-449F-9CF5-A057B9C4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19D8C44-15ED-43F7-A01E-4DCE9900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Security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Best Practices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417885B-B065-4E7A-9C5B-E4D3635C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B3800A6-FB4F-4483-9D2A-B6B5ED51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Image yang aman - non-root, no secrets, scanned.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957045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128B4A-BCA0-4836-AAB1-7F3F7150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B14929-4ECE-431D-8890-971AB175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E610C17-CE64-4B0F-8DC3-FB354B19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9c0067a374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5ce56f48746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E0FE429-A20B-49E3-A5D7-2DE23D27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6C46C74-6FA1-4E38-94EA-F84EB7B2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Common Vulnerabilities di Docker Image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1B22CBE-B3E6-4F31-8B5F-9CAAC73F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Kesalahan keamanan yang sering muncul - dan cara hindari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8E5CFFD-B97D-4DF8-9799-BE4AA080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8E8FC9E-0524-4BC2-BACB-6CE7286A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A9E6FDD-D94F-4111-8A62-91D1CA1C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Running as Root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E44912B-0ADD-427A-8864-1637057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Container run sebagai UID 0. Kalau breakout, attacker dapat root di host.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5A1A47C-E475-4570-B517-A2CCCD8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CF4AF4A-ABB4-4DFA-AC6A-0416EE45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44952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USER non-root di Dockerfile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717BE9E-D2F5-4B4D-B345-A40714CA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40ECD1AD-84E3-4158-BABF-950587E8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7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b203b81704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3D857F97-CA86-44B2-8185-3353A34B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Secrets in Image</a:t>
            </a:r>
            <a:endParaRPr sz="13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EFB5EED5-EC84-4439-B459-0BE92E9C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 key / password hardcoded di Dockerfile, COPY .env, atau ENV password=...</a:t>
            </a:r>
            <a:endParaRPr sz="105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6716D0B9-040B-4482-B921-C8D31BCB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7D6EAEDE-3C1D-474E-8F8B-A96CE198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4952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runtime env atau secrets manager</a:t>
            </a:r>
            <a:endParaRPr sz="1000"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B4287873-A178-4C8F-8904-5A359BA9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E4D8B893-12B8-4AC6-BA56-31F29E72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8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9b6e038f64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B0FFB2B0-0D14-41BE-B47A-35750FAE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Outdated Base Image</a:t>
            </a:r>
            <a:endParaRPr sz="13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8E9B987B-26CB-47DD-88F1-635E07C3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FROM ubuntu:18.04 yang sudah EOL - banyak CVE belum di-patch.</a:t>
            </a:r>
            <a:endParaRPr sz="105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12A6EB7D-95B5-4E74-B30B-750DF951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EC0A80B8-9169-4C0A-8C1E-46B862B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044952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Pin major LTS, scan rutin dengan Trivy</a:t>
            </a:r>
            <a:endParaRPr sz="100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4717098A-9A1F-42C2-95E5-5E58B195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96BB99FC-FD92-4F5D-8DB1-85BEC493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8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04728c58a43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B3928F8-A365-4547-A5A6-D86A0E1F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Bloated Image</a:t>
            </a:r>
            <a:endParaRPr sz="130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E1EEC0D5-B7B2-4209-A398-1E16B1AF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Image GB+ dengan banyak tool. Attack surface besar, exploit gampang.</a:t>
            </a:r>
            <a:endParaRPr sz="1050"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7CB5069D-955B-4612-B35A-78532F96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F7E42640-B13B-48C1-BA64-E06A7021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22392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Multi-stage + alpine/distroless</a:t>
            </a:r>
            <a:endParaRPr sz="100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3AC08404-D627-4B1D-9C01-18D88453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FBD05FE6-78E0-4E1C-9932-C962A4A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9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639493ae44e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5E0EAD3B-ADFD-4830-81BF-0B6DCA30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Vulnerable Dependencies</a:t>
            </a:r>
            <a:endParaRPr sz="1300"/>
          </a:p>
        </p:txBody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780E93F2-4367-4DC1-AAEE-2A7D49BE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npm package dengan CVE dibiarkan di prod. Auto-update jarang dilakukan.</a:t>
            </a:r>
            <a:endParaRPr sz="1050"/>
          </a:p>
        </p:txBody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22AEA65C-7227-4533-9D14-DA651A1D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F17B0957-5FAD-4387-A372-186A037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22392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npm audit + Dependabot + scanner CI</a:t>
            </a:r>
            <a:endParaRPr sz="100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44C59E40-6A85-4A68-B5F5-BC9CFE23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Shape 37">
            <a:extLst xmlns:a="http://schemas.openxmlformats.org/drawingml/2006/main">
              <a:ext uri="{FF2B5EF4-FFF2-40B4-BE49-F238E27FC236}">
                <a16:creationId xmlns:a16="http://schemas.microsoft.com/office/drawing/2014/main" id="{88D7E07E-20A9-4B0A-888D-7470902D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10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49a77183548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E617974E-4CCE-4EB7-BDB6-07D10FA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HEALTHCHECK</a:t>
            </a:r>
            <a:endParaRPr sz="1300"/>
          </a:p>
        </p:txBody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54FD2DD1-E23F-4E34-B5AC-723D5B75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Container crash silently tidak ke-detect. Orchestrator pikir masih hidup.</a:t>
            </a:r>
            <a:endParaRPr sz="1050"/>
          </a:p>
        </p:txBody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30749656-D087-418A-A7A2-E983DF15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31B4A814-4AE7-4FB5-BE9F-4BEEBECB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422392"/>
            <a:ext cx="3154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Selalu tambah HEALTHCHECK di Dockerfile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45504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353CFE1-6DC1-449E-B742-6BC8A331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98A130-E8F1-4510-8100-D71B8642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F236F89-C946-4E9E-BCBD-4F901F68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7d5c1821644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760567957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49B3599-27F5-4244-958D-6AEC5768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303F282-C923-4B3C-88F5-9D50B190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Security Best Practices - Dockerfile Edition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0046F59-8640-4885-911F-C7A6D712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Pattern Dockerfile yang aman secara default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F8B3CC6-3183-40C4-A222-9CBF1277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8E05E4C-F6DB-46D1-A412-FA60A869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5EF5D92-E321-4BF9-BF00-40959D8F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AE46DFA-36BA-4C9D-B120-50955687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C1A1D42-AE91-49EB-AC2D-6A24D04D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65290DC-736F-4C25-B409-2274C795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Dockerfile - secure by default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DE0778A-3528-4C2C-9F8B-E9A72B1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Pin version + alpine base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FROM node:20.11-alpine3.19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Buat user non-root khusus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RUN addgroup -S app &amp;&amp; adduser -S app -G 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Copy file dgn ownership eksplisit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COPY --chown=app:app package*.json ./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npm ci --only=production &amp;&amp; npm cache clean --force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--chown=app:app . 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Switch ke user app SEBELUM CMD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USER app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5. HEALTHCHECK supaya orchestrator tahu app sehat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HEALTHCHECK --interval=30s --timeout=3s --retries=3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CMD wget --quiet --tries=1 --spider http://localhost:3000/health || exit 1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EXPOSE 3000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CMD ["node", "server.js"]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916344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CB4762-6E1C-4ABA-BA02-9C81CCA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6C7534-B22F-44F6-9029-959F0595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D875FE-35A1-4FBA-BC71-623A4136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d5d8402284f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f77fa065248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C6D3E5F-3D68-445D-A129-81688538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6B8FA41-398B-46FD-8FCB-D515BAE2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Image Scanning Tools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7CC404D-B56D-4C5F-A22C-C225B7D5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Cek CVE di image SEBELUM push ke production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96BA2DB-E0B0-49CC-9E50-641E87C5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4EAADBC-7266-45F3-8538-367BFEC4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04DA"/>
          </a:solidFill>
          <a:ln xmlns:a="http://schemas.openxmlformats.org/drawingml/2006/main" w="12700">
            <a:solidFill>
              <a:srgbClr val="1904DA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5203E86-5E4A-4BD7-94EC-668B3008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Trivy</a:t>
            </a:r>
            <a:endParaRPr sz="1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3481BE4-12FA-475E-8C81-5BDE4E0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94560"/>
            <a:ext cx="24231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 source dari Aqua Security. Cepat, comprehensive. CVE + secret + IaC.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633473A-F1ED-4F69-8B33-02F10F0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423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C679EBB-4637-4E6A-8F12-4F36BF22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trivy image myapp:1.0</a:t>
            </a:r>
            <a:endParaRPr sz="9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4B9808-D36F-4202-AC8B-742245EE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976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9859479-D285-4D5D-94DE-7A41F179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CC3AA36A-97A0-4FBD-AA40-DFC4BEB5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Default scanner CI/CD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3BB0413-02C4-4146-8347-27C2E15B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94B7CDC-3D26-4173-9F30-E49146E7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12700">
            <a:solidFill>
              <a:srgbClr val="2496ED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E7A68D28-AF5F-47FC-B8FF-93E2DF8C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Scout</a:t>
            </a:r>
            <a:endParaRPr sz="18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305ADCF4-C620-44D8-B0FA-42CBBDD9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194560"/>
            <a:ext cx="24231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Built-in di Docker Desktop. Real-time monitoring + remediation suggestions.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3C140A36-2BFE-4672-90F8-EF99FC70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703320"/>
            <a:ext cx="2423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F383FB02-AE81-4970-A98D-ABB45165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70332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docker scout cves myapp:1.0</a:t>
            </a:r>
            <a:endParaRPr sz="9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38DD11D-1B90-4770-8C60-A022536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2976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3ECED19-5CF5-4C89-9F53-DCEF63F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3891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6CDE29D9-1F42-4624-9FBF-1A0BE76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6177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Local dev workflow</a:t>
            </a:r>
            <a:endParaRPr sz="11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F3DCF360-3DAB-4D3E-902E-1967DE7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A0EFD2F-3998-4E9E-9AE6-73E41927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A73"/>
          </a:solidFill>
          <a:ln xmlns:a="http://schemas.openxmlformats.org/drawingml/2006/main" w="12700">
            <a:solidFill>
              <a:srgbClr val="4C4A73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355FCEF3-FEA3-405E-9553-2CD3764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Snyk</a:t>
            </a:r>
            <a:endParaRPr sz="18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CD8227D-3C76-4090-9FD0-ABD9E18F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194560"/>
            <a:ext cx="24231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Commercial. Bagus integrasi GitHub PR. Free tier untuk personal use.</a:t>
            </a:r>
            <a:endParaRPr sz="11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CD89AC40-44FB-4F07-86FF-3B079133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703320"/>
            <a:ext cx="2423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48FC467C-1146-4759-B506-96EBC5DA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70332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snyk container test myapp:1.0</a:t>
            </a:r>
            <a:endParaRPr sz="9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1474627-874F-4090-B0F8-B3E6B3FD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2976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AA9D2098-51B9-4FAE-A1DA-D0382712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3891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C18357DF-EB3F-4763-B5F0-E03F76F0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6177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Enterprise CI</a:t>
            </a:r>
            <a:endParaRPr sz="11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4C8576E6-BAF8-4FCD-8B46-0AD4723B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7D4E0245-DC72-412D-854B-6D6C249E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16A"/>
          </a:solidFill>
          <a:ln xmlns:a="http://schemas.openxmlformats.org/drawingml/2006/main" w="12700">
            <a:solidFill>
              <a:srgbClr val="00B16A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1C848D3E-F3FE-4B47-8FE8-C55362A3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Grype</a:t>
            </a:r>
            <a:endParaRPr sz="18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6E024E51-9195-4D54-8713-E1B0D595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194560"/>
            <a:ext cx="24231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 source dari Anchore. Mirip Trivy, output beda format.</a:t>
            </a:r>
            <a:endParaRPr sz="1100"/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B581490F-01B4-4F25-925E-DE31DBC7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703320"/>
            <a:ext cx="2423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570289AA-C67F-4070-B1C2-D8DC5FDF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70332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grype myapp:1.0</a:t>
            </a:r>
            <a:endParaRPr sz="9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F4897977-45F8-471F-9BFD-1116345C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2976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93A9F852-3496-4B4C-ADAC-23E2BE61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3891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9C5E368C-5CF0-4C4E-9DD1-0CC4364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6177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Alternatif Trivy</a:t>
            </a:r>
            <a:endParaRPr sz="11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CF6C46E1-5ECC-4E06-A3FF-48BA110D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308401-F54B-4F64-A9AB-32A7E202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D09E8F1E-DC8F-4337-8A64-C62F343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DFFF31A0-65EA-4FB3-A49E-3EE36CA1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00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53A2614F-88B1-45D3-A9F8-DD55BB14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00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FC0E4CF2-45DF-4D7D-939C-79F4D81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578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Trivy in action</a:t>
            </a:r>
            <a:endParaRPr sz="900"/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01B32ACB-0752-4AA4-A42E-B052211B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2356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trivy image --severity HIGH,CRITICAL myapp:1.0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Total: 23 (HIGH: 18, CRITICAL: 5)   &lt;- fix sebelum deploy ke prod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777649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290D52-0A7F-4CF2-8737-8F9E1B72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C300C3-82BC-4DDB-BD0E-98F20B74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9839D8-BEDD-4E0F-8E94-BE67CDBC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a0b8ba86b41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969791fd34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6B9D7DA-B0DE-48AE-8224-A0718BD4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D2F0FFF-D6C1-402F-AB9F-812DD211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Docker Core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F0DD4C3-95BD-4804-92B7-92599BA0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di samping laptop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59E9EE8-540D-4B9D-A9E1-D8991679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48AE409-4924-45A7-898A-B1AB8B77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7FD4F13-289D-44E8-9287-A9BBE49F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Instructions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73B5EAB-256B-4EE8-A4C1-E14B48D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FROM &lt;img&gt;:&lt;tag&gt;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WORKDIR /path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COPY src dst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RUN command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EXPOSE 3000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CMD ["a", "b"]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4ADF4F7-7812-4318-AE77-6F03C1D8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8378CF81-0FCE-48F7-A287-89B4BCEC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2CAE3C4-8490-4456-80AE-FE21D56B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FB38AC4-937F-4B95-8C1D-52C1E243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build -t name:tag .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build --no-cache .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build --build-arg K=V .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history &lt;img&gt;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image ls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image prune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4DA78015-DB3A-4DCC-8502-7E80F65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1649298-4364-4AFB-BEA6-68F93146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D5A053D-B237-4903-9FFB-CD430666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Multi-Stage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FBCA3B9-3F93-4DAF-9369-F506EBF0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FROM x AS builder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FROM y AS runner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COPY --from=builder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Stage 1 = full deps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Stage 2 = runtime only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Image size kecil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8E69940-7DDD-4D18-A1ED-47D753ED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555A7AB-88B7-4420-90C7-C94AC614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EF32CD4-8ADA-4C65-9088-1EBDFD76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Cache Order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72D7EFF1-81F9-4DCC-90C8-1E8A108B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FROM (jarang ubah)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WORKDIR + ARG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COPY package*.json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RUN npm ci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COPY . . (sering ubah)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CMD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00798F4-9536-4CA0-9BF0-BC9F859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64EE323B-62AB-4BFE-A5D9-8C91998C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B8351A-8B82-4780-B507-E1857CA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Optimization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EDE559FB-33EC-4A11-AAEE-DCDBC889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alpine / slim base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Multi-stage build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.dockerignore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Combine RUN steps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Clear apt cache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Pin all versions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895553B5-8117-44A2-AEF2-4A4D38BE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9F99AFC0-E091-47B0-8C22-1EFED8F2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451905E4-E33D-467E-9FD2-FBCF56A6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Tagging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40E49E60-DCD9-4316-8EE8-A9DDD89D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myapp:1.2.3 (semver)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myapp:1.2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myapp:1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myapp:git-abc123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Avoid :latest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ghcr.io/user/app:1.0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033A775B-375A-498C-ACFD-3B53F3CF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215B8D1C-18DB-4B1B-A6EE-0F23D376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E3BD6C5-90F1-41B7-930B-02304E8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Registry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BB778C37-8F61-44F3-B087-07F29F6D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login &lt;reg&gt;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tag old new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push &lt;img&gt;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pull &lt;img&gt;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Hub: docker.io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GitHub: ghcr.io</a:t>
            </a:r>
            <a:endParaRPr sz="11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EBB75082-4169-4A63-A1A3-B3409EA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0849AB61-6856-4343-8DB5-49346D93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7E8BB61A-E7C5-42EE-BE3C-E37A24EF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Security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8C3A6257-0152-4EC2-B6EC-A050D028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USER appuser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--chown=app:app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HEALTHCHECK CMD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trivy image &lt;img&gt;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No secrets in build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.dockerignore .env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2744525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02EA74-0EC9-4F5A-B4AB-B90B6453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F55FDE-DDFF-45BC-85D8-A035BA2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5A366A6-3E38-4A26-929F-5C317D2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71a3e7f494d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9e8aa94b843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342C14E-F9CD-4436-B868-D0125E0C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D298F34-5FAF-45C8-B09E-4A6FFC29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Pertemuan 6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B875C42-70BC-4513-9FE1-6808BE8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Docker Compose + Multi-container apps minggu depan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1DD26A8-E081-4ED0-A488-06CCADE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Takeaways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1BF3951-3CF7-4EB2-82A1-CBD47532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0B5663E-13E8-4DE6-AF37-3E4C795B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9B50F7B-EC81-4BF2-8AB0-2327BF63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Dockerfile = blueprint. 14 instruksi, 8 yang paling sering dipakai.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9DE29DE-B9C1-4DE6-B30C-AE3A5FFF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BFEBC9E-BDCB-4CEC-AEBA-FCB03D22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90A8F56A-AB4C-42E9-A2CF-EDCCB146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RUN = build time. CMD = default runtime. ENTRYPOINT = wajib runtime.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F2533055-477B-4C81-8025-BD576E9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354398D-F37D-4B97-8E9B-7B459E3B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157111A-3312-4C75-8E71-A79DD441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Layer caching: dependency dulu (jarang ubah), code belakangan.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3A9E8480-309D-429A-B75F-A0DCF80C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3C72C55-CBAF-400F-8F45-5A75419B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227EFA1-9433-43B0-9AF1-99B3CB28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.dockerignore = wajib. Hemat build context + cegah secret leak.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A2F0A35-D2D7-4A5A-AA7C-DA9ABE4F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AB63975-2153-4831-9A14-8846D751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AC461E9-C6A7-4895-8B65-B2B73CDD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Multi-stage build dapat mengecilkan image; ukur hasilnya.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659D5DE-E557-4B08-A907-036FB42E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57C8D50-E41B-4597-92D9-7028E7B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DCF1362-4E10-4D24-AD91-2EAFD28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Tag pakai semver / git SHA. Avoid :latest di production.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17FEFCC-3654-483E-B8E7-7A8E4F54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A911CCC2-30E2-4B79-B4D1-37108312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31AD512-E4A0-4D81-A0C9-0383FD83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Security: non-root USER, no secrets in image, scan dengan Trivy.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8E823FE-9A5E-44DE-8C00-D76C007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25c67707d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F6A2D6E0-20CF-4EB8-BF50-86A67400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5 - LATIHAN SESI INI</a:t>
            </a:r>
            <a:endParaRPr sz="11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DE1782BE-BBC4-49E7-A62D-D41538F6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image Cloud Notes API dan uji endpoint</a:t>
            </a:r>
            <a:endParaRPr sz="130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343AAB31-BCF7-4C86-AD41-AA54420E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Bangun Dockerfile multi-stage untuk FastAPI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Tambahkan .dockerignore agar build context kecil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Jalankan image, uji /health dan /docs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POST /notes dan validasi HTTP 422</a:t>
            </a:r>
            <a:endParaRPr sz="1050"/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887DD5FD-062B-4D23-8DCB-50CAC356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864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aca28d4d04f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794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EC28F988-30BE-44AA-B38E-8451E88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PERTEMUAN 6</a:t>
            </a:r>
            <a:endParaRPr sz="11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E8892875-BBEB-49FA-B81C-F6D9369F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Docker Compose</a:t>
            </a:r>
            <a:endParaRPr sz="14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E33C6BE2-C45B-4A67-A5A2-BAD37079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Multi-container apps: web + database + cache. Networking antar service. docker-compose.yml.</a:t>
            </a:r>
            <a:endParaRPr sz="11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8B401BEB-5355-40E1-BDF1-E8DE7DFD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6973f95c348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5780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F55357CF-12DE-4B1F-8840-B2373D4F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6898E8C2-5517-4D0F-A949-146E0948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 sebelum praktikum</a:t>
            </a:r>
            <a:endParaRPr sz="12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C756036B-4CE1-4727-A605-F91311EB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16886E8F-E083-41B4-9607-5EAB526B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LO2 (Apply)</a:t>
            </a:r>
            <a:r>
              <a:rPr sz="1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  +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LO1 (Analyze)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7225193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11D3B5C-49E9-B0FC-FE4B-9A8B4642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5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D6859F4-9311-92DA-71CA-FFAF6CD8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Dari source code ke image</a:t>
            </a:r>
            <a:endParaRPr sz="2800" b="1">
              <a:solidFill>
                <a:srgbClr val="00469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AB93ABE-19FF-1337-67A9-2B733EDE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Build yang dapat diulang untuk proyek kelompok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A493341-82AD-926F-96C7-A3575C2E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Tulis .dockerignore, salin dependency lebih dulu, lalu gunakan multi-stage build.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A417739-0A05-7112-CAE6-DCA3CF08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Jalankan aplikasi sebagai user non-root dan uji endpoint /health.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A860896-6AAC-332C-13CC-41CAFC20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Bandingkan ukuran image sebelum dan sesudah optimasi dengan docker images.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DB9DDF0-4ACE-5F4A-60A0-21E81A52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Push image ke registry hanya bila perlu; kode tetap di GitHub.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4C7BFF7-8F47-917A-1FB3-E04CA408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Kode dan perintah ada di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6afe85543f54fe5"/>
              </a:rPr>
              <a:t>SeedFlora/meet5CloudService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D1CD91F-86E1-B28D-9CAF-EF9F95D1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Materi praktik: 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675b3366bd040d6"/>
              </a:rPr>
              <a:t>SeedFlora/meet5CloudService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  |  Sumber: RPS COMP6991031</a:t>
            </a:r>
          </a:p>
        </p:txBody>
      </p:sp>
    </p:spTree>
    <p:extLst>
      <p:ext uri="{BB962C8B-B14F-4D97-AF65-F5344CB8AC3E}">
        <p14:creationId xmlns:p14="http://schemas.microsoft.com/office/powerpoint/2010/main" val="36765592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64104-9E10-4D5D-A6C6-A6B56552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BINUS UNIVERSITY  |  Cloud Services  |  Pertemuan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85DBD-45BF-4BE7-8C94-B2899074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64C8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64C8C"/>
                </a:solidFill>
                <a:latin typeface="Arial"/>
                <a:ea typeface="Arial"/>
                <a:cs typeface="Arial"/>
              </a:rPr>
              <a:t>Dari Dockerfile ke Lab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A7AA3-4D8C-4A00-8A4E-AB72567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81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Kasus kerja: tim menerima API catatan baru. Image harus bisa dibangun ulang, dijalankan tanpa root, dan diuji sebelum rilis.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5D319-8C9E-45B1-96FD-CA520CD8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36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3678"/>
                </a:solidFill>
                <a:latin typeface="Arial"/>
                <a:ea typeface="Arial"/>
                <a:cs typeface="Arial"/>
              </a:rPr>
              <a:t>Sebelum praktikum (10–15 menit)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B5300-5027-4A50-8044-84B82EB0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5810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Prediksi: apa yang terjadi pada catatan ketika container dihapus dan dibuat lagi?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A24C1-7964-4EA4-A179-A4FF0F7D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2f3330a897f142be"/>
              </a:rPr>
              <a:t>Bacaan: Writing a Dockerfile (Docker Docs)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FE2A3-9C21-4E9C-BBD2-84F84C2A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2c7c92ac1f344c0c"/>
              </a:rPr>
              <a:t>Video: Docker Intro and Overview, mulai 29:57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1F2CC-7BDB-4672-B944-CA031125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23b1c7a14fbc4dcb"/>
              </a:rPr>
              <a:t>Buka repo Lab 05: SeedFlora/meet5CloudService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66352-D08E-4CC8-91D4-C9DF5159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Proyek kelompok 3 orang: presentasi UTS minggu 7 dan UAS minggu 14.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3cd78051b4053"/>
          <a:stretch xmlns:a="http://schemas.openxmlformats.org/drawingml/2006/main"/>
        </p:blipFill>
        <p:spPr>
          <a:xfrm xmlns:a="http://schemas.openxmlformats.org/drawingml/2006/main">
            <a:off x="6534150" y="1970302"/>
            <a:ext cx="5200650" cy="29269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43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2026-10-07T19:03:43.8150000Z</dcterms:created>
  <dcterms:modified xsi:type="dcterms:W3CDTF">2026-10-07T19:03:43.8150000Z</dcterms:modified>
</coreProperties>
</file>