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3d4a7e7cab34d26" /><Relationship Type="http://schemas.openxmlformats.org/officeDocument/2006/relationships/extended-properties" Target="/docProps/app.xml" Id="Rf10babb44b3b4886" /><Relationship Type="http://schemas.openxmlformats.org/officeDocument/2006/relationships/officeDocument" Target="/ppt/presentation.xml" Id="Raecb3884c5744726" /></Relationships>
</file>

<file path=ppt/presentation.xml><?xml version="1.0" encoding="utf-8"?>
<p:presentation xmlns:p="http://schemas.openxmlformats.org/presentationml/2006/main">
  <p:sldMasterIdLst>
    <p:sldMasterId xmlns:r="http://schemas.openxmlformats.org/officeDocument/2006/relationships" id="2147483648" r:id="R545e166bd8484550"/>
  </p:sldMasterIdLst>
  <p:notesMasterIdLst>
    <p:notesMasterId xmlns:r="http://schemas.openxmlformats.org/officeDocument/2006/relationships" r:id="Rcbc429f0ccff4e18"/>
  </p:notesMasterIdLst>
  <p:sldIdLst>
    <p:sldId xmlns:r="http://schemas.openxmlformats.org/officeDocument/2006/relationships" id="256" r:id="R1fb1733b09894ae5"/>
    <p:sldId xmlns:r="http://schemas.openxmlformats.org/officeDocument/2006/relationships" id="257" r:id="R7b4c6fc4277b45dd"/>
    <p:sldId xmlns:r="http://schemas.openxmlformats.org/officeDocument/2006/relationships" id="258" r:id="R18de76c4f75f4512"/>
    <p:sldId xmlns:r="http://schemas.openxmlformats.org/officeDocument/2006/relationships" id="259" r:id="Rd735ab8fad664feb"/>
    <p:sldId xmlns:r="http://schemas.openxmlformats.org/officeDocument/2006/relationships" id="260" r:id="R13269b6656ce46d6"/>
    <p:sldId xmlns:r="http://schemas.openxmlformats.org/officeDocument/2006/relationships" id="261" r:id="Rccbcf67ec27246c9"/>
    <p:sldId xmlns:r="http://schemas.openxmlformats.org/officeDocument/2006/relationships" id="262" r:id="R15e436205eb64481"/>
    <p:sldId xmlns:r="http://schemas.openxmlformats.org/officeDocument/2006/relationships" id="263" r:id="R2e6985f4467c45d3"/>
    <p:sldId xmlns:r="http://schemas.openxmlformats.org/officeDocument/2006/relationships" id="264" r:id="Rb10e43b95a8c434d"/>
    <p:sldId xmlns:r="http://schemas.openxmlformats.org/officeDocument/2006/relationships" id="265" r:id="R5a9a5d9bf6324c7d"/>
    <p:sldId xmlns:r="http://schemas.openxmlformats.org/officeDocument/2006/relationships" id="266" r:id="R0a9277a118634e52"/>
    <p:sldId xmlns:r="http://schemas.openxmlformats.org/officeDocument/2006/relationships" id="267" r:id="R8f8a6c6663a24a2c"/>
    <p:sldId xmlns:r="http://schemas.openxmlformats.org/officeDocument/2006/relationships" id="268" r:id="Rfeabc52a0ea54ca6"/>
    <p:sldId xmlns:r="http://schemas.openxmlformats.org/officeDocument/2006/relationships" id="269" r:id="Rd39e3882f9f84938"/>
    <p:sldId xmlns:r="http://schemas.openxmlformats.org/officeDocument/2006/relationships" id="270" r:id="R2fcbd72246874b5c"/>
    <p:sldId xmlns:r="http://schemas.openxmlformats.org/officeDocument/2006/relationships" id="271" r:id="Rb993289566cf4c32"/>
    <p:sldId xmlns:r="http://schemas.openxmlformats.org/officeDocument/2006/relationships" id="272" r:id="R46c2528b1d7140e4"/>
    <p:sldId xmlns:r="http://schemas.openxmlformats.org/officeDocument/2006/relationships" id="273" r:id="Rd3182cacbad74feb"/>
    <p:sldId xmlns:r="http://schemas.openxmlformats.org/officeDocument/2006/relationships" id="274" r:id="Rd77620fc22db4c6e"/>
    <p:sldId xmlns:r="http://schemas.openxmlformats.org/officeDocument/2006/relationships" id="275" r:id="R9dde210c35f84c5a"/>
    <p:sldId xmlns:r="http://schemas.openxmlformats.org/officeDocument/2006/relationships" id="276" r:id="R875770f1bd62433d"/>
    <p:sldId xmlns:r="http://schemas.openxmlformats.org/officeDocument/2006/relationships" id="277" r:id="Rb308bbad31724fe3"/>
    <p:sldId xmlns:r="http://schemas.openxmlformats.org/officeDocument/2006/relationships" id="278" r:id="Rc47f5c790afd4362"/>
    <p:sldId xmlns:r="http://schemas.openxmlformats.org/officeDocument/2006/relationships" id="279" r:id="Rea8edf93765c45a1"/>
    <p:sldId xmlns:r="http://schemas.openxmlformats.org/officeDocument/2006/relationships" id="280" r:id="Rbf98727ef9314961"/>
    <p:sldId xmlns:r="http://schemas.openxmlformats.org/officeDocument/2006/relationships" id="281" r:id="R26b12eae922c40c0"/>
    <p:sldId xmlns:r="http://schemas.openxmlformats.org/officeDocument/2006/relationships" id="282" r:id="R81d858b3e7c746c4"/>
    <p:sldId xmlns:r="http://schemas.openxmlformats.org/officeDocument/2006/relationships" id="283" r:id="Rdc99364c7e5e4166"/>
    <p:sldId xmlns:r="http://schemas.openxmlformats.org/officeDocument/2006/relationships" id="284" r:id="Rad298ddf45b04f31"/>
    <p:sldId xmlns:r="http://schemas.openxmlformats.org/officeDocument/2006/relationships" id="285" r:id="R79df35b579a14753"/>
    <p:sldId xmlns:r="http://schemas.openxmlformats.org/officeDocument/2006/relationships" id="286" r:id="Raacc70498a914489"/>
    <p:sldId xmlns:r="http://schemas.openxmlformats.org/officeDocument/2006/relationships" id="287" r:id="R279a4940366e4e59"/>
    <p:sldId xmlns:r="http://schemas.openxmlformats.org/officeDocument/2006/relationships" id="288" r:id="Racf9f35d94ac4eb7"/>
    <p:sldId xmlns:r="http://schemas.openxmlformats.org/officeDocument/2006/relationships" id="289" r:id="R4a080664b88c46ca"/>
    <p:sldId xmlns:r="http://schemas.openxmlformats.org/officeDocument/2006/relationships" id="290" r:id="R6124d758f3b84188"/>
    <p:sldId xmlns:r="http://schemas.openxmlformats.org/officeDocument/2006/relationships" id="291" r:id="R29caae3b5202467b"/>
    <p:sldId xmlns:r="http://schemas.openxmlformats.org/officeDocument/2006/relationships" id="292" r:id="R8f44b81068634a82"/>
    <p:sldId xmlns:r="http://schemas.openxmlformats.org/officeDocument/2006/relationships" id="293" r:id="Rb4b07b3d7b374e74"/>
    <p:sldId xmlns:r="http://schemas.openxmlformats.org/officeDocument/2006/relationships" id="294" r:id="R8f60d985702b4c50"/>
    <p:sldId xmlns:r="http://schemas.openxmlformats.org/officeDocument/2006/relationships" id="295" r:id="R93f500b49a0f4443"/>
    <p:sldId xmlns:r="http://schemas.openxmlformats.org/officeDocument/2006/relationships" id="296" r:id="R2116fe8776054721"/>
    <p:sldId xmlns:r="http://schemas.openxmlformats.org/officeDocument/2006/relationships" id="297" r:id="Rd5912bfe20494474"/>
    <p:sldId xmlns:r="http://schemas.openxmlformats.org/officeDocument/2006/relationships" id="298" r:id="R6271a7b87aed44e5"/>
    <p:sldId xmlns:r="http://schemas.openxmlformats.org/officeDocument/2006/relationships" id="299" r:id="R33fb2e8b96984ca6"/>
    <p:sldId xmlns:r="http://schemas.openxmlformats.org/officeDocument/2006/relationships" id="300" r:id="R3bc2935342ce45f7"/>
    <p:sldId xmlns:r="http://schemas.openxmlformats.org/officeDocument/2006/relationships" id="301" r:id="Rff0e02d28fd44101"/>
    <p:sldId xmlns:r="http://schemas.openxmlformats.org/officeDocument/2006/relationships" id="302" r:id="R94ce70663955428e"/>
    <p:sldId xmlns:r="http://schemas.openxmlformats.org/officeDocument/2006/relationships" id="303" r:id="Rc15341f83fd54fab"/>
    <p:sldId xmlns:r="http://schemas.openxmlformats.org/officeDocument/2006/relationships" id="304" r:id="R405614ae2a79425c"/>
    <p:sldId xmlns:r="http://schemas.openxmlformats.org/officeDocument/2006/relationships" id="305" r:id="R360f9c695c614120"/>
    <p:sldId xmlns:r="http://schemas.openxmlformats.org/officeDocument/2006/relationships" id="306" r:id="R9ff80285be974cea"/>
    <p:sldId xmlns:r="http://schemas.openxmlformats.org/officeDocument/2006/relationships" id="307" r:id="R119d2e576ade4772"/>
    <p:sldId xmlns:r="http://schemas.openxmlformats.org/officeDocument/2006/relationships" id="308" r:id="R0e44ecf6bb2849bd"/>
    <p:sldId xmlns:r="http://schemas.openxmlformats.org/officeDocument/2006/relationships" id="309" r:id="R1f4c836703304d27"/>
    <p:sldId xmlns:r="http://schemas.openxmlformats.org/officeDocument/2006/relationships" id="310" r:id="R5097c7f5d7b3450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cdec0f87612d4cd9" /><Relationship Type="http://schemas.openxmlformats.org/officeDocument/2006/relationships/slideMaster" Target="/ppt/slideMasters/slideMaster1.xml" Id="R545e166bd8484550" /><Relationship Type="http://schemas.openxmlformats.org/officeDocument/2006/relationships/notesMaster" Target="/ppt/notesMasters/notesMaster1.xml" Id="Rcbc429f0ccff4e18" /><Relationship Type="http://schemas.openxmlformats.org/officeDocument/2006/relationships/presProps" Target="/ppt/presProps.xml" Id="Re62f2f4ab1854813" /><Relationship Type="http://schemas.openxmlformats.org/officeDocument/2006/relationships/viewProps" Target="/ppt/viewProps.xml" Id="R888f6bbd3fc249fe" /><Relationship Type="http://schemas.openxmlformats.org/officeDocument/2006/relationships/tableStyles" Target="/ppt/tableStyles.xml" Id="Re11e133d89a24df5" /><Relationship Type="http://schemas.openxmlformats.org/officeDocument/2006/relationships/slide" Target="/ppt/slides/slide1.xml" Id="R1fb1733b09894ae5" /><Relationship Type="http://schemas.openxmlformats.org/officeDocument/2006/relationships/slide" Target="/ppt/slides/slide2.xml" Id="R7b4c6fc4277b45dd" /><Relationship Type="http://schemas.openxmlformats.org/officeDocument/2006/relationships/slide" Target="/ppt/slides/slide3.xml" Id="R18de76c4f75f4512" /><Relationship Type="http://schemas.openxmlformats.org/officeDocument/2006/relationships/slide" Target="/ppt/slides/slide4.xml" Id="Rd735ab8fad664feb" /><Relationship Type="http://schemas.openxmlformats.org/officeDocument/2006/relationships/slide" Target="/ppt/slides/slide5.xml" Id="R13269b6656ce46d6" /><Relationship Type="http://schemas.openxmlformats.org/officeDocument/2006/relationships/slide" Target="/ppt/slides/slide6.xml" Id="Rccbcf67ec27246c9" /><Relationship Type="http://schemas.openxmlformats.org/officeDocument/2006/relationships/slide" Target="/ppt/slides/slide7.xml" Id="R15e436205eb64481" /><Relationship Type="http://schemas.openxmlformats.org/officeDocument/2006/relationships/slide" Target="/ppt/slides/slide8.xml" Id="R2e6985f4467c45d3" /><Relationship Type="http://schemas.openxmlformats.org/officeDocument/2006/relationships/slide" Target="/ppt/slides/slide9.xml" Id="Rb10e43b95a8c434d" /><Relationship Type="http://schemas.openxmlformats.org/officeDocument/2006/relationships/slide" Target="/ppt/slides/slide10.xml" Id="R5a9a5d9bf6324c7d" /><Relationship Type="http://schemas.openxmlformats.org/officeDocument/2006/relationships/slide" Target="/ppt/slides/slide11.xml" Id="R0a9277a118634e52" /><Relationship Type="http://schemas.openxmlformats.org/officeDocument/2006/relationships/slide" Target="/ppt/slides/slide12.xml" Id="R8f8a6c6663a24a2c" /><Relationship Type="http://schemas.openxmlformats.org/officeDocument/2006/relationships/slide" Target="/ppt/slides/slide13.xml" Id="Rfeabc52a0ea54ca6" /><Relationship Type="http://schemas.openxmlformats.org/officeDocument/2006/relationships/slide" Target="/ppt/slides/slide14.xml" Id="Rd39e3882f9f84938" /><Relationship Type="http://schemas.openxmlformats.org/officeDocument/2006/relationships/slide" Target="/ppt/slides/slide15.xml" Id="R2fcbd72246874b5c" /><Relationship Type="http://schemas.openxmlformats.org/officeDocument/2006/relationships/slide" Target="/ppt/slides/slide16.xml" Id="Rb993289566cf4c32" /><Relationship Type="http://schemas.openxmlformats.org/officeDocument/2006/relationships/slide" Target="/ppt/slides/slide17.xml" Id="R46c2528b1d7140e4" /><Relationship Type="http://schemas.openxmlformats.org/officeDocument/2006/relationships/slide" Target="/ppt/slides/slide18.xml" Id="Rd3182cacbad74feb" /><Relationship Type="http://schemas.openxmlformats.org/officeDocument/2006/relationships/slide" Target="/ppt/slides/slide19.xml" Id="Rd77620fc22db4c6e" /><Relationship Type="http://schemas.openxmlformats.org/officeDocument/2006/relationships/slide" Target="/ppt/slides/slide20.xml" Id="R9dde210c35f84c5a" /><Relationship Type="http://schemas.openxmlformats.org/officeDocument/2006/relationships/slide" Target="/ppt/slides/slide21.xml" Id="R875770f1bd62433d" /><Relationship Type="http://schemas.openxmlformats.org/officeDocument/2006/relationships/slide" Target="/ppt/slides/slide22.xml" Id="Rb308bbad31724fe3" /><Relationship Type="http://schemas.openxmlformats.org/officeDocument/2006/relationships/slide" Target="/ppt/slides/slide23.xml" Id="Rc47f5c790afd4362" /><Relationship Type="http://schemas.openxmlformats.org/officeDocument/2006/relationships/slide" Target="/ppt/slides/slide24.xml" Id="Rea8edf93765c45a1" /><Relationship Type="http://schemas.openxmlformats.org/officeDocument/2006/relationships/slide" Target="/ppt/slides/slide25.xml" Id="Rbf98727ef9314961" /><Relationship Type="http://schemas.openxmlformats.org/officeDocument/2006/relationships/slide" Target="/ppt/slides/slide26.xml" Id="R26b12eae922c40c0" /><Relationship Type="http://schemas.openxmlformats.org/officeDocument/2006/relationships/slide" Target="/ppt/slides/slide27.xml" Id="R81d858b3e7c746c4" /><Relationship Type="http://schemas.openxmlformats.org/officeDocument/2006/relationships/slide" Target="/ppt/slides/slide28.xml" Id="Rdc99364c7e5e4166" /><Relationship Type="http://schemas.openxmlformats.org/officeDocument/2006/relationships/slide" Target="/ppt/slides/slide29.xml" Id="Rad298ddf45b04f31" /><Relationship Type="http://schemas.openxmlformats.org/officeDocument/2006/relationships/slide" Target="/ppt/slides/slide30.xml" Id="R79df35b579a14753" /><Relationship Type="http://schemas.openxmlformats.org/officeDocument/2006/relationships/slide" Target="/ppt/slides/slide31.xml" Id="Raacc70498a914489" /><Relationship Type="http://schemas.openxmlformats.org/officeDocument/2006/relationships/slide" Target="/ppt/slides/slide32.xml" Id="R279a4940366e4e59" /><Relationship Type="http://schemas.openxmlformats.org/officeDocument/2006/relationships/slide" Target="/ppt/slides/slide33.xml" Id="Racf9f35d94ac4eb7" /><Relationship Type="http://schemas.openxmlformats.org/officeDocument/2006/relationships/slide" Target="/ppt/slides/slide34.xml" Id="R4a080664b88c46ca" /><Relationship Type="http://schemas.openxmlformats.org/officeDocument/2006/relationships/slide" Target="/ppt/slides/slide35.xml" Id="R6124d758f3b84188" /><Relationship Type="http://schemas.openxmlformats.org/officeDocument/2006/relationships/slide" Target="/ppt/slides/slide36.xml" Id="R29caae3b5202467b" /><Relationship Type="http://schemas.openxmlformats.org/officeDocument/2006/relationships/slide" Target="/ppt/slides/slide37.xml" Id="R8f44b81068634a82" /><Relationship Type="http://schemas.openxmlformats.org/officeDocument/2006/relationships/slide" Target="/ppt/slides/slide38.xml" Id="Rb4b07b3d7b374e74" /><Relationship Type="http://schemas.openxmlformats.org/officeDocument/2006/relationships/slide" Target="/ppt/slides/slide39.xml" Id="R8f60d985702b4c50" /><Relationship Type="http://schemas.openxmlformats.org/officeDocument/2006/relationships/slide" Target="/ppt/slides/slide40.xml" Id="R93f500b49a0f4443" /><Relationship Type="http://schemas.openxmlformats.org/officeDocument/2006/relationships/slide" Target="/ppt/slides/slide41.xml" Id="R2116fe8776054721" /><Relationship Type="http://schemas.openxmlformats.org/officeDocument/2006/relationships/slide" Target="/ppt/slides/slide42.xml" Id="Rd5912bfe20494474" /><Relationship Type="http://schemas.openxmlformats.org/officeDocument/2006/relationships/slide" Target="/ppt/slides/slide43.xml" Id="R6271a7b87aed44e5" /><Relationship Type="http://schemas.openxmlformats.org/officeDocument/2006/relationships/slide" Target="/ppt/slides/slide44.xml" Id="R33fb2e8b96984ca6" /><Relationship Type="http://schemas.openxmlformats.org/officeDocument/2006/relationships/slide" Target="/ppt/slides/slide45.xml" Id="R3bc2935342ce45f7" /><Relationship Type="http://schemas.openxmlformats.org/officeDocument/2006/relationships/slide" Target="/ppt/slides/slide46.xml" Id="Rff0e02d28fd44101" /><Relationship Type="http://schemas.openxmlformats.org/officeDocument/2006/relationships/slide" Target="/ppt/slides/slide47.xml" Id="R94ce70663955428e" /><Relationship Type="http://schemas.openxmlformats.org/officeDocument/2006/relationships/slide" Target="/ppt/slides/slide48.xml" Id="Rc15341f83fd54fab" /><Relationship Type="http://schemas.openxmlformats.org/officeDocument/2006/relationships/slide" Target="/ppt/slides/slide49.xml" Id="R405614ae2a79425c" /><Relationship Type="http://schemas.openxmlformats.org/officeDocument/2006/relationships/slide" Target="/ppt/slides/slide50.xml" Id="R360f9c695c614120" /><Relationship Type="http://schemas.openxmlformats.org/officeDocument/2006/relationships/slide" Target="/ppt/slides/slide51.xml" Id="R9ff80285be974cea" /><Relationship Type="http://schemas.openxmlformats.org/officeDocument/2006/relationships/slide" Target="/ppt/slides/slide52.xml" Id="R119d2e576ade4772" /><Relationship Type="http://schemas.openxmlformats.org/officeDocument/2006/relationships/slide" Target="/ppt/slides/slide53.xml" Id="R0e44ecf6bb2849bd" /><Relationship Type="http://schemas.openxmlformats.org/officeDocument/2006/relationships/slide" Target="/ppt/slides/slide54.xml" Id="R1f4c836703304d27" /><Relationship Type="http://schemas.openxmlformats.org/officeDocument/2006/relationships/slide" Target="/ppt/slides/slide55.xml" Id="R5097c7f5d7b3450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2079eb038e74bb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3c55bca38d0436a" /><Relationship Type="http://schemas.openxmlformats.org/officeDocument/2006/relationships/notesMaster" Target="/ppt/notesMasters/notesMaster1.xml" Id="Rbc58baf583a84c28" /></Relationships>
</file>

<file path=ppt/notesSlides/_rels/notesSlide2.xml.rels>&#65279;<?xml version="1.0" encoding="utf-8"?><Relationships xmlns="http://schemas.openxmlformats.org/package/2006/relationships"><Relationship Type="http://schemas.openxmlformats.org/officeDocument/2006/relationships/slide" Target="/ppt/slides/slide2.xml" Id="R09e4e005a8a2413b" /><Relationship Type="http://schemas.openxmlformats.org/officeDocument/2006/relationships/notesMaster" Target="/ppt/notesMasters/notesMaster1.xml" Id="Rb2c7a60adb244e14" /></Relationships>
</file>

<file path=ppt/notesSlides/_rels/notesSlide3.xml.rels>&#65279;<?xml version="1.0" encoding="utf-8"?><Relationships xmlns="http://schemas.openxmlformats.org/package/2006/relationships"><Relationship Type="http://schemas.openxmlformats.org/officeDocument/2006/relationships/slide" Target="/ppt/slides/slide3.xml" Id="R1de6e2597a324778" /><Relationship Type="http://schemas.openxmlformats.org/officeDocument/2006/relationships/notesMaster" Target="/ppt/notesMasters/notesMaster1.xml" Id="R049ab3a993fc47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ce811949d7034b16" /><Relationship Type="http://schemas.openxmlformats.org/officeDocument/2006/relationships/notesMaster" Target="/ppt/notesMasters/notesMaster1.xml" Id="R61067a1d237344d2" /></Relationships>
</file>

<file path=ppt/notesSlides/_rels/notesSlide5.xml.rels>&#65279;<?xml version="1.0" encoding="utf-8"?><Relationships xmlns="http://schemas.openxmlformats.org/package/2006/relationships"><Relationship Type="http://schemas.openxmlformats.org/officeDocument/2006/relationships/slide" Target="/ppt/slides/slide5.xml" Id="R0ba7556dba1947f8" /><Relationship Type="http://schemas.openxmlformats.org/officeDocument/2006/relationships/notesMaster" Target="/ppt/notesMasters/notesMaster1.xml" Id="R33a746358e934116" /></Relationships>
</file>

<file path=ppt/notesSlides/_rels/notesSlide6.xml.rels>&#65279;<?xml version="1.0" encoding="utf-8"?><Relationships xmlns="http://schemas.openxmlformats.org/package/2006/relationships"><Relationship Type="http://schemas.openxmlformats.org/officeDocument/2006/relationships/slide" Target="/ppt/slides/slide6.xml" Id="R24a624a4ad8c4365" /><Relationship Type="http://schemas.openxmlformats.org/officeDocument/2006/relationships/notesMaster" Target="/ppt/notesMasters/notesMaster1.xml" Id="R8fc290e7dbc140e4" /></Relationships>
</file>

<file path=ppt/notesSlides/_rels/notesSlide7.xml.rels>&#65279;<?xml version="1.0" encoding="utf-8"?><Relationships xmlns="http://schemas.openxmlformats.org/package/2006/relationships"><Relationship Type="http://schemas.openxmlformats.org/officeDocument/2006/relationships/slide" Target="/ppt/slides/slide7.xml" Id="R17e2b7f8a8e84622" /><Relationship Type="http://schemas.openxmlformats.org/officeDocument/2006/relationships/notesMaster" Target="/ppt/notesMasters/notesMaster1.xml" Id="R719de6e0747b4eac" /></Relationships>
</file>

<file path=ppt/notesSlides/_rels/notesSlide8.xml.rels>&#65279;<?xml version="1.0" encoding="utf-8"?><Relationships xmlns="http://schemas.openxmlformats.org/package/2006/relationships"><Relationship Type="http://schemas.openxmlformats.org/officeDocument/2006/relationships/slide" Target="/ppt/slides/slide8.xml" Id="Ra85ff35306074d00" /><Relationship Type="http://schemas.openxmlformats.org/officeDocument/2006/relationships/notesMaster" Target="/ppt/notesMasters/notesMaster1.xml" Id="R2a56ec90e52a4bf7" /></Relationships>
</file>

<file path=ppt/notesSlides/_rels/notesSlide9.xml.rels>&#65279;<?xml version="1.0" encoding="utf-8"?><Relationships xmlns="http://schemas.openxmlformats.org/package/2006/relationships"><Relationship Type="http://schemas.openxmlformats.org/officeDocument/2006/relationships/slide" Target="/ppt/slides/slide9.xml" Id="Rcb352cda176040a5" /><Relationship Type="http://schemas.openxmlformats.org/officeDocument/2006/relationships/notesMaster" Target="/ppt/notesMasters/notesMaster1.xml" Id="Re73a20987291495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6b021c01b2645a6" /><Relationship Type="http://schemas.openxmlformats.org/officeDocument/2006/relationships/notesMaster" Target="/ppt/notesMasters/notesMaster1.xml" Id="R765f2a348a724a5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4933c4426a748dd" /><Relationship Type="http://schemas.openxmlformats.org/officeDocument/2006/relationships/notesMaster" Target="/ppt/notesMasters/notesMaster1.xml" Id="R5cf6bdd7c859474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8ed421c27af461b" /><Relationship Type="http://schemas.openxmlformats.org/officeDocument/2006/relationships/notesMaster" Target="/ppt/notesMasters/notesMaster1.xml" Id="R7a05261f98bf458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648ede869594c37" /><Relationship Type="http://schemas.openxmlformats.org/officeDocument/2006/relationships/notesMaster" Target="/ppt/notesMasters/notesMaster1.xml" Id="R1dfd9064eed4425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1a454802ba1426d" /><Relationship Type="http://schemas.openxmlformats.org/officeDocument/2006/relationships/notesMaster" Target="/ppt/notesMasters/notesMaster1.xml" Id="R7a1122d53d3f46b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65ed994dc354b55" /><Relationship Type="http://schemas.openxmlformats.org/officeDocument/2006/relationships/notesMaster" Target="/ppt/notesMasters/notesMaster1.xml" Id="R1ee8323ac5b74b1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2f5b92276664125" /><Relationship Type="http://schemas.openxmlformats.org/officeDocument/2006/relationships/notesMaster" Target="/ppt/notesMasters/notesMaster1.xml" Id="R67e8460335f2427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8288f1de95d40e9" /><Relationship Type="http://schemas.openxmlformats.org/officeDocument/2006/relationships/notesMaster" Target="/ppt/notesMasters/notesMaster1.xml" Id="R09e234e231334f5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02f22cdf774417b" /><Relationship Type="http://schemas.openxmlformats.org/officeDocument/2006/relationships/notesMaster" Target="/ppt/notesMasters/notesMaster1.xml" Id="R04ee735ec8c94b2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c8da00eeb194dac" /><Relationship Type="http://schemas.openxmlformats.org/officeDocument/2006/relationships/notesMaster" Target="/ppt/notesMasters/notesMaster1.xml" Id="R5a36dbfed7af49e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580a1bae41d42d4" /><Relationship Type="http://schemas.openxmlformats.org/officeDocument/2006/relationships/notesMaster" Target="/ppt/notesMasters/notesMaster1.xml" Id="R7134338ea2d44eb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a63000c967249a6" /><Relationship Type="http://schemas.openxmlformats.org/officeDocument/2006/relationships/notesMaster" Target="/ppt/notesMasters/notesMaster1.xml" Id="R5586448545cc4ad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c8a394649c94a30" /><Relationship Type="http://schemas.openxmlformats.org/officeDocument/2006/relationships/notesMaster" Target="/ppt/notesMasters/notesMaster1.xml" Id="R01e5f80597d8480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e97c62a254742de" /><Relationship Type="http://schemas.openxmlformats.org/officeDocument/2006/relationships/notesMaster" Target="/ppt/notesMasters/notesMaster1.xml" Id="Rd288a4b2eec44f4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3fc4028cab0452b" /><Relationship Type="http://schemas.openxmlformats.org/officeDocument/2006/relationships/notesMaster" Target="/ppt/notesMasters/notesMaster1.xml" Id="R8117cb0b837e469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3ddea378dec4e43" /><Relationship Type="http://schemas.openxmlformats.org/officeDocument/2006/relationships/notesMaster" Target="/ppt/notesMasters/notesMaster1.xml" Id="Rdfc04bcddec944a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50a3a522ba34d19" /><Relationship Type="http://schemas.openxmlformats.org/officeDocument/2006/relationships/notesMaster" Target="/ppt/notesMasters/notesMaster1.xml" Id="R72c407c5d2f94db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20af1249a2f4844" /><Relationship Type="http://schemas.openxmlformats.org/officeDocument/2006/relationships/notesMaster" Target="/ppt/notesMasters/notesMaster1.xml" Id="R07863b48e190464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6bc7727349e4de8" /><Relationship Type="http://schemas.openxmlformats.org/officeDocument/2006/relationships/notesMaster" Target="/ppt/notesMasters/notesMaster1.xml" Id="R55b96f73c1114b0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d7106f3c69b46d6" /><Relationship Type="http://schemas.openxmlformats.org/officeDocument/2006/relationships/notesMaster" Target="/ppt/notesMasters/notesMaster1.xml" Id="Rf99fb5b511c9483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de1ba7806d64f20" /><Relationship Type="http://schemas.openxmlformats.org/officeDocument/2006/relationships/notesMaster" Target="/ppt/notesMasters/notesMaster1.xml" Id="Rf6f885a538094ed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4665cab8cb04b93" /><Relationship Type="http://schemas.openxmlformats.org/officeDocument/2006/relationships/notesMaster" Target="/ppt/notesMasters/notesMaster1.xml" Id="R776ee5b95da047d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ade2214d917417d" /><Relationship Type="http://schemas.openxmlformats.org/officeDocument/2006/relationships/notesMaster" Target="/ppt/notesMasters/notesMaster1.xml" Id="Rded49234d103438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76a9896458948fe" /><Relationship Type="http://schemas.openxmlformats.org/officeDocument/2006/relationships/notesMaster" Target="/ppt/notesMasters/notesMaster1.xml" Id="R4a8294a324064b8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a88c22b285c47da" /><Relationship Type="http://schemas.openxmlformats.org/officeDocument/2006/relationships/notesMaster" Target="/ppt/notesMasters/notesMaster1.xml" Id="Rc3f935f302844bb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8ff5c16c1954d7c" /><Relationship Type="http://schemas.openxmlformats.org/officeDocument/2006/relationships/notesMaster" Target="/ppt/notesMasters/notesMaster1.xml" Id="R8d4c760556e24fc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2eddc946bed4d63" /><Relationship Type="http://schemas.openxmlformats.org/officeDocument/2006/relationships/notesMaster" Target="/ppt/notesMasters/notesMaster1.xml" Id="Rdca78cfbf1874b5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1ba97876eed4960" /><Relationship Type="http://schemas.openxmlformats.org/officeDocument/2006/relationships/notesMaster" Target="/ppt/notesMasters/notesMaster1.xml" Id="R6e2b4112d48e479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d438d5f5bc674c10" /><Relationship Type="http://schemas.openxmlformats.org/officeDocument/2006/relationships/notesMaster" Target="/ppt/notesMasters/notesMaster1.xml" Id="R0158f2f40a61494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4d944ef290f4661" /><Relationship Type="http://schemas.openxmlformats.org/officeDocument/2006/relationships/notesMaster" Target="/ppt/notesMasters/notesMaster1.xml" Id="R061ac2119fc5469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c6fad7d8d494c31" /><Relationship Type="http://schemas.openxmlformats.org/officeDocument/2006/relationships/notesMaster" Target="/ppt/notesMasters/notesMaster1.xml" Id="Re36f7591f3814f2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faa9ded696564249" /><Relationship Type="http://schemas.openxmlformats.org/officeDocument/2006/relationships/notesMaster" Target="/ppt/notesMasters/notesMaster1.xml" Id="Rb86b6ece50a8437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e292f42cabc841d5" /><Relationship Type="http://schemas.openxmlformats.org/officeDocument/2006/relationships/notesMaster" Target="/ppt/notesMasters/notesMaster1.xml" Id="R402b30aa3f01475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fe1baeaf4d94687" /><Relationship Type="http://schemas.openxmlformats.org/officeDocument/2006/relationships/notesMaster" Target="/ppt/notesMasters/notesMaster1.xml" Id="R077ed6647b784fe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2b797caccf34519" /><Relationship Type="http://schemas.openxmlformats.org/officeDocument/2006/relationships/notesMaster" Target="/ppt/notesMasters/notesMaster1.xml" Id="Rdf2ba889958f4f90"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6ca660f84c442ae" /><Relationship Type="http://schemas.openxmlformats.org/officeDocument/2006/relationships/notesMaster" Target="/ppt/notesMasters/notesMaster1.xml" Id="R059be7a05b91426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96467e2d9a84c2a" /><Relationship Type="http://schemas.openxmlformats.org/officeDocument/2006/relationships/notesMaster" Target="/ppt/notesMasters/notesMaster1.xml" Id="R45e187b00f2647e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8c251884b0f844e0" /><Relationship Type="http://schemas.openxmlformats.org/officeDocument/2006/relationships/notesMaster" Target="/ppt/notesMasters/notesMaster1.xml" Id="Ra64084aa1b93438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9b9cc7804a34445" /><Relationship Type="http://schemas.openxmlformats.org/officeDocument/2006/relationships/notesMaster" Target="/ppt/notesMasters/notesMaster1.xml" Id="Rd7c5fa0048104459"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d1c86d69d4fe439a" /><Relationship Type="http://schemas.openxmlformats.org/officeDocument/2006/relationships/notesMaster" Target="/ppt/notesMasters/notesMaster1.xml" Id="R24c85c8502a74254"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a7ed3e7f8764704" /><Relationship Type="http://schemas.openxmlformats.org/officeDocument/2006/relationships/notesMaster" Target="/ppt/notesMasters/notesMaster1.xml" Id="Rda1668ad3ec8444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8aca418a6a4f452c" /><Relationship Type="http://schemas.openxmlformats.org/officeDocument/2006/relationships/notesMaster" Target="/ppt/notesMasters/notesMaster1.xml" Id="R22675aeae1694ce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5bc0bbee40464aac" /><Relationship Type="http://schemas.openxmlformats.org/officeDocument/2006/relationships/notesMaster" Target="/ppt/notesMasters/notesMaster1.xml" Id="R6549d718d54e48c9"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f2c52c0c90d4dae" /><Relationship Type="http://schemas.openxmlformats.org/officeDocument/2006/relationships/notesMaster" Target="/ppt/notesMasters/notesMaster1.xml" Id="R94a11ba057d9463c"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b17dbcadb65b49c0" /><Relationship Type="http://schemas.openxmlformats.org/officeDocument/2006/relationships/notesMaster" Target="/ppt/notesMasters/notesMaster1.xml" Id="R47a101ab26a3484c"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f34665c2d3a4ffe" /><Relationship Type="http://schemas.openxmlformats.org/officeDocument/2006/relationships/notesMaster" Target="/ppt/notesMasters/notesMaster1.xml" Id="Rf26c373f38c540b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Alur kelas: 0–10 menit recap/kasus; 10–35 menit Dockerfile; 35–55 menit cache/context; 55–70 menit multi-stage; 70–85 menit tag/keamanan; 85–100 menit persiapan Lab05. RPS sesi5 F2F LO2 Design.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RPS COMP6991031 halaman3 sesi5 LO2 Design. C3 diterapkan saat memilih instruksi, membangun image, lalu menguji perilaku API. Lab05 halaman5 mendukung Node/Python, env, multi-stage, tag dan Docker Hub.</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Bedakan layer filesystem dari konfigurasi image. Dockerfile saja tidak mengunci seluruh input. https://docs.docker.com/reference/dockerfile/ https://docs.docker.com/build/building/best-practices/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Pembuka selama 2 menit: tanyakan apakah menulis resep berarti restoran sudah buka. Jawabannya: belum. Build menghasilkan image; run membuat container dan memulai proses defaultnya. Image diibaratkan sebagai paket perangkat lunak, bukan makanan jadi atau proses yang aktif. Container dapat berada dalam keadaan dibuat, berjalan, atau berhenti; slide ini menunjukkan keadaan berjalan. Container Linux berbagi kernel host. Docker Desktop menyediakan VM Linux untuk container Linux, sedangkan Codespaces menggunakan mesin Linux di cloud. Registry seperti gudang atau katalog paket image, bukan tempat menyimpan container yang sedang berjalan. Command run pada slide menunjukkan inti konsep. Demo kelas menggunakan script bantuan agar nama, label, dan pembersihan container terkontrol. https://docs.docker.com/get-started/docker-concepts/the-basics/what-is-an-image/ https://docs.docker.com/get-started/docker-concepts/the-basics/what-is-a-container/</a:t>
            </a:r>
          </a:p>
          <a:p xmlns:a="http://schemas.openxmlformats.org/drawingml/2006/main">
            <a:r>
              <a:t>Foto: Daniel &amp; Hannah Snipes / Pexels. https://www.pexels.com/photo/cozy-kitchen-setup-with-cookbook-and-pot-29834258/</a:t>
            </a:r>
          </a:p>
          <a:p xmlns:a="http://schemas.openxmlformats.org/drawingml/2006/main">
            <a:r>
              <a:t>Lisensi: https://www.pexels.com/license/ . Foto hanya ilustrasi analogi; bukan bukti Docker.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Empat belas instruksi pada slide adalah subset yang dipilih untuk sesi ini, bukan seluruh instruction set Dockerfile. USER dapat menunjuk root/non-root. https://docs.docker.com/reference/dockerfile/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Kode runnable lengkap: https://github.com/SeedFlora/meet5CloudService/tree/main/examples/theory-node . Pindah ke folder itu sebelum build. README memberi perintah satu baris yang bekerja pada Bash maupun PowerShell; untuk Windows gunakan curl.exe. Server listen 0.0.0.0:3000. npm ci memerlukan lockfile yang cocok. Contoh pengantar ini memakai UID0; slide21 menambahkan USER node. Lab05 utama memakai FastAPI. Node24 didukung pada tanggal kelas. https://nodejs.org/en/about/previous-releases https://docs.npmjs.com/cli/commands/npm-ci https://docs.docker.com/reference/dockerfile/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FROM memulai stage dan boleh didahului ARG global, komentar atau parser directive. Tag versi tetap mutable. Digest mengidentifikasi konten image; pembaruan keamanan tetap harus dilakukan. Official Image tidak memberi jaminan bebas celah. https://docs.docker.com/reference/dockerfile/ https://docs.docker.com/build/building/best-practices/ https://github.com/GoogleContainerTools/distroless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Exec-form ENTRYPOINT + CMD: docker run image arg mengganti argumen CMD; docker run --entrypoint executable image mengganti ENTRYPOINT. Shell form memiliki perilaku sinyal/argumen berbeda. CMD terakhir yang berlaku. https://docs.docker.com/reference/dockerfile/#entrypoint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Analogi selama 90 detik. RUN dijalankan saat build, sedangkan CMD dan ENTRYPOINT menjadi konfigurasi default saat runtime. RUN pada kotak kode adalah bagian akhir dari instruksi RUN asli yang juga membuat virtual environment; jangan menyalinnya sebagai Dockerfile lengkap. Tunjukkan Dockerfile di repo: RUN python -m venv /opt/venv &amp;&amp; /opt/venv/bin/pip install ... . Image Lab 05 tidak menetapkan ENTRYPOINT sendiri; CMD menentukan command server. Jika ada beberapa CMD, hanya CMD terakhir yang berlaku. Argumen pada docker run dapat mengganti CMD; opsi --entrypoint mengganti ENTRYPOINT. Hindari menyebut ENTRYPOINT wajib atau tidak dapat diubah. Opsi --host 0.0.0.0 memungkinkan aplikasi menerima request pada interface container, tetapi tidak otomatis memublikasikan port host. https://docs.docker.com/reference/dockerfile/#run https://docs.docker.com/reference/dockerfile/#cmd https://docs.docker.com/reference/dockerfile/#entrypoint</a:t>
            </a:r>
          </a:p>
          <a:p xmlns:a="http://schemas.openxmlformats.org/drawingml/2006/main">
            <a:r>
              <a:t>Foto: Mateusz Feliksik / Pexels. https://www.pexels.com/photo/chef-chopping-food-on-a-cutting-board-13422410/</a:t>
            </a:r>
          </a:p>
          <a:p xmlns:a="http://schemas.openxmlformats.org/drawingml/2006/main">
            <a:r>
              <a:t>Lisensi: https://www.pexels.com/license/ . Foto hanya ilustrasi analogi; bukan bukti Docker.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Setiap RUN baru mulai dari WORKDIR image, bukan hasil cd proses sebelumnya. ADD mengekstrak tar lokal yang dikenal dan mendukung HTTP/Git. URL arsip tidak otomatis diekstrak. Periksa checksum dan izin sumber remote. https://docs.docker.com/reference/dockerfile/#add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ARG memiliki scope build dan tidak otomatis menjadi environment runtime. Nilai dapat berada pada history/provenance atau artefak yang dibuat. ARG tanpa default bisa kosong; aplikasi build harus memvalidasi jika wajib. ENV juga digunakan oleh instruksi build sesudah deklarasi. Keduanya tidak cocok untuk build secrets. https://docs.docker.com/build/building/variables/ https://docs.docker.com/build/building/secrets/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EXPOSE adalah metadata; -p melakukan publish port. USER app pada contoh Alpine memerlukan user yang telah dibuat. Probe curl memerlukan curl terpasang dan endpoint /health tersedia. Exit0 sehat, exit1 tidak sehat. Docker standalone tidak otomatis restart karena unhealthy. https://docs.docker.com/reference/dockerfile/#healthcheck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Analogi selama 90 detik: papan nomor loket tidak membuat jalan masuk. EXPOSE merupakan metadata; opsi -p host:container memublikasikan port. Command pada slide menunjukkan contoh dengan nomor port berbeda. Script demo menggunakan mapping 8000:8000 agar sesuai dengan konfigurasi forwarding. Command curl di terminal Codespaces mengakses mesin cloud. Alamat localhost pada browser laptop mengakses laptop, sehingga gunakan URL dari tab Ports Codespaces dan tambahkan /docs. Jika mencoba contoh port 8080, tambahkan forwarding port 8080 secara manual. Secara default, opsi -p tanpa alamat IP host melakukan bind ke seluruh interface host. Visibility Private pada forwarding Codespaces mengontrol akses URL GitHub dan merupakan lapisan yang berbeda. Pada mesin lokal, akses dapat dibatasi dengan -p 127.0.0.1:8080:8000. https://docs.docker.com/get-started/docker-concepts/running-containers/publishing-ports/ https://docs.github.com/en/codespaces/developing-in-a-codespace/forwarding-ports-in-your-codespace</a:t>
            </a:r>
          </a:p>
          <a:p xmlns:a="http://schemas.openxmlformats.org/drawingml/2006/main">
            <a:r>
              <a:t>Foto: Nam Quân Nguyễn / Pexels. https://www.pexels.com/photo/counter-in-a-restaurant-15650131/</a:t>
            </a:r>
          </a:p>
          <a:p xmlns:a="http://schemas.openxmlformats.org/drawingml/2006/main">
            <a:r>
              <a:t>Lisensi: https://www.pexels.com/license/ . Foto hanya ilustrasi analogi; bukan bukti Docker.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BuildKit menyusun graf stage, memakai cache, mentransfer input secara efisien dan dapat melewati file/stage yang tak digunakan. Tidak setiap baris menghasilkan filesystem layer. https://docs.docker.com/build/buildkit/ https://docs.docker.com/build/concepts/context/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COPY input dan instruksi memengaruhi cache. RUN biasanya tidak memeriksa ulang perubahan repository paket bila cache dipakai. --no-cache membuang cache langkah; --pull memeriksa base image baru. https://docs.docker.com/build/cache/invalidation/ https://docs.docker.com/build/cache/optimize/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Analogi selama 90 detik: bahan yang sudah disiapkan dapat dipakai ulang jika input yang relevan belum berubah. Tunjukkan COPY requirements.txt sebelum RUN pip, lalu COPY app pada stage runtime. BuildKit menggunakan graf input dan dependensi; perubahan membatalkan penggunaan cache pada langkah yang bergantung pada input tersebut. Tidak setiap baris membuat layer filesystem. Cache RUN biasanya tidak memeriksa versi terbaru pada repository paket. Opsi --no-cache tidak menggunakan cache langkah build, sedangkan --pull memeriksa versi base image di registry. Jangan menjanjikan build selalu cepat atau pasti menampilkan CACHED. https://docs.docker.com/build/cache/optimize/ https://docs.docker.com/build/cache/invalidation/</a:t>
            </a:r>
          </a:p>
          <a:p xmlns:a="http://schemas.openxmlformats.org/drawingml/2006/main">
            <a:r>
              <a:t>Foto: Rachel Claire / Pexels. https://www.pexels.com/photo/fresh-vegetables-in-bowl-next-to-diced-squid-5863647/</a:t>
            </a:r>
          </a:p>
          <a:p xmlns:a="http://schemas.openxmlformats.org/drawingml/2006/main">
            <a:r>
              <a:t>Lisensi: https://www.pexels.com/license/ . Foto hanya ilustrasi analogi; bukan bukti Docker.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Pola ignore adalah contoh Node, perlu disesuaikan jika aplikasi memakai docs/tests/build artifact saat runtime. .dockerignore membatasi context/COPY, tidak menghapus secret yang sengaja ditulis lewat ENV/ARG/RUN. https://docs.docker.com/build/concepts/context/#dockerignore-files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Ukuran image harus diukur untuk tag, platform, dan aplikasi yang sama. Pengurangan ukuran tidak menjamin performa atau keamanan. https://docs.docker.com/build/building/best-practices/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Angka ukuran universal dihindari. Bandingkan docker image ls atau docker image inspect setelah menarik/build untuk platform yang sama. Alpine memakai musl; native library dapat membutuhkan penyesuaian. Distroless berisi komponen runtime/distro minimal tanpa shell/package manager standar. https://github.com/nodejs/docker-node/blob/main/README.md https://github.com/GoogleContainerTools/distroless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Multi-stage hanya menyalin artefak runtime yang dipilih. Ukuran akhir bergantung base dan dependency. Dalam Lab05, venv dibuat pada builder Python3.12-slim dan disalin ke runtime Python3.12-slim. https://docs.docker.com/build/building/multi-stage/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Kode runnable: https://github.com/SeedFlora/meet5CloudService/tree/main/examples/theory-node . Build memakai -f Dockerfile.multistage. npm run build menghasilkan dist/server.js dengan menyalin source demo; aplikasi riil bisa memakai compiler TypeScript/bundler. Kedua stage Debian Bookworm. USER node UID1000. Kedua contoh Node dibuild/diuji 8Okt2026. Simple Alpine dan multi-stage Debian berbeda keluarga base sehingga ukuran keduanya bukan perbandingan terkendali tentang manfaat multi-stage. https://docs.docker.com/build/building/multi-stage/ https://docs.npmjs.com/cli/commands/npm-ci</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Analogi selama 90 detik: tidak semua peralatan persiapan perlu ikut dalam paket pesanan. Runtime tetap harus membawa komponen yang dibutuhkan untuk menjalankan aplikasi. Direktori /opt/venv memuat dependency dan merujuk interpreter yang sesuai. Kedua stage pada Lab 05 menggunakan python:3.12-slim. Tag ini dapat berubah; untuk kontrol yang lebih kuat, gunakan digest dan kelola pembaruan. Pada contoh FastAPI tanpa compiler, jangan menjanjikan multi-stage selalu menghasilkan image yang lebih kecil. Periksa docker image ls dan jalankan pengujian HTTP. Foto kotak makanan mengilustrasikan pemilihan isi, bukan menyatakan bahwa container Docker adalah kotak fisik. https://docs.docker.com/build/building/multi-stage/</a:t>
            </a:r>
          </a:p>
          <a:p xmlns:a="http://schemas.openxmlformats.org/drawingml/2006/main">
            <a:r>
              <a:t>Foto: FOX / Pexels. https://www.pexels.com/photo/food-in-take-out-containers-10748605/</a:t>
            </a:r>
          </a:p>
          <a:p xmlns:a="http://schemas.openxmlformats.org/drawingml/2006/main">
            <a:r>
              <a:t>Lisensi: https://www.pexels.com/license/ . Foto hanya ilustrasi analogi; bukan bukti Docker.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 secret: docker build --secret id=token,src=token.txt .; Dockerfile memakai RUN --mount=type=secret,id=token ... dan membaca /run/secrets/token hanya selama RUN. Jangan menyalin secret ke output atau log. Runtime secret berbeda dari build secret. https://docs.docker.com/build/building/secrets/ https://docs.docker.com/build/building/best-practices/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Nama tag, termasuk semver dan commit SHA, dapat ditimpa. Image digest sha256 mengidentifikasi konten. Rebuild commit yang sama dengan dependency/base baru dapat memberi image berbeda. https://docs.docker.com/reference/cli/docker/image/tag/ https://docs.docker.com/reference/cli/docker/image/pull/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Docker Hub menjadi jalur RPS: tag ulang image lokal, login, push, pull. Buat repository/akun sendiri bila akan mencoba. Ini opsional dan tidak menjadi tugas lab. GHCR alternatif: PAT classic write:packages untuk login manual; GITHUB_TOKEN digunakan pada workflow sesuai izin. Paket pertama biasanya private. Path image tidak wajib sama nama repo Git; hubungkan dengan org.opencontainers.image.source. https://docs.docker.com/get-started/introduction/publish-your-image/ https://docs.github.com/en/packages/working-with-a-github-packages-registry/working-with-the-container-registry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Non-root memperkecil dampak, tetapi bukan isolasi sempurna. Kernel, capabilities, mounts, user namespace dan konfigurasi daemon memengaruhi risiko. Proses exit terdeteksi Docker; HEALTHCHECK menambah status kesehatan aplikasi yang masih running. https://docs.docker.com/engine/security/ https://docs.docker.com/reference/dockerfile/#healthcheck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Contoh Alpine menggunakan addgroup/adduser dan wget BusyBox yang tersedia pada base. Node24 masih didukung saat kelas. Server harus listen 0.0.0.0:3000 dan menyediakan /health. Pin digest untuk identitas base; perbarui dan scan secara berkala. https://docs.docker.com/build/building/best-practices/ https://docs.docker.com/reference/dockerfile/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Output scanner harus berasal dari image dan database CVE yang dipakai saat scan. Status severity memerlukan penilaian paket/versi perbaikan dan jalur eksploitasi. Scanner tidak membuktikan image sepenuhnya aman. https://trivy.dev/latest/docs/target/container_image/ https://docs.docker.com/scout/ https://github.com/anchore/grype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--pull berbeda dari --no-cache. COPY --from membutuhkan source dan destination. Image prune menghapus image dangling; hindari prune massal pada komputer bersama. https://docs.docker.com/reference/dockerfile/ https://docs.docker.com/reference/cli/docker/buildx/build/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Pertanyaan cek pemahaman: apakah EXPOSE membuka port host? Mengapa source berubah tidak harus memasang dependency ulang? Bagaimana tag berbeda dari digest? Mengapa ARG tidak dipakai untuk token? RPS sesi5 LO2 Design.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Praktik utama: https://github.com/SeedFlora/meet5CloudService . Tunjukkan Dockerfile FastAPI, .dockerignore, APP_ENV, UID10001 dan validasi HTTP. Registry dipakai hanya bila bermanfaat untuk proyek.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Kasus kerja: tim menerima API catatan baru. Tanya mengapa data hilang saat proses restart. Bacaan: https://docs.docker.com/get-started/docker-concepts/building-images/writing-a-dockerfile/ Video pengantar: https://www.docker.com/resources/docker-intro-and-overview-on-demand-training/ . Pilih bagian containerizing an application. Repo: https://github.com/SeedFlora/meet5CloudService . Ilustrasi dibuat khusus untuk materi kelas; bukan bukti hasil lab. Proyek kelompok3 dipresentasikan minggu7 dan14.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output aktual lab ditata ulang agar terbaca. Tunjukkan sumber Dockerfile di https://github.com/SeedFlora/meet5CloudService . FROM Python3.12-slim yang sama menjaga kesesuaian interpreter/libc saat venv disalin. dependencies fastapi/uvicorn dipin pada requirements.txt, namun dependency transitif belum dikunci penuh. USER10001 mengurangi privilege. .dockerignore membatasi context. Tahap builder tidak berisi compiler; ini contoh pemisahan dependency/runtime, bukan janji image pasti lebih kecil. https://docs.docker.com/build/building/multi-stage/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berasal dari output HTTP aktual lab yang ditata ulang; bukan screenshot browser. README memberi perintah PowerShell/Bash lengkap. Tunjukkan docker logs &lt;container&gt; dan docker exec &lt;container&gt; id. GET /docs membuka Swagger. APP_ENV terlihat pada /runtime. Endpoint /health hanya memeriksa proses API, belum database. Data _notes berada dalam memori Python sehingga docker restart pun menghapus catatan. Volume saja tidak membuat dict Python menjadi persisten; perlu menulis data ke file/database. Jalankan API browser http://127.0.0.1:8000/docs . Repo https://github.com/SeedFlora/meet5CloudService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browser Chrome Budi diambil langsung saat audit kelas 8Okt2026. Container cloudlab-week05-review dibuild dari kode Lab05 lalu dijalankan dengan -p 127.0.0.1:18005:8000 -e APP_ENV=classroom. Uji browser: /docs -&gt; GET /health -&gt; Try it out -&gt; Execute. Screenshot respons 200 bukan hasil contoh yang diketik ulang. Perintah curl -i menunjukkan header dan body; Windows memakai curl.exe. Port utama panduan8000, port18005 dipakai hanya agar tidak berbenturan. /health menunjukkan liveness API, bukan kesiapan database. Semua respons FastAPI utama diverifikasi: health200, runtime200, docs200, create201, blank422, missing404; UID10001; restart mengosongkan memory.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selama 15 menit setelah konsep inti. Siapkan lingkungan beberapa menit sebelum kelas karena waktu inisialisasi dan unduhan bergantung pada jaringan. Di GitHub, pilih Code, tab Codespaces, menu tiga titik, lalu New with options. Pilih mesin 2 core. Screenshot diambil langsung dari Chrome pada akun SeedFlora pada 8 Oktober 2026. Konfigurasi .devcontainer menggunakan base Ubuntu 24.04 dan fitur resmi docker-in-docker:4; aplikasi tidak otomatis dibuild. Command check harus menunjukkan bagian Client dan Server. Jika tidak tersedia terminal, periksa apakah yang dibuka hanya editor ringan github.dev. Instalasi pada laptop tidak diperlukan, tetapi Docker tetap dipasang di lingkungan cloud. Panduan lengkap: https://github.com/SeedFlora/meet5CloudService/blob/main/DEMO_ONLINE.md . https://docs.github.com/en/codespaces/developing-in-a-codespace/creating-a-codespace-for-a-repository https://docs.github.com/en/codespaces/the-githubdev-web-based-editor https://github.com/devcontainers/features/blob/main/src/docker-in-docker/README.md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Amati bagian Client dan Server pada docker version, serta curl. Versi aktual saat uji online 29.8.2-1. Docker CLI saja belum cukup jika daemon tidak tersedia. https://docs.docker.com/get-started/docker-overview/ Screenshot diambil langsung dari Chrome pada 8 Oktober 2026, pada Codespace repo meet5CloudService.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cat membaca file tanpa mengubahnya. Dua FROM memberi dua stage, kedua base Python3.12-slim. WORKDIR menetapkan direktori; USER appuser memakai UID10001; EXPOSE8000 metadata; CMD Uvicorn listen0.0.0.0:8000. https://docs.docker.com/reference/dockerfile/ Screenshot diambil langsung dari Chrome pada 8 Oktober 2026, pada Codespace repo meet5CloudService.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 pertama mengambil base image serta dependency; lama bergantung jaringan/cache. Build selesai belum memulai API. Digest/base yang tampil adalah hasil uji, bukan angka yang harus sama pada semua komputer. https://docs.docker.com/build/concepts/context/ Screenshot diambil langsung dari Chrome pada 8 Oktober 2026, pada Codespace repo meet5CloudService.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Helper memberi nama cloudlab-theory-online dan label kepemilikan; -d menjalankan di latar belakang. API siap bila health200. Pengulangan start memakai ulang container yang sama; untuk code baru stop lalu start. https://docs.docker.com/reference/cli/docker/container/run/ Screenshot diambil langsung dari Chrome pada 8 Oktober 2026, pada Codespace repo meet5CloudService.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Baca Dockerfile terlebih dahulu. Untuk memperlihatkan build dan run secara terpisah, jalankan bash scripts/demo-online.sh build, lalu start. Saat membuat container baru, start melakukan build lagi dan dapat menggunakan cache. Nama image adalah cloud-notes-api:theory-online; nama container adalah cloudlab-theory-online. Demo memakai mapping port 8000:8000 dan APP_ENV=classroom. Command status memperlihatkan container dengan status Up, mapping port 8000, UID 10001, dan log Uvicorn. Label pada script menandai kepemilikan demo; label bukan mekanisme autentikasi. Memanggil start lagi menggunakan container yang sama. Setelah kode berubah, jalankan stop, lalu start agar container baru menggunakan hasil build terbaru. Screenshot berasal dari Codespaces pada 8 Oktober 2026, bukan output contoh. https://docs.docker.com/reference/cli/docker/container/run/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Pada Linux cloud Docker -p8000:8000 memublikasikan port container ke host cloud. GitHub forwarding menambahkan akses URL dari browser. Jangan mengetik localhost laptop. Private hanya dapat dibuka pengguna yang berhak; untuk kelas share layar. https://docs.github.com/en/codespaces/developing-in-a-codespace/forwarding-ports-in-your-codespace Screenshot diambil langsung dari Chrome pada 8 Oktober 2026, pada Codespace repo meet5CloudService.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Pada tab Ports, pilih port host 8000 dengan label Cloud Notes API / Swagger. URL berbentuk https://&lt;codespace&gt;-8000.app.github.dev/docs; gunakan URL yang ditampilkan layanan, jangan mengetik contoh yang masih berisi placeholder. Localhost di terminal Codespaces menunjuk ke mesin cloud, sedangkan localhost pada address bar browser laptop menunjuk ke laptop. GitHub menyediakan forwarding HTTPS; aplikasi dalam container demo melayani HTTP. Command curl di terminal menguji endpoint GET /health seperti yang diperlihatkan pada screenshot Swagger. Endpoint ini memeriksa liveness API, belum kesiapan koneksi database. Tampilkan POST /notes dengan respons 201, lalu GET /notes untuk memperlihatkan pembuatan dan pembacaan data. Gunakan data dummy. Screenshot berasal dari Chrome pada 8 Oktober 2026. https://docs.github.com/en/codespaces/developing-in-a-codespace/forwarding-ports-in-your-codespace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Payload ini adalah data dummy. Swagger menampilkan curl/request URL dan response. title tidak boleh kosong/spasi. Ini uji kontrak API; tidak menjadi tugas terpisah. https://github.com/SeedFlora/meet5CloudService/blob/main/app/main.py Screenshot diambil langsung dari Chrome pada 8 Oktober 2026, pada Codespace repo meet5CloudService.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Command curl ini dijalankan di terminal Codespaces. Browser Swagger menggunakan URL forwarded GitHub. Data masih di memori proses, belum database. HTTP200 tidak membuktikan persistensi. https://github.com/SeedFlora/meet5CloudService/blob/main/app/main.py Screenshot diambil langsung dari Chrome pada 8 Oktober 2026, pada Codespace repo meet5CloudService.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Jalankan test setelah start. Script memberikan PASS setelah curl menguji status HTTP 200, 201, 422, dan 404, isi respons health dan runtime, serta ID catatan yang dibuat. Respons /runtime harus menunjukkan environment classroom dan storage memory; pembacaan catatan harus sesuai dengan catatan yang dibuat. Status HTTP 200 pada /docs diperiksa tanpa mencetak seluruh HTML. HTTP 422 dan 404 merupakan perilaku API yang diharapkan dalam pengujian ini, bukan tanda container rusak. Hubungkan dengan pekerjaan sehari-hari: build yang berhasil belum membuktikan aplikasi memenuhi kontrak HTTP. Screenshot berasal dari terminal Codespaces pada 8 Oktober 2026. https://github.com/SeedFlora/meet5CloudService/blob/main/scripts/demo-online.sh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Command test --restart membuat catatan, melakukan restart pada container demo, lalu menguji bahwa GET /notes menghasilkan daftar kosong []. Semua catatan dalam memori proses container demo hilang; image tetap tersedia. Lab 06 menambahkan database. Command stop hanya menghapus container dengan nama dan label milik demo. Setelah itu, buka halaman GitHub Codespaces, pilih menu tiga titik, lalu Stop codespace. Compute berhenti, tetapi storage tetap dihitung selama lingkungan masih disimpan. Pada 8 Oktober 2026, akun personal GitHub Free mendapat 120 core-hours compute dan 15 GB-month storage per bulan. Mesin 2 core dapat digunakan sekitar 60 jam per bulan apabila kuota belum digunakan oleh Codespaces lain. Custom devcontainer, image, dan file ikut memengaruhi penggunaan storage; layanan ini tidak gratis tanpa batas. Pengisian metode pembayaran atau upgrade tidak diperlukan untuk demo selama kuota tersedia. Hapus Codespace jika sudah tidak diperlukan, setelah commit dan push perubahan yang ingin disimpan. Penghapusan dapat membuang perubahan lokal yang belum disimpan ke remote. Alternatifnya adalah Killercoda Docker Playground dengan sesi gratis satu jam dan lingkungan sementara; lihat DEMO_ONLINE.md. Play with Docker ditutup sejak 1 Maret 2026. Kegiatan ini formatif; proyek kelompok berisi 3 mahasiswa dipresentasikan pada minggu 7 dan 14. https://docs.github.com/en/billing/reference/product-usage-included https://docs.github.com/en/codespaces/troubleshooting/troubleshooting-included-usage https://killercoda.com/faq https://labs.play-with-docker.com/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Helper menolak nama container yang label kepemilikannya berbeda. stop sengaja menghapus hanya container latihan ini. Data sementara ikut hilang. Tidak menggunakan docker system prune atau cleanup massal. https://docs.docker.com/reference/cli/docker/container/rm/ Screenshot diambil langsung dari Chrome pada 8 Oktober 2026, pada Codespace repo meet5CloudService.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Menutup tab browser tidak sama dengan menghentikan mesin cloud. Codespace yang dibuat untuk demo ini dihentikan, tidak dihapus, agar bisa dibuka kembali saat kelas. Kuota gratis terbatas; simpan perubahan lewat Git sebelum menghapus lingkungan. https://docs.github.com/en/codespaces/developing-in-a-codespace/stopping-and-starting-a-codespace https://docs.github.com/en/billing/concepts/product-billing/github-codespaces Screenshot diambil langsung dari Chrome pada 8 Oktober 2026, pada Codespace repo meet5CloudService.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d190bb9e880414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afa3468e51145d3"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blank" preserve="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be7a382f8c0494b" /><Relationship Type="http://schemas.openxmlformats.org/officeDocument/2006/relationships/slideLayout" Target="/ppt/slideLayouts/slideLayout1.xml" Id="Rc3708117b47c4f26" /><Relationship Type="http://schemas.openxmlformats.org/officeDocument/2006/relationships/slideLayout" Target="/ppt/slideLayouts/slideLayout2.xml" Id="R13cc674373c545c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3708117b47c4f26"/>
    <p:sldLayoutId xmlns:r="http://schemas.openxmlformats.org/officeDocument/2006/relationships" id="2147483650" r:id="R13cc674373c545c3"/>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72e4fde8df24e7c" /><Relationship Type="http://schemas.openxmlformats.org/officeDocument/2006/relationships/image" Target="/ppt/media/image.jpeg" Id="R78abe95d7c6f42ef" /><Relationship Type="http://schemas.openxmlformats.org/officeDocument/2006/relationships/image" Target="/ppt/media/image.png" Id="Rd68150b6a0e9483c" /><Relationship Type="http://schemas.openxmlformats.org/officeDocument/2006/relationships/image" Target="/ppt/media/image2.png" Id="Ra97f463d6d0e4c4d" /><Relationship Type="http://schemas.openxmlformats.org/officeDocument/2006/relationships/notesSlide" Target="/ppt/notesSlides/notesSlide1.xml" Id="Ra213fd14162d4e1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f1e13bb08a24f45" /><Relationship Type="http://schemas.openxmlformats.org/officeDocument/2006/relationships/image" Target="/ppt/media/image.png" Id="R10c3f2d24b074439" /><Relationship Type="http://schemas.openxmlformats.org/officeDocument/2006/relationships/image" Target="/ppt/media/image2.png" Id="Rad232112761c4b01" /><Relationship Type="http://schemas.openxmlformats.org/officeDocument/2006/relationships/image" Target="/ppt/media/image3.png" Id="R3feb7321e9a74f9f" /><Relationship Type="http://schemas.openxmlformats.org/officeDocument/2006/relationships/image" Target="/ppt/media/image4.png" Id="R91f1c14e47e145a1" /><Relationship Type="http://schemas.openxmlformats.org/officeDocument/2006/relationships/image" Target="/ppt/media/image5.png" Id="R5c24699806794f57" /><Relationship Type="http://schemas.openxmlformats.org/officeDocument/2006/relationships/image" Target="/ppt/media/image6.png" Id="R9b47108d71d0493c" /><Relationship Type="http://schemas.openxmlformats.org/officeDocument/2006/relationships/image" Target="/ppt/media/image7.png" Id="R066c484b54eb4307" /><Relationship Type="http://schemas.openxmlformats.org/officeDocument/2006/relationships/notesSlide" Target="/ppt/notesSlides/notesSlide2.xml" Id="R28e137aac3344fc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605b188422f4848" /><Relationship Type="http://schemas.openxmlformats.org/officeDocument/2006/relationships/image" Target="/ppt/media/image.png" Id="R3b5f81760dd04b45" /><Relationship Type="http://schemas.openxmlformats.org/officeDocument/2006/relationships/image" Target="/ppt/media/image2.png" Id="R2f142df07ad34e08" /><Relationship Type="http://schemas.openxmlformats.org/officeDocument/2006/relationships/image" Target="/ppt/media/image8.png" Id="R3c01ee90a1c34522" /><Relationship Type="http://schemas.openxmlformats.org/officeDocument/2006/relationships/image" Target="/ppt/media/image6.png" Id="Re9e6dd00488f4bd0" /><Relationship Type="http://schemas.openxmlformats.org/officeDocument/2006/relationships/image" Target="/ppt/media/image9.png" Id="R579f8abfb9a84d54" /><Relationship Type="http://schemas.openxmlformats.org/officeDocument/2006/relationships/image" Target="/ppt/media/image10.png" Id="Rfcbca46f05b0444c" /><Relationship Type="http://schemas.openxmlformats.org/officeDocument/2006/relationships/notesSlide" Target="/ppt/notesSlides/notesSlide3.xml" Id="Re87fa17fa7da4cc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1a33409cdc74d12" /><Relationship Type="http://schemas.openxmlformats.org/officeDocument/2006/relationships/image" Target="/ppt/media/image.png" Id="Ra1dc43c5a16f4401" /><Relationship Type="http://schemas.openxmlformats.org/officeDocument/2006/relationships/image" Target="/ppt/media/image2.png" Id="Rd9cc6195ee8a440e" /><Relationship Type="http://schemas.openxmlformats.org/officeDocument/2006/relationships/notesSlide" Target="/ppt/notesSlides/notesSlide4.xml" Id="Rc443b3272b01485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639d30226434470" /><Relationship Type="http://schemas.openxmlformats.org/officeDocument/2006/relationships/image" Target="/ppt/media/image.png" Id="R8258d2ca44c24595" /><Relationship Type="http://schemas.openxmlformats.org/officeDocument/2006/relationships/image" Target="/ppt/media/image2.png" Id="R040182b02a894830" /><Relationship Type="http://schemas.openxmlformats.org/officeDocument/2006/relationships/image" Target="/ppt/media/image8.png" Id="Re686376867d14408" /><Relationship Type="http://schemas.openxmlformats.org/officeDocument/2006/relationships/image" Target="/ppt/media/image11.png" Id="R2261890f414249cf" /><Relationship Type="http://schemas.openxmlformats.org/officeDocument/2006/relationships/image" Target="/ppt/media/image6.png" Id="R24a6bbe943d2490b" /><Relationship Type="http://schemas.openxmlformats.org/officeDocument/2006/relationships/image" Target="/ppt/media/image12.png" Id="R73cd7494811a4e47" /><Relationship Type="http://schemas.openxmlformats.org/officeDocument/2006/relationships/image" Target="/ppt/media/image7.png" Id="R18f516622fa84b2c" /><Relationship Type="http://schemas.openxmlformats.org/officeDocument/2006/relationships/notesSlide" Target="/ppt/notesSlides/notesSlide5.xml" Id="Rd87253e7e2fa4cd9"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fa1780bb7a1d4f86" /><Relationship Type="http://schemas.openxmlformats.org/officeDocument/2006/relationships/image" Target="/ppt/media/image13.png" Id="Rce792203dc4245e1" /><Relationship Type="http://schemas.openxmlformats.org/officeDocument/2006/relationships/image" Target="/ppt/media/image14.png" Id="R0e1901736c744126" /><Relationship Type="http://schemas.openxmlformats.org/officeDocument/2006/relationships/image" Target="/ppt/media/image2.jpeg" Id="R55c4c3e5db764823" /><Relationship Type="http://schemas.openxmlformats.org/officeDocument/2006/relationships/notesSlide" Target="/ppt/notesSlides/notesSlide6.xml" Id="Rf6d856223aaf448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f56fb16d0a143c4" /><Relationship Type="http://schemas.openxmlformats.org/officeDocument/2006/relationships/image" Target="/ppt/media/image.png" Id="R34dc022665de4440" /><Relationship Type="http://schemas.openxmlformats.org/officeDocument/2006/relationships/image" Target="/ppt/media/image2.png" Id="R0a96dd5093a94db7" /><Relationship Type="http://schemas.openxmlformats.org/officeDocument/2006/relationships/notesSlide" Target="/ppt/notesSlides/notesSlide7.xml" Id="Ra891ec90119944d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16ce36018a34e05" /><Relationship Type="http://schemas.openxmlformats.org/officeDocument/2006/relationships/image" Target="/ppt/media/image.png" Id="Raad3db99df1049d6" /><Relationship Type="http://schemas.openxmlformats.org/officeDocument/2006/relationships/image" Target="/ppt/media/image2.png" Id="Rf396d111956340cc" /><Relationship Type="http://schemas.openxmlformats.org/officeDocument/2006/relationships/notesSlide" Target="/ppt/notesSlides/notesSlide8.xml" Id="Rbdd5f503a83240d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f8f758e8323406e" /><Relationship Type="http://schemas.openxmlformats.org/officeDocument/2006/relationships/image" Target="/ppt/media/image.png" Id="R91a06a57ebb8497b" /><Relationship Type="http://schemas.openxmlformats.org/officeDocument/2006/relationships/image" Target="/ppt/media/image2.png" Id="R7a20e9fbbf534dfc" /><Relationship Type="http://schemas.openxmlformats.org/officeDocument/2006/relationships/notesSlide" Target="/ppt/notesSlides/notesSlide9.xml" Id="Rae582507d07141b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733b981ef9042a3" /><Relationship Type="http://schemas.openxmlformats.org/officeDocument/2006/relationships/image" Target="/ppt/media/image.png" Id="Rba0696fbf263473b" /><Relationship Type="http://schemas.openxmlformats.org/officeDocument/2006/relationships/image" Target="/ppt/media/image2.png" Id="Reb843a6bef414398" /><Relationship Type="http://schemas.openxmlformats.org/officeDocument/2006/relationships/image" Target="/ppt/media/image15.png" Id="R2db9f5e1a8ac4b25" /><Relationship Type="http://schemas.openxmlformats.org/officeDocument/2006/relationships/image" Target="/ppt/media/image9.png" Id="R6dddbc79b30b4896" /><Relationship Type="http://schemas.openxmlformats.org/officeDocument/2006/relationships/image" Target="/ppt/media/image16.png" Id="Rd07f2032d81548f4" /><Relationship Type="http://schemas.openxmlformats.org/officeDocument/2006/relationships/image" Target="/ppt/media/image11.png" Id="R2d47a16f73ba401e" /><Relationship Type="http://schemas.openxmlformats.org/officeDocument/2006/relationships/notesSlide" Target="/ppt/notesSlides/notesSlide10.xml" Id="Rd89fd1c00c614d7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666978b05424492" /><Relationship Type="http://schemas.openxmlformats.org/officeDocument/2006/relationships/image" Target="/ppt/media/image.png" Id="Rb778ffc6e33d4e25" /><Relationship Type="http://schemas.openxmlformats.org/officeDocument/2006/relationships/image" Target="/ppt/media/image2.png" Id="Rf35226413b4e4508" /><Relationship Type="http://schemas.openxmlformats.org/officeDocument/2006/relationships/notesSlide" Target="/ppt/notesSlides/notesSlide11.xml" Id="R0c0eca5aef4642a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a5cab08cad894b00" /><Relationship Type="http://schemas.openxmlformats.org/officeDocument/2006/relationships/image" Target="/ppt/media/image17.png" Id="R6dc47e81cfa142b2" /><Relationship Type="http://schemas.openxmlformats.org/officeDocument/2006/relationships/image" Target="/ppt/media/image18.png" Id="R3b8fc7795fff4f4d" /><Relationship Type="http://schemas.openxmlformats.org/officeDocument/2006/relationships/image" Target="/ppt/media/image3.jpeg" Id="Rc72fd865557c4e69" /><Relationship Type="http://schemas.openxmlformats.org/officeDocument/2006/relationships/notesSlide" Target="/ppt/notesSlides/notesSlide12.xml" Id="Rfdd7bfa94740486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d27a7234d6b4c83" /><Relationship Type="http://schemas.openxmlformats.org/officeDocument/2006/relationships/image" Target="/ppt/media/image.png" Id="R2c006745f5b24e0b" /><Relationship Type="http://schemas.openxmlformats.org/officeDocument/2006/relationships/image" Target="/ppt/media/image2.png" Id="R4378b71d7b414168" /><Relationship Type="http://schemas.openxmlformats.org/officeDocument/2006/relationships/notesSlide" Target="/ppt/notesSlides/notesSlide13.xml" Id="R7fa9fa12b91d4fe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b8fbdbb4bcc4839" /><Relationship Type="http://schemas.openxmlformats.org/officeDocument/2006/relationships/image" Target="/ppt/media/image.png" Id="R008d22d0989e46f7" /><Relationship Type="http://schemas.openxmlformats.org/officeDocument/2006/relationships/image" Target="/ppt/media/image2.png" Id="R5d7b620a6fed4387" /><Relationship Type="http://schemas.openxmlformats.org/officeDocument/2006/relationships/notesSlide" Target="/ppt/notesSlides/notesSlide14.xml" Id="R9eabef9d42e34c0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04cd7ebfced4b17" /><Relationship Type="http://schemas.openxmlformats.org/officeDocument/2006/relationships/image" Target="/ppt/media/image.png" Id="R7c8962d81fee402f" /><Relationship Type="http://schemas.openxmlformats.org/officeDocument/2006/relationships/image" Target="/ppt/media/image2.png" Id="Re00d8203b0f841a8" /><Relationship Type="http://schemas.openxmlformats.org/officeDocument/2006/relationships/notesSlide" Target="/ppt/notesSlides/notesSlide15.xml" Id="Rb29aeea077fb48d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ea144311fd8943c4" /><Relationship Type="http://schemas.openxmlformats.org/officeDocument/2006/relationships/image" Target="/ppt/media/image19.png" Id="R602522f27ae0495e" /><Relationship Type="http://schemas.openxmlformats.org/officeDocument/2006/relationships/image" Target="/ppt/media/image20.png" Id="R5a48265cc4684d81" /><Relationship Type="http://schemas.openxmlformats.org/officeDocument/2006/relationships/image" Target="/ppt/media/image4.jpeg" Id="R5e559a01c5ae4d69" /><Relationship Type="http://schemas.openxmlformats.org/officeDocument/2006/relationships/notesSlide" Target="/ppt/notesSlides/notesSlide16.xml" Id="R65d4a019126a499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2255483825145c3" /><Relationship Type="http://schemas.openxmlformats.org/officeDocument/2006/relationships/image" Target="/ppt/media/image.png" Id="Rd23e06f0f6c944d0" /><Relationship Type="http://schemas.openxmlformats.org/officeDocument/2006/relationships/image" Target="/ppt/media/image2.png" Id="R7ede753ac1194eb7" /><Relationship Type="http://schemas.openxmlformats.org/officeDocument/2006/relationships/notesSlide" Target="/ppt/notesSlides/notesSlide17.xml" Id="Rcedac773d890487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e58a32185bf4ff4" /><Relationship Type="http://schemas.openxmlformats.org/officeDocument/2006/relationships/image" Target="/ppt/media/image.png" Id="R9fa7c8713fdd4af5" /><Relationship Type="http://schemas.openxmlformats.org/officeDocument/2006/relationships/image" Target="/ppt/media/image2.png" Id="R52de9be28493447c" /><Relationship Type="http://schemas.openxmlformats.org/officeDocument/2006/relationships/notesSlide" Target="/ppt/notesSlides/notesSlide18.xml" Id="Rc153207c91ce493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b823242322b4e0d" /><Relationship Type="http://schemas.openxmlformats.org/officeDocument/2006/relationships/image" Target="/ppt/media/image.png" Id="R0bd41ce0c2f3488b" /><Relationship Type="http://schemas.openxmlformats.org/officeDocument/2006/relationships/image" Target="/ppt/media/image2.png" Id="Rf4c724b043614900" /><Relationship Type="http://schemas.openxmlformats.org/officeDocument/2006/relationships/notesSlide" Target="/ppt/notesSlides/notesSlide19.xml" Id="Ra5a9a05e7cc14b7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f84925ce050b4637" /><Relationship Type="http://schemas.openxmlformats.org/officeDocument/2006/relationships/image" Target="/ppt/media/image21.png" Id="Rde322e01551f4795" /><Relationship Type="http://schemas.openxmlformats.org/officeDocument/2006/relationships/image" Target="/ppt/media/image22.png" Id="R17e35fcff163431d" /><Relationship Type="http://schemas.openxmlformats.org/officeDocument/2006/relationships/image" Target="/ppt/media/image5.jpeg" Id="Ra4496cef38e14e19" /><Relationship Type="http://schemas.openxmlformats.org/officeDocument/2006/relationships/notesSlide" Target="/ppt/notesSlides/notesSlide20.xml" Id="R93cfcf4243fa45c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2b90bdd93ef41ff" /><Relationship Type="http://schemas.openxmlformats.org/officeDocument/2006/relationships/image" Target="/ppt/media/image.png" Id="Rfae0a5ab511a452d" /><Relationship Type="http://schemas.openxmlformats.org/officeDocument/2006/relationships/image" Target="/ppt/media/image2.png" Id="R23eb356a2fd549af" /><Relationship Type="http://schemas.openxmlformats.org/officeDocument/2006/relationships/notesSlide" Target="/ppt/notesSlides/notesSlide21.xml" Id="R24831521300c441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759c2a730284881" /><Relationship Type="http://schemas.openxmlformats.org/officeDocument/2006/relationships/image" Target="/ppt/media/image.png" Id="Ra55ddd2e177040a6" /><Relationship Type="http://schemas.openxmlformats.org/officeDocument/2006/relationships/image" Target="/ppt/media/image2.png" Id="R3545e1e9e47b4057" /><Relationship Type="http://schemas.openxmlformats.org/officeDocument/2006/relationships/notesSlide" Target="/ppt/notesSlides/notesSlide22.xml" Id="R43cc4cdd57bb4b0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35d8a849d9948fa" /><Relationship Type="http://schemas.openxmlformats.org/officeDocument/2006/relationships/image" Target="/ppt/media/image.png" Id="Rebd153357965405e" /><Relationship Type="http://schemas.openxmlformats.org/officeDocument/2006/relationships/image" Target="/ppt/media/image2.png" Id="R2be21e59b0764802" /><Relationship Type="http://schemas.openxmlformats.org/officeDocument/2006/relationships/notesSlide" Target="/ppt/notesSlides/notesSlide23.xml" Id="R278759835310400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7ce3ae500df485b" /><Relationship Type="http://schemas.openxmlformats.org/officeDocument/2006/relationships/image" Target="/ppt/media/image.png" Id="R54575bc5f26e4594" /><Relationship Type="http://schemas.openxmlformats.org/officeDocument/2006/relationships/image" Target="/ppt/media/image2.png" Id="Rc99a4b285ff04d7d" /><Relationship Type="http://schemas.openxmlformats.org/officeDocument/2006/relationships/notesSlide" Target="/ppt/notesSlides/notesSlide24.xml" Id="R3bb0981ddbd14d3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66bfe92414c4134" /><Relationship Type="http://schemas.openxmlformats.org/officeDocument/2006/relationships/image" Target="/ppt/media/image.png" Id="Re2ddf054f8624af7" /><Relationship Type="http://schemas.openxmlformats.org/officeDocument/2006/relationships/image" Target="/ppt/media/image2.png" Id="Rd4df2eb0fab54946" /><Relationship Type="http://schemas.openxmlformats.org/officeDocument/2006/relationships/notesSlide" Target="/ppt/notesSlides/notesSlide25.xml" Id="Redc56324bfc84e5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2.xml" Id="R062685380e9d4807" /><Relationship Type="http://schemas.openxmlformats.org/officeDocument/2006/relationships/image" Target="/ppt/media/image23.png" Id="R044450f5f98045e6" /><Relationship Type="http://schemas.openxmlformats.org/officeDocument/2006/relationships/image" Target="/ppt/media/image24.png" Id="Ra8f6af85cb524cd7" /><Relationship Type="http://schemas.openxmlformats.org/officeDocument/2006/relationships/image" Target="/ppt/media/image6.jpeg" Id="R4870dcc2995a4e66" /><Relationship Type="http://schemas.openxmlformats.org/officeDocument/2006/relationships/notesSlide" Target="/ppt/notesSlides/notesSlide26.xml" Id="R1abad171c5c645a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32d62807cda4d48" /><Relationship Type="http://schemas.openxmlformats.org/officeDocument/2006/relationships/image" Target="/ppt/media/image.png" Id="R24a5fb7e9c3c401d" /><Relationship Type="http://schemas.openxmlformats.org/officeDocument/2006/relationships/image" Target="/ppt/media/image2.png" Id="R0af7cf40a8cb4136" /><Relationship Type="http://schemas.openxmlformats.org/officeDocument/2006/relationships/image" Target="/ppt/media/image15.png" Id="R30f74e2c41ec4795" /><Relationship Type="http://schemas.openxmlformats.org/officeDocument/2006/relationships/notesSlide" Target="/ppt/notesSlides/notesSlide27.xml" Id="R2b73d352f5764cc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ddd6afd1d8ee49e0" /><Relationship Type="http://schemas.openxmlformats.org/officeDocument/2006/relationships/image" Target="/ppt/media/image.png" Id="Rdae619aa48e64ff4" /><Relationship Type="http://schemas.openxmlformats.org/officeDocument/2006/relationships/image" Target="/ppt/media/image2.png" Id="R7bf761cfa400433d" /><Relationship Type="http://schemas.openxmlformats.org/officeDocument/2006/relationships/notesSlide" Target="/ppt/notesSlides/notesSlide28.xml" Id="Rc3ac12b6be97445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5b5362fd666c49ac" /><Relationship Type="http://schemas.openxmlformats.org/officeDocument/2006/relationships/image" Target="/ppt/media/image.png" Id="R9b1a07468fc3456d" /><Relationship Type="http://schemas.openxmlformats.org/officeDocument/2006/relationships/image" Target="/ppt/media/image2.png" Id="R0d702c1ae0574b44" /><Relationship Type="http://schemas.openxmlformats.org/officeDocument/2006/relationships/notesSlide" Target="/ppt/notesSlides/notesSlide29.xml" Id="Rcb32d19bb520496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913b277226e4dff" /><Relationship Type="http://schemas.openxmlformats.org/officeDocument/2006/relationships/image" Target="/ppt/media/image.png" Id="Rc34fdbffdd814308" /><Relationship Type="http://schemas.openxmlformats.org/officeDocument/2006/relationships/image" Target="/ppt/media/image2.png" Id="Rd1b691fe7ad74fba" /><Relationship Type="http://schemas.openxmlformats.org/officeDocument/2006/relationships/image" Target="/ppt/media/image5.png" Id="Ra01fd05bd6d141b1" /><Relationship Type="http://schemas.openxmlformats.org/officeDocument/2006/relationships/image" Target="/ppt/media/image10.png" Id="R35f8e6dc1b734681" /><Relationship Type="http://schemas.openxmlformats.org/officeDocument/2006/relationships/notesSlide" Target="/ppt/notesSlides/notesSlide30.xml" Id="Rcd371964a3d445a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b510dc2d79704870" /><Relationship Type="http://schemas.openxmlformats.org/officeDocument/2006/relationships/image" Target="/ppt/media/image.png" Id="R204465e91fa24c7c" /><Relationship Type="http://schemas.openxmlformats.org/officeDocument/2006/relationships/image" Target="/ppt/media/image2.png" Id="R7af105ffb678430b" /><Relationship Type="http://schemas.openxmlformats.org/officeDocument/2006/relationships/notesSlide" Target="/ppt/notesSlides/notesSlide31.xml" Id="R7a3a0b4be03e4f0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684e604374a9413a" /><Relationship Type="http://schemas.openxmlformats.org/officeDocument/2006/relationships/image" Target="/ppt/media/image.png" Id="R8141d33814c94e77" /><Relationship Type="http://schemas.openxmlformats.org/officeDocument/2006/relationships/image" Target="/ppt/media/image2.png" Id="R3f5d115b8caf4afe" /><Relationship Type="http://schemas.openxmlformats.org/officeDocument/2006/relationships/image" Target="/ppt/media/image25.png" Id="R5b23dfc651394068" /><Relationship Type="http://schemas.openxmlformats.org/officeDocument/2006/relationships/image" Target="/ppt/media/image26.png" Id="Rde6bc05b0eba4f84" /><Relationship Type="http://schemas.openxmlformats.org/officeDocument/2006/relationships/image" Target="/ppt/media/image27.png" Id="R66f10ec964f74211" /><Relationship Type="http://schemas.openxmlformats.org/officeDocument/2006/relationships/image" Target="/ppt/media/image8.png" Id="Rf4a7ec82e68c4d35" /><Relationship Type="http://schemas.openxmlformats.org/officeDocument/2006/relationships/image" Target="/ppt/media/image28.png" Id="Rab4b416a2ce440a6" /><Relationship Type="http://schemas.openxmlformats.org/officeDocument/2006/relationships/notesSlide" Target="/ppt/notesSlides/notesSlide32.xml" Id="R21a5af9241bb4f1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40861043d4f94d54" /><Relationship Type="http://schemas.openxmlformats.org/officeDocument/2006/relationships/image" Target="/ppt/media/image.png" Id="R289c9be473c643d8" /><Relationship Type="http://schemas.openxmlformats.org/officeDocument/2006/relationships/image" Target="/ppt/media/image2.png" Id="Rb1541b1984b848b0" /><Relationship Type="http://schemas.openxmlformats.org/officeDocument/2006/relationships/notesSlide" Target="/ppt/notesSlides/notesSlide33.xml" Id="R9bc93aa725a1444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bd54faeaf3684b8b" /><Relationship Type="http://schemas.openxmlformats.org/officeDocument/2006/relationships/image" Target="/ppt/media/image.png" Id="R5bef1a6c67ec4bd0" /><Relationship Type="http://schemas.openxmlformats.org/officeDocument/2006/relationships/image" Target="/ppt/media/image2.png" Id="R1236ab95bbcd43a9" /><Relationship Type="http://schemas.openxmlformats.org/officeDocument/2006/relationships/notesSlide" Target="/ppt/notesSlides/notesSlide34.xml" Id="R3787f73b94eb4b5e"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8f174ccaa7664d26" /><Relationship Type="http://schemas.openxmlformats.org/officeDocument/2006/relationships/image" Target="/ppt/media/image.png" Id="Rb6355846f1b54b9c" /><Relationship Type="http://schemas.openxmlformats.org/officeDocument/2006/relationships/image" Target="/ppt/media/image2.png" Id="R29bf338bad6d4e8f" /><Relationship Type="http://schemas.openxmlformats.org/officeDocument/2006/relationships/notesSlide" Target="/ppt/notesSlides/notesSlide35.xml" Id="R909ab53e8ec141f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9a9809809732417a" /><Relationship Type="http://schemas.openxmlformats.org/officeDocument/2006/relationships/image" Target="/ppt/media/image.png" Id="R122789c458ee48c2" /><Relationship Type="http://schemas.openxmlformats.org/officeDocument/2006/relationships/image" Target="/ppt/media/image2.png" Id="Ra8d4ee372ea44d8b" /><Relationship Type="http://schemas.openxmlformats.org/officeDocument/2006/relationships/image" Target="/ppt/media/image29.png" Id="Rf66c63a4633c4f62" /><Relationship Type="http://schemas.openxmlformats.org/officeDocument/2006/relationships/image" Target="/ppt/media/image30.png" Id="Rca2be197cb3d4a0b" /><Relationship Type="http://schemas.openxmlformats.org/officeDocument/2006/relationships/image" Target="/ppt/media/image31.png" Id="R007f812b482f42d7" /><Relationship Type="http://schemas.openxmlformats.org/officeDocument/2006/relationships/notesSlide" Target="/ppt/notesSlides/notesSlide36.xml" Id="R8b860fc9270145d3" /></Relationships>
</file>

<file path=ppt/slides/_rels/slide37.xml.rels>&#65279;<?xml version="1.0" encoding="utf-8"?><Relationships xmlns="http://schemas.openxmlformats.org/package/2006/relationships"><Relationship Type="http://schemas.openxmlformats.org/officeDocument/2006/relationships/slideLayout" Target="/ppt/slideLayouts/slideLayout2.xml" Id="Rc9dffed365434a50" /><Relationship Type="http://schemas.openxmlformats.org/officeDocument/2006/relationships/hyperlink" Target="https://github.com/SeedFlora/meet5CloudService" TargetMode="External" Id="R91b9495c93004089" /><Relationship Type="http://schemas.openxmlformats.org/officeDocument/2006/relationships/hyperlink" Target="https://github.com/SeedFlora/meet5CloudService" TargetMode="External" Id="R7726dd244f5941cb" /><Relationship Type="http://schemas.openxmlformats.org/officeDocument/2006/relationships/notesSlide" Target="/ppt/notesSlides/notesSlide37.xml" Id="Rc09cf2b18d41450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e23fa4d569f643ad" /><Relationship Type="http://schemas.openxmlformats.org/officeDocument/2006/relationships/hyperlink" Target="https://docs.docker.com/get-started/docker-concepts/building-images/writing-a-dockerfile/" TargetMode="External" Id="Ra74e38a61984495e" /><Relationship Type="http://schemas.openxmlformats.org/officeDocument/2006/relationships/hyperlink" Target="https://www.docker.com/resources/docker-intro-and-overview-on-demand-training/" TargetMode="External" Id="Rb5f13cc7ac4e4385" /><Relationship Type="http://schemas.openxmlformats.org/officeDocument/2006/relationships/hyperlink" Target="https://github.com/SeedFlora/meet5CloudService" TargetMode="External" Id="R800de65c96144bca" /><Relationship Type="http://schemas.openxmlformats.org/officeDocument/2006/relationships/image" Target="/ppt/media/image32.png" Id="R8fd5c5e19ea3495e" /><Relationship Type="http://schemas.openxmlformats.org/officeDocument/2006/relationships/notesSlide" Target="/ppt/notesSlides/notesSlide38.xml" Id="Rd9f05062071542e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1ae30c6e19274b54" /><Relationship Type="http://schemas.openxmlformats.org/officeDocument/2006/relationships/image" Target="/ppt/media/image33.png" Id="Rc8a43cacec9a4d87" /><Relationship Type="http://schemas.openxmlformats.org/officeDocument/2006/relationships/notesSlide" Target="/ppt/notesSlides/notesSlide39.xml" Id="R9a10c189e2c7426d"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5c39d9cb34414b68" /><Relationship Type="http://schemas.openxmlformats.org/officeDocument/2006/relationships/image" Target="/ppt/media/image34.png" Id="R495dde0b8a5e4f76" /><Relationship Type="http://schemas.openxmlformats.org/officeDocument/2006/relationships/notesSlide" Target="/ppt/notesSlides/notesSlide40.xml" Id="R403fc355c862423d"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4f31050156cb4de3" /><Relationship Type="http://schemas.openxmlformats.org/officeDocument/2006/relationships/image" Target="/ppt/media/image7.jpeg" Id="Rb2534f09eea14805" /><Relationship Type="http://schemas.openxmlformats.org/officeDocument/2006/relationships/notesSlide" Target="/ppt/notesSlides/notesSlide41.xml" Id="R4410e1aebe4e439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2.xml" Id="R2a7b0e1619f347d2" /><Relationship Type="http://schemas.openxmlformats.org/officeDocument/2006/relationships/image" Target="/ppt/media/image35.png" Id="R257f42757cc8445c" /><Relationship Type="http://schemas.openxmlformats.org/officeDocument/2006/relationships/image" Target="/ppt/media/image36.png" Id="R5f8b4821d759477e" /><Relationship Type="http://schemas.openxmlformats.org/officeDocument/2006/relationships/image" Target="/ppt/media/image8.jpeg" Id="Rf07efe7285fd4505" /><Relationship Type="http://schemas.openxmlformats.org/officeDocument/2006/relationships/notesSlide" Target="/ppt/notesSlides/notesSlide42.xml" Id="Rc31e600505ff408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2.xml" Id="R2d4bb007639f43ad" /><Relationship Type="http://schemas.openxmlformats.org/officeDocument/2006/relationships/image" Target="/ppt/media/image37.png" Id="R15cb179b331147e9" /><Relationship Type="http://schemas.openxmlformats.org/officeDocument/2006/relationships/image" Target="/ppt/media/image38.png" Id="Rb0539a4ae7eb4411" /><Relationship Type="http://schemas.openxmlformats.org/officeDocument/2006/relationships/image" Target="/ppt/media/image9.jpeg" Id="R2a3f647f01b64128" /><Relationship Type="http://schemas.openxmlformats.org/officeDocument/2006/relationships/notesSlide" Target="/ppt/notesSlides/notesSlide43.xml" Id="Rcd1d7200bf324e8f" /></Relationships>
</file>

<file path=ppt/slides/_rels/slide44.xml.rels>&#65279;<?xml version="1.0" encoding="utf-8"?><Relationships xmlns="http://schemas.openxmlformats.org/package/2006/relationships"><Relationship Type="http://schemas.openxmlformats.org/officeDocument/2006/relationships/slideLayout" Target="/ppt/slideLayouts/slideLayout2.xml" Id="R21477e67cddd46bd" /><Relationship Type="http://schemas.openxmlformats.org/officeDocument/2006/relationships/image" Target="/ppt/media/image39.png" Id="R458d3618ab4b44a3" /><Relationship Type="http://schemas.openxmlformats.org/officeDocument/2006/relationships/image" Target="/ppt/media/image40.png" Id="R746fb7690896472d" /><Relationship Type="http://schemas.openxmlformats.org/officeDocument/2006/relationships/image" Target="/ppt/media/image10.jpeg" Id="R3ef097be485f4c28" /><Relationship Type="http://schemas.openxmlformats.org/officeDocument/2006/relationships/notesSlide" Target="/ppt/notesSlides/notesSlide44.xml" Id="R744216c254254d20" /></Relationships>
</file>

<file path=ppt/slides/_rels/slide45.xml.rels>&#65279;<?xml version="1.0" encoding="utf-8"?><Relationships xmlns="http://schemas.openxmlformats.org/package/2006/relationships"><Relationship Type="http://schemas.openxmlformats.org/officeDocument/2006/relationships/slideLayout" Target="/ppt/slideLayouts/slideLayout2.xml" Id="R9886669c26bb4db8" /><Relationship Type="http://schemas.openxmlformats.org/officeDocument/2006/relationships/image" Target="/ppt/media/image41.png" Id="R08663393d0bd47a5" /><Relationship Type="http://schemas.openxmlformats.org/officeDocument/2006/relationships/image" Target="/ppt/media/image42.png" Id="R4f26cab8c30645ca" /><Relationship Type="http://schemas.openxmlformats.org/officeDocument/2006/relationships/image" Target="/ppt/media/image11.jpeg" Id="R348afc43cb4249f5" /><Relationship Type="http://schemas.openxmlformats.org/officeDocument/2006/relationships/notesSlide" Target="/ppt/notesSlides/notesSlide45.xml" Id="Rf40b5410c3d1499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2.xml" Id="Rb645b3c1f5334849" /><Relationship Type="http://schemas.openxmlformats.org/officeDocument/2006/relationships/image" Target="/ppt/media/image43.png" Id="R718172aef1c3451e" /><Relationship Type="http://schemas.openxmlformats.org/officeDocument/2006/relationships/image" Target="/ppt/media/image44.png" Id="Rba333ecb2c04402c" /><Relationship Type="http://schemas.openxmlformats.org/officeDocument/2006/relationships/image" Target="/ppt/media/image12.jpeg" Id="Reb2a56d20bf948af" /><Relationship Type="http://schemas.openxmlformats.org/officeDocument/2006/relationships/notesSlide" Target="/ppt/notesSlides/notesSlide46.xml" Id="Rc6ca146dc109411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2.xml" Id="R070f773c81b24860" /><Relationship Type="http://schemas.openxmlformats.org/officeDocument/2006/relationships/image" Target="/ppt/media/image45.png" Id="R46d19c13b1984fa0" /><Relationship Type="http://schemas.openxmlformats.org/officeDocument/2006/relationships/image" Target="/ppt/media/image46.png" Id="Re94ad1e04cdd4036" /><Relationship Type="http://schemas.openxmlformats.org/officeDocument/2006/relationships/image" Target="/ppt/media/image13.jpeg" Id="Ree3ebaaf8bd04037" /><Relationship Type="http://schemas.openxmlformats.org/officeDocument/2006/relationships/notesSlide" Target="/ppt/notesSlides/notesSlide47.xml" Id="R608f3e2d97254581" /></Relationships>
</file>

<file path=ppt/slides/_rels/slide48.xml.rels>&#65279;<?xml version="1.0" encoding="utf-8"?><Relationships xmlns="http://schemas.openxmlformats.org/package/2006/relationships"><Relationship Type="http://schemas.openxmlformats.org/officeDocument/2006/relationships/slideLayout" Target="/ppt/slideLayouts/slideLayout2.xml" Id="R6e64892bd1d04f4b" /><Relationship Type="http://schemas.openxmlformats.org/officeDocument/2006/relationships/image" Target="/ppt/media/image47.png" Id="Rbe1bf68e2e514c32" /><Relationship Type="http://schemas.openxmlformats.org/officeDocument/2006/relationships/image" Target="/ppt/media/image48.png" Id="R55b7ba5232d14c30" /><Relationship Type="http://schemas.openxmlformats.org/officeDocument/2006/relationships/image" Target="/ppt/media/image14.jpeg" Id="R773c18f4a2e544bd" /><Relationship Type="http://schemas.openxmlformats.org/officeDocument/2006/relationships/notesSlide" Target="/ppt/notesSlides/notesSlide48.xml" Id="R2d2b503130ad4f6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2.xml" Id="R39dcef82c2504308" /><Relationship Type="http://schemas.openxmlformats.org/officeDocument/2006/relationships/image" Target="/ppt/media/image49.png" Id="R07e16991a86440c2" /><Relationship Type="http://schemas.openxmlformats.org/officeDocument/2006/relationships/image" Target="/ppt/media/image50.png" Id="R522d2bd285364be4" /><Relationship Type="http://schemas.openxmlformats.org/officeDocument/2006/relationships/image" Target="/ppt/media/image15.jpeg" Id="Ra42339618850451c" /><Relationship Type="http://schemas.openxmlformats.org/officeDocument/2006/relationships/notesSlide" Target="/ppt/notesSlides/notesSlide49.xml" Id="Re932382e252446ed" /></Relationships>
</file>

<file path=ppt/slides/_rels/slide50.xml.rels>&#65279;<?xml version="1.0" encoding="utf-8"?><Relationships xmlns="http://schemas.openxmlformats.org/package/2006/relationships"><Relationship Type="http://schemas.openxmlformats.org/officeDocument/2006/relationships/slideLayout" Target="/ppt/slideLayouts/slideLayout2.xml" Id="Rd80922e37dea486c" /><Relationship Type="http://schemas.openxmlformats.org/officeDocument/2006/relationships/image" Target="/ppt/media/image51.png" Id="R050884a2784448ef" /><Relationship Type="http://schemas.openxmlformats.org/officeDocument/2006/relationships/image" Target="/ppt/media/image52.png" Id="R416d567234eb4123" /><Relationship Type="http://schemas.openxmlformats.org/officeDocument/2006/relationships/image" Target="/ppt/media/image16.jpeg" Id="R2e3ea199f733487d" /><Relationship Type="http://schemas.openxmlformats.org/officeDocument/2006/relationships/notesSlide" Target="/ppt/notesSlides/notesSlide50.xml" Id="R3599d2fcfec94df6" /></Relationships>
</file>

<file path=ppt/slides/_rels/slide51.xml.rels>&#65279;<?xml version="1.0" encoding="utf-8"?><Relationships xmlns="http://schemas.openxmlformats.org/package/2006/relationships"><Relationship Type="http://schemas.openxmlformats.org/officeDocument/2006/relationships/slideLayout" Target="/ppt/slideLayouts/slideLayout2.xml" Id="Rcdf03f91c62547d0" /><Relationship Type="http://schemas.openxmlformats.org/officeDocument/2006/relationships/image" Target="/ppt/media/image53.png" Id="Rdcb3efe184de44ce" /><Relationship Type="http://schemas.openxmlformats.org/officeDocument/2006/relationships/image" Target="/ppt/media/image54.png" Id="R650d530a01614899" /><Relationship Type="http://schemas.openxmlformats.org/officeDocument/2006/relationships/image" Target="/ppt/media/image17.jpeg" Id="R9c444985a95a4f47" /><Relationship Type="http://schemas.openxmlformats.org/officeDocument/2006/relationships/notesSlide" Target="/ppt/notesSlides/notesSlide51.xml" Id="R1d1fec480a8a4635" /></Relationships>
</file>

<file path=ppt/slides/_rels/slide52.xml.rels>&#65279;<?xml version="1.0" encoding="utf-8"?><Relationships xmlns="http://schemas.openxmlformats.org/package/2006/relationships"><Relationship Type="http://schemas.openxmlformats.org/officeDocument/2006/relationships/slideLayout" Target="/ppt/slideLayouts/slideLayout2.xml" Id="Rbc33c13fa2ad444f" /><Relationship Type="http://schemas.openxmlformats.org/officeDocument/2006/relationships/image" Target="/ppt/media/image55.png" Id="R150db419277d4d69" /><Relationship Type="http://schemas.openxmlformats.org/officeDocument/2006/relationships/image" Target="/ppt/media/image56.png" Id="R814843a49b4d4806" /><Relationship Type="http://schemas.openxmlformats.org/officeDocument/2006/relationships/image" Target="/ppt/media/image18.jpeg" Id="R7114aecd731f4496" /><Relationship Type="http://schemas.openxmlformats.org/officeDocument/2006/relationships/notesSlide" Target="/ppt/notesSlides/notesSlide52.xml" Id="R668f67ddb0b64148" /></Relationships>
</file>

<file path=ppt/slides/_rels/slide53.xml.rels>&#65279;<?xml version="1.0" encoding="utf-8"?><Relationships xmlns="http://schemas.openxmlformats.org/package/2006/relationships"><Relationship Type="http://schemas.openxmlformats.org/officeDocument/2006/relationships/slideLayout" Target="/ppt/slideLayouts/slideLayout2.xml" Id="R8e281810726b4406" /><Relationship Type="http://schemas.openxmlformats.org/officeDocument/2006/relationships/image" Target="/ppt/media/image57.png" Id="R476706651ac74c2b" /><Relationship Type="http://schemas.openxmlformats.org/officeDocument/2006/relationships/image" Target="/ppt/media/image58.png" Id="R7f906284e0a140b0" /><Relationship Type="http://schemas.openxmlformats.org/officeDocument/2006/relationships/image" Target="/ppt/media/image19.jpeg" Id="Rf37e6c36fdfc4fc4" /><Relationship Type="http://schemas.openxmlformats.org/officeDocument/2006/relationships/notesSlide" Target="/ppt/notesSlides/notesSlide53.xml" Id="R2ae2fcd227ea4899" /></Relationships>
</file>

<file path=ppt/slides/_rels/slide54.xml.rels>&#65279;<?xml version="1.0" encoding="utf-8"?><Relationships xmlns="http://schemas.openxmlformats.org/package/2006/relationships"><Relationship Type="http://schemas.openxmlformats.org/officeDocument/2006/relationships/slideLayout" Target="/ppt/slideLayouts/slideLayout2.xml" Id="R8f211eb8a88f4f41" /><Relationship Type="http://schemas.openxmlformats.org/officeDocument/2006/relationships/image" Target="/ppt/media/image59.png" Id="R39f4596e71de4464" /><Relationship Type="http://schemas.openxmlformats.org/officeDocument/2006/relationships/image" Target="/ppt/media/image60.png" Id="R34bcf2d191ef4015" /><Relationship Type="http://schemas.openxmlformats.org/officeDocument/2006/relationships/image" Target="/ppt/media/image20.jpeg" Id="Rd035fcc8bf8f4e05" /><Relationship Type="http://schemas.openxmlformats.org/officeDocument/2006/relationships/notesSlide" Target="/ppt/notesSlides/notesSlide54.xml" Id="Ra0ed702b87ee40e0" /></Relationships>
</file>

<file path=ppt/slides/_rels/slide55.xml.rels>&#65279;<?xml version="1.0" encoding="utf-8"?><Relationships xmlns="http://schemas.openxmlformats.org/package/2006/relationships"><Relationship Type="http://schemas.openxmlformats.org/officeDocument/2006/relationships/slideLayout" Target="/ppt/slideLayouts/slideLayout2.xml" Id="Rc310a25ee38a47e7" /><Relationship Type="http://schemas.openxmlformats.org/officeDocument/2006/relationships/image" Target="/ppt/media/image61.png" Id="Rb68646fda66f4339" /><Relationship Type="http://schemas.openxmlformats.org/officeDocument/2006/relationships/image" Target="/ppt/media/image62.png" Id="Rca42216b50bf44a3" /><Relationship Type="http://schemas.openxmlformats.org/officeDocument/2006/relationships/image" Target="/ppt/media/image21.jpeg" Id="R1e560eb0028a48ab" /><Relationship Type="http://schemas.openxmlformats.org/officeDocument/2006/relationships/notesSlide" Target="/ppt/notesSlides/notesSlide55.xml" Id="Rf9bc945b0a5a4fed" /></Relationships>
</file>

<file path=ppt/slides/slide1.xml><?xml version="1.0" encoding="utf-8"?>
<p:sld xmlns:p="http://schemas.openxmlformats.org/presentationml/2006/main">
  <p:cSld>
    <p:bg>
      <p:bgPr>
        <a:blipFill xmlns:a="http://schemas.openxmlformats.org/drawingml/2006/main" rotWithShape="1">
          <a:blip xmlns:r="http://schemas.openxmlformats.org/officeDocument/2006/relationships" r:embed="R78abe95d7c6f42ef">
            <a:lum/>
          </a:blip>
          <a:srcRect l="0" t="0" r="0" b="0"/>
          <a:stretch>
            <a:fillRect l="0" t="0" r="0" b="0"/>
          </a:stretch>
        </a:blipFill>
      </p:bgPr>
    </p:bg>
    <p:spTree>
      <p:nvGrpSpPr>
        <p:cNvPr id="1" name=""/>
        <p:cNvGrpSpPr/>
        <p:nvPr/>
      </p:nvGrpSpPr>
      <p:grpSpPr>
        <a:xfrm xmlns:a="http://schemas.openxmlformats.org/drawingml/2006/main"/>
      </p:grpSpPr>
      <p:pic>
        <p:nvPicPr>
          <p:cNvPr id="13" name="Image 0">
            <a:extLst xmlns:a="http://schemas.openxmlformats.org/drawingml/2006/main">
              <a:ext uri="{FF2B5EF4-FFF2-40B4-BE49-F238E27FC236}">
                <a16:creationId xmlns:a16="http://schemas.microsoft.com/office/drawing/2014/main" id="{6328350A-1CFC-4947-8455-A153621B9F9D}"/>
              </a:ext>
            </a:extLst>
          </p:cNvPr>
          <p:cNvPicPr>
            <a:picLocks xmlns:a="http://schemas.openxmlformats.org/drawingml/2006/main" noChangeAspect="1"/>
          </p:cNvPicPr>
          <p:nvPr/>
        </p:nvPicPr>
        <p:blipFill>
          <a:blip xmlns:r="http://schemas.openxmlformats.org/officeDocument/2006/relationships" xmlns:a="http://schemas.openxmlformats.org/drawingml/2006/main" r:embed="Rd68150b6a0e9483c"/>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14" name="Image 1">
            <a:extLst xmlns:a="http://schemas.openxmlformats.org/drawingml/2006/main">
              <a:ext uri="{FF2B5EF4-FFF2-40B4-BE49-F238E27FC236}">
                <a16:creationId xmlns:a16="http://schemas.microsoft.com/office/drawing/2014/main" id="{50AB63B1-3C22-4FB3-98F5-7229D2B409F5}"/>
              </a:ext>
            </a:extLst>
          </p:cNvPr>
          <p:cNvPicPr>
            <a:picLocks xmlns:a="http://schemas.openxmlformats.org/drawingml/2006/main" noChangeAspect="1"/>
          </p:cNvPicPr>
          <p:nvPr/>
        </p:nvPicPr>
        <p:blipFill>
          <a:blip xmlns:r="http://schemas.openxmlformats.org/officeDocument/2006/relationships" xmlns:a="http://schemas.openxmlformats.org/drawingml/2006/main" r:embed="Ra97f463d6d0e4c4d"/>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791F6FB8-88A3-4B25-8F8D-6AF668AD74CB}"/>
              </a:ext>
            </a:extLst>
          </p:cNvPr>
          <p:cNvSpPr>
            <a:spLocks xmlns:a="http://schemas.openxmlformats.org/drawingml/2006/main" noGrp="1"/>
          </p:cNvSpPr>
          <p:nvPr/>
        </p:nvSpPr>
        <p:spPr>
          <a:xfrm xmlns:a="http://schemas.openxmlformats.org/drawingml/2006/main">
            <a:off x="457200" y="2468880"/>
            <a:ext cx="11247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spc="400">
                <a:solidFill>
                  <a:srgbClr val="FFE0B2"/>
                </a:solidFill>
                <a:latin typeface="Calibri"/>
                <a:ea typeface="Calibri"/>
                <a:cs typeface="Calibri"/>
              </a:rPr>
              <a:t>COMP6991031   |   2 SKS</a:t>
            </a:r>
            <a:endParaRPr sz="1400"/>
          </a:p>
        </p:txBody>
      </p:sp>
      <p:sp>
        <p:nvSpPr>
          <p:cNvPr id="5" name="Text 1">
            <a:extLst xmlns:a="http://schemas.openxmlformats.org/drawingml/2006/main">
              <a:ext uri="{FF2B5EF4-FFF2-40B4-BE49-F238E27FC236}">
                <a16:creationId xmlns:a16="http://schemas.microsoft.com/office/drawing/2014/main" id="{7C71C59F-C6E8-436D-B29C-05E82550ECD9}"/>
              </a:ext>
            </a:extLst>
          </p:cNvPr>
          <p:cNvSpPr>
            <a:spLocks xmlns:a="http://schemas.openxmlformats.org/drawingml/2006/main" noGrp="1"/>
          </p:cNvSpPr>
          <p:nvPr/>
        </p:nvSpPr>
        <p:spPr>
          <a:xfrm xmlns:a="http://schemas.openxmlformats.org/drawingml/2006/main">
            <a:off x="457200" y="2926080"/>
            <a:ext cx="112471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5600" b="1">
                <a:solidFill>
                  <a:srgbClr val="FFFFFF"/>
                </a:solidFill>
                <a:latin typeface="Calibri"/>
                <a:ea typeface="Calibri"/>
                <a:cs typeface="Calibri"/>
              </a:rPr>
              <a:t>DOCKER CORE</a:t>
            </a:r>
            <a:endParaRPr sz="5600"/>
          </a:p>
        </p:txBody>
      </p:sp>
      <p:sp>
        <p:nvSpPr>
          <p:cNvPr id="6" name="Text 2">
            <a:extLst xmlns:a="http://schemas.openxmlformats.org/drawingml/2006/main">
              <a:ext uri="{FF2B5EF4-FFF2-40B4-BE49-F238E27FC236}">
                <a16:creationId xmlns:a16="http://schemas.microsoft.com/office/drawing/2014/main" id="{EDA9D5D7-DEAB-4DD7-A424-A342A352DACF}"/>
              </a:ext>
            </a:extLst>
          </p:cNvPr>
          <p:cNvSpPr>
            <a:spLocks xmlns:a="http://schemas.openxmlformats.org/drawingml/2006/main" noGrp="1"/>
          </p:cNvSpPr>
          <p:nvPr/>
        </p:nvSpPr>
        <p:spPr>
          <a:xfrm xmlns:a="http://schemas.openxmlformats.org/drawingml/2006/main">
            <a:off x="457200" y="3886200"/>
            <a:ext cx="112471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a:solidFill>
                  <a:srgbClr val="FFFFFF"/>
                </a:solidFill>
                <a:latin typeface="Calibri"/>
                <a:ea typeface="Calibri"/>
                <a:cs typeface="Calibri"/>
              </a:rPr>
              <a:t>Dockerfile, Build Cache, Multi-stage, Optimasi</a:t>
            </a:r>
            <a:endParaRPr sz="2200"/>
          </a:p>
        </p:txBody>
      </p:sp>
      <p:sp>
        <p:nvSpPr>
          <p:cNvPr id="7" name="Shape 3">
            <a:extLst xmlns:a="http://schemas.openxmlformats.org/drawingml/2006/main">
              <a:ext uri="{FF2B5EF4-FFF2-40B4-BE49-F238E27FC236}">
                <a16:creationId xmlns:a16="http://schemas.microsoft.com/office/drawing/2014/main" id="{F38B50C3-12C3-489A-859C-8A5408510877}"/>
              </a:ext>
            </a:extLst>
          </p:cNvPr>
          <p:cNvSpPr>
            <a:spLocks xmlns:a="http://schemas.openxmlformats.org/drawingml/2006/main" noGrp="1"/>
          </p:cNvSpPr>
          <p:nvPr/>
        </p:nvSpPr>
        <p:spPr>
          <a:xfrm xmlns:a="http://schemas.openxmlformats.org/drawingml/2006/main">
            <a:off x="5715000" y="45720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8" name="Text 4">
            <a:extLst xmlns:a="http://schemas.openxmlformats.org/drawingml/2006/main">
              <a:ext uri="{FF2B5EF4-FFF2-40B4-BE49-F238E27FC236}">
                <a16:creationId xmlns:a16="http://schemas.microsoft.com/office/drawing/2014/main" id="{3B2062B6-4D9C-48D7-93C7-EB31E232CE16}"/>
              </a:ext>
            </a:extLst>
          </p:cNvPr>
          <p:cNvSpPr>
            <a:spLocks xmlns:a="http://schemas.openxmlformats.org/drawingml/2006/main" noGrp="1"/>
          </p:cNvSpPr>
          <p:nvPr/>
        </p:nvSpPr>
        <p:spPr>
          <a:xfrm xmlns:a="http://schemas.openxmlformats.org/drawingml/2006/main">
            <a:off x="457200" y="4709160"/>
            <a:ext cx="1124712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i="1" spc="300">
                <a:solidFill>
                  <a:srgbClr val="FFE0B2"/>
                </a:solidFill>
                <a:latin typeface="Calibri"/>
                <a:ea typeface="Calibri"/>
                <a:cs typeface="Calibri"/>
              </a:rPr>
              <a:t>PERTEMUAN 5  |  100 MENIT</a:t>
            </a:r>
            <a:endParaRPr sz="1200"/>
          </a:p>
        </p:txBody>
      </p:sp>
      <p:sp>
        <p:nvSpPr>
          <p:cNvPr id="9" name="Text 5">
            <a:extLst xmlns:a="http://schemas.openxmlformats.org/drawingml/2006/main">
              <a:ext uri="{FF2B5EF4-FFF2-40B4-BE49-F238E27FC236}">
                <a16:creationId xmlns:a16="http://schemas.microsoft.com/office/drawing/2014/main" id="{560C0697-032D-4B41-9FB9-56F1A32CDA36}"/>
              </a:ext>
            </a:extLst>
          </p:cNvPr>
          <p:cNvSpPr>
            <a:spLocks xmlns:a="http://schemas.openxmlformats.org/drawingml/2006/main" noGrp="1"/>
          </p:cNvSpPr>
          <p:nvPr/>
        </p:nvSpPr>
        <p:spPr>
          <a:xfrm xmlns:a="http://schemas.openxmlformats.org/drawingml/2006/main">
            <a:off x="457200" y="594360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Budi Juarto, S.T., M.Kom.</a:t>
            </a:r>
            <a:endParaRPr sz="1300"/>
          </a:p>
        </p:txBody>
      </p:sp>
      <p:sp>
        <p:nvSpPr>
          <p:cNvPr id="10" name="Text 6">
            <a:extLst xmlns:a="http://schemas.openxmlformats.org/drawingml/2006/main">
              <a:ext uri="{FF2B5EF4-FFF2-40B4-BE49-F238E27FC236}">
                <a16:creationId xmlns:a16="http://schemas.microsoft.com/office/drawing/2014/main" id="{EEF93737-0E31-4348-B15C-93B521A94238}"/>
              </a:ext>
            </a:extLst>
          </p:cNvPr>
          <p:cNvSpPr>
            <a:spLocks xmlns:a="http://schemas.openxmlformats.org/drawingml/2006/main" noGrp="1"/>
          </p:cNvSpPr>
          <p:nvPr/>
        </p:nvSpPr>
        <p:spPr>
          <a:xfrm xmlns:a="http://schemas.openxmlformats.org/drawingml/2006/main">
            <a:off x="457200" y="621792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FFE0B2"/>
                </a:solidFill>
                <a:latin typeface="Calibri"/>
                <a:ea typeface="Calibri"/>
                <a:cs typeface="Calibri"/>
              </a:rPr>
              <a:t>Departemen Informatika  -  BINUS @Bandung</a:t>
            </a:r>
            <a:endParaRPr sz="1100"/>
          </a:p>
        </p:txBody>
      </p:sp>
      <p:sp>
        <p:nvSpPr>
          <p:cNvPr id="15" name="text_7">
            <a:extLst xmlns:a="http://schemas.openxmlformats.org/drawingml/2006/main">
              <a:ext uri="{FF2B5EF4-FFF2-40B4-BE49-F238E27FC236}">
                <a16:creationId xmlns:a16="http://schemas.microsoft.com/office/drawing/2014/main" id="{BBB74D39-F7A1-4BE7-AD35-598DCC5BEAF7}"/>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1</a:t>
            </a:r>
          </a:p>
        </p:txBody>
      </p:sp>
    </p:spTree>
    <p:extLst>
      <p:ext uri="{BB962C8B-B14F-4D97-AF65-F5344CB8AC3E}">
        <p14:creationId xmlns:p14="http://schemas.microsoft.com/office/powerpoint/2010/main" val="163114963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1040292-9337-45BC-8CEF-039684B3EA4F}"/>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F2123FF1-D8DF-4CEC-8482-2181F9CF0C63}"/>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a:t>
            </a:r>
            <a:endParaRPr sz="900"/>
          </a:p>
        </p:txBody>
      </p:sp>
      <p:sp>
        <p:nvSpPr>
          <p:cNvPr id="4" name="Shape 2">
            <a:extLst xmlns:a="http://schemas.openxmlformats.org/drawingml/2006/main">
              <a:ext uri="{FF2B5EF4-FFF2-40B4-BE49-F238E27FC236}">
                <a16:creationId xmlns:a16="http://schemas.microsoft.com/office/drawing/2014/main" id="{B1768828-B0B8-496F-95D8-EA919CEDC164}"/>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6" name="Image 0">
            <a:extLst xmlns:a="http://schemas.openxmlformats.org/drawingml/2006/main">
              <a:ext uri="{FF2B5EF4-FFF2-40B4-BE49-F238E27FC236}">
                <a16:creationId xmlns:a16="http://schemas.microsoft.com/office/drawing/2014/main" id="{1C8CA637-36FD-4293-8920-E961E010F983}"/>
              </a:ext>
            </a:extLst>
          </p:cNvPr>
          <p:cNvPicPr>
            <a:picLocks xmlns:a="http://schemas.openxmlformats.org/drawingml/2006/main" noChangeAspect="1"/>
          </p:cNvPicPr>
          <p:nvPr/>
        </p:nvPicPr>
        <p:blipFill>
          <a:blip xmlns:r="http://schemas.openxmlformats.org/officeDocument/2006/relationships" xmlns:a="http://schemas.openxmlformats.org/drawingml/2006/main" r:embed="R10c3f2d24b074439"/>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7" name="Image 1">
            <a:extLst xmlns:a="http://schemas.openxmlformats.org/drawingml/2006/main">
              <a:ext uri="{FF2B5EF4-FFF2-40B4-BE49-F238E27FC236}">
                <a16:creationId xmlns:a16="http://schemas.microsoft.com/office/drawing/2014/main" id="{090B934E-9980-4A4F-9C4A-18E625A59827}"/>
              </a:ext>
            </a:extLst>
          </p:cNvPr>
          <p:cNvPicPr>
            <a:picLocks xmlns:a="http://schemas.openxmlformats.org/drawingml/2006/main" noChangeAspect="1"/>
          </p:cNvPicPr>
          <p:nvPr/>
        </p:nvPicPr>
        <p:blipFill>
          <a:blip xmlns:r="http://schemas.openxmlformats.org/officeDocument/2006/relationships" xmlns:a="http://schemas.openxmlformats.org/drawingml/2006/main" r:embed="Rad232112761c4b01"/>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97237CFA-ACA7-499D-9788-1B8BF9C0B29F}"/>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61EF8C2D-27C4-4D33-9081-6E863EE8A87A}"/>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Recap Pertemuan 4 &amp; Agenda Hari Ini</a:t>
            </a:r>
            <a:endParaRPr sz="2200"/>
          </a:p>
        </p:txBody>
      </p:sp>
      <p:sp>
        <p:nvSpPr>
          <p:cNvPr id="9" name="Text 5">
            <a:extLst xmlns:a="http://schemas.openxmlformats.org/drawingml/2006/main">
              <a:ext uri="{FF2B5EF4-FFF2-40B4-BE49-F238E27FC236}">
                <a16:creationId xmlns:a16="http://schemas.microsoft.com/office/drawing/2014/main" id="{AD11C916-E1C1-4229-8882-A187B3333CA3}"/>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Dari konsep container ke pembuatan image sendiri</a:t>
            </a:r>
            <a:endParaRPr sz="1200"/>
          </a:p>
        </p:txBody>
      </p:sp>
      <p:sp>
        <p:nvSpPr>
          <p:cNvPr id="10" name="Shape 6">
            <a:extLst xmlns:a="http://schemas.openxmlformats.org/drawingml/2006/main">
              <a:ext uri="{FF2B5EF4-FFF2-40B4-BE49-F238E27FC236}">
                <a16:creationId xmlns:a16="http://schemas.microsoft.com/office/drawing/2014/main" id="{73524D0E-10C5-4756-BDA7-281FEA219093}"/>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Text 7">
            <a:extLst xmlns:a="http://schemas.openxmlformats.org/drawingml/2006/main">
              <a:ext uri="{FF2B5EF4-FFF2-40B4-BE49-F238E27FC236}">
                <a16:creationId xmlns:a16="http://schemas.microsoft.com/office/drawing/2014/main" id="{91BEAFCC-89A6-4C23-B1E2-33091FC32EE1}"/>
              </a:ext>
            </a:extLst>
          </p:cNvPr>
          <p:cNvSpPr>
            <a:spLocks xmlns:a="http://schemas.openxmlformats.org/drawingml/2006/main" noGrp="1"/>
          </p:cNvSpPr>
          <p:nvPr/>
        </p:nvSpPr>
        <p:spPr>
          <a:xfrm xmlns:a="http://schemas.openxmlformats.org/drawingml/2006/main">
            <a:off x="685800" y="1600200"/>
            <a:ext cx="51206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300">
                <a:solidFill>
                  <a:srgbClr val="F37021"/>
                </a:solidFill>
                <a:latin typeface="Calibri"/>
                <a:ea typeface="Calibri"/>
                <a:cs typeface="Calibri"/>
              </a:rPr>
              <a:t>DI PERTEMUAN 4, KITA SUDAH:</a:t>
            </a:r>
            <a:endParaRPr sz="1100"/>
          </a:p>
          <a:p xmlns:a="http://schemas.openxmlformats.org/drawingml/2006/main">
            <a:pPr marL="0" indent="0">
              <a:buNone/>
            </a:pPr>
            <a:r>
              <a:rPr sz="600">
                <a:solidFill>
                  <a:srgbClr val="000000"/>
                </a:solidFill>
                <a:latin typeface="Calibri"/>
                <a:ea typeface="Calibri"/>
                <a:cs typeface="Calibri"/>
              </a:rPr>
              <a:t> </a:t>
            </a:r>
            <a:endParaRPr sz="1100"/>
          </a:p>
          <a:p xmlns:a="http://schemas.openxmlformats.org/drawingml/2006/main">
            <a:pPr marL="0" indent="0">
              <a:buNone/>
            </a:pPr>
            <a:r>
              <a:rPr sz="2200" b="1">
                <a:solidFill>
                  <a:srgbClr val="002677"/>
                </a:solidFill>
                <a:latin typeface="Calibri"/>
                <a:ea typeface="Calibri"/>
                <a:cs typeface="Calibri"/>
              </a:rPr>
              <a:t>Virt + Container</a:t>
            </a:r>
            <a:endParaRPr sz="1100"/>
          </a:p>
        </p:txBody>
      </p:sp>
      <p:pic>
        <p:nvPicPr>
          <p:cNvPr id="43" name="Image 2">
            <a:extLst xmlns:a="http://schemas.openxmlformats.org/drawingml/2006/main">
              <a:ext uri="{FF2B5EF4-FFF2-40B4-BE49-F238E27FC236}">
                <a16:creationId xmlns:a16="http://schemas.microsoft.com/office/drawing/2014/main" id="{9AF85113-C294-45D7-81E6-90151130EA08}"/>
              </a:ext>
            </a:extLst>
          </p:cNvPr>
          <p:cNvPicPr>
            <a:picLocks xmlns:a="http://schemas.openxmlformats.org/drawingml/2006/main" noChangeAspect="1"/>
          </p:cNvPicPr>
          <p:nvPr/>
        </p:nvPicPr>
        <p:blipFill>
          <a:blip xmlns:r="http://schemas.openxmlformats.org/officeDocument/2006/relationships" xmlns:a="http://schemas.openxmlformats.org/drawingml/2006/main" r:embed="R3feb7321e9a74f9f"/>
          <a:stretch xmlns:a="http://schemas.openxmlformats.org/drawingml/2006/main">
            <a:fillRect l="0" t="0" r="0" b="0"/>
          </a:stretch>
        </p:blipFill>
        <p:spPr>
          <a:xfrm xmlns:a="http://schemas.openxmlformats.org/drawingml/2006/main">
            <a:off x="777240" y="2697480"/>
            <a:ext cx="320040" cy="32004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F309493E-6B3B-441B-8FCF-4247257C2385}"/>
              </a:ext>
            </a:extLst>
          </p:cNvPr>
          <p:cNvSpPr>
            <a:spLocks xmlns:a="http://schemas.openxmlformats.org/drawingml/2006/main" noGrp="1"/>
          </p:cNvSpPr>
          <p:nvPr/>
        </p:nvSpPr>
        <p:spPr>
          <a:xfrm xmlns:a="http://schemas.openxmlformats.org/drawingml/2006/main">
            <a:off x="1234440" y="260604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VM = full OS, Container = isolated process</a:t>
            </a:r>
            <a:endParaRPr sz="1200"/>
          </a:p>
        </p:txBody>
      </p:sp>
      <p:pic>
        <p:nvPicPr>
          <p:cNvPr id="45" name="Image 3">
            <a:extLst xmlns:a="http://schemas.openxmlformats.org/drawingml/2006/main">
              <a:ext uri="{FF2B5EF4-FFF2-40B4-BE49-F238E27FC236}">
                <a16:creationId xmlns:a16="http://schemas.microsoft.com/office/drawing/2014/main" id="{117EE374-D0C8-4B06-8154-7FD755EA4B78}"/>
              </a:ext>
            </a:extLst>
          </p:cNvPr>
          <p:cNvPicPr>
            <a:picLocks xmlns:a="http://schemas.openxmlformats.org/drawingml/2006/main" noChangeAspect="1"/>
          </p:cNvPicPr>
          <p:nvPr/>
        </p:nvPicPr>
        <p:blipFill>
          <a:blip xmlns:r="http://schemas.openxmlformats.org/officeDocument/2006/relationships" xmlns:a="http://schemas.openxmlformats.org/drawingml/2006/main" r:embed="R91f1c14e47e145a1"/>
          <a:stretch xmlns:a="http://schemas.openxmlformats.org/drawingml/2006/main">
            <a:fillRect l="0" t="0" r="0" b="0"/>
          </a:stretch>
        </p:blipFill>
        <p:spPr>
          <a:xfrm xmlns:a="http://schemas.openxmlformats.org/drawingml/2006/main">
            <a:off x="777240" y="3337560"/>
            <a:ext cx="320040" cy="320040"/>
          </a:xfrm>
          <a:prstGeom xmlns:a="http://schemas.openxmlformats.org/drawingml/2006/main" prst="rect">
            <a:avLst/>
          </a:prstGeom>
        </p:spPr>
      </p:pic>
      <p:sp>
        <p:nvSpPr>
          <p:cNvPr id="15" name="Text 9">
            <a:extLst xmlns:a="http://schemas.openxmlformats.org/drawingml/2006/main">
              <a:ext uri="{FF2B5EF4-FFF2-40B4-BE49-F238E27FC236}">
                <a16:creationId xmlns:a16="http://schemas.microsoft.com/office/drawing/2014/main" id="{D4B0FB14-129B-4977-907A-46FED95E1A61}"/>
              </a:ext>
            </a:extLst>
          </p:cNvPr>
          <p:cNvSpPr>
            <a:spLocks xmlns:a="http://schemas.openxmlformats.org/drawingml/2006/main" noGrp="1"/>
          </p:cNvSpPr>
          <p:nvPr/>
        </p:nvSpPr>
        <p:spPr>
          <a:xfrm xmlns:a="http://schemas.openxmlformats.org/drawingml/2006/main">
            <a:off x="1234440" y="324612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Namespace + cgroup = fondasi container</a:t>
            </a:r>
            <a:endParaRPr sz="1200"/>
          </a:p>
        </p:txBody>
      </p:sp>
      <p:pic>
        <p:nvPicPr>
          <p:cNvPr id="47" name="Image 4">
            <a:extLst xmlns:a="http://schemas.openxmlformats.org/drawingml/2006/main">
              <a:ext uri="{FF2B5EF4-FFF2-40B4-BE49-F238E27FC236}">
                <a16:creationId xmlns:a16="http://schemas.microsoft.com/office/drawing/2014/main" id="{F3B5E026-C6DD-4179-A34F-BA22A05D3FFE}"/>
              </a:ext>
            </a:extLst>
          </p:cNvPr>
          <p:cNvPicPr>
            <a:picLocks xmlns:a="http://schemas.openxmlformats.org/drawingml/2006/main" noChangeAspect="1"/>
          </p:cNvPicPr>
          <p:nvPr/>
        </p:nvPicPr>
        <p:blipFill>
          <a:blip xmlns:r="http://schemas.openxmlformats.org/officeDocument/2006/relationships" xmlns:a="http://schemas.openxmlformats.org/drawingml/2006/main" r:embed="R5c24699806794f57"/>
          <a:stretch xmlns:a="http://schemas.openxmlformats.org/drawingml/2006/main">
            <a:fillRect l="0" t="0" r="0" b="0"/>
          </a:stretch>
        </p:blipFill>
        <p:spPr>
          <a:xfrm xmlns:a="http://schemas.openxmlformats.org/drawingml/2006/main">
            <a:off x="777240" y="3977640"/>
            <a:ext cx="320040" cy="320040"/>
          </a:xfrm>
          <a:prstGeom xmlns:a="http://schemas.openxmlformats.org/drawingml/2006/main" prst="rect">
            <a:avLst/>
          </a:prstGeom>
        </p:spPr>
      </p:pic>
      <p:sp>
        <p:nvSpPr>
          <p:cNvPr id="17" name="Text 10">
            <a:extLst xmlns:a="http://schemas.openxmlformats.org/drawingml/2006/main">
              <a:ext uri="{FF2B5EF4-FFF2-40B4-BE49-F238E27FC236}">
                <a16:creationId xmlns:a16="http://schemas.microsoft.com/office/drawing/2014/main" id="{5F4FA181-9498-409D-87B7-EC5060024693}"/>
              </a:ext>
            </a:extLst>
          </p:cNvPr>
          <p:cNvSpPr>
            <a:spLocks xmlns:a="http://schemas.openxmlformats.org/drawingml/2006/main" noGrp="1"/>
          </p:cNvSpPr>
          <p:nvPr/>
        </p:nvSpPr>
        <p:spPr>
          <a:xfrm xmlns:a="http://schemas.openxmlformats.org/drawingml/2006/main">
            <a:off x="1234440" y="388620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Docker arch: CLI -&gt; daemon -&gt; registry</a:t>
            </a:r>
            <a:endParaRPr sz="1200"/>
          </a:p>
        </p:txBody>
      </p:sp>
      <p:pic>
        <p:nvPicPr>
          <p:cNvPr id="49" name="Image 5">
            <a:extLst xmlns:a="http://schemas.openxmlformats.org/drawingml/2006/main">
              <a:ext uri="{FF2B5EF4-FFF2-40B4-BE49-F238E27FC236}">
                <a16:creationId xmlns:a16="http://schemas.microsoft.com/office/drawing/2014/main" id="{F9A8FE3D-9147-418B-BA8D-90B159332C46}"/>
              </a:ext>
            </a:extLst>
          </p:cNvPr>
          <p:cNvPicPr>
            <a:picLocks xmlns:a="http://schemas.openxmlformats.org/drawingml/2006/main" noChangeAspect="1"/>
          </p:cNvPicPr>
          <p:nvPr/>
        </p:nvPicPr>
        <p:blipFill>
          <a:blip xmlns:r="http://schemas.openxmlformats.org/officeDocument/2006/relationships" xmlns:a="http://schemas.openxmlformats.org/drawingml/2006/main" r:embed="R9b47108d71d0493c"/>
          <a:stretch xmlns:a="http://schemas.openxmlformats.org/drawingml/2006/main">
            <a:fillRect l="0" t="0" r="0" b="0"/>
          </a:stretch>
        </p:blipFill>
        <p:spPr>
          <a:xfrm xmlns:a="http://schemas.openxmlformats.org/drawingml/2006/main">
            <a:off x="777240" y="4617720"/>
            <a:ext cx="320040" cy="320040"/>
          </a:xfrm>
          <a:prstGeom xmlns:a="http://schemas.openxmlformats.org/drawingml/2006/main" prst="rect">
            <a:avLst/>
          </a:prstGeom>
        </p:spPr>
      </p:pic>
      <p:sp>
        <p:nvSpPr>
          <p:cNvPr id="19" name="Text 11">
            <a:extLst xmlns:a="http://schemas.openxmlformats.org/drawingml/2006/main">
              <a:ext uri="{FF2B5EF4-FFF2-40B4-BE49-F238E27FC236}">
                <a16:creationId xmlns:a16="http://schemas.microsoft.com/office/drawing/2014/main" id="{D8A3BE02-6264-4620-8C1B-47C66A24E74C}"/>
              </a:ext>
            </a:extLst>
          </p:cNvPr>
          <p:cNvSpPr>
            <a:spLocks xmlns:a="http://schemas.openxmlformats.org/drawingml/2006/main" noGrp="1"/>
          </p:cNvSpPr>
          <p:nvPr/>
        </p:nvSpPr>
        <p:spPr>
          <a:xfrm xmlns:a="http://schemas.openxmlformats.org/drawingml/2006/main">
            <a:off x="1234440" y="452628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Image layered + immutable, container ephemeral</a:t>
            </a:r>
            <a:endParaRPr sz="1200"/>
          </a:p>
        </p:txBody>
      </p:sp>
      <p:pic>
        <p:nvPicPr>
          <p:cNvPr id="51" name="Image 6">
            <a:extLst xmlns:a="http://schemas.openxmlformats.org/drawingml/2006/main">
              <a:ext uri="{FF2B5EF4-FFF2-40B4-BE49-F238E27FC236}">
                <a16:creationId xmlns:a16="http://schemas.microsoft.com/office/drawing/2014/main" id="{22545E59-BC65-475D-9C99-783E8D15E7AB}"/>
              </a:ext>
            </a:extLst>
          </p:cNvPr>
          <p:cNvPicPr>
            <a:picLocks xmlns:a="http://schemas.openxmlformats.org/drawingml/2006/main" noChangeAspect="1"/>
          </p:cNvPicPr>
          <p:nvPr/>
        </p:nvPicPr>
        <p:blipFill>
          <a:blip xmlns:r="http://schemas.openxmlformats.org/officeDocument/2006/relationships" xmlns:a="http://schemas.openxmlformats.org/drawingml/2006/main" r:embed="R066c484b54eb4307"/>
          <a:stretch xmlns:a="http://schemas.openxmlformats.org/drawingml/2006/main">
            <a:fillRect l="0" t="0" r="0" b="0"/>
          </a:stretch>
        </p:blipFill>
        <p:spPr>
          <a:xfrm xmlns:a="http://schemas.openxmlformats.org/drawingml/2006/main">
            <a:off x="777240" y="5257800"/>
            <a:ext cx="320040" cy="320040"/>
          </a:xfrm>
          <a:prstGeom xmlns:a="http://schemas.openxmlformats.org/drawingml/2006/main" prst="rect">
            <a:avLst/>
          </a:prstGeom>
        </p:spPr>
      </p:pic>
      <p:sp>
        <p:nvSpPr>
          <p:cNvPr id="21" name="Text 12">
            <a:extLst xmlns:a="http://schemas.openxmlformats.org/drawingml/2006/main">
              <a:ext uri="{FF2B5EF4-FFF2-40B4-BE49-F238E27FC236}">
                <a16:creationId xmlns:a16="http://schemas.microsoft.com/office/drawing/2014/main" id="{75888120-D179-475C-8810-627F466CB1E3}"/>
              </a:ext>
            </a:extLst>
          </p:cNvPr>
          <p:cNvSpPr>
            <a:spLocks xmlns:a="http://schemas.openxmlformats.org/drawingml/2006/main" noGrp="1"/>
          </p:cNvSpPr>
          <p:nvPr/>
        </p:nvSpPr>
        <p:spPr>
          <a:xfrm xmlns:a="http://schemas.openxmlformats.org/drawingml/2006/main">
            <a:off x="1234440" y="516636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Volume untuk persistent data (named, bind)</a:t>
            </a:r>
            <a:endParaRPr sz="1200"/>
          </a:p>
        </p:txBody>
      </p:sp>
      <p:sp>
        <p:nvSpPr>
          <p:cNvPr id="22" name="Shape 13">
            <a:extLst xmlns:a="http://schemas.openxmlformats.org/drawingml/2006/main">
              <a:ext uri="{FF2B5EF4-FFF2-40B4-BE49-F238E27FC236}">
                <a16:creationId xmlns:a16="http://schemas.microsoft.com/office/drawing/2014/main" id="{45790661-D20D-471E-AE98-40CB99E8A393}"/>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23" name="Text 14">
            <a:extLst xmlns:a="http://schemas.openxmlformats.org/drawingml/2006/main">
              <a:ext uri="{FF2B5EF4-FFF2-40B4-BE49-F238E27FC236}">
                <a16:creationId xmlns:a16="http://schemas.microsoft.com/office/drawing/2014/main" id="{5C1616BA-8EFE-4CC4-93EB-31F60667789B}"/>
              </a:ext>
            </a:extLst>
          </p:cNvPr>
          <p:cNvSpPr>
            <a:spLocks xmlns:a="http://schemas.openxmlformats.org/drawingml/2006/main" noGrp="1"/>
          </p:cNvSpPr>
          <p:nvPr/>
        </p:nvSpPr>
        <p:spPr>
          <a:xfrm xmlns:a="http://schemas.openxmlformats.org/drawingml/2006/main">
            <a:off x="6446520" y="1600200"/>
            <a:ext cx="51206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300">
                <a:solidFill>
                  <a:srgbClr val="F37021"/>
                </a:solidFill>
                <a:latin typeface="Calibri"/>
                <a:ea typeface="Calibri"/>
                <a:cs typeface="Calibri"/>
              </a:rPr>
              <a:t>HARI INI, KITA AKAN:</a:t>
            </a:r>
            <a:endParaRPr sz="1100"/>
          </a:p>
          <a:p xmlns:a="http://schemas.openxmlformats.org/drawingml/2006/main">
            <a:pPr marL="0" indent="0">
              <a:buNone/>
            </a:pPr>
            <a:r>
              <a:rPr sz="600">
                <a:solidFill>
                  <a:srgbClr val="000000"/>
                </a:solidFill>
                <a:latin typeface="Calibri"/>
                <a:ea typeface="Calibri"/>
                <a:cs typeface="Calibri"/>
              </a:rPr>
              <a:t> </a:t>
            </a:r>
            <a:endParaRPr sz="1100"/>
          </a:p>
          <a:p xmlns:a="http://schemas.openxmlformats.org/drawingml/2006/main">
            <a:pPr marL="0" indent="0">
              <a:buNone/>
            </a:pPr>
            <a:r>
              <a:rPr sz="2200" b="1">
                <a:solidFill>
                  <a:srgbClr val="FFFFFF"/>
                </a:solidFill>
                <a:latin typeface="Calibri"/>
                <a:ea typeface="Calibri"/>
                <a:cs typeface="Calibri"/>
              </a:rPr>
              <a:t>Docker Core</a:t>
            </a:r>
            <a:endParaRPr sz="1100"/>
          </a:p>
        </p:txBody>
      </p:sp>
      <p:sp>
        <p:nvSpPr>
          <p:cNvPr id="24" name="Text 15">
            <a:extLst xmlns:a="http://schemas.openxmlformats.org/drawingml/2006/main">
              <a:ext uri="{FF2B5EF4-FFF2-40B4-BE49-F238E27FC236}">
                <a16:creationId xmlns:a16="http://schemas.microsoft.com/office/drawing/2014/main" id="{E7DDE0BD-B32E-4C67-98BB-587307E00B16}"/>
              </a:ext>
            </a:extLst>
          </p:cNvPr>
          <p:cNvSpPr>
            <a:spLocks xmlns:a="http://schemas.openxmlformats.org/drawingml/2006/main" noGrp="1"/>
          </p:cNvSpPr>
          <p:nvPr/>
        </p:nvSpPr>
        <p:spPr>
          <a:xfrm xmlns:a="http://schemas.openxmlformats.org/drawingml/2006/main">
            <a:off x="6446520" y="2606040"/>
            <a:ext cx="5029200" cy="33832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spcAft>
                <a:spcPts val="600"/>
              </a:spcAft>
              <a:buNone/>
            </a:pPr>
            <a:r>
              <a:rPr sz="1200">
                <a:solidFill>
                  <a:srgbClr val="FFFFFF"/>
                </a:solidFill>
                <a:latin typeface="Calibri"/>
                <a:ea typeface="Calibri"/>
                <a:cs typeface="Calibri"/>
              </a:rPr>
              <a:t>1. </a:t>
            </a:r>
            <a:r>
              <a:rPr sz="1200">
                <a:solidFill>
                  <a:srgbClr val="FFFFFF"/>
                </a:solidFill>
                <a:latin typeface="Calibri"/>
                <a:ea typeface="Calibri"/>
                <a:cs typeface="Calibri"/>
              </a:rPr>
              <a:t>Dockerfile + 14 instruksi inti</a:t>
            </a:r>
            <a:endParaRPr sz="1200"/>
          </a:p>
          <a:p xmlns:a="http://schemas.openxmlformats.org/drawingml/2006/main">
            <a:pPr marL="0" indent="0">
              <a:spcAft>
                <a:spcPts val="600"/>
              </a:spcAft>
              <a:buNone/>
            </a:pPr>
            <a:r>
              <a:rPr sz="1200">
                <a:solidFill>
                  <a:srgbClr val="FFFFFF"/>
                </a:solidFill>
                <a:latin typeface="Calibri"/>
                <a:ea typeface="Calibri"/>
                <a:cs typeface="Calibri"/>
              </a:rPr>
              <a:t>2. Build instructions deep dive (FROM, RUN, CMD)</a:t>
            </a:r>
            <a:endParaRPr sz="1200"/>
          </a:p>
          <a:p xmlns:a="http://schemas.openxmlformats.org/drawingml/2006/main">
            <a:pPr marL="0" indent="0">
              <a:spcAft>
                <a:spcPts val="600"/>
              </a:spcAft>
              <a:buNone/>
            </a:pPr>
            <a:r>
              <a:rPr sz="1200">
                <a:solidFill>
                  <a:srgbClr val="FFFFFF"/>
                </a:solidFill>
                <a:latin typeface="Calibri"/>
                <a:ea typeface="Calibri"/>
                <a:cs typeface="Calibri"/>
              </a:rPr>
              <a:t>3. Build process + layer caching strategy</a:t>
            </a:r>
            <a:endParaRPr sz="1200"/>
          </a:p>
          <a:p xmlns:a="http://schemas.openxmlformats.org/drawingml/2006/main">
            <a:pPr marL="0" indent="0">
              <a:spcAft>
                <a:spcPts val="600"/>
              </a:spcAft>
              <a:buNone/>
            </a:pPr>
            <a:r>
              <a:rPr sz="1200">
                <a:solidFill>
                  <a:srgbClr val="FFFFFF"/>
                </a:solidFill>
                <a:latin typeface="Calibri"/>
                <a:ea typeface="Calibri"/>
                <a:cs typeface="Calibri"/>
              </a:rPr>
              <a:t>4. Image optimization (alpine, multi-stage)</a:t>
            </a:r>
            <a:endParaRPr sz="1200"/>
          </a:p>
          <a:p xmlns:a="http://schemas.openxmlformats.org/drawingml/2006/main">
            <a:pPr marL="0" indent="0">
              <a:spcAft>
                <a:spcPts val="600"/>
              </a:spcAft>
              <a:buNone/>
            </a:pPr>
            <a:r>
              <a:rPr sz="1200">
                <a:solidFill>
                  <a:srgbClr val="FFFFFF"/>
                </a:solidFill>
                <a:latin typeface="Calibri"/>
                <a:ea typeface="Calibri"/>
                <a:cs typeface="Calibri"/>
              </a:rPr>
              <a:t>5. Tagging strategy + push ke registry</a:t>
            </a:r>
            <a:endParaRPr sz="1200"/>
          </a:p>
          <a:p xmlns:a="http://schemas.openxmlformats.org/drawingml/2006/main">
            <a:pPr marL="0" indent="0">
              <a:spcAft>
                <a:spcPts val="600"/>
              </a:spcAft>
              <a:buNone/>
            </a:pPr>
            <a:r>
              <a:rPr sz="1200">
                <a:solidFill>
                  <a:srgbClr val="FFFFFF"/>
                </a:solidFill>
                <a:latin typeface="Calibri"/>
                <a:ea typeface="Calibri"/>
                <a:cs typeface="Calibri"/>
              </a:rPr>
              <a:t>6. Security best practices (non-root, scan)</a:t>
            </a:r>
            <a:endParaRPr sz="1200"/>
          </a:p>
        </p:txBody>
      </p:sp>
      <p:sp>
        <p:nvSpPr>
          <p:cNvPr id="25" name="Text 16">
            <a:extLst xmlns:a="http://schemas.openxmlformats.org/drawingml/2006/main">
              <a:ext uri="{FF2B5EF4-FFF2-40B4-BE49-F238E27FC236}">
                <a16:creationId xmlns:a16="http://schemas.microsoft.com/office/drawing/2014/main" id="{70E40D76-117C-4FC6-A96A-15E22AD86A67}"/>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Lab 05: bangun dan uji Cloud Notes API dalam container, sebagai komponen proyek kelompok.</a:t>
            </a:r>
            <a:endParaRPr sz="1100"/>
          </a:p>
        </p:txBody>
      </p:sp>
    </p:spTree>
    <p:extLst>
      <p:ext uri="{BB962C8B-B14F-4D97-AF65-F5344CB8AC3E}">
        <p14:creationId xmlns:p14="http://schemas.microsoft.com/office/powerpoint/2010/main" val="122727608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B27A307-1317-4281-A8DF-EFAA7F466FDF}"/>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E187D28E-0DC8-4381-9572-1E9A4BA6F346}"/>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a:t>
            </a:r>
            <a:endParaRPr sz="900"/>
          </a:p>
        </p:txBody>
      </p:sp>
      <p:sp>
        <p:nvSpPr>
          <p:cNvPr id="4" name="Shape 2">
            <a:extLst xmlns:a="http://schemas.openxmlformats.org/drawingml/2006/main">
              <a:ext uri="{FF2B5EF4-FFF2-40B4-BE49-F238E27FC236}">
                <a16:creationId xmlns:a16="http://schemas.microsoft.com/office/drawing/2014/main" id="{75375E13-CD35-4A40-9B81-DB58DBCD178B}"/>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8" name="Image 0">
            <a:extLst xmlns:a="http://schemas.openxmlformats.org/drawingml/2006/main">
              <a:ext uri="{FF2B5EF4-FFF2-40B4-BE49-F238E27FC236}">
                <a16:creationId xmlns:a16="http://schemas.microsoft.com/office/drawing/2014/main" id="{F919DA11-A480-4E58-B225-FC4CE92ECF12}"/>
              </a:ext>
            </a:extLst>
          </p:cNvPr>
          <p:cNvPicPr>
            <a:picLocks xmlns:a="http://schemas.openxmlformats.org/drawingml/2006/main" noChangeAspect="1"/>
          </p:cNvPicPr>
          <p:nvPr/>
        </p:nvPicPr>
        <p:blipFill>
          <a:blip xmlns:r="http://schemas.openxmlformats.org/officeDocument/2006/relationships" xmlns:a="http://schemas.openxmlformats.org/drawingml/2006/main" r:embed="R3b5f81760dd04b45"/>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9" name="Image 1">
            <a:extLst xmlns:a="http://schemas.openxmlformats.org/drawingml/2006/main">
              <a:ext uri="{FF2B5EF4-FFF2-40B4-BE49-F238E27FC236}">
                <a16:creationId xmlns:a16="http://schemas.microsoft.com/office/drawing/2014/main" id="{941B22A8-3978-498A-BE87-242EEA4F098C}"/>
              </a:ext>
            </a:extLst>
          </p:cNvPr>
          <p:cNvPicPr>
            <a:picLocks xmlns:a="http://schemas.openxmlformats.org/drawingml/2006/main" noChangeAspect="1"/>
          </p:cNvPicPr>
          <p:nvPr/>
        </p:nvPicPr>
        <p:blipFill>
          <a:blip xmlns:r="http://schemas.openxmlformats.org/officeDocument/2006/relationships" xmlns:a="http://schemas.openxmlformats.org/drawingml/2006/main" r:embed="R2f142df07ad34e08"/>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1B3F0431-2CE4-4DEE-BF58-14CF01B3D3B5}"/>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93BC6C85-E037-421A-B26E-3E946500B56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Learning Outcomes - Pertemuan 5</a:t>
            </a:r>
            <a:endParaRPr sz="2200"/>
          </a:p>
        </p:txBody>
      </p:sp>
      <p:sp>
        <p:nvSpPr>
          <p:cNvPr id="9" name="Text 5">
            <a:extLst xmlns:a="http://schemas.openxmlformats.org/drawingml/2006/main">
              <a:ext uri="{FF2B5EF4-FFF2-40B4-BE49-F238E27FC236}">
                <a16:creationId xmlns:a16="http://schemas.microsoft.com/office/drawing/2014/main" id="{62BD8A6A-BBF5-4E6A-BD9A-A0F415661C53}"/>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Capaian Sesi Hari Ini</a:t>
            </a:r>
            <a:endParaRPr sz="1200"/>
          </a:p>
        </p:txBody>
      </p:sp>
      <p:sp>
        <p:nvSpPr>
          <p:cNvPr id="10" name="Shape 6">
            <a:extLst xmlns:a="http://schemas.openxmlformats.org/drawingml/2006/main">
              <a:ext uri="{FF2B5EF4-FFF2-40B4-BE49-F238E27FC236}">
                <a16:creationId xmlns:a16="http://schemas.microsoft.com/office/drawing/2014/main" id="{46E52CB4-08E7-4756-8309-56FE1008D5FA}"/>
              </a:ext>
            </a:extLst>
          </p:cNvPr>
          <p:cNvSpPr>
            <a:spLocks xmlns:a="http://schemas.openxmlformats.org/drawingml/2006/main" noGrp="1"/>
          </p:cNvSpPr>
          <p:nvPr/>
        </p:nvSpPr>
        <p:spPr>
          <a:xfrm xmlns:a="http://schemas.openxmlformats.org/drawingml/2006/main">
            <a:off x="457200" y="1417320"/>
            <a:ext cx="26974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4A31A4C6-35CF-44A2-8783-6C162331930B}"/>
              </a:ext>
            </a:extLst>
          </p:cNvPr>
          <p:cNvSpPr>
            <a:spLocks xmlns:a="http://schemas.openxmlformats.org/drawingml/2006/main" noGrp="1"/>
          </p:cNvSpPr>
          <p:nvPr/>
        </p:nvSpPr>
        <p:spPr>
          <a:xfrm xmlns:a="http://schemas.openxmlformats.org/drawingml/2006/main">
            <a:off x="457200" y="141732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2" name="Shape 8">
            <a:extLst xmlns:a="http://schemas.openxmlformats.org/drawingml/2006/main">
              <a:ext uri="{FF2B5EF4-FFF2-40B4-BE49-F238E27FC236}">
                <a16:creationId xmlns:a16="http://schemas.microsoft.com/office/drawing/2014/main" id="{1F5F4413-9525-4793-86FF-F9E3285A3EAC}"/>
              </a:ext>
            </a:extLst>
          </p:cNvPr>
          <p:cNvSpPr>
            <a:spLocks xmlns:a="http://schemas.openxmlformats.org/drawingml/2006/main" noGrp="1"/>
          </p:cNvSpPr>
          <p:nvPr/>
        </p:nvSpPr>
        <p:spPr>
          <a:xfrm xmlns:a="http://schemas.openxmlformats.org/drawingml/2006/main">
            <a:off x="731520" y="178308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13" name="Text 9">
            <a:extLst xmlns:a="http://schemas.openxmlformats.org/drawingml/2006/main">
              <a:ext uri="{FF2B5EF4-FFF2-40B4-BE49-F238E27FC236}">
                <a16:creationId xmlns:a16="http://schemas.microsoft.com/office/drawing/2014/main" id="{25637FFE-2134-4390-8F09-D81AE573264C}"/>
              </a:ext>
            </a:extLst>
          </p:cNvPr>
          <p:cNvSpPr>
            <a:spLocks xmlns:a="http://schemas.openxmlformats.org/drawingml/2006/main" noGrp="1"/>
          </p:cNvSpPr>
          <p:nvPr/>
        </p:nvSpPr>
        <p:spPr>
          <a:xfrm xmlns:a="http://schemas.openxmlformats.org/drawingml/2006/main">
            <a:off x="731520" y="17830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1</a:t>
            </a:r>
            <a:endParaRPr sz="2200"/>
          </a:p>
        </p:txBody>
      </p:sp>
      <p:pic>
        <p:nvPicPr>
          <p:cNvPr id="57" name="Image 2">
            <a:extLst xmlns:a="http://schemas.openxmlformats.org/drawingml/2006/main">
              <a:ext uri="{FF2B5EF4-FFF2-40B4-BE49-F238E27FC236}">
                <a16:creationId xmlns:a16="http://schemas.microsoft.com/office/drawing/2014/main" id="{21FF00FE-CA73-431A-A7A6-23769D34DE0A}"/>
              </a:ext>
            </a:extLst>
          </p:cNvPr>
          <p:cNvPicPr>
            <a:picLocks xmlns:a="http://schemas.openxmlformats.org/drawingml/2006/main" noChangeAspect="1"/>
          </p:cNvPicPr>
          <p:nvPr/>
        </p:nvPicPr>
        <p:blipFill>
          <a:blip xmlns:r="http://schemas.openxmlformats.org/officeDocument/2006/relationships" xmlns:a="http://schemas.openxmlformats.org/drawingml/2006/main" r:embed="R3c01ee90a1c34522"/>
          <a:stretch xmlns:a="http://schemas.openxmlformats.org/drawingml/2006/main">
            <a:fillRect l="0" t="0" r="0" b="0"/>
          </a:stretch>
        </p:blipFill>
        <p:spPr>
          <a:xfrm xmlns:a="http://schemas.openxmlformats.org/drawingml/2006/main">
            <a:off x="2286000" y="1828800"/>
            <a:ext cx="548640" cy="548640"/>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E0A138F8-FD5C-4A14-B428-09C7FC5AE221}"/>
              </a:ext>
            </a:extLst>
          </p:cNvPr>
          <p:cNvSpPr>
            <a:spLocks xmlns:a="http://schemas.openxmlformats.org/drawingml/2006/main" noGrp="1"/>
          </p:cNvSpPr>
          <p:nvPr/>
        </p:nvSpPr>
        <p:spPr>
          <a:xfrm xmlns:a="http://schemas.openxmlformats.org/drawingml/2006/main">
            <a:off x="640080" y="260604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Menulis</a:t>
            </a:r>
            <a:endParaRPr sz="1800"/>
          </a:p>
        </p:txBody>
      </p:sp>
      <p:sp>
        <p:nvSpPr>
          <p:cNvPr id="16" name="Text 11">
            <a:extLst xmlns:a="http://schemas.openxmlformats.org/drawingml/2006/main">
              <a:ext uri="{FF2B5EF4-FFF2-40B4-BE49-F238E27FC236}">
                <a16:creationId xmlns:a16="http://schemas.microsoft.com/office/drawing/2014/main" id="{DCAC673A-4261-4B39-A9F5-F99E9255AD06}"/>
              </a:ext>
            </a:extLst>
          </p:cNvPr>
          <p:cNvSpPr>
            <a:spLocks xmlns:a="http://schemas.openxmlformats.org/drawingml/2006/main" noGrp="1"/>
          </p:cNvSpPr>
          <p:nvPr/>
        </p:nvSpPr>
        <p:spPr>
          <a:xfrm xmlns:a="http://schemas.openxmlformats.org/drawingml/2006/main">
            <a:off x="640080" y="3154680"/>
            <a:ext cx="2331720" cy="25603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Dockerfile aplikasi web Node.js/Python yang dapat dibangun dan diuji.</a:t>
            </a:r>
            <a:endParaRPr sz="1200"/>
          </a:p>
        </p:txBody>
      </p:sp>
      <p:sp>
        <p:nvSpPr>
          <p:cNvPr id="17" name="Shape 12">
            <a:extLst xmlns:a="http://schemas.openxmlformats.org/drawingml/2006/main">
              <a:ext uri="{FF2B5EF4-FFF2-40B4-BE49-F238E27FC236}">
                <a16:creationId xmlns:a16="http://schemas.microsoft.com/office/drawing/2014/main" id="{660BCE48-A51E-479A-81A8-2F2F1D5E9B1A}"/>
              </a:ext>
            </a:extLst>
          </p:cNvPr>
          <p:cNvSpPr>
            <a:spLocks xmlns:a="http://schemas.openxmlformats.org/drawingml/2006/main" noGrp="1"/>
          </p:cNvSpPr>
          <p:nvPr/>
        </p:nvSpPr>
        <p:spPr>
          <a:xfrm xmlns:a="http://schemas.openxmlformats.org/drawingml/2006/main">
            <a:off x="3319272" y="1417320"/>
            <a:ext cx="26974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8" name="Shape 13">
            <a:extLst xmlns:a="http://schemas.openxmlformats.org/drawingml/2006/main">
              <a:ext uri="{FF2B5EF4-FFF2-40B4-BE49-F238E27FC236}">
                <a16:creationId xmlns:a16="http://schemas.microsoft.com/office/drawing/2014/main" id="{AAC10ACF-7921-4B3B-BC00-058974FE54A3}"/>
              </a:ext>
            </a:extLst>
          </p:cNvPr>
          <p:cNvSpPr>
            <a:spLocks xmlns:a="http://schemas.openxmlformats.org/drawingml/2006/main" noGrp="1"/>
          </p:cNvSpPr>
          <p:nvPr/>
        </p:nvSpPr>
        <p:spPr>
          <a:xfrm xmlns:a="http://schemas.openxmlformats.org/drawingml/2006/main">
            <a:off x="3319272" y="141732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9" name="Shape 14">
            <a:extLst xmlns:a="http://schemas.openxmlformats.org/drawingml/2006/main">
              <a:ext uri="{FF2B5EF4-FFF2-40B4-BE49-F238E27FC236}">
                <a16:creationId xmlns:a16="http://schemas.microsoft.com/office/drawing/2014/main" id="{DA916B5A-291B-4199-AC98-CE0AB451E899}"/>
              </a:ext>
            </a:extLst>
          </p:cNvPr>
          <p:cNvSpPr>
            <a:spLocks xmlns:a="http://schemas.openxmlformats.org/drawingml/2006/main" noGrp="1"/>
          </p:cNvSpPr>
          <p:nvPr/>
        </p:nvSpPr>
        <p:spPr>
          <a:xfrm xmlns:a="http://schemas.openxmlformats.org/drawingml/2006/main">
            <a:off x="3593592" y="178308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20" name="Text 15">
            <a:extLst xmlns:a="http://schemas.openxmlformats.org/drawingml/2006/main">
              <a:ext uri="{FF2B5EF4-FFF2-40B4-BE49-F238E27FC236}">
                <a16:creationId xmlns:a16="http://schemas.microsoft.com/office/drawing/2014/main" id="{88D4100E-6982-45BF-889E-18A4C3FB7682}"/>
              </a:ext>
            </a:extLst>
          </p:cNvPr>
          <p:cNvSpPr>
            <a:spLocks xmlns:a="http://schemas.openxmlformats.org/drawingml/2006/main" noGrp="1"/>
          </p:cNvSpPr>
          <p:nvPr/>
        </p:nvSpPr>
        <p:spPr>
          <a:xfrm xmlns:a="http://schemas.openxmlformats.org/drawingml/2006/main">
            <a:off x="3593592" y="17830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2</a:t>
            </a:r>
            <a:endParaRPr sz="2200"/>
          </a:p>
        </p:txBody>
      </p:sp>
      <p:pic>
        <p:nvPicPr>
          <p:cNvPr id="64" name="Image 3">
            <a:extLst xmlns:a="http://schemas.openxmlformats.org/drawingml/2006/main">
              <a:ext uri="{FF2B5EF4-FFF2-40B4-BE49-F238E27FC236}">
                <a16:creationId xmlns:a16="http://schemas.microsoft.com/office/drawing/2014/main" id="{DBEDB70C-BA94-41E9-9439-C10A6AA2EF4F}"/>
              </a:ext>
            </a:extLst>
          </p:cNvPr>
          <p:cNvPicPr>
            <a:picLocks xmlns:a="http://schemas.openxmlformats.org/drawingml/2006/main" noChangeAspect="1"/>
          </p:cNvPicPr>
          <p:nvPr/>
        </p:nvPicPr>
        <p:blipFill>
          <a:blip xmlns:r="http://schemas.openxmlformats.org/officeDocument/2006/relationships" xmlns:a="http://schemas.openxmlformats.org/drawingml/2006/main" r:embed="Re9e6dd00488f4bd0"/>
          <a:stretch xmlns:a="http://schemas.openxmlformats.org/drawingml/2006/main">
            <a:fillRect l="0" t="0" r="0" b="0"/>
          </a:stretch>
        </p:blipFill>
        <p:spPr>
          <a:xfrm xmlns:a="http://schemas.openxmlformats.org/drawingml/2006/main">
            <a:off x="5148072" y="1828800"/>
            <a:ext cx="548640" cy="548640"/>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A1750F69-F0E4-4831-B37C-77288C48AE22}"/>
              </a:ext>
            </a:extLst>
          </p:cNvPr>
          <p:cNvSpPr>
            <a:spLocks xmlns:a="http://schemas.openxmlformats.org/drawingml/2006/main" noGrp="1"/>
          </p:cNvSpPr>
          <p:nvPr/>
        </p:nvSpPr>
        <p:spPr>
          <a:xfrm xmlns:a="http://schemas.openxmlformats.org/drawingml/2006/main">
            <a:off x="3502152" y="260604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Memahami</a:t>
            </a:r>
            <a:endParaRPr sz="1800"/>
          </a:p>
        </p:txBody>
      </p:sp>
      <p:sp>
        <p:nvSpPr>
          <p:cNvPr id="23" name="Text 17">
            <a:extLst xmlns:a="http://schemas.openxmlformats.org/drawingml/2006/main">
              <a:ext uri="{FF2B5EF4-FFF2-40B4-BE49-F238E27FC236}">
                <a16:creationId xmlns:a16="http://schemas.microsoft.com/office/drawing/2014/main" id="{8539E2AC-2ACF-4E94-B631-78007D85D83F}"/>
              </a:ext>
            </a:extLst>
          </p:cNvPr>
          <p:cNvSpPr>
            <a:spLocks xmlns:a="http://schemas.openxmlformats.org/drawingml/2006/main" noGrp="1"/>
          </p:cNvSpPr>
          <p:nvPr/>
        </p:nvSpPr>
        <p:spPr>
          <a:xfrm xmlns:a="http://schemas.openxmlformats.org/drawingml/2006/main">
            <a:off x="3502152" y="3154680"/>
            <a:ext cx="2331720" cy="25603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build cache + layer ordering untuk percepat build &amp; minimize rebuild.</a:t>
            </a:r>
            <a:endParaRPr sz="1200"/>
          </a:p>
        </p:txBody>
      </p:sp>
      <p:sp>
        <p:nvSpPr>
          <p:cNvPr id="24" name="Shape 18">
            <a:extLst xmlns:a="http://schemas.openxmlformats.org/drawingml/2006/main">
              <a:ext uri="{FF2B5EF4-FFF2-40B4-BE49-F238E27FC236}">
                <a16:creationId xmlns:a16="http://schemas.microsoft.com/office/drawing/2014/main" id="{7BFB61AD-C3C4-4BAE-B8EA-45A4C5A02C5C}"/>
              </a:ext>
            </a:extLst>
          </p:cNvPr>
          <p:cNvSpPr>
            <a:spLocks xmlns:a="http://schemas.openxmlformats.org/drawingml/2006/main" noGrp="1"/>
          </p:cNvSpPr>
          <p:nvPr/>
        </p:nvSpPr>
        <p:spPr>
          <a:xfrm xmlns:a="http://schemas.openxmlformats.org/drawingml/2006/main">
            <a:off x="6181344" y="1417320"/>
            <a:ext cx="26974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5" name="Shape 19">
            <a:extLst xmlns:a="http://schemas.openxmlformats.org/drawingml/2006/main">
              <a:ext uri="{FF2B5EF4-FFF2-40B4-BE49-F238E27FC236}">
                <a16:creationId xmlns:a16="http://schemas.microsoft.com/office/drawing/2014/main" id="{F6B890FD-16E4-471A-BE64-3BEFA347FED5}"/>
              </a:ext>
            </a:extLst>
          </p:cNvPr>
          <p:cNvSpPr>
            <a:spLocks xmlns:a="http://schemas.openxmlformats.org/drawingml/2006/main" noGrp="1"/>
          </p:cNvSpPr>
          <p:nvPr/>
        </p:nvSpPr>
        <p:spPr>
          <a:xfrm xmlns:a="http://schemas.openxmlformats.org/drawingml/2006/main">
            <a:off x="6181344" y="141732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6" name="Shape 20">
            <a:extLst xmlns:a="http://schemas.openxmlformats.org/drawingml/2006/main">
              <a:ext uri="{FF2B5EF4-FFF2-40B4-BE49-F238E27FC236}">
                <a16:creationId xmlns:a16="http://schemas.microsoft.com/office/drawing/2014/main" id="{B690E2EA-3461-40CB-BCB5-CA8023621655}"/>
              </a:ext>
            </a:extLst>
          </p:cNvPr>
          <p:cNvSpPr>
            <a:spLocks xmlns:a="http://schemas.openxmlformats.org/drawingml/2006/main" noGrp="1"/>
          </p:cNvSpPr>
          <p:nvPr/>
        </p:nvSpPr>
        <p:spPr>
          <a:xfrm xmlns:a="http://schemas.openxmlformats.org/drawingml/2006/main">
            <a:off x="6455664" y="178308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27" name="Text 21">
            <a:extLst xmlns:a="http://schemas.openxmlformats.org/drawingml/2006/main">
              <a:ext uri="{FF2B5EF4-FFF2-40B4-BE49-F238E27FC236}">
                <a16:creationId xmlns:a16="http://schemas.microsoft.com/office/drawing/2014/main" id="{2BADDEDC-B734-47E4-BBB4-BD42DBEF3C24}"/>
              </a:ext>
            </a:extLst>
          </p:cNvPr>
          <p:cNvSpPr>
            <a:spLocks xmlns:a="http://schemas.openxmlformats.org/drawingml/2006/main" noGrp="1"/>
          </p:cNvSpPr>
          <p:nvPr/>
        </p:nvSpPr>
        <p:spPr>
          <a:xfrm xmlns:a="http://schemas.openxmlformats.org/drawingml/2006/main">
            <a:off x="6455664" y="17830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3</a:t>
            </a:r>
            <a:endParaRPr sz="2200"/>
          </a:p>
        </p:txBody>
      </p:sp>
      <p:pic>
        <p:nvPicPr>
          <p:cNvPr id="71" name="Image 4">
            <a:extLst xmlns:a="http://schemas.openxmlformats.org/drawingml/2006/main">
              <a:ext uri="{FF2B5EF4-FFF2-40B4-BE49-F238E27FC236}">
                <a16:creationId xmlns:a16="http://schemas.microsoft.com/office/drawing/2014/main" id="{F4441EEE-6C49-49DD-BF11-462460CCB3D6}"/>
              </a:ext>
            </a:extLst>
          </p:cNvPr>
          <p:cNvPicPr>
            <a:picLocks xmlns:a="http://schemas.openxmlformats.org/drawingml/2006/main" noChangeAspect="1"/>
          </p:cNvPicPr>
          <p:nvPr/>
        </p:nvPicPr>
        <p:blipFill>
          <a:blip xmlns:r="http://schemas.openxmlformats.org/officeDocument/2006/relationships" xmlns:a="http://schemas.openxmlformats.org/drawingml/2006/main" r:embed="R579f8abfb9a84d54"/>
          <a:stretch xmlns:a="http://schemas.openxmlformats.org/drawingml/2006/main">
            <a:fillRect l="0" t="0" r="0" b="0"/>
          </a:stretch>
        </p:blipFill>
        <p:spPr>
          <a:xfrm xmlns:a="http://schemas.openxmlformats.org/drawingml/2006/main">
            <a:off x="8010144" y="1828800"/>
            <a:ext cx="548640" cy="548640"/>
          </a:xfrm>
          <a:prstGeom xmlns:a="http://schemas.openxmlformats.org/drawingml/2006/main" prst="rect">
            <a:avLst/>
          </a:prstGeom>
        </p:spPr>
      </p:pic>
      <p:sp>
        <p:nvSpPr>
          <p:cNvPr id="29" name="Text 22">
            <a:extLst xmlns:a="http://schemas.openxmlformats.org/drawingml/2006/main">
              <a:ext uri="{FF2B5EF4-FFF2-40B4-BE49-F238E27FC236}">
                <a16:creationId xmlns:a16="http://schemas.microsoft.com/office/drawing/2014/main" id="{8974A3F0-03A3-442C-99FB-5CB06A879CAA}"/>
              </a:ext>
            </a:extLst>
          </p:cNvPr>
          <p:cNvSpPr>
            <a:spLocks xmlns:a="http://schemas.openxmlformats.org/drawingml/2006/main" noGrp="1"/>
          </p:cNvSpPr>
          <p:nvPr/>
        </p:nvSpPr>
        <p:spPr>
          <a:xfrm xmlns:a="http://schemas.openxmlformats.org/drawingml/2006/main">
            <a:off x="6364224" y="260604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Mengoptimasi</a:t>
            </a:r>
            <a:endParaRPr sz="1800"/>
          </a:p>
        </p:txBody>
      </p:sp>
      <p:sp>
        <p:nvSpPr>
          <p:cNvPr id="30" name="Text 23">
            <a:extLst xmlns:a="http://schemas.openxmlformats.org/drawingml/2006/main">
              <a:ext uri="{FF2B5EF4-FFF2-40B4-BE49-F238E27FC236}">
                <a16:creationId xmlns:a16="http://schemas.microsoft.com/office/drawing/2014/main" id="{C612AE3F-0D27-469E-80B8-18EE69F0898D}"/>
              </a:ext>
            </a:extLst>
          </p:cNvPr>
          <p:cNvSpPr>
            <a:spLocks xmlns:a="http://schemas.openxmlformats.org/drawingml/2006/main" noGrp="1"/>
          </p:cNvSpPr>
          <p:nvPr/>
        </p:nvSpPr>
        <p:spPr>
          <a:xfrm xmlns:a="http://schemas.openxmlformats.org/drawingml/2006/main">
            <a:off x="6364224" y="3154680"/>
            <a:ext cx="2331720" cy="25603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pilihan base image dan multi-stage. Ukur ukuran serta uji kompatibilitasnya.</a:t>
            </a:r>
            <a:endParaRPr sz="1200"/>
          </a:p>
        </p:txBody>
      </p:sp>
      <p:sp>
        <p:nvSpPr>
          <p:cNvPr id="31" name="Shape 24">
            <a:extLst xmlns:a="http://schemas.openxmlformats.org/drawingml/2006/main">
              <a:ext uri="{FF2B5EF4-FFF2-40B4-BE49-F238E27FC236}">
                <a16:creationId xmlns:a16="http://schemas.microsoft.com/office/drawing/2014/main" id="{EF7FF3FD-ACAC-47D4-BBB0-6E3AB02A663E}"/>
              </a:ext>
            </a:extLst>
          </p:cNvPr>
          <p:cNvSpPr>
            <a:spLocks xmlns:a="http://schemas.openxmlformats.org/drawingml/2006/main" noGrp="1"/>
          </p:cNvSpPr>
          <p:nvPr/>
        </p:nvSpPr>
        <p:spPr>
          <a:xfrm xmlns:a="http://schemas.openxmlformats.org/drawingml/2006/main">
            <a:off x="9043416" y="1417320"/>
            <a:ext cx="26974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2" name="Shape 25">
            <a:extLst xmlns:a="http://schemas.openxmlformats.org/drawingml/2006/main">
              <a:ext uri="{FF2B5EF4-FFF2-40B4-BE49-F238E27FC236}">
                <a16:creationId xmlns:a16="http://schemas.microsoft.com/office/drawing/2014/main" id="{0DF17B53-7080-4E51-A614-2D381FF6F530}"/>
              </a:ext>
            </a:extLst>
          </p:cNvPr>
          <p:cNvSpPr>
            <a:spLocks xmlns:a="http://schemas.openxmlformats.org/drawingml/2006/main" noGrp="1"/>
          </p:cNvSpPr>
          <p:nvPr/>
        </p:nvSpPr>
        <p:spPr>
          <a:xfrm xmlns:a="http://schemas.openxmlformats.org/drawingml/2006/main">
            <a:off x="9043416" y="141732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3" name="Shape 26">
            <a:extLst xmlns:a="http://schemas.openxmlformats.org/drawingml/2006/main">
              <a:ext uri="{FF2B5EF4-FFF2-40B4-BE49-F238E27FC236}">
                <a16:creationId xmlns:a16="http://schemas.microsoft.com/office/drawing/2014/main" id="{1D2E042E-D0D7-4F31-ABA1-B780BD88F449}"/>
              </a:ext>
            </a:extLst>
          </p:cNvPr>
          <p:cNvSpPr>
            <a:spLocks xmlns:a="http://schemas.openxmlformats.org/drawingml/2006/main" noGrp="1"/>
          </p:cNvSpPr>
          <p:nvPr/>
        </p:nvSpPr>
        <p:spPr>
          <a:xfrm xmlns:a="http://schemas.openxmlformats.org/drawingml/2006/main">
            <a:off x="9317736" y="178308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34" name="Text 27">
            <a:extLst xmlns:a="http://schemas.openxmlformats.org/drawingml/2006/main">
              <a:ext uri="{FF2B5EF4-FFF2-40B4-BE49-F238E27FC236}">
                <a16:creationId xmlns:a16="http://schemas.microsoft.com/office/drawing/2014/main" id="{67176767-4FD6-4AE8-A3C1-1971BFF73569}"/>
              </a:ext>
            </a:extLst>
          </p:cNvPr>
          <p:cNvSpPr>
            <a:spLocks xmlns:a="http://schemas.openxmlformats.org/drawingml/2006/main" noGrp="1"/>
          </p:cNvSpPr>
          <p:nvPr/>
        </p:nvSpPr>
        <p:spPr>
          <a:xfrm xmlns:a="http://schemas.openxmlformats.org/drawingml/2006/main">
            <a:off x="9317736" y="17830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4</a:t>
            </a:r>
            <a:endParaRPr sz="2200"/>
          </a:p>
        </p:txBody>
      </p:sp>
      <p:pic>
        <p:nvPicPr>
          <p:cNvPr id="78" name="Image 5">
            <a:extLst xmlns:a="http://schemas.openxmlformats.org/drawingml/2006/main">
              <a:ext uri="{FF2B5EF4-FFF2-40B4-BE49-F238E27FC236}">
                <a16:creationId xmlns:a16="http://schemas.microsoft.com/office/drawing/2014/main" id="{4DCD1A0B-71FB-4E1E-B20D-5BF50E2623F6}"/>
              </a:ext>
            </a:extLst>
          </p:cNvPr>
          <p:cNvPicPr>
            <a:picLocks xmlns:a="http://schemas.openxmlformats.org/drawingml/2006/main" noChangeAspect="1"/>
          </p:cNvPicPr>
          <p:nvPr/>
        </p:nvPicPr>
        <p:blipFill>
          <a:blip xmlns:r="http://schemas.openxmlformats.org/officeDocument/2006/relationships" xmlns:a="http://schemas.openxmlformats.org/drawingml/2006/main" r:embed="Rfcbca46f05b0444c"/>
          <a:stretch xmlns:a="http://schemas.openxmlformats.org/drawingml/2006/main">
            <a:fillRect l="0" t="0" r="0" b="0"/>
          </a:stretch>
        </p:blipFill>
        <p:spPr>
          <a:xfrm xmlns:a="http://schemas.openxmlformats.org/drawingml/2006/main">
            <a:off x="10872216" y="1828800"/>
            <a:ext cx="548640" cy="548640"/>
          </a:xfrm>
          <a:prstGeom xmlns:a="http://schemas.openxmlformats.org/drawingml/2006/main" prst="rect">
            <a:avLst/>
          </a:prstGeom>
        </p:spPr>
      </p:pic>
      <p:sp>
        <p:nvSpPr>
          <p:cNvPr id="36" name="Text 28">
            <a:extLst xmlns:a="http://schemas.openxmlformats.org/drawingml/2006/main">
              <a:ext uri="{FF2B5EF4-FFF2-40B4-BE49-F238E27FC236}">
                <a16:creationId xmlns:a16="http://schemas.microsoft.com/office/drawing/2014/main" id="{4D052741-A4B1-4CFA-A542-E79CBD3ED482}"/>
              </a:ext>
            </a:extLst>
          </p:cNvPr>
          <p:cNvSpPr>
            <a:spLocks xmlns:a="http://schemas.openxmlformats.org/drawingml/2006/main" noGrp="1"/>
          </p:cNvSpPr>
          <p:nvPr/>
        </p:nvSpPr>
        <p:spPr>
          <a:xfrm xmlns:a="http://schemas.openxmlformats.org/drawingml/2006/main">
            <a:off x="9226296" y="260604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Menerbitkan</a:t>
            </a:r>
            <a:endParaRPr sz="1800"/>
          </a:p>
        </p:txBody>
      </p:sp>
      <p:sp>
        <p:nvSpPr>
          <p:cNvPr id="37" name="Text 29">
            <a:extLst xmlns:a="http://schemas.openxmlformats.org/drawingml/2006/main">
              <a:ext uri="{FF2B5EF4-FFF2-40B4-BE49-F238E27FC236}">
                <a16:creationId xmlns:a16="http://schemas.microsoft.com/office/drawing/2014/main" id="{4B065385-911A-4916-934F-B640927CFA41}"/>
              </a:ext>
            </a:extLst>
          </p:cNvPr>
          <p:cNvSpPr>
            <a:spLocks xmlns:a="http://schemas.openxmlformats.org/drawingml/2006/main" noGrp="1"/>
          </p:cNvSpPr>
          <p:nvPr/>
        </p:nvSpPr>
        <p:spPr>
          <a:xfrm xmlns:a="http://schemas.openxmlformats.org/drawingml/2006/main">
            <a:off x="9226296" y="3154680"/>
            <a:ext cx="2331720" cy="25603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image ke registry (Docker Hub, ghcr.io) dengan tagging strategy yang benar.</a:t>
            </a:r>
            <a:endParaRPr sz="1200"/>
          </a:p>
        </p:txBody>
      </p:sp>
      <p:sp>
        <p:nvSpPr>
          <p:cNvPr id="38" name="Text 30">
            <a:extLst xmlns:a="http://schemas.openxmlformats.org/drawingml/2006/main">
              <a:ext uri="{FF2B5EF4-FFF2-40B4-BE49-F238E27FC236}">
                <a16:creationId xmlns:a16="http://schemas.microsoft.com/office/drawing/2014/main" id="{569B92F8-8634-4A90-9EB5-D217C144B360}"/>
              </a:ext>
            </a:extLst>
          </p:cNvPr>
          <p:cNvSpPr>
            <a:spLocks xmlns:a="http://schemas.openxmlformats.org/drawingml/2006/main" noGrp="1"/>
          </p:cNvSpPr>
          <p:nvPr/>
        </p:nvSpPr>
        <p:spPr>
          <a:xfrm xmlns:a="http://schemas.openxmlformats.org/drawingml/2006/main">
            <a:off x="457200" y="60350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Capaian utama RPS: LO2 Design (C3). Pilihan base image juga melatih analisis LO1.</a:t>
            </a:r>
            <a:endParaRPr sz="1100"/>
          </a:p>
        </p:txBody>
      </p:sp>
    </p:spTree>
    <p:extLst>
      <p:ext uri="{BB962C8B-B14F-4D97-AF65-F5344CB8AC3E}">
        <p14:creationId xmlns:p14="http://schemas.microsoft.com/office/powerpoint/2010/main" val="1670056854"/>
      </p:ext>
    </p:extLst>
  </p:cSld>
</p:sld>
</file>

<file path=ppt/slides/slide4.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BCDB829-2708-4B40-83D9-9AFFBA6AE2EA}"/>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835AEAD5-1191-44E9-9A9E-642F565D26CF}"/>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D817F418-81D4-4C00-A9F7-F12DFBBF761A}"/>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79859EC7-0C37-4D06-B788-542680B89D51}"/>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CCB3B325-2D9C-499D-997E-83E0596FC2FC}"/>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0FAF96EB-9C7C-4938-85A8-2FA67542933E}"/>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208B1FFE-8F5C-45D0-A219-0CE1D42DCE8B}"/>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a:extLst xmlns:a="http://schemas.openxmlformats.org/drawingml/2006/main">
              <a:ext uri="{FF2B5EF4-FFF2-40B4-BE49-F238E27FC236}">
                <a16:creationId xmlns:a16="http://schemas.microsoft.com/office/drawing/2014/main" id="{7E914B53-7703-4DD5-AE1A-6483BF4357A4}"/>
              </a:ext>
            </a:extLst>
          </p:cNvPr>
          <p:cNvPicPr>
            <a:picLocks xmlns:a="http://schemas.openxmlformats.org/drawingml/2006/main" noChangeAspect="1"/>
          </p:cNvPicPr>
          <p:nvPr/>
        </p:nvPicPr>
        <p:blipFill>
          <a:blip xmlns:r="http://schemas.openxmlformats.org/officeDocument/2006/relationships" xmlns:a="http://schemas.openxmlformats.org/drawingml/2006/main" r:embed="Ra1dc43c5a16f4401"/>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a:extLst xmlns:a="http://schemas.openxmlformats.org/drawingml/2006/main">
              <a:ext uri="{FF2B5EF4-FFF2-40B4-BE49-F238E27FC236}">
                <a16:creationId xmlns:a16="http://schemas.microsoft.com/office/drawing/2014/main" id="{37D9CAD1-9C14-434A-85AC-5E888CF02E11}"/>
              </a:ext>
            </a:extLst>
          </p:cNvPr>
          <p:cNvPicPr>
            <a:picLocks xmlns:a="http://schemas.openxmlformats.org/drawingml/2006/main" noChangeAspect="1"/>
          </p:cNvPicPr>
          <p:nvPr/>
        </p:nvPicPr>
        <p:blipFill>
          <a:blip xmlns:r="http://schemas.openxmlformats.org/officeDocument/2006/relationships" xmlns:a="http://schemas.openxmlformats.org/drawingml/2006/main" r:embed="Rd9cc6195ee8a440e"/>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052241EC-E8D1-4863-A67E-15E239B4DBD9}"/>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01</a:t>
            </a:r>
            <a:endParaRPr sz="1600"/>
          </a:p>
        </p:txBody>
      </p:sp>
      <p:sp>
        <p:nvSpPr>
          <p:cNvPr id="12" name="Text 8">
            <a:extLst xmlns:a="http://schemas.openxmlformats.org/drawingml/2006/main">
              <a:ext uri="{FF2B5EF4-FFF2-40B4-BE49-F238E27FC236}">
                <a16:creationId xmlns:a16="http://schemas.microsoft.com/office/drawing/2014/main" id="{BCDB9F40-5716-4950-97D0-25C24C15981D}"/>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Dockerfile</a:t>
            </a:r>
            <a:endParaRPr sz="5200"/>
          </a:p>
          <a:p xmlns:a="http://schemas.openxmlformats.org/drawingml/2006/main">
            <a:pPr marL="0" indent="0" algn="ctr">
              <a:buNone/>
            </a:pPr>
            <a:r>
              <a:rPr sz="5200" b="1">
                <a:solidFill>
                  <a:srgbClr val="FFFFFF"/>
                </a:solidFill>
                <a:latin typeface="Calibri"/>
                <a:ea typeface="Calibri"/>
                <a:cs typeface="Calibri"/>
              </a:rPr>
              <a:t>Fundamentals</a:t>
            </a:r>
            <a:endParaRPr sz="5200"/>
          </a:p>
        </p:txBody>
      </p:sp>
      <p:sp>
        <p:nvSpPr>
          <p:cNvPr id="13" name="Shape 9">
            <a:extLst xmlns:a="http://schemas.openxmlformats.org/drawingml/2006/main">
              <a:ext uri="{FF2B5EF4-FFF2-40B4-BE49-F238E27FC236}">
                <a16:creationId xmlns:a16="http://schemas.microsoft.com/office/drawing/2014/main" id="{08FA54A4-4C82-46C4-8354-D7B0B0DA8CE1}"/>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49E09DEC-B28A-48CB-9627-79E808089A98}"/>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Resep untuk bikin image - text file dengan instruksi step-by-step.</a:t>
            </a:r>
            <a:endParaRPr sz="1400"/>
          </a:p>
        </p:txBody>
      </p:sp>
      <p:sp>
        <p:nvSpPr>
          <p:cNvPr id="26" name="text_11">
            <a:extLst xmlns:a="http://schemas.openxmlformats.org/drawingml/2006/main">
              <a:ext uri="{FF2B5EF4-FFF2-40B4-BE49-F238E27FC236}">
                <a16:creationId xmlns:a16="http://schemas.microsoft.com/office/drawing/2014/main" id="{1595942F-F035-4912-9166-CF7095C421AB}"/>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4</a:t>
            </a:r>
          </a:p>
        </p:txBody>
      </p:sp>
    </p:spTree>
    <p:extLst>
      <p:ext uri="{BB962C8B-B14F-4D97-AF65-F5344CB8AC3E}">
        <p14:creationId xmlns:p14="http://schemas.microsoft.com/office/powerpoint/2010/main" val="97854723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2FFCA19-27E3-46E7-8B92-C112FAB85CE8}"/>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CAA2C36B-FCA8-43BC-80D0-A0A922EAF42E}"/>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5</a:t>
            </a:r>
            <a:endParaRPr sz="900"/>
          </a:p>
        </p:txBody>
      </p:sp>
      <p:sp>
        <p:nvSpPr>
          <p:cNvPr id="4" name="Shape 2">
            <a:extLst xmlns:a="http://schemas.openxmlformats.org/drawingml/2006/main">
              <a:ext uri="{FF2B5EF4-FFF2-40B4-BE49-F238E27FC236}">
                <a16:creationId xmlns:a16="http://schemas.microsoft.com/office/drawing/2014/main" id="{9CA4820A-9778-4F57-ABE8-F2964436AAF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6" name="Image 0">
            <a:extLst xmlns:a="http://schemas.openxmlformats.org/drawingml/2006/main">
              <a:ext uri="{FF2B5EF4-FFF2-40B4-BE49-F238E27FC236}">
                <a16:creationId xmlns:a16="http://schemas.microsoft.com/office/drawing/2014/main" id="{415742FD-24FB-4B09-B638-76821D4200C3}"/>
              </a:ext>
            </a:extLst>
          </p:cNvPr>
          <p:cNvPicPr>
            <a:picLocks xmlns:a="http://schemas.openxmlformats.org/drawingml/2006/main" noChangeAspect="1"/>
          </p:cNvPicPr>
          <p:nvPr/>
        </p:nvPicPr>
        <p:blipFill>
          <a:blip xmlns:r="http://schemas.openxmlformats.org/officeDocument/2006/relationships" xmlns:a="http://schemas.openxmlformats.org/drawingml/2006/main" r:embed="R8258d2ca44c24595"/>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7" name="Image 1">
            <a:extLst xmlns:a="http://schemas.openxmlformats.org/drawingml/2006/main">
              <a:ext uri="{FF2B5EF4-FFF2-40B4-BE49-F238E27FC236}">
                <a16:creationId xmlns:a16="http://schemas.microsoft.com/office/drawing/2014/main" id="{29B508D3-8650-4EEF-B8E5-A6A74D09E59F}"/>
              </a:ext>
            </a:extLst>
          </p:cNvPr>
          <p:cNvPicPr>
            <a:picLocks xmlns:a="http://schemas.openxmlformats.org/drawingml/2006/main" noChangeAspect="1"/>
          </p:cNvPicPr>
          <p:nvPr/>
        </p:nvPicPr>
        <p:blipFill>
          <a:blip xmlns:r="http://schemas.openxmlformats.org/officeDocument/2006/relationships" xmlns:a="http://schemas.openxmlformats.org/drawingml/2006/main" r:embed="R040182b02a894830"/>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950AB65D-941B-4DF9-A84F-542A3DD7127F}"/>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24A25472-A781-4DFE-BF1F-D574BED1F3A6}"/>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Apa itu Dockerfile?</a:t>
            </a:r>
            <a:endParaRPr sz="2200"/>
          </a:p>
        </p:txBody>
      </p:sp>
      <p:sp>
        <p:nvSpPr>
          <p:cNvPr id="9" name="Text 5">
            <a:extLst xmlns:a="http://schemas.openxmlformats.org/drawingml/2006/main">
              <a:ext uri="{FF2B5EF4-FFF2-40B4-BE49-F238E27FC236}">
                <a16:creationId xmlns:a16="http://schemas.microsoft.com/office/drawing/2014/main" id="{AC8AB2CF-8CE1-45E6-9C5A-F8F721E79E11}"/>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Blueprint yang mendefinisikan image - text file biasa</a:t>
            </a:r>
            <a:endParaRPr sz="1200"/>
          </a:p>
        </p:txBody>
      </p:sp>
      <p:sp>
        <p:nvSpPr>
          <p:cNvPr id="10" name="Shape 6">
            <a:extLst xmlns:a="http://schemas.openxmlformats.org/drawingml/2006/main">
              <a:ext uri="{FF2B5EF4-FFF2-40B4-BE49-F238E27FC236}">
                <a16:creationId xmlns:a16="http://schemas.microsoft.com/office/drawing/2014/main" id="{7C5F0EEF-79D0-4BAD-98CA-F1750D7868C0}"/>
              </a:ext>
            </a:extLst>
          </p:cNvPr>
          <p:cNvSpPr>
            <a:spLocks xmlns:a="http://schemas.openxmlformats.org/drawingml/2006/main" noGrp="1"/>
          </p:cNvSpPr>
          <p:nvPr/>
        </p:nvSpPr>
        <p:spPr>
          <a:xfrm xmlns:a="http://schemas.openxmlformats.org/drawingml/2006/main">
            <a:off x="457200" y="1417320"/>
            <a:ext cx="11247120" cy="118872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62" name="Image 2">
            <a:extLst xmlns:a="http://schemas.openxmlformats.org/drawingml/2006/main">
              <a:ext uri="{FF2B5EF4-FFF2-40B4-BE49-F238E27FC236}">
                <a16:creationId xmlns:a16="http://schemas.microsoft.com/office/drawing/2014/main" id="{B20B6BE0-AEFB-447C-B993-6B82C5417285}"/>
              </a:ext>
            </a:extLst>
          </p:cNvPr>
          <p:cNvPicPr>
            <a:picLocks xmlns:a="http://schemas.openxmlformats.org/drawingml/2006/main" noChangeAspect="1"/>
          </p:cNvPicPr>
          <p:nvPr/>
        </p:nvPicPr>
        <p:blipFill>
          <a:blip xmlns:r="http://schemas.openxmlformats.org/officeDocument/2006/relationships" xmlns:a="http://schemas.openxmlformats.org/drawingml/2006/main" r:embed="Re686376867d14408"/>
          <a:stretch xmlns:a="http://schemas.openxmlformats.org/drawingml/2006/main">
            <a:fillRect l="0" t="0" r="0" b="0"/>
          </a:stretch>
        </p:blipFill>
        <p:spPr>
          <a:xfrm xmlns:a="http://schemas.openxmlformats.org/drawingml/2006/main">
            <a:off x="777240" y="1691640"/>
            <a:ext cx="685800" cy="68580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D4E3411B-3A0E-4DDB-9D85-B020B7A98DBD}"/>
              </a:ext>
            </a:extLst>
          </p:cNvPr>
          <p:cNvSpPr>
            <a:spLocks xmlns:a="http://schemas.openxmlformats.org/drawingml/2006/main" noGrp="1"/>
          </p:cNvSpPr>
          <p:nvPr/>
        </p:nvSpPr>
        <p:spPr>
          <a:xfrm xmlns:a="http://schemas.openxmlformats.org/drawingml/2006/main">
            <a:off x="1691640" y="1554480"/>
            <a:ext cx="96012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37021"/>
                </a:solidFill>
                <a:latin typeface="Calibri"/>
                <a:ea typeface="Calibri"/>
                <a:cs typeface="Calibri"/>
              </a:rPr>
              <a:t>Dockerfile = text file berisi instruksi step-by-step untuk membangun image.</a:t>
            </a:r>
            <a:endParaRPr sz="1600"/>
          </a:p>
        </p:txBody>
      </p:sp>
      <p:sp>
        <p:nvSpPr>
          <p:cNvPr id="13" name="Text 8">
            <a:extLst xmlns:a="http://schemas.openxmlformats.org/drawingml/2006/main">
              <a:ext uri="{FF2B5EF4-FFF2-40B4-BE49-F238E27FC236}">
                <a16:creationId xmlns:a16="http://schemas.microsoft.com/office/drawing/2014/main" id="{2439C13E-B650-4395-9BBC-7BF0267ECAB8}"/>
              </a:ext>
            </a:extLst>
          </p:cNvPr>
          <p:cNvSpPr>
            <a:spLocks xmlns:a="http://schemas.openxmlformats.org/drawingml/2006/main" noGrp="1"/>
          </p:cNvSpPr>
          <p:nvPr/>
        </p:nvSpPr>
        <p:spPr>
          <a:xfrm xmlns:a="http://schemas.openxmlformats.org/drawingml/2006/main">
            <a:off x="1691640" y="1965960"/>
            <a:ext cx="96012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rgbClr val="FFFFFF"/>
                </a:solidFill>
                <a:latin typeface="Calibri"/>
                <a:ea typeface="Calibri"/>
                <a:cs typeface="Calibri"/>
              </a:rPr>
              <a:t>Nama default: Dockerfile. RUN/COPY/ADD mengubah filesystem. CMD/ENV menyimpan konfigurasi image.</a:t>
            </a:r>
            <a:endParaRPr sz="1200"/>
          </a:p>
        </p:txBody>
      </p:sp>
      <p:sp>
        <p:nvSpPr>
          <p:cNvPr id="14" name="Text 9">
            <a:extLst xmlns:a="http://schemas.openxmlformats.org/drawingml/2006/main">
              <a:ext uri="{FF2B5EF4-FFF2-40B4-BE49-F238E27FC236}">
                <a16:creationId xmlns:a16="http://schemas.microsoft.com/office/drawing/2014/main" id="{5636905C-BCEA-454F-8330-82771F4CEC78}"/>
              </a:ext>
            </a:extLst>
          </p:cNvPr>
          <p:cNvSpPr>
            <a:spLocks xmlns:a="http://schemas.openxmlformats.org/drawingml/2006/main" noGrp="1"/>
          </p:cNvSpPr>
          <p:nvPr/>
        </p:nvSpPr>
        <p:spPr>
          <a:xfrm xmlns:a="http://schemas.openxmlformats.org/drawingml/2006/main">
            <a:off x="457200" y="2788920"/>
            <a:ext cx="11247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Flow: Dari Source ke Image yang Jalan</a:t>
            </a:r>
            <a:endParaRPr sz="1400"/>
          </a:p>
        </p:txBody>
      </p:sp>
      <p:sp>
        <p:nvSpPr>
          <p:cNvPr id="15" name="Shape 10">
            <a:extLst xmlns:a="http://schemas.openxmlformats.org/drawingml/2006/main">
              <a:ext uri="{FF2B5EF4-FFF2-40B4-BE49-F238E27FC236}">
                <a16:creationId xmlns:a16="http://schemas.microsoft.com/office/drawing/2014/main" id="{44CCDD6F-A733-43C1-BAFE-A8A1158BACAB}"/>
              </a:ext>
            </a:extLst>
          </p:cNvPr>
          <p:cNvSpPr>
            <a:spLocks xmlns:a="http://schemas.openxmlformats.org/drawingml/2006/main" noGrp="1"/>
          </p:cNvSpPr>
          <p:nvPr/>
        </p:nvSpPr>
        <p:spPr>
          <a:xfrm xmlns:a="http://schemas.openxmlformats.org/drawingml/2006/main">
            <a:off x="457200" y="3291840"/>
            <a:ext cx="219456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Shape 11">
            <a:extLst xmlns:a="http://schemas.openxmlformats.org/drawingml/2006/main">
              <a:ext uri="{FF2B5EF4-FFF2-40B4-BE49-F238E27FC236}">
                <a16:creationId xmlns:a16="http://schemas.microsoft.com/office/drawing/2014/main" id="{2A3B4DBC-2A21-4213-A822-4D246267D29E}"/>
              </a:ext>
            </a:extLst>
          </p:cNvPr>
          <p:cNvSpPr>
            <a:spLocks xmlns:a="http://schemas.openxmlformats.org/drawingml/2006/main" noGrp="1"/>
          </p:cNvSpPr>
          <p:nvPr/>
        </p:nvSpPr>
        <p:spPr>
          <a:xfrm xmlns:a="http://schemas.openxmlformats.org/drawingml/2006/main">
            <a:off x="457200" y="3291840"/>
            <a:ext cx="2194560" cy="4572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7" name="Text 12">
            <a:extLst xmlns:a="http://schemas.openxmlformats.org/drawingml/2006/main">
              <a:ext uri="{FF2B5EF4-FFF2-40B4-BE49-F238E27FC236}">
                <a16:creationId xmlns:a16="http://schemas.microsoft.com/office/drawing/2014/main" id="{617FB2DC-760E-4582-AC95-C9912DB70C32}"/>
              </a:ext>
            </a:extLst>
          </p:cNvPr>
          <p:cNvSpPr>
            <a:spLocks xmlns:a="http://schemas.openxmlformats.org/drawingml/2006/main" noGrp="1"/>
          </p:cNvSpPr>
          <p:nvPr/>
        </p:nvSpPr>
        <p:spPr>
          <a:xfrm xmlns:a="http://schemas.openxmlformats.org/drawingml/2006/main">
            <a:off x="457200" y="3291840"/>
            <a:ext cx="21945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1</a:t>
            </a:r>
            <a:endParaRPr sz="1800"/>
          </a:p>
        </p:txBody>
      </p:sp>
      <p:pic>
        <p:nvPicPr>
          <p:cNvPr id="69" name="Image 3">
            <a:extLst xmlns:a="http://schemas.openxmlformats.org/drawingml/2006/main">
              <a:ext uri="{FF2B5EF4-FFF2-40B4-BE49-F238E27FC236}">
                <a16:creationId xmlns:a16="http://schemas.microsoft.com/office/drawing/2014/main" id="{016259B5-698F-41F8-8639-FC4BE43AD3A4}"/>
              </a:ext>
            </a:extLst>
          </p:cNvPr>
          <p:cNvPicPr>
            <a:picLocks xmlns:a="http://schemas.openxmlformats.org/drawingml/2006/main" noChangeAspect="1"/>
          </p:cNvPicPr>
          <p:nvPr/>
        </p:nvPicPr>
        <p:blipFill>
          <a:blip xmlns:r="http://schemas.openxmlformats.org/officeDocument/2006/relationships" xmlns:a="http://schemas.openxmlformats.org/drawingml/2006/main" r:embed="Re686376867d14408"/>
          <a:stretch xmlns:a="http://schemas.openxmlformats.org/drawingml/2006/main">
            <a:fillRect l="0" t="0" r="0" b="0"/>
          </a:stretch>
        </p:blipFill>
        <p:spPr>
          <a:xfrm xmlns:a="http://schemas.openxmlformats.org/drawingml/2006/main">
            <a:off x="1234440" y="3931920"/>
            <a:ext cx="640080" cy="640080"/>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86945F8F-0C5C-4D9E-879A-32A1AA75D16D}"/>
              </a:ext>
            </a:extLst>
          </p:cNvPr>
          <p:cNvSpPr>
            <a:spLocks xmlns:a="http://schemas.openxmlformats.org/drawingml/2006/main" noGrp="1"/>
          </p:cNvSpPr>
          <p:nvPr/>
        </p:nvSpPr>
        <p:spPr>
          <a:xfrm xmlns:a="http://schemas.openxmlformats.org/drawingml/2006/main">
            <a:off x="548640" y="4663440"/>
            <a:ext cx="201168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200" b="1">
                <a:solidFill>
                  <a:srgbClr val="1E293B"/>
                </a:solidFill>
                <a:latin typeface="Calibri"/>
                <a:ea typeface="Calibri"/>
                <a:cs typeface="Calibri"/>
              </a:rPr>
              <a:t>Source code</a:t>
            </a:r>
            <a:endParaRPr sz="1200"/>
          </a:p>
          <a:p xmlns:a="http://schemas.openxmlformats.org/drawingml/2006/main">
            <a:pPr marL="0" indent="0" algn="ctr">
              <a:buNone/>
            </a:pPr>
            <a:r>
              <a:rPr sz="1200" b="1">
                <a:solidFill>
                  <a:srgbClr val="1E293B"/>
                </a:solidFill>
                <a:latin typeface="Calibri"/>
                <a:ea typeface="Calibri"/>
                <a:cs typeface="Calibri"/>
              </a:rPr>
              <a:t>+ Dockerfile</a:t>
            </a:r>
            <a:endParaRPr sz="1200"/>
          </a:p>
        </p:txBody>
      </p:sp>
      <p:sp>
        <p:nvSpPr>
          <p:cNvPr id="20" name="Shape 14">
            <a:extLst xmlns:a="http://schemas.openxmlformats.org/drawingml/2006/main">
              <a:ext uri="{FF2B5EF4-FFF2-40B4-BE49-F238E27FC236}">
                <a16:creationId xmlns:a16="http://schemas.microsoft.com/office/drawing/2014/main" id="{2E410FC5-F09D-4F5F-8477-B4AB674EC322}"/>
              </a:ext>
            </a:extLst>
          </p:cNvPr>
          <p:cNvSpPr>
            <a:spLocks xmlns:a="http://schemas.openxmlformats.org/drawingml/2006/main" noGrp="1"/>
          </p:cNvSpPr>
          <p:nvPr/>
        </p:nvSpPr>
        <p:spPr>
          <a:xfrm xmlns:a="http://schemas.openxmlformats.org/drawingml/2006/main">
            <a:off x="2670048" y="4251960"/>
            <a:ext cx="118872" cy="365760"/>
          </a:xfrm>
          <a:prstGeom xmlns:a="http://schemas.openxmlformats.org/drawingml/2006/main" prst="rightArrow">
            <a:avLst/>
          </a:prstGeom>
          <a:solidFill xmlns:a="http://schemas.openxmlformats.org/drawingml/2006/main">
            <a:srgbClr val="F37021"/>
          </a:solidFill>
          <a:ln xmlns:a="http://schemas.openxmlformats.org/drawingml/2006/main" w="12700">
            <a:solidFill>
              <a:srgbClr val="F37021"/>
            </a:solidFill>
            <a:prstDash val="solid"/>
          </a:ln>
        </p:spPr>
      </p:sp>
      <p:sp>
        <p:nvSpPr>
          <p:cNvPr id="21" name="Shape 15">
            <a:extLst xmlns:a="http://schemas.openxmlformats.org/drawingml/2006/main">
              <a:ext uri="{FF2B5EF4-FFF2-40B4-BE49-F238E27FC236}">
                <a16:creationId xmlns:a16="http://schemas.microsoft.com/office/drawing/2014/main" id="{815B71AC-5F22-4729-B54B-111EA1A50EA7}"/>
              </a:ext>
            </a:extLst>
          </p:cNvPr>
          <p:cNvSpPr>
            <a:spLocks xmlns:a="http://schemas.openxmlformats.org/drawingml/2006/main" noGrp="1"/>
          </p:cNvSpPr>
          <p:nvPr/>
        </p:nvSpPr>
        <p:spPr>
          <a:xfrm xmlns:a="http://schemas.openxmlformats.org/drawingml/2006/main">
            <a:off x="2788920" y="3291840"/>
            <a:ext cx="219456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2" name="Shape 16">
            <a:extLst xmlns:a="http://schemas.openxmlformats.org/drawingml/2006/main">
              <a:ext uri="{FF2B5EF4-FFF2-40B4-BE49-F238E27FC236}">
                <a16:creationId xmlns:a16="http://schemas.microsoft.com/office/drawing/2014/main" id="{253678D1-3B97-4C3D-8BB5-D7C10A1F4A61}"/>
              </a:ext>
            </a:extLst>
          </p:cNvPr>
          <p:cNvSpPr>
            <a:spLocks xmlns:a="http://schemas.openxmlformats.org/drawingml/2006/main" noGrp="1"/>
          </p:cNvSpPr>
          <p:nvPr/>
        </p:nvSpPr>
        <p:spPr>
          <a:xfrm xmlns:a="http://schemas.openxmlformats.org/drawingml/2006/main">
            <a:off x="2788920" y="3291840"/>
            <a:ext cx="2194560" cy="45720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23" name="Text 17">
            <a:extLst xmlns:a="http://schemas.openxmlformats.org/drawingml/2006/main">
              <a:ext uri="{FF2B5EF4-FFF2-40B4-BE49-F238E27FC236}">
                <a16:creationId xmlns:a16="http://schemas.microsoft.com/office/drawing/2014/main" id="{A73252B5-4D97-4300-B5DF-45169388B603}"/>
              </a:ext>
            </a:extLst>
          </p:cNvPr>
          <p:cNvSpPr>
            <a:spLocks xmlns:a="http://schemas.openxmlformats.org/drawingml/2006/main" noGrp="1"/>
          </p:cNvSpPr>
          <p:nvPr/>
        </p:nvSpPr>
        <p:spPr>
          <a:xfrm xmlns:a="http://schemas.openxmlformats.org/drawingml/2006/main">
            <a:off x="2788920" y="3291840"/>
            <a:ext cx="21945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2</a:t>
            </a:r>
            <a:endParaRPr sz="1800"/>
          </a:p>
        </p:txBody>
      </p:sp>
      <p:pic>
        <p:nvPicPr>
          <p:cNvPr id="75" name="Image 4">
            <a:extLst xmlns:a="http://schemas.openxmlformats.org/drawingml/2006/main">
              <a:ext uri="{FF2B5EF4-FFF2-40B4-BE49-F238E27FC236}">
                <a16:creationId xmlns:a16="http://schemas.microsoft.com/office/drawing/2014/main" id="{158F846B-5A7C-4E1A-A862-CA2E0E3E1EAE}"/>
              </a:ext>
            </a:extLst>
          </p:cNvPr>
          <p:cNvPicPr>
            <a:picLocks xmlns:a="http://schemas.openxmlformats.org/drawingml/2006/main" noChangeAspect="1"/>
          </p:cNvPicPr>
          <p:nvPr/>
        </p:nvPicPr>
        <p:blipFill>
          <a:blip xmlns:r="http://schemas.openxmlformats.org/officeDocument/2006/relationships" xmlns:a="http://schemas.openxmlformats.org/drawingml/2006/main" r:embed="R2261890f414249cf"/>
          <a:stretch xmlns:a="http://schemas.openxmlformats.org/drawingml/2006/main">
            <a:fillRect l="0" t="0" r="0" b="0"/>
          </a:stretch>
        </p:blipFill>
        <p:spPr>
          <a:xfrm xmlns:a="http://schemas.openxmlformats.org/drawingml/2006/main">
            <a:off x="3566160" y="3931920"/>
            <a:ext cx="640080" cy="640080"/>
          </a:xfrm>
          <a:prstGeom xmlns:a="http://schemas.openxmlformats.org/drawingml/2006/main" prst="rect">
            <a:avLst/>
          </a:prstGeom>
        </p:spPr>
      </p:pic>
      <p:sp>
        <p:nvSpPr>
          <p:cNvPr id="25" name="Text 18">
            <a:extLst xmlns:a="http://schemas.openxmlformats.org/drawingml/2006/main">
              <a:ext uri="{FF2B5EF4-FFF2-40B4-BE49-F238E27FC236}">
                <a16:creationId xmlns:a16="http://schemas.microsoft.com/office/drawing/2014/main" id="{053A52DC-2A9F-4D50-8BC3-078ACA88C65B}"/>
              </a:ext>
            </a:extLst>
          </p:cNvPr>
          <p:cNvSpPr>
            <a:spLocks xmlns:a="http://schemas.openxmlformats.org/drawingml/2006/main" noGrp="1"/>
          </p:cNvSpPr>
          <p:nvPr/>
        </p:nvSpPr>
        <p:spPr>
          <a:xfrm xmlns:a="http://schemas.openxmlformats.org/drawingml/2006/main">
            <a:off x="2880360" y="4663440"/>
            <a:ext cx="201168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200" b="1">
                <a:solidFill>
                  <a:srgbClr val="1E293B"/>
                </a:solidFill>
                <a:latin typeface="Calibri"/>
                <a:ea typeface="Calibri"/>
                <a:cs typeface="Calibri"/>
              </a:rPr>
              <a:t>docker build</a:t>
            </a:r>
            <a:endParaRPr sz="1200"/>
          </a:p>
        </p:txBody>
      </p:sp>
      <p:sp>
        <p:nvSpPr>
          <p:cNvPr id="26" name="Shape 19">
            <a:extLst xmlns:a="http://schemas.openxmlformats.org/drawingml/2006/main">
              <a:ext uri="{FF2B5EF4-FFF2-40B4-BE49-F238E27FC236}">
                <a16:creationId xmlns:a16="http://schemas.microsoft.com/office/drawing/2014/main" id="{E5DA29A2-7B32-4763-8197-2C6D5191A38D}"/>
              </a:ext>
            </a:extLst>
          </p:cNvPr>
          <p:cNvSpPr>
            <a:spLocks xmlns:a="http://schemas.openxmlformats.org/drawingml/2006/main" noGrp="1"/>
          </p:cNvSpPr>
          <p:nvPr/>
        </p:nvSpPr>
        <p:spPr>
          <a:xfrm xmlns:a="http://schemas.openxmlformats.org/drawingml/2006/main">
            <a:off x="5001768" y="4251960"/>
            <a:ext cx="118872" cy="365760"/>
          </a:xfrm>
          <a:prstGeom xmlns:a="http://schemas.openxmlformats.org/drawingml/2006/main" prst="rightArrow">
            <a:avLst/>
          </a:prstGeom>
          <a:solidFill xmlns:a="http://schemas.openxmlformats.org/drawingml/2006/main">
            <a:srgbClr val="F37021"/>
          </a:solidFill>
          <a:ln xmlns:a="http://schemas.openxmlformats.org/drawingml/2006/main" w="12700">
            <a:solidFill>
              <a:srgbClr val="F37021"/>
            </a:solidFill>
            <a:prstDash val="solid"/>
          </a:ln>
        </p:spPr>
      </p:sp>
      <p:sp>
        <p:nvSpPr>
          <p:cNvPr id="27" name="Shape 20">
            <a:extLst xmlns:a="http://schemas.openxmlformats.org/drawingml/2006/main">
              <a:ext uri="{FF2B5EF4-FFF2-40B4-BE49-F238E27FC236}">
                <a16:creationId xmlns:a16="http://schemas.microsoft.com/office/drawing/2014/main" id="{D1AF6315-0568-426E-BCB2-33D9DCBD1234}"/>
              </a:ext>
            </a:extLst>
          </p:cNvPr>
          <p:cNvSpPr>
            <a:spLocks xmlns:a="http://schemas.openxmlformats.org/drawingml/2006/main" noGrp="1"/>
          </p:cNvSpPr>
          <p:nvPr/>
        </p:nvSpPr>
        <p:spPr>
          <a:xfrm xmlns:a="http://schemas.openxmlformats.org/drawingml/2006/main">
            <a:off x="5120640" y="3291840"/>
            <a:ext cx="219456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8" name="Shape 21">
            <a:extLst xmlns:a="http://schemas.openxmlformats.org/drawingml/2006/main">
              <a:ext uri="{FF2B5EF4-FFF2-40B4-BE49-F238E27FC236}">
                <a16:creationId xmlns:a16="http://schemas.microsoft.com/office/drawing/2014/main" id="{4E514AFE-CF9E-4979-A5E4-962B406DA1C1}"/>
              </a:ext>
            </a:extLst>
          </p:cNvPr>
          <p:cNvSpPr>
            <a:spLocks xmlns:a="http://schemas.openxmlformats.org/drawingml/2006/main" noGrp="1"/>
          </p:cNvSpPr>
          <p:nvPr/>
        </p:nvSpPr>
        <p:spPr>
          <a:xfrm xmlns:a="http://schemas.openxmlformats.org/drawingml/2006/main">
            <a:off x="5120640" y="3291840"/>
            <a:ext cx="2194560" cy="4572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9" name="Text 22">
            <a:extLst xmlns:a="http://schemas.openxmlformats.org/drawingml/2006/main">
              <a:ext uri="{FF2B5EF4-FFF2-40B4-BE49-F238E27FC236}">
                <a16:creationId xmlns:a16="http://schemas.microsoft.com/office/drawing/2014/main" id="{7BFAF897-54AD-486E-BD1C-CED9707EFE4E}"/>
              </a:ext>
            </a:extLst>
          </p:cNvPr>
          <p:cNvSpPr>
            <a:spLocks xmlns:a="http://schemas.openxmlformats.org/drawingml/2006/main" noGrp="1"/>
          </p:cNvSpPr>
          <p:nvPr/>
        </p:nvSpPr>
        <p:spPr>
          <a:xfrm xmlns:a="http://schemas.openxmlformats.org/drawingml/2006/main">
            <a:off x="5120640" y="3291840"/>
            <a:ext cx="21945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3</a:t>
            </a:r>
            <a:endParaRPr sz="1800"/>
          </a:p>
        </p:txBody>
      </p:sp>
      <p:pic>
        <p:nvPicPr>
          <p:cNvPr id="81" name="Image 5">
            <a:extLst xmlns:a="http://schemas.openxmlformats.org/drawingml/2006/main">
              <a:ext uri="{FF2B5EF4-FFF2-40B4-BE49-F238E27FC236}">
                <a16:creationId xmlns:a16="http://schemas.microsoft.com/office/drawing/2014/main" id="{9EF13723-6716-4F26-966A-7F8EB297851F}"/>
              </a:ext>
            </a:extLst>
          </p:cNvPr>
          <p:cNvPicPr>
            <a:picLocks xmlns:a="http://schemas.openxmlformats.org/drawingml/2006/main" noChangeAspect="1"/>
          </p:cNvPicPr>
          <p:nvPr/>
        </p:nvPicPr>
        <p:blipFill>
          <a:blip xmlns:r="http://schemas.openxmlformats.org/officeDocument/2006/relationships" xmlns:a="http://schemas.openxmlformats.org/drawingml/2006/main" r:embed="R24a6bbe943d2490b"/>
          <a:stretch xmlns:a="http://schemas.openxmlformats.org/drawingml/2006/main">
            <a:fillRect l="0" t="0" r="0" b="0"/>
          </a:stretch>
        </p:blipFill>
        <p:spPr>
          <a:xfrm xmlns:a="http://schemas.openxmlformats.org/drawingml/2006/main">
            <a:off x="5897880" y="3931920"/>
            <a:ext cx="640080" cy="640080"/>
          </a:xfrm>
          <a:prstGeom xmlns:a="http://schemas.openxmlformats.org/drawingml/2006/main" prst="rect">
            <a:avLst/>
          </a:prstGeom>
        </p:spPr>
      </p:pic>
      <p:sp>
        <p:nvSpPr>
          <p:cNvPr id="31" name="Text 23">
            <a:extLst xmlns:a="http://schemas.openxmlformats.org/drawingml/2006/main">
              <a:ext uri="{FF2B5EF4-FFF2-40B4-BE49-F238E27FC236}">
                <a16:creationId xmlns:a16="http://schemas.microsoft.com/office/drawing/2014/main" id="{8997809B-4A67-472E-A3B1-27D11ACE4F8C}"/>
              </a:ext>
            </a:extLst>
          </p:cNvPr>
          <p:cNvSpPr>
            <a:spLocks xmlns:a="http://schemas.openxmlformats.org/drawingml/2006/main" noGrp="1"/>
          </p:cNvSpPr>
          <p:nvPr/>
        </p:nvSpPr>
        <p:spPr>
          <a:xfrm xmlns:a="http://schemas.openxmlformats.org/drawingml/2006/main">
            <a:off x="5212080" y="4663440"/>
            <a:ext cx="201168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200" b="1">
                <a:solidFill>
                  <a:srgbClr val="1E293B"/>
                </a:solidFill>
                <a:latin typeface="Calibri"/>
                <a:ea typeface="Calibri"/>
                <a:cs typeface="Calibri"/>
              </a:rPr>
              <a:t>Image</a:t>
            </a:r>
            <a:endParaRPr sz="1200"/>
          </a:p>
          <a:p xmlns:a="http://schemas.openxmlformats.org/drawingml/2006/main">
            <a:pPr marL="0" indent="0" algn="ctr">
              <a:buNone/>
            </a:pPr>
            <a:r>
              <a:rPr sz="1200" b="1">
                <a:solidFill>
                  <a:srgbClr val="1E293B"/>
                </a:solidFill>
                <a:latin typeface="Calibri"/>
                <a:ea typeface="Calibri"/>
                <a:cs typeface="Calibri"/>
              </a:rPr>
              <a:t>(tagged)</a:t>
            </a:r>
            <a:endParaRPr sz="1200"/>
          </a:p>
        </p:txBody>
      </p:sp>
      <p:sp>
        <p:nvSpPr>
          <p:cNvPr id="32" name="Shape 24">
            <a:extLst xmlns:a="http://schemas.openxmlformats.org/drawingml/2006/main">
              <a:ext uri="{FF2B5EF4-FFF2-40B4-BE49-F238E27FC236}">
                <a16:creationId xmlns:a16="http://schemas.microsoft.com/office/drawing/2014/main" id="{E7572111-BB87-4D35-BA1A-FF167673D033}"/>
              </a:ext>
            </a:extLst>
          </p:cNvPr>
          <p:cNvSpPr>
            <a:spLocks xmlns:a="http://schemas.openxmlformats.org/drawingml/2006/main" noGrp="1"/>
          </p:cNvSpPr>
          <p:nvPr/>
        </p:nvSpPr>
        <p:spPr>
          <a:xfrm xmlns:a="http://schemas.openxmlformats.org/drawingml/2006/main">
            <a:off x="7333488" y="4251960"/>
            <a:ext cx="118872" cy="365760"/>
          </a:xfrm>
          <a:prstGeom xmlns:a="http://schemas.openxmlformats.org/drawingml/2006/main" prst="rightArrow">
            <a:avLst/>
          </a:prstGeom>
          <a:solidFill xmlns:a="http://schemas.openxmlformats.org/drawingml/2006/main">
            <a:srgbClr val="F37021"/>
          </a:solidFill>
          <a:ln xmlns:a="http://schemas.openxmlformats.org/drawingml/2006/main" w="12700">
            <a:solidFill>
              <a:srgbClr val="F37021"/>
            </a:solidFill>
            <a:prstDash val="solid"/>
          </a:ln>
        </p:spPr>
      </p:sp>
      <p:sp>
        <p:nvSpPr>
          <p:cNvPr id="33" name="Shape 25">
            <a:extLst xmlns:a="http://schemas.openxmlformats.org/drawingml/2006/main">
              <a:ext uri="{FF2B5EF4-FFF2-40B4-BE49-F238E27FC236}">
                <a16:creationId xmlns:a16="http://schemas.microsoft.com/office/drawing/2014/main" id="{6A5BCE4B-3C69-4D21-893C-290C910D5ADD}"/>
              </a:ext>
            </a:extLst>
          </p:cNvPr>
          <p:cNvSpPr>
            <a:spLocks xmlns:a="http://schemas.openxmlformats.org/drawingml/2006/main" noGrp="1"/>
          </p:cNvSpPr>
          <p:nvPr/>
        </p:nvSpPr>
        <p:spPr>
          <a:xfrm xmlns:a="http://schemas.openxmlformats.org/drawingml/2006/main">
            <a:off x="7452360" y="3291840"/>
            <a:ext cx="219456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4" name="Shape 26">
            <a:extLst xmlns:a="http://schemas.openxmlformats.org/drawingml/2006/main">
              <a:ext uri="{FF2B5EF4-FFF2-40B4-BE49-F238E27FC236}">
                <a16:creationId xmlns:a16="http://schemas.microsoft.com/office/drawing/2014/main" id="{B54028DD-7A69-46EF-8DAE-59883196A75C}"/>
              </a:ext>
            </a:extLst>
          </p:cNvPr>
          <p:cNvSpPr>
            <a:spLocks xmlns:a="http://schemas.openxmlformats.org/drawingml/2006/main" noGrp="1"/>
          </p:cNvSpPr>
          <p:nvPr/>
        </p:nvSpPr>
        <p:spPr>
          <a:xfrm xmlns:a="http://schemas.openxmlformats.org/drawingml/2006/main">
            <a:off x="7452360" y="3291840"/>
            <a:ext cx="2194560" cy="45720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35" name="Text 27">
            <a:extLst xmlns:a="http://schemas.openxmlformats.org/drawingml/2006/main">
              <a:ext uri="{FF2B5EF4-FFF2-40B4-BE49-F238E27FC236}">
                <a16:creationId xmlns:a16="http://schemas.microsoft.com/office/drawing/2014/main" id="{681B8503-D0EB-4054-B468-41558115BF2B}"/>
              </a:ext>
            </a:extLst>
          </p:cNvPr>
          <p:cNvSpPr>
            <a:spLocks xmlns:a="http://schemas.openxmlformats.org/drawingml/2006/main" noGrp="1"/>
          </p:cNvSpPr>
          <p:nvPr/>
        </p:nvSpPr>
        <p:spPr>
          <a:xfrm xmlns:a="http://schemas.openxmlformats.org/drawingml/2006/main">
            <a:off x="7452360" y="3291840"/>
            <a:ext cx="21945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4</a:t>
            </a:r>
            <a:endParaRPr sz="1800"/>
          </a:p>
        </p:txBody>
      </p:sp>
      <p:pic>
        <p:nvPicPr>
          <p:cNvPr id="87" name="Image 6">
            <a:extLst xmlns:a="http://schemas.openxmlformats.org/drawingml/2006/main">
              <a:ext uri="{FF2B5EF4-FFF2-40B4-BE49-F238E27FC236}">
                <a16:creationId xmlns:a16="http://schemas.microsoft.com/office/drawing/2014/main" id="{A2A7F303-8C33-4A51-A87F-5FC52D5E6C68}"/>
              </a:ext>
            </a:extLst>
          </p:cNvPr>
          <p:cNvPicPr>
            <a:picLocks xmlns:a="http://schemas.openxmlformats.org/drawingml/2006/main" noChangeAspect="1"/>
          </p:cNvPicPr>
          <p:nvPr/>
        </p:nvPicPr>
        <p:blipFill>
          <a:blip xmlns:r="http://schemas.openxmlformats.org/officeDocument/2006/relationships" xmlns:a="http://schemas.openxmlformats.org/drawingml/2006/main" r:embed="R73cd7494811a4e47"/>
          <a:stretch xmlns:a="http://schemas.openxmlformats.org/drawingml/2006/main">
            <a:fillRect l="0" t="0" r="0" b="0"/>
          </a:stretch>
        </p:blipFill>
        <p:spPr>
          <a:xfrm xmlns:a="http://schemas.openxmlformats.org/drawingml/2006/main">
            <a:off x="8229600" y="3931920"/>
            <a:ext cx="640080" cy="640080"/>
          </a:xfrm>
          <a:prstGeom xmlns:a="http://schemas.openxmlformats.org/drawingml/2006/main" prst="rect">
            <a:avLst/>
          </a:prstGeom>
        </p:spPr>
      </p:pic>
      <p:sp>
        <p:nvSpPr>
          <p:cNvPr id="37" name="Text 28">
            <a:extLst xmlns:a="http://schemas.openxmlformats.org/drawingml/2006/main">
              <a:ext uri="{FF2B5EF4-FFF2-40B4-BE49-F238E27FC236}">
                <a16:creationId xmlns:a16="http://schemas.microsoft.com/office/drawing/2014/main" id="{B75A8C6A-8429-4A41-B400-53F09DB18F37}"/>
              </a:ext>
            </a:extLst>
          </p:cNvPr>
          <p:cNvSpPr>
            <a:spLocks xmlns:a="http://schemas.openxmlformats.org/drawingml/2006/main" noGrp="1"/>
          </p:cNvSpPr>
          <p:nvPr/>
        </p:nvSpPr>
        <p:spPr>
          <a:xfrm xmlns:a="http://schemas.openxmlformats.org/drawingml/2006/main">
            <a:off x="7543800" y="4663440"/>
            <a:ext cx="201168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200" b="1">
                <a:solidFill>
                  <a:srgbClr val="1E293B"/>
                </a:solidFill>
                <a:latin typeface="Calibri"/>
                <a:ea typeface="Calibri"/>
                <a:cs typeface="Calibri"/>
              </a:rPr>
              <a:t>docker run</a:t>
            </a:r>
            <a:endParaRPr sz="1200"/>
          </a:p>
        </p:txBody>
      </p:sp>
      <p:sp>
        <p:nvSpPr>
          <p:cNvPr id="38" name="Shape 29">
            <a:extLst xmlns:a="http://schemas.openxmlformats.org/drawingml/2006/main">
              <a:ext uri="{FF2B5EF4-FFF2-40B4-BE49-F238E27FC236}">
                <a16:creationId xmlns:a16="http://schemas.microsoft.com/office/drawing/2014/main" id="{F10C4C06-F638-4436-BD68-0EECECC366EE}"/>
              </a:ext>
            </a:extLst>
          </p:cNvPr>
          <p:cNvSpPr>
            <a:spLocks xmlns:a="http://schemas.openxmlformats.org/drawingml/2006/main" noGrp="1"/>
          </p:cNvSpPr>
          <p:nvPr/>
        </p:nvSpPr>
        <p:spPr>
          <a:xfrm xmlns:a="http://schemas.openxmlformats.org/drawingml/2006/main">
            <a:off x="9665208" y="4251960"/>
            <a:ext cx="118872" cy="365760"/>
          </a:xfrm>
          <a:prstGeom xmlns:a="http://schemas.openxmlformats.org/drawingml/2006/main" prst="rightArrow">
            <a:avLst/>
          </a:prstGeom>
          <a:solidFill xmlns:a="http://schemas.openxmlformats.org/drawingml/2006/main">
            <a:srgbClr val="F37021"/>
          </a:solidFill>
          <a:ln xmlns:a="http://schemas.openxmlformats.org/drawingml/2006/main" w="12700">
            <a:solidFill>
              <a:srgbClr val="F37021"/>
            </a:solidFill>
            <a:prstDash val="solid"/>
          </a:ln>
        </p:spPr>
      </p:sp>
      <p:sp>
        <p:nvSpPr>
          <p:cNvPr id="39" name="Shape 30">
            <a:extLst xmlns:a="http://schemas.openxmlformats.org/drawingml/2006/main">
              <a:ext uri="{FF2B5EF4-FFF2-40B4-BE49-F238E27FC236}">
                <a16:creationId xmlns:a16="http://schemas.microsoft.com/office/drawing/2014/main" id="{4B4E0F8C-54C7-4584-BA2B-56886D26AF33}"/>
              </a:ext>
            </a:extLst>
          </p:cNvPr>
          <p:cNvSpPr>
            <a:spLocks xmlns:a="http://schemas.openxmlformats.org/drawingml/2006/main" noGrp="1"/>
          </p:cNvSpPr>
          <p:nvPr/>
        </p:nvSpPr>
        <p:spPr>
          <a:xfrm xmlns:a="http://schemas.openxmlformats.org/drawingml/2006/main">
            <a:off x="9784080" y="3291840"/>
            <a:ext cx="219456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0" name="Shape 31">
            <a:extLst xmlns:a="http://schemas.openxmlformats.org/drawingml/2006/main">
              <a:ext uri="{FF2B5EF4-FFF2-40B4-BE49-F238E27FC236}">
                <a16:creationId xmlns:a16="http://schemas.microsoft.com/office/drawing/2014/main" id="{74D707FA-C21B-4EB2-A0CD-D43FE7F0C0E9}"/>
              </a:ext>
            </a:extLst>
          </p:cNvPr>
          <p:cNvSpPr>
            <a:spLocks xmlns:a="http://schemas.openxmlformats.org/drawingml/2006/main" noGrp="1"/>
          </p:cNvSpPr>
          <p:nvPr/>
        </p:nvSpPr>
        <p:spPr>
          <a:xfrm xmlns:a="http://schemas.openxmlformats.org/drawingml/2006/main">
            <a:off x="9784080" y="3291840"/>
            <a:ext cx="2194560" cy="457200"/>
          </a:xfrm>
          <a:prstGeom xmlns:a="http://schemas.openxmlformats.org/drawingml/2006/main" prst="rect">
            <a:avLst/>
          </a:prstGeom>
          <a:solidFill xmlns:a="http://schemas.openxmlformats.org/drawingml/2006/main">
            <a:srgbClr val="7C3AED"/>
          </a:solidFill>
          <a:ln xmlns:a="http://schemas.openxmlformats.org/drawingml/2006/main" w="12700">
            <a:solidFill>
              <a:srgbClr val="7C3AED"/>
            </a:solidFill>
            <a:prstDash val="solid"/>
          </a:ln>
        </p:spPr>
      </p:sp>
      <p:sp>
        <p:nvSpPr>
          <p:cNvPr id="41" name="Text 32">
            <a:extLst xmlns:a="http://schemas.openxmlformats.org/drawingml/2006/main">
              <a:ext uri="{FF2B5EF4-FFF2-40B4-BE49-F238E27FC236}">
                <a16:creationId xmlns:a16="http://schemas.microsoft.com/office/drawing/2014/main" id="{E15C3EAB-7E43-4C4C-9632-01F618F46608}"/>
              </a:ext>
            </a:extLst>
          </p:cNvPr>
          <p:cNvSpPr>
            <a:spLocks xmlns:a="http://schemas.openxmlformats.org/drawingml/2006/main" noGrp="1"/>
          </p:cNvSpPr>
          <p:nvPr/>
        </p:nvSpPr>
        <p:spPr>
          <a:xfrm xmlns:a="http://schemas.openxmlformats.org/drawingml/2006/main">
            <a:off x="9784080" y="3291840"/>
            <a:ext cx="21945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5</a:t>
            </a:r>
            <a:endParaRPr sz="1800"/>
          </a:p>
        </p:txBody>
      </p:sp>
      <p:pic>
        <p:nvPicPr>
          <p:cNvPr id="93" name="Image 7">
            <a:extLst xmlns:a="http://schemas.openxmlformats.org/drawingml/2006/main">
              <a:ext uri="{FF2B5EF4-FFF2-40B4-BE49-F238E27FC236}">
                <a16:creationId xmlns:a16="http://schemas.microsoft.com/office/drawing/2014/main" id="{805A3D69-51B1-4433-8C0E-91AC0EFA51F6}"/>
              </a:ext>
            </a:extLst>
          </p:cNvPr>
          <p:cNvPicPr>
            <a:picLocks xmlns:a="http://schemas.openxmlformats.org/drawingml/2006/main" noChangeAspect="1"/>
          </p:cNvPicPr>
          <p:nvPr/>
        </p:nvPicPr>
        <p:blipFill>
          <a:blip xmlns:r="http://schemas.openxmlformats.org/officeDocument/2006/relationships" xmlns:a="http://schemas.openxmlformats.org/drawingml/2006/main" r:embed="R18f516622fa84b2c"/>
          <a:stretch xmlns:a="http://schemas.openxmlformats.org/drawingml/2006/main">
            <a:fillRect l="0" t="0" r="0" b="0"/>
          </a:stretch>
        </p:blipFill>
        <p:spPr>
          <a:xfrm xmlns:a="http://schemas.openxmlformats.org/drawingml/2006/main">
            <a:off x="10561320" y="3931920"/>
            <a:ext cx="640080" cy="640080"/>
          </a:xfrm>
          <a:prstGeom xmlns:a="http://schemas.openxmlformats.org/drawingml/2006/main" prst="rect">
            <a:avLst/>
          </a:prstGeom>
        </p:spPr>
      </p:pic>
      <p:sp>
        <p:nvSpPr>
          <p:cNvPr id="43" name="Text 33">
            <a:extLst xmlns:a="http://schemas.openxmlformats.org/drawingml/2006/main">
              <a:ext uri="{FF2B5EF4-FFF2-40B4-BE49-F238E27FC236}">
                <a16:creationId xmlns:a16="http://schemas.microsoft.com/office/drawing/2014/main" id="{253E7A16-3860-447A-A444-3D8D4C6138FF}"/>
              </a:ext>
            </a:extLst>
          </p:cNvPr>
          <p:cNvSpPr>
            <a:spLocks xmlns:a="http://schemas.openxmlformats.org/drawingml/2006/main" noGrp="1"/>
          </p:cNvSpPr>
          <p:nvPr/>
        </p:nvSpPr>
        <p:spPr>
          <a:xfrm xmlns:a="http://schemas.openxmlformats.org/drawingml/2006/main">
            <a:off x="9875520" y="4663440"/>
            <a:ext cx="201168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200" b="1">
                <a:solidFill>
                  <a:srgbClr val="1E293B"/>
                </a:solidFill>
                <a:latin typeface="Calibri"/>
                <a:ea typeface="Calibri"/>
                <a:cs typeface="Calibri"/>
              </a:rPr>
              <a:t>Container</a:t>
            </a:r>
            <a:endParaRPr sz="1200"/>
          </a:p>
          <a:p xmlns:a="http://schemas.openxmlformats.org/drawingml/2006/main">
            <a:pPr marL="0" indent="0" algn="ctr">
              <a:buNone/>
            </a:pPr>
            <a:r>
              <a:rPr sz="1200" b="1">
                <a:solidFill>
                  <a:srgbClr val="1E293B"/>
                </a:solidFill>
                <a:latin typeface="Calibri"/>
                <a:ea typeface="Calibri"/>
                <a:cs typeface="Calibri"/>
              </a:rPr>
              <a:t>running</a:t>
            </a:r>
            <a:endParaRPr sz="1200"/>
          </a:p>
        </p:txBody>
      </p:sp>
      <p:sp>
        <p:nvSpPr>
          <p:cNvPr id="44" name="Text 34">
            <a:extLst xmlns:a="http://schemas.openxmlformats.org/drawingml/2006/main">
              <a:ext uri="{FF2B5EF4-FFF2-40B4-BE49-F238E27FC236}">
                <a16:creationId xmlns:a16="http://schemas.microsoft.com/office/drawing/2014/main" id="{2AA1AA7B-71EF-413D-B576-F4A093FACCC3}"/>
              </a:ext>
            </a:extLst>
          </p:cNvPr>
          <p:cNvSpPr>
            <a:spLocks xmlns:a="http://schemas.openxmlformats.org/drawingml/2006/main" noGrp="1"/>
          </p:cNvSpPr>
          <p:nvPr/>
        </p:nvSpPr>
        <p:spPr>
          <a:xfrm xmlns:a="http://schemas.openxmlformats.org/drawingml/2006/main">
            <a:off x="457200" y="5852160"/>
            <a:ext cx="11247120" cy="4572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Hasil build juga bergantung pada base image, dependency, platform, dan context. Lockfile serta digest membantu mengendalikan input.</a:t>
            </a:r>
            <a:endParaRPr sz="1100"/>
          </a:p>
        </p:txBody>
      </p:sp>
    </p:spTree>
    <p:extLst>
      <p:ext uri="{BB962C8B-B14F-4D97-AF65-F5344CB8AC3E}">
        <p14:creationId xmlns:p14="http://schemas.microsoft.com/office/powerpoint/2010/main" val="118852895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0" name="">
            <a:extLst xmlns:a="http://schemas.openxmlformats.org/drawingml/2006/main">
              <a:ext uri="{FF2B5EF4-FFF2-40B4-BE49-F238E27FC236}">
                <a16:creationId xmlns:a16="http://schemas.microsoft.com/office/drawing/2014/main" id="{3A662F4F-7BE7-4AFF-A232-481436B1A074}"/>
              </a:ext>
            </a:extLst>
          </p:cNvPr>
          <p:cNvPicPr>
            <a:picLocks xmlns:a="http://schemas.openxmlformats.org/drawingml/2006/main" noChangeAspect="1"/>
          </p:cNvPicPr>
          <p:nvPr/>
        </p:nvPicPr>
        <p:blipFill>
          <a:blip xmlns:r="http://schemas.openxmlformats.org/officeDocument/2006/relationships" xmlns:a="http://schemas.openxmlformats.org/drawingml/2006/main" r:embed="Rce792203dc4245e1"/>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4513C09D-9D58-438A-8785-809F58FD82F5}"/>
              </a:ext>
            </a:extLst>
          </p:cNvPr>
          <p:cNvPicPr>
            <a:picLocks xmlns:a="http://schemas.openxmlformats.org/drawingml/2006/main" noChangeAspect="1"/>
          </p:cNvPicPr>
          <p:nvPr/>
        </p:nvPicPr>
        <p:blipFill>
          <a:blip xmlns:r="http://schemas.openxmlformats.org/officeDocument/2006/relationships" xmlns:a="http://schemas.openxmlformats.org/drawingml/2006/main" r:embed="R0e1901736c744126"/>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5B462F34-CD3D-4613-93E1-2F2E380EC40C}"/>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Resep, image, dan container</a:t>
            </a:r>
          </a:p>
        </p:txBody>
      </p:sp>
      <p:sp>
        <p:nvSpPr>
          <p:cNvPr id="4" name="text_1">
            <a:extLst xmlns:a="http://schemas.openxmlformats.org/drawingml/2006/main">
              <a:ext uri="{FF2B5EF4-FFF2-40B4-BE49-F238E27FC236}">
                <a16:creationId xmlns:a16="http://schemas.microsoft.com/office/drawing/2014/main" id="{02ADF4FE-4C28-4AD9-969A-BE232638E68B}"/>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Perumpamaan restoran untuk paket aplikasi dan layanan yang aktif</a:t>
            </a:r>
          </a:p>
        </p:txBody>
      </p:sp>
      <p:sp>
        <p:nvSpPr>
          <p:cNvPr id="5" name="">
            <a:extLst xmlns:a="http://schemas.openxmlformats.org/drawingml/2006/main">
              <a:ext uri="{FF2B5EF4-FFF2-40B4-BE49-F238E27FC236}">
                <a16:creationId xmlns:a16="http://schemas.microsoft.com/office/drawing/2014/main" id="{503AECE9-D840-4BA0-89E8-A16CC7861AE5}"/>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C4E3D9F-0D81-4128-9955-9EAA54B56C8F}"/>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869AA109-036C-4CD1-AFC0-53C7655773CF}"/>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2511F26D-5BCF-4AFD-B5EF-3EDDAD8B18F6}"/>
              </a:ext>
            </a:extLst>
          </p:cNvPr>
          <p:cNvPicPr>
            <a:picLocks xmlns:a="http://schemas.openxmlformats.org/drawingml/2006/main" noChangeAspect="1"/>
          </p:cNvPicPr>
          <p:nvPr/>
        </p:nvPicPr>
        <p:blipFill>
          <a:blip xmlns:r="http://schemas.openxmlformats.org/officeDocument/2006/relationships" xmlns:a="http://schemas.openxmlformats.org/drawingml/2006/main" r:embed="R55c4c3e5db764823"/>
          <a:srcRect xmlns:a="http://schemas.openxmlformats.org/drawingml/2006/main" l="0" t="26628" r="0" b="26628"/>
          <a:stretch xmlns:a="http://schemas.openxmlformats.org/drawingml/2006/main">
            <a:fillRect l="0" t="0" r="0" b="0"/>
          </a:stretch>
        </p:blipFill>
        <p:spPr>
          <a:xfrm xmlns:a="http://schemas.openxmlformats.org/drawingml/2006/main">
            <a:off x="6762750" y="1571625"/>
            <a:ext cx="4972050" cy="3486150"/>
          </a:xfrm>
          <a:prstGeom xmlns:a="http://schemas.openxmlformats.org/drawingml/2006/main" prst="rect">
            <a:avLst/>
          </a:prstGeom>
        </p:spPr>
      </p:pic>
      <p:sp>
        <p:nvSpPr>
          <p:cNvPr id="9" name="text_5">
            <a:extLst xmlns:a="http://schemas.openxmlformats.org/drawingml/2006/main">
              <a:ext uri="{FF2B5EF4-FFF2-40B4-BE49-F238E27FC236}">
                <a16:creationId xmlns:a16="http://schemas.microsoft.com/office/drawing/2014/main" id="{14E39541-8C55-4822-98EC-ED8625CE7CD3}"/>
              </a:ext>
            </a:extLst>
          </p:cNvPr>
          <p:cNvSpPr>
            <a:spLocks xmlns:a="http://schemas.openxmlformats.org/drawingml/2006/main" noGrp="1"/>
          </p:cNvSpPr>
          <p:nvPr/>
        </p:nvSpPr>
        <p:spPr>
          <a:xfrm xmlns:a="http://schemas.openxmlformats.org/drawingml/2006/main">
            <a:off x="6762750" y="5133975"/>
            <a:ext cx="4972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00" b="0">
                <a:solidFill>
                  <a:srgbClr val="64748B"/>
                </a:solidFill>
                <a:latin typeface="Calibri"/>
                <a:ea typeface="Calibri"/>
                <a:cs typeface="Calibri"/>
              </a:defRPr>
            </a:defPPr>
          </a:lstStyle>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Foto: Daniel &amp; Hannah Snipes / Pexels · ilustrasi perumpamaan</a:t>
            </a:r>
          </a:p>
        </p:txBody>
      </p:sp>
      <p:sp>
        <p:nvSpPr>
          <p:cNvPr id="10" name="text_6">
            <a:extLst xmlns:a="http://schemas.openxmlformats.org/drawingml/2006/main">
              <a:ext uri="{FF2B5EF4-FFF2-40B4-BE49-F238E27FC236}">
                <a16:creationId xmlns:a16="http://schemas.microsoft.com/office/drawing/2014/main" id="{A5821FE2-E995-4E7D-BE6F-2F9C9CE79600}"/>
              </a:ext>
            </a:extLst>
          </p:cNvPr>
          <p:cNvSpPr>
            <a:spLocks xmlns:a="http://schemas.openxmlformats.org/drawingml/2006/main" noGrp="1"/>
          </p:cNvSpPr>
          <p:nvPr/>
        </p:nvSpPr>
        <p:spPr>
          <a:xfrm xmlns:a="http://schemas.openxmlformats.org/drawingml/2006/main">
            <a:off x="457200" y="157162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defRPr sz="1875" b="1">
                <a:solidFill>
                  <a:srgbClr val="052877"/>
                </a:solidFill>
                <a:latin typeface="Calibri"/>
                <a:ea typeface="Calibri"/>
                <a:cs typeface="Calibri"/>
              </a:defRPr>
            </a:pPr>
            <a:r>
              <a:rPr sz="1875" b="1">
                <a:solidFill>
                  <a:srgbClr val="052877"/>
                </a:solidFill>
                <a:latin typeface="Calibri"/>
                <a:ea typeface="Calibri"/>
                <a:cs typeface="Calibri"/>
              </a:rPr>
              <a:t>Dockerfile = resep</a:t>
            </a:r>
          </a:p>
        </p:txBody>
      </p:sp>
      <p:sp>
        <p:nvSpPr>
          <p:cNvPr id="11" name="text_7">
            <a:extLst xmlns:a="http://schemas.openxmlformats.org/drawingml/2006/main">
              <a:ext uri="{FF2B5EF4-FFF2-40B4-BE49-F238E27FC236}">
                <a16:creationId xmlns:a16="http://schemas.microsoft.com/office/drawing/2014/main" id="{CC9A201C-62F0-4CBE-8863-1DEE0810B96E}"/>
              </a:ext>
            </a:extLst>
          </p:cNvPr>
          <p:cNvSpPr>
            <a:spLocks xmlns:a="http://schemas.openxmlformats.org/drawingml/2006/main" noGrp="1"/>
          </p:cNvSpPr>
          <p:nvPr/>
        </p:nvSpPr>
        <p:spPr>
          <a:xfrm xmlns:a="http://schemas.openxmlformats.org/drawingml/2006/main">
            <a:off x="457200" y="1971675"/>
            <a:ext cx="5905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Instruksi menyiapkan kode, dependency,</a:t>
            </a:r>
          </a:p>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dan perintah awal aplikasi.</a:t>
            </a:r>
          </a:p>
        </p:txBody>
      </p:sp>
      <p:sp>
        <p:nvSpPr>
          <p:cNvPr id="12" name="text_8">
            <a:extLst xmlns:a="http://schemas.openxmlformats.org/drawingml/2006/main">
              <a:ext uri="{FF2B5EF4-FFF2-40B4-BE49-F238E27FC236}">
                <a16:creationId xmlns:a16="http://schemas.microsoft.com/office/drawing/2014/main" id="{B78A5EE3-4C5D-456A-948E-C566DD63DC1F}"/>
              </a:ext>
            </a:extLst>
          </p:cNvPr>
          <p:cNvSpPr>
            <a:spLocks xmlns:a="http://schemas.openxmlformats.org/drawingml/2006/main" noGrp="1"/>
          </p:cNvSpPr>
          <p:nvPr/>
        </p:nvSpPr>
        <p:spPr>
          <a:xfrm xmlns:a="http://schemas.openxmlformats.org/drawingml/2006/main">
            <a:off x="457200" y="2743200"/>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defRPr sz="1875" b="1">
                <a:solidFill>
                  <a:srgbClr val="052877"/>
                </a:solidFill>
                <a:latin typeface="Calibri"/>
                <a:ea typeface="Calibri"/>
                <a:cs typeface="Calibri"/>
              </a:defRPr>
            </a:pPr>
            <a:r>
              <a:rPr sz="1875" b="1">
                <a:solidFill>
                  <a:srgbClr val="052877"/>
                </a:solidFill>
                <a:latin typeface="Calibri"/>
                <a:ea typeface="Calibri"/>
                <a:cs typeface="Calibri"/>
              </a:rPr>
              <a:t>Image = paket yang sudah disiapkan</a:t>
            </a:r>
          </a:p>
        </p:txBody>
      </p:sp>
      <p:sp>
        <p:nvSpPr>
          <p:cNvPr id="13" name="text_9">
            <a:extLst xmlns:a="http://schemas.openxmlformats.org/drawingml/2006/main">
              <a:ext uri="{FF2B5EF4-FFF2-40B4-BE49-F238E27FC236}">
                <a16:creationId xmlns:a16="http://schemas.microsoft.com/office/drawing/2014/main" id="{A88D124C-DFDE-4FF2-B033-543EEC039C20}"/>
              </a:ext>
            </a:extLst>
          </p:cNvPr>
          <p:cNvSpPr>
            <a:spLocks xmlns:a="http://schemas.openxmlformats.org/drawingml/2006/main" noGrp="1"/>
          </p:cNvSpPr>
          <p:nvPr/>
        </p:nvSpPr>
        <p:spPr>
          <a:xfrm xmlns:a="http://schemas.openxmlformats.org/drawingml/2006/main">
            <a:off x="457200" y="3143250"/>
            <a:ext cx="5905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Program + library + filesystem + metadata.</a:t>
            </a:r>
          </a:p>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Satu image dapat membuat banyak container.</a:t>
            </a:r>
          </a:p>
        </p:txBody>
      </p:sp>
      <p:sp>
        <p:nvSpPr>
          <p:cNvPr id="14" name="text_10">
            <a:extLst xmlns:a="http://schemas.openxmlformats.org/drawingml/2006/main">
              <a:ext uri="{FF2B5EF4-FFF2-40B4-BE49-F238E27FC236}">
                <a16:creationId xmlns:a16="http://schemas.microsoft.com/office/drawing/2014/main" id="{E7964866-12B5-4CC2-965C-2256A560888B}"/>
              </a:ext>
            </a:extLst>
          </p:cNvPr>
          <p:cNvSpPr>
            <a:spLocks xmlns:a="http://schemas.openxmlformats.org/drawingml/2006/main" noGrp="1"/>
          </p:cNvSpPr>
          <p:nvPr/>
        </p:nvSpPr>
        <p:spPr>
          <a:xfrm xmlns:a="http://schemas.openxmlformats.org/drawingml/2006/main">
            <a:off x="457200" y="39147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defRPr sz="1875" b="1">
                <a:solidFill>
                  <a:srgbClr val="052877"/>
                </a:solidFill>
                <a:latin typeface="Calibri"/>
                <a:ea typeface="Calibri"/>
                <a:cs typeface="Calibri"/>
              </a:defRPr>
            </a:pPr>
            <a:r>
              <a:rPr sz="1875" b="1">
                <a:solidFill>
                  <a:srgbClr val="052877"/>
                </a:solidFill>
                <a:latin typeface="Calibri"/>
                <a:ea typeface="Calibri"/>
                <a:cs typeface="Calibri"/>
              </a:rPr>
              <a:t>Container = satu layanan yang aktif</a:t>
            </a:r>
          </a:p>
        </p:txBody>
      </p:sp>
      <p:sp>
        <p:nvSpPr>
          <p:cNvPr id="15" name="text_11">
            <a:extLst xmlns:a="http://schemas.openxmlformats.org/drawingml/2006/main">
              <a:ext uri="{FF2B5EF4-FFF2-40B4-BE49-F238E27FC236}">
                <a16:creationId xmlns:a16="http://schemas.microsoft.com/office/drawing/2014/main" id="{A8177CD5-BF88-4649-8939-519B97ADE58D}"/>
              </a:ext>
            </a:extLst>
          </p:cNvPr>
          <p:cNvSpPr>
            <a:spLocks xmlns:a="http://schemas.openxmlformats.org/drawingml/2006/main" noGrp="1"/>
          </p:cNvSpPr>
          <p:nvPr/>
        </p:nvSpPr>
        <p:spPr>
          <a:xfrm xmlns:a="http://schemas.openxmlformats.org/drawingml/2006/main">
            <a:off x="457200" y="4314825"/>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Proses terisolasi yang memakai image.</a:t>
            </a:r>
          </a:p>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Docker menjalankannya pada kernel host.</a:t>
            </a:r>
          </a:p>
        </p:txBody>
      </p:sp>
      <p:sp>
        <p:nvSpPr>
          <p:cNvPr id="16" name="">
            <a:extLst xmlns:a="http://schemas.openxmlformats.org/drawingml/2006/main">
              <a:ext uri="{FF2B5EF4-FFF2-40B4-BE49-F238E27FC236}">
                <a16:creationId xmlns:a16="http://schemas.microsoft.com/office/drawing/2014/main" id="{29B31BA7-FFDB-49BD-9D94-27D596DD3934}"/>
              </a:ext>
            </a:extLst>
          </p:cNvPr>
          <p:cNvSpPr>
            <a:spLocks xmlns:a="http://schemas.openxmlformats.org/drawingml/2006/main" noGrp="1"/>
          </p:cNvSpPr>
          <p:nvPr/>
        </p:nvSpPr>
        <p:spPr>
          <a:xfrm xmlns:a="http://schemas.openxmlformats.org/drawingml/2006/main">
            <a:off x="457200" y="5391150"/>
            <a:ext cx="11277600" cy="6667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7" name="text_13">
            <a:extLst xmlns:a="http://schemas.openxmlformats.org/drawingml/2006/main">
              <a:ext uri="{FF2B5EF4-FFF2-40B4-BE49-F238E27FC236}">
                <a16:creationId xmlns:a16="http://schemas.microsoft.com/office/drawing/2014/main" id="{F61480B1-37D1-4413-A4A6-E233E976FE11}"/>
              </a:ext>
            </a:extLst>
          </p:cNvPr>
          <p:cNvSpPr>
            <a:spLocks xmlns:a="http://schemas.openxmlformats.org/drawingml/2006/main" noGrp="1"/>
          </p:cNvSpPr>
          <p:nvPr/>
        </p:nvSpPr>
        <p:spPr>
          <a:xfrm xmlns:a="http://schemas.openxmlformats.org/drawingml/2006/main">
            <a:off x="590550" y="5505450"/>
            <a:ext cx="11010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build -t cloud-notes-api:theory-online .</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run -d -p 8000:8000 cloud-notes-api:theory-online</a:t>
            </a:r>
          </a:p>
        </p:txBody>
      </p:sp>
      <p:sp>
        <p:nvSpPr>
          <p:cNvPr id="18" name="text_14">
            <a:extLst xmlns:a="http://schemas.openxmlformats.org/drawingml/2006/main">
              <a:ext uri="{FF2B5EF4-FFF2-40B4-BE49-F238E27FC236}">
                <a16:creationId xmlns:a16="http://schemas.microsoft.com/office/drawing/2014/main" id="{9F7BFC8E-B95E-436E-B881-732E6E7D1FE6}"/>
              </a:ext>
            </a:extLst>
          </p:cNvPr>
          <p:cNvSpPr>
            <a:spLocks xmlns:a="http://schemas.openxmlformats.org/drawingml/2006/main" noGrp="1"/>
          </p:cNvSpPr>
          <p:nvPr/>
        </p:nvSpPr>
        <p:spPr>
          <a:xfrm xmlns:a="http://schemas.openxmlformats.org/drawingml/2006/main">
            <a:off x="457200" y="6143625"/>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F97316"/>
                </a:solidFill>
                <a:latin typeface="Calibri"/>
                <a:ea typeface="Calibri"/>
                <a:cs typeface="Calibri"/>
              </a:defRPr>
            </a:defPPr>
          </a:lstStyle>
          <a:p xmlns:a="http://schemas.openxmlformats.org/drawingml/2006/main">
            <a:pPr>
              <a:defRPr sz="1500" b="1">
                <a:solidFill>
                  <a:srgbClr val="F97316"/>
                </a:solidFill>
                <a:latin typeface="Calibri"/>
                <a:ea typeface="Calibri"/>
                <a:cs typeface="Calibri"/>
              </a:defRPr>
            </a:pPr>
            <a:r>
              <a:rPr sz="1500" b="1">
                <a:solidFill>
                  <a:srgbClr val="F97316"/>
                </a:solidFill>
                <a:latin typeface="Calibri"/>
                <a:ea typeface="Calibri"/>
                <a:cs typeface="Calibri"/>
              </a:rPr>
              <a:t>Build menyiapkan image; run membuat dan memulai container.</a:t>
            </a:r>
          </a:p>
        </p:txBody>
      </p:sp>
      <p:sp>
        <p:nvSpPr>
          <p:cNvPr id="19" name="text_15">
            <a:extLst xmlns:a="http://schemas.openxmlformats.org/drawingml/2006/main">
              <a:ext uri="{FF2B5EF4-FFF2-40B4-BE49-F238E27FC236}">
                <a16:creationId xmlns:a16="http://schemas.microsoft.com/office/drawing/2014/main" id="{1D2EC1D1-3BB6-48C1-9D57-428CAC2CAE1C}"/>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6</a:t>
            </a:r>
          </a:p>
        </p:txBody>
      </p:sp>
    </p:spTree>
    <p:extLst>
      <p:ext uri="{BB962C8B-B14F-4D97-AF65-F5344CB8AC3E}">
        <p14:creationId xmlns:p14="http://schemas.microsoft.com/office/powerpoint/2010/main" val="22451042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CFE35C5-A05B-4EE7-9CD7-E7A41B99591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6ED0F682-0180-4D6B-9446-915AFF934F21}"/>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7</a:t>
            </a:r>
            <a:endParaRPr sz="900"/>
          </a:p>
        </p:txBody>
      </p:sp>
      <p:sp>
        <p:nvSpPr>
          <p:cNvPr id="4" name="Shape 2">
            <a:extLst xmlns:a="http://schemas.openxmlformats.org/drawingml/2006/main">
              <a:ext uri="{FF2B5EF4-FFF2-40B4-BE49-F238E27FC236}">
                <a16:creationId xmlns:a16="http://schemas.microsoft.com/office/drawing/2014/main" id="{11B06EC1-AAA6-4D4B-8895-3DB671FA2312}"/>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84" name="Image 0">
            <a:extLst xmlns:a="http://schemas.openxmlformats.org/drawingml/2006/main">
              <a:ext uri="{FF2B5EF4-FFF2-40B4-BE49-F238E27FC236}">
                <a16:creationId xmlns:a16="http://schemas.microsoft.com/office/drawing/2014/main" id="{37AC6B51-E909-482D-8837-5D3C6AB68FFB}"/>
              </a:ext>
            </a:extLst>
          </p:cNvPr>
          <p:cNvPicPr>
            <a:picLocks xmlns:a="http://schemas.openxmlformats.org/drawingml/2006/main" noChangeAspect="1"/>
          </p:cNvPicPr>
          <p:nvPr/>
        </p:nvPicPr>
        <p:blipFill>
          <a:blip xmlns:r="http://schemas.openxmlformats.org/officeDocument/2006/relationships" xmlns:a="http://schemas.openxmlformats.org/drawingml/2006/main" r:embed="R34dc022665de4440"/>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85" name="Image 1">
            <a:extLst xmlns:a="http://schemas.openxmlformats.org/drawingml/2006/main">
              <a:ext uri="{FF2B5EF4-FFF2-40B4-BE49-F238E27FC236}">
                <a16:creationId xmlns:a16="http://schemas.microsoft.com/office/drawing/2014/main" id="{E0E17030-1C7F-4C93-A404-88DE4E63C8BD}"/>
              </a:ext>
            </a:extLst>
          </p:cNvPr>
          <p:cNvPicPr>
            <a:picLocks xmlns:a="http://schemas.openxmlformats.org/drawingml/2006/main" noChangeAspect="1"/>
          </p:cNvPicPr>
          <p:nvPr/>
        </p:nvPicPr>
        <p:blipFill>
          <a:blip xmlns:r="http://schemas.openxmlformats.org/officeDocument/2006/relationships" xmlns:a="http://schemas.openxmlformats.org/drawingml/2006/main" r:embed="R0a96dd5093a94db7"/>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DF6D48B5-585E-41CD-A8AC-E2DFDE14D993}"/>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986544C0-2A43-43E7-9DA4-91496B1E0B79}"/>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14 Instruksi Inti Dockerfile</a:t>
            </a:r>
            <a:endParaRPr sz="2200"/>
          </a:p>
        </p:txBody>
      </p:sp>
      <p:sp>
        <p:nvSpPr>
          <p:cNvPr id="9" name="Text 5">
            <a:extLst xmlns:a="http://schemas.openxmlformats.org/drawingml/2006/main">
              <a:ext uri="{FF2B5EF4-FFF2-40B4-BE49-F238E27FC236}">
                <a16:creationId xmlns:a16="http://schemas.microsoft.com/office/drawing/2014/main" id="{91E8EAF0-A0C6-417C-9A24-0D8A637879CF}"/>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Subset untuk sesi ini, dikelompokkan menurut fungsi</a:t>
            </a:r>
            <a:endParaRPr sz="1200"/>
          </a:p>
        </p:txBody>
      </p:sp>
      <p:sp>
        <p:nvSpPr>
          <p:cNvPr id="10" name="Shape 6">
            <a:extLst xmlns:a="http://schemas.openxmlformats.org/drawingml/2006/main">
              <a:ext uri="{FF2B5EF4-FFF2-40B4-BE49-F238E27FC236}">
                <a16:creationId xmlns:a16="http://schemas.microsoft.com/office/drawing/2014/main" id="{3F3B9B64-32E0-4FED-BA9A-3CF747A71B97}"/>
              </a:ext>
            </a:extLst>
          </p:cNvPr>
          <p:cNvSpPr>
            <a:spLocks xmlns:a="http://schemas.openxmlformats.org/drawingml/2006/main" noGrp="1"/>
          </p:cNvSpPr>
          <p:nvPr/>
        </p:nvSpPr>
        <p:spPr>
          <a:xfrm xmlns:a="http://schemas.openxmlformats.org/drawingml/2006/main">
            <a:off x="457200" y="1417320"/>
            <a:ext cx="269748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858C4623-9DA7-4A62-A47F-F217D4304D15}"/>
              </a:ext>
            </a:extLst>
          </p:cNvPr>
          <p:cNvSpPr>
            <a:spLocks xmlns:a="http://schemas.openxmlformats.org/drawingml/2006/main" noGrp="1"/>
          </p:cNvSpPr>
          <p:nvPr/>
        </p:nvSpPr>
        <p:spPr>
          <a:xfrm xmlns:a="http://schemas.openxmlformats.org/drawingml/2006/main">
            <a:off x="457200" y="1417320"/>
            <a:ext cx="2697480" cy="4572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2" name="Text 8">
            <a:extLst xmlns:a="http://schemas.openxmlformats.org/drawingml/2006/main">
              <a:ext uri="{FF2B5EF4-FFF2-40B4-BE49-F238E27FC236}">
                <a16:creationId xmlns:a16="http://schemas.microsoft.com/office/drawing/2014/main" id="{E6467420-42AB-4035-852E-CEDBEB9B853C}"/>
              </a:ext>
            </a:extLst>
          </p:cNvPr>
          <p:cNvSpPr>
            <a:spLocks xmlns:a="http://schemas.openxmlformats.org/drawingml/2006/main" noGrp="1"/>
          </p:cNvSpPr>
          <p:nvPr/>
        </p:nvSpPr>
        <p:spPr>
          <a:xfrm xmlns:a="http://schemas.openxmlformats.org/drawingml/2006/main">
            <a:off x="457200" y="1417320"/>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Base &amp; Build</a:t>
            </a:r>
            <a:endParaRPr sz="1300"/>
          </a:p>
        </p:txBody>
      </p:sp>
      <p:sp>
        <p:nvSpPr>
          <p:cNvPr id="13" name="Shape 9">
            <a:extLst xmlns:a="http://schemas.openxmlformats.org/drawingml/2006/main">
              <a:ext uri="{FF2B5EF4-FFF2-40B4-BE49-F238E27FC236}">
                <a16:creationId xmlns:a16="http://schemas.microsoft.com/office/drawing/2014/main" id="{06EFE397-22BD-4E51-B016-D4F0EE948E9E}"/>
              </a:ext>
            </a:extLst>
          </p:cNvPr>
          <p:cNvSpPr>
            <a:spLocks xmlns:a="http://schemas.openxmlformats.org/drawingml/2006/main" noGrp="1"/>
          </p:cNvSpPr>
          <p:nvPr/>
        </p:nvSpPr>
        <p:spPr>
          <a:xfrm xmlns:a="http://schemas.openxmlformats.org/drawingml/2006/main">
            <a:off x="594360" y="201168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4" name="Shape 10">
            <a:extLst xmlns:a="http://schemas.openxmlformats.org/drawingml/2006/main">
              <a:ext uri="{FF2B5EF4-FFF2-40B4-BE49-F238E27FC236}">
                <a16:creationId xmlns:a16="http://schemas.microsoft.com/office/drawing/2014/main" id="{7CEF071F-1094-4553-B13F-652634298C78}"/>
              </a:ext>
            </a:extLst>
          </p:cNvPr>
          <p:cNvSpPr>
            <a:spLocks xmlns:a="http://schemas.openxmlformats.org/drawingml/2006/main" noGrp="1"/>
          </p:cNvSpPr>
          <p:nvPr/>
        </p:nvSpPr>
        <p:spPr>
          <a:xfrm xmlns:a="http://schemas.openxmlformats.org/drawingml/2006/main">
            <a:off x="594360" y="201168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5" name="Text 11">
            <a:extLst xmlns:a="http://schemas.openxmlformats.org/drawingml/2006/main">
              <a:ext uri="{FF2B5EF4-FFF2-40B4-BE49-F238E27FC236}">
                <a16:creationId xmlns:a16="http://schemas.microsoft.com/office/drawing/2014/main" id="{E08ED4C1-F415-449F-8F6B-CAB35D3FD8F2}"/>
              </a:ext>
            </a:extLst>
          </p:cNvPr>
          <p:cNvSpPr>
            <a:spLocks xmlns:a="http://schemas.openxmlformats.org/drawingml/2006/main" noGrp="1"/>
          </p:cNvSpPr>
          <p:nvPr/>
        </p:nvSpPr>
        <p:spPr>
          <a:xfrm xmlns:a="http://schemas.openxmlformats.org/drawingml/2006/main">
            <a:off x="594360" y="201168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FROM</a:t>
            </a:r>
            <a:endParaRPr sz="1200"/>
          </a:p>
        </p:txBody>
      </p:sp>
      <p:sp>
        <p:nvSpPr>
          <p:cNvPr id="16" name="Text 12">
            <a:extLst xmlns:a="http://schemas.openxmlformats.org/drawingml/2006/main">
              <a:ext uri="{FF2B5EF4-FFF2-40B4-BE49-F238E27FC236}">
                <a16:creationId xmlns:a16="http://schemas.microsoft.com/office/drawing/2014/main" id="{DB909AC7-4A82-4617-B794-AD6DD5D4575C}"/>
              </a:ext>
            </a:extLst>
          </p:cNvPr>
          <p:cNvSpPr>
            <a:spLocks xmlns:a="http://schemas.openxmlformats.org/drawingml/2006/main" noGrp="1"/>
          </p:cNvSpPr>
          <p:nvPr/>
        </p:nvSpPr>
        <p:spPr>
          <a:xfrm xmlns:a="http://schemas.openxmlformats.org/drawingml/2006/main">
            <a:off x="640080" y="239572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Pilih base image (wajib)</a:t>
            </a:r>
            <a:endParaRPr sz="1000"/>
          </a:p>
        </p:txBody>
      </p:sp>
      <p:sp>
        <p:nvSpPr>
          <p:cNvPr id="17" name="Shape 13">
            <a:extLst xmlns:a="http://schemas.openxmlformats.org/drawingml/2006/main">
              <a:ext uri="{FF2B5EF4-FFF2-40B4-BE49-F238E27FC236}">
                <a16:creationId xmlns:a16="http://schemas.microsoft.com/office/drawing/2014/main" id="{BB5DEBF4-0421-44FA-9824-0225524E90FC}"/>
              </a:ext>
            </a:extLst>
          </p:cNvPr>
          <p:cNvSpPr>
            <a:spLocks xmlns:a="http://schemas.openxmlformats.org/drawingml/2006/main" noGrp="1"/>
          </p:cNvSpPr>
          <p:nvPr/>
        </p:nvSpPr>
        <p:spPr>
          <a:xfrm xmlns:a="http://schemas.openxmlformats.org/drawingml/2006/main">
            <a:off x="594360" y="301752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8" name="Shape 14">
            <a:extLst xmlns:a="http://schemas.openxmlformats.org/drawingml/2006/main">
              <a:ext uri="{FF2B5EF4-FFF2-40B4-BE49-F238E27FC236}">
                <a16:creationId xmlns:a16="http://schemas.microsoft.com/office/drawing/2014/main" id="{A5AD7A68-3DCC-40D6-8AC2-95002486619F}"/>
              </a:ext>
            </a:extLst>
          </p:cNvPr>
          <p:cNvSpPr>
            <a:spLocks xmlns:a="http://schemas.openxmlformats.org/drawingml/2006/main" noGrp="1"/>
          </p:cNvSpPr>
          <p:nvPr/>
        </p:nvSpPr>
        <p:spPr>
          <a:xfrm xmlns:a="http://schemas.openxmlformats.org/drawingml/2006/main">
            <a:off x="594360" y="301752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9" name="Text 15">
            <a:extLst xmlns:a="http://schemas.openxmlformats.org/drawingml/2006/main">
              <a:ext uri="{FF2B5EF4-FFF2-40B4-BE49-F238E27FC236}">
                <a16:creationId xmlns:a16="http://schemas.microsoft.com/office/drawing/2014/main" id="{6F754D68-8DB8-4828-A963-0745020498D8}"/>
              </a:ext>
            </a:extLst>
          </p:cNvPr>
          <p:cNvSpPr>
            <a:spLocks xmlns:a="http://schemas.openxmlformats.org/drawingml/2006/main" noGrp="1"/>
          </p:cNvSpPr>
          <p:nvPr/>
        </p:nvSpPr>
        <p:spPr>
          <a:xfrm xmlns:a="http://schemas.openxmlformats.org/drawingml/2006/main">
            <a:off x="594360" y="301752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ARG</a:t>
            </a:r>
            <a:endParaRPr sz="1200"/>
          </a:p>
        </p:txBody>
      </p:sp>
      <p:sp>
        <p:nvSpPr>
          <p:cNvPr id="20" name="Text 16">
            <a:extLst xmlns:a="http://schemas.openxmlformats.org/drawingml/2006/main">
              <a:ext uri="{FF2B5EF4-FFF2-40B4-BE49-F238E27FC236}">
                <a16:creationId xmlns:a16="http://schemas.microsoft.com/office/drawing/2014/main" id="{8264954C-7C9C-468B-A8A4-804F1CDCCE35}"/>
              </a:ext>
            </a:extLst>
          </p:cNvPr>
          <p:cNvSpPr>
            <a:spLocks xmlns:a="http://schemas.openxmlformats.org/drawingml/2006/main" noGrp="1"/>
          </p:cNvSpPr>
          <p:nvPr/>
        </p:nvSpPr>
        <p:spPr>
          <a:xfrm xmlns:a="http://schemas.openxmlformats.org/drawingml/2006/main">
            <a:off x="640080" y="340156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Variabel build-time</a:t>
            </a:r>
            <a:endParaRPr sz="1000"/>
          </a:p>
        </p:txBody>
      </p:sp>
      <p:sp>
        <p:nvSpPr>
          <p:cNvPr id="21" name="Shape 17">
            <a:extLst xmlns:a="http://schemas.openxmlformats.org/drawingml/2006/main">
              <a:ext uri="{FF2B5EF4-FFF2-40B4-BE49-F238E27FC236}">
                <a16:creationId xmlns:a16="http://schemas.microsoft.com/office/drawing/2014/main" id="{33584F30-575F-4CDF-822C-ED0585926267}"/>
              </a:ext>
            </a:extLst>
          </p:cNvPr>
          <p:cNvSpPr>
            <a:spLocks xmlns:a="http://schemas.openxmlformats.org/drawingml/2006/main" noGrp="1"/>
          </p:cNvSpPr>
          <p:nvPr/>
        </p:nvSpPr>
        <p:spPr>
          <a:xfrm xmlns:a="http://schemas.openxmlformats.org/drawingml/2006/main">
            <a:off x="594360" y="402336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2" name="Shape 18">
            <a:extLst xmlns:a="http://schemas.openxmlformats.org/drawingml/2006/main">
              <a:ext uri="{FF2B5EF4-FFF2-40B4-BE49-F238E27FC236}">
                <a16:creationId xmlns:a16="http://schemas.microsoft.com/office/drawing/2014/main" id="{A6F1CC4B-CEEA-49EC-B3F7-A67E960F7D9A}"/>
              </a:ext>
            </a:extLst>
          </p:cNvPr>
          <p:cNvSpPr>
            <a:spLocks xmlns:a="http://schemas.openxmlformats.org/drawingml/2006/main" noGrp="1"/>
          </p:cNvSpPr>
          <p:nvPr/>
        </p:nvSpPr>
        <p:spPr>
          <a:xfrm xmlns:a="http://schemas.openxmlformats.org/drawingml/2006/main">
            <a:off x="594360" y="402336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3" name="Text 19">
            <a:extLst xmlns:a="http://schemas.openxmlformats.org/drawingml/2006/main">
              <a:ext uri="{FF2B5EF4-FFF2-40B4-BE49-F238E27FC236}">
                <a16:creationId xmlns:a16="http://schemas.microsoft.com/office/drawing/2014/main" id="{263FAB13-5B86-473F-8F3A-993B5D33B053}"/>
              </a:ext>
            </a:extLst>
          </p:cNvPr>
          <p:cNvSpPr>
            <a:spLocks xmlns:a="http://schemas.openxmlformats.org/drawingml/2006/main" noGrp="1"/>
          </p:cNvSpPr>
          <p:nvPr/>
        </p:nvSpPr>
        <p:spPr>
          <a:xfrm xmlns:a="http://schemas.openxmlformats.org/drawingml/2006/main">
            <a:off x="594360" y="402336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RUN</a:t>
            </a:r>
            <a:endParaRPr sz="1200"/>
          </a:p>
        </p:txBody>
      </p:sp>
      <p:sp>
        <p:nvSpPr>
          <p:cNvPr id="24" name="Text 20">
            <a:extLst xmlns:a="http://schemas.openxmlformats.org/drawingml/2006/main">
              <a:ext uri="{FF2B5EF4-FFF2-40B4-BE49-F238E27FC236}">
                <a16:creationId xmlns:a16="http://schemas.microsoft.com/office/drawing/2014/main" id="{58035E90-2CE7-41D7-A92B-0CF926200F15}"/>
              </a:ext>
            </a:extLst>
          </p:cNvPr>
          <p:cNvSpPr>
            <a:spLocks xmlns:a="http://schemas.openxmlformats.org/drawingml/2006/main" noGrp="1"/>
          </p:cNvSpPr>
          <p:nvPr/>
        </p:nvSpPr>
        <p:spPr>
          <a:xfrm xmlns:a="http://schemas.openxmlformats.org/drawingml/2006/main">
            <a:off x="640080" y="440740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Eksekusi command saat build</a:t>
            </a:r>
            <a:endParaRPr sz="1000"/>
          </a:p>
        </p:txBody>
      </p:sp>
      <p:sp>
        <p:nvSpPr>
          <p:cNvPr id="25" name="Shape 21">
            <a:extLst xmlns:a="http://schemas.openxmlformats.org/drawingml/2006/main">
              <a:ext uri="{FF2B5EF4-FFF2-40B4-BE49-F238E27FC236}">
                <a16:creationId xmlns:a16="http://schemas.microsoft.com/office/drawing/2014/main" id="{6242EB4E-805E-4FC8-856A-48E06D467D90}"/>
              </a:ext>
            </a:extLst>
          </p:cNvPr>
          <p:cNvSpPr>
            <a:spLocks xmlns:a="http://schemas.openxmlformats.org/drawingml/2006/main" noGrp="1"/>
          </p:cNvSpPr>
          <p:nvPr/>
        </p:nvSpPr>
        <p:spPr>
          <a:xfrm xmlns:a="http://schemas.openxmlformats.org/drawingml/2006/main">
            <a:off x="3319272" y="1417320"/>
            <a:ext cx="269748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Shape 22">
            <a:extLst xmlns:a="http://schemas.openxmlformats.org/drawingml/2006/main">
              <a:ext uri="{FF2B5EF4-FFF2-40B4-BE49-F238E27FC236}">
                <a16:creationId xmlns:a16="http://schemas.microsoft.com/office/drawing/2014/main" id="{E6D7FAE8-21C7-46A3-8C7D-BC792C853A74}"/>
              </a:ext>
            </a:extLst>
          </p:cNvPr>
          <p:cNvSpPr>
            <a:spLocks xmlns:a="http://schemas.openxmlformats.org/drawingml/2006/main" noGrp="1"/>
          </p:cNvSpPr>
          <p:nvPr/>
        </p:nvSpPr>
        <p:spPr>
          <a:xfrm xmlns:a="http://schemas.openxmlformats.org/drawingml/2006/main">
            <a:off x="3319272" y="1417320"/>
            <a:ext cx="2697480" cy="45720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27" name="Text 23">
            <a:extLst xmlns:a="http://schemas.openxmlformats.org/drawingml/2006/main">
              <a:ext uri="{FF2B5EF4-FFF2-40B4-BE49-F238E27FC236}">
                <a16:creationId xmlns:a16="http://schemas.microsoft.com/office/drawing/2014/main" id="{7F56C7B0-E13D-44DB-A079-A46B6EBB4C9C}"/>
              </a:ext>
            </a:extLst>
          </p:cNvPr>
          <p:cNvSpPr>
            <a:spLocks xmlns:a="http://schemas.openxmlformats.org/drawingml/2006/main" noGrp="1"/>
          </p:cNvSpPr>
          <p:nvPr/>
        </p:nvSpPr>
        <p:spPr>
          <a:xfrm xmlns:a="http://schemas.openxmlformats.org/drawingml/2006/main">
            <a:off x="3319272" y="1417320"/>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Filesystem</a:t>
            </a:r>
            <a:endParaRPr sz="1300"/>
          </a:p>
        </p:txBody>
      </p:sp>
      <p:sp>
        <p:nvSpPr>
          <p:cNvPr id="28" name="Shape 24">
            <a:extLst xmlns:a="http://schemas.openxmlformats.org/drawingml/2006/main">
              <a:ext uri="{FF2B5EF4-FFF2-40B4-BE49-F238E27FC236}">
                <a16:creationId xmlns:a16="http://schemas.microsoft.com/office/drawing/2014/main" id="{EF6014A8-2E5B-4A2C-9C02-95BF49AD66B7}"/>
              </a:ext>
            </a:extLst>
          </p:cNvPr>
          <p:cNvSpPr>
            <a:spLocks xmlns:a="http://schemas.openxmlformats.org/drawingml/2006/main" noGrp="1"/>
          </p:cNvSpPr>
          <p:nvPr/>
        </p:nvSpPr>
        <p:spPr>
          <a:xfrm xmlns:a="http://schemas.openxmlformats.org/drawingml/2006/main">
            <a:off x="3456432" y="201168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9" name="Shape 25">
            <a:extLst xmlns:a="http://schemas.openxmlformats.org/drawingml/2006/main">
              <a:ext uri="{FF2B5EF4-FFF2-40B4-BE49-F238E27FC236}">
                <a16:creationId xmlns:a16="http://schemas.microsoft.com/office/drawing/2014/main" id="{DA1E9E9F-DAE9-4777-84A0-83123FFC7E4E}"/>
              </a:ext>
            </a:extLst>
          </p:cNvPr>
          <p:cNvSpPr>
            <a:spLocks xmlns:a="http://schemas.openxmlformats.org/drawingml/2006/main" noGrp="1"/>
          </p:cNvSpPr>
          <p:nvPr/>
        </p:nvSpPr>
        <p:spPr>
          <a:xfrm xmlns:a="http://schemas.openxmlformats.org/drawingml/2006/main">
            <a:off x="3456432" y="201168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0" name="Text 26">
            <a:extLst xmlns:a="http://schemas.openxmlformats.org/drawingml/2006/main">
              <a:ext uri="{FF2B5EF4-FFF2-40B4-BE49-F238E27FC236}">
                <a16:creationId xmlns:a16="http://schemas.microsoft.com/office/drawing/2014/main" id="{92C80B65-FD4D-4CC9-8C8E-8E4384F41A65}"/>
              </a:ext>
            </a:extLst>
          </p:cNvPr>
          <p:cNvSpPr>
            <a:spLocks xmlns:a="http://schemas.openxmlformats.org/drawingml/2006/main" noGrp="1"/>
          </p:cNvSpPr>
          <p:nvPr/>
        </p:nvSpPr>
        <p:spPr>
          <a:xfrm xmlns:a="http://schemas.openxmlformats.org/drawingml/2006/main">
            <a:off x="3456432" y="201168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COPY</a:t>
            </a:r>
            <a:endParaRPr sz="1200"/>
          </a:p>
        </p:txBody>
      </p:sp>
      <p:sp>
        <p:nvSpPr>
          <p:cNvPr id="31" name="Text 27">
            <a:extLst xmlns:a="http://schemas.openxmlformats.org/drawingml/2006/main">
              <a:ext uri="{FF2B5EF4-FFF2-40B4-BE49-F238E27FC236}">
                <a16:creationId xmlns:a16="http://schemas.microsoft.com/office/drawing/2014/main" id="{F6F754C6-39A4-4D07-B894-C323932B9779}"/>
              </a:ext>
            </a:extLst>
          </p:cNvPr>
          <p:cNvSpPr>
            <a:spLocks xmlns:a="http://schemas.openxmlformats.org/drawingml/2006/main" noGrp="1"/>
          </p:cNvSpPr>
          <p:nvPr/>
        </p:nvSpPr>
        <p:spPr>
          <a:xfrm xmlns:a="http://schemas.openxmlformats.org/drawingml/2006/main">
            <a:off x="3502152" y="239572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Copy file dari host ke image</a:t>
            </a:r>
            <a:endParaRPr sz="1000"/>
          </a:p>
        </p:txBody>
      </p:sp>
      <p:sp>
        <p:nvSpPr>
          <p:cNvPr id="32" name="Shape 28">
            <a:extLst xmlns:a="http://schemas.openxmlformats.org/drawingml/2006/main">
              <a:ext uri="{FF2B5EF4-FFF2-40B4-BE49-F238E27FC236}">
                <a16:creationId xmlns:a16="http://schemas.microsoft.com/office/drawing/2014/main" id="{C60B2FFF-3CF4-4F35-93C8-E929F3B8ABE3}"/>
              </a:ext>
            </a:extLst>
          </p:cNvPr>
          <p:cNvSpPr>
            <a:spLocks xmlns:a="http://schemas.openxmlformats.org/drawingml/2006/main" noGrp="1"/>
          </p:cNvSpPr>
          <p:nvPr/>
        </p:nvSpPr>
        <p:spPr>
          <a:xfrm xmlns:a="http://schemas.openxmlformats.org/drawingml/2006/main">
            <a:off x="3456432" y="301752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3" name="Shape 29">
            <a:extLst xmlns:a="http://schemas.openxmlformats.org/drawingml/2006/main">
              <a:ext uri="{FF2B5EF4-FFF2-40B4-BE49-F238E27FC236}">
                <a16:creationId xmlns:a16="http://schemas.microsoft.com/office/drawing/2014/main" id="{42D32C0B-82A1-4FB9-8B71-D0F28852A035}"/>
              </a:ext>
            </a:extLst>
          </p:cNvPr>
          <p:cNvSpPr>
            <a:spLocks xmlns:a="http://schemas.openxmlformats.org/drawingml/2006/main" noGrp="1"/>
          </p:cNvSpPr>
          <p:nvPr/>
        </p:nvSpPr>
        <p:spPr>
          <a:xfrm xmlns:a="http://schemas.openxmlformats.org/drawingml/2006/main">
            <a:off x="3456432" y="301752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4" name="Text 30">
            <a:extLst xmlns:a="http://schemas.openxmlformats.org/drawingml/2006/main">
              <a:ext uri="{FF2B5EF4-FFF2-40B4-BE49-F238E27FC236}">
                <a16:creationId xmlns:a16="http://schemas.microsoft.com/office/drawing/2014/main" id="{6300AD1F-0C76-407A-804A-99BC6D2EEF23}"/>
              </a:ext>
            </a:extLst>
          </p:cNvPr>
          <p:cNvSpPr>
            <a:spLocks xmlns:a="http://schemas.openxmlformats.org/drawingml/2006/main" noGrp="1"/>
          </p:cNvSpPr>
          <p:nvPr/>
        </p:nvSpPr>
        <p:spPr>
          <a:xfrm xmlns:a="http://schemas.openxmlformats.org/drawingml/2006/main">
            <a:off x="3456432" y="301752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ADD</a:t>
            </a:r>
            <a:endParaRPr sz="1200"/>
          </a:p>
        </p:txBody>
      </p:sp>
      <p:sp>
        <p:nvSpPr>
          <p:cNvPr id="35" name="Text 31">
            <a:extLst xmlns:a="http://schemas.openxmlformats.org/drawingml/2006/main">
              <a:ext uri="{FF2B5EF4-FFF2-40B4-BE49-F238E27FC236}">
                <a16:creationId xmlns:a16="http://schemas.microsoft.com/office/drawing/2014/main" id="{160A7059-C311-4FC0-85FC-B307783E8CAB}"/>
              </a:ext>
            </a:extLst>
          </p:cNvPr>
          <p:cNvSpPr>
            <a:spLocks xmlns:a="http://schemas.openxmlformats.org/drawingml/2006/main" noGrp="1"/>
          </p:cNvSpPr>
          <p:nvPr/>
        </p:nvSpPr>
        <p:spPr>
          <a:xfrm xmlns:a="http://schemas.openxmlformats.org/drawingml/2006/main">
            <a:off x="3502152" y="340156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Mirip COPY + auto-extract</a:t>
            </a:r>
            <a:endParaRPr sz="1000"/>
          </a:p>
        </p:txBody>
      </p:sp>
      <p:sp>
        <p:nvSpPr>
          <p:cNvPr id="36" name="Shape 32">
            <a:extLst xmlns:a="http://schemas.openxmlformats.org/drawingml/2006/main">
              <a:ext uri="{FF2B5EF4-FFF2-40B4-BE49-F238E27FC236}">
                <a16:creationId xmlns:a16="http://schemas.microsoft.com/office/drawing/2014/main" id="{2F9C615C-4D86-4997-A48D-FD37E8C8D7BA}"/>
              </a:ext>
            </a:extLst>
          </p:cNvPr>
          <p:cNvSpPr>
            <a:spLocks xmlns:a="http://schemas.openxmlformats.org/drawingml/2006/main" noGrp="1"/>
          </p:cNvSpPr>
          <p:nvPr/>
        </p:nvSpPr>
        <p:spPr>
          <a:xfrm xmlns:a="http://schemas.openxmlformats.org/drawingml/2006/main">
            <a:off x="3456432" y="402336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7" name="Shape 33">
            <a:extLst xmlns:a="http://schemas.openxmlformats.org/drawingml/2006/main">
              <a:ext uri="{FF2B5EF4-FFF2-40B4-BE49-F238E27FC236}">
                <a16:creationId xmlns:a16="http://schemas.microsoft.com/office/drawing/2014/main" id="{DA85228C-5C90-4C77-B5D4-723213DDDBD7}"/>
              </a:ext>
            </a:extLst>
          </p:cNvPr>
          <p:cNvSpPr>
            <a:spLocks xmlns:a="http://schemas.openxmlformats.org/drawingml/2006/main" noGrp="1"/>
          </p:cNvSpPr>
          <p:nvPr/>
        </p:nvSpPr>
        <p:spPr>
          <a:xfrm xmlns:a="http://schemas.openxmlformats.org/drawingml/2006/main">
            <a:off x="3456432" y="402336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8" name="Text 34">
            <a:extLst xmlns:a="http://schemas.openxmlformats.org/drawingml/2006/main">
              <a:ext uri="{FF2B5EF4-FFF2-40B4-BE49-F238E27FC236}">
                <a16:creationId xmlns:a16="http://schemas.microsoft.com/office/drawing/2014/main" id="{3AB7AF83-EE33-44CD-9436-DFA07AB05EFE}"/>
              </a:ext>
            </a:extLst>
          </p:cNvPr>
          <p:cNvSpPr>
            <a:spLocks xmlns:a="http://schemas.openxmlformats.org/drawingml/2006/main" noGrp="1"/>
          </p:cNvSpPr>
          <p:nvPr/>
        </p:nvSpPr>
        <p:spPr>
          <a:xfrm xmlns:a="http://schemas.openxmlformats.org/drawingml/2006/main">
            <a:off x="3456432" y="402336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WORKDIR</a:t>
            </a:r>
            <a:endParaRPr sz="1200"/>
          </a:p>
        </p:txBody>
      </p:sp>
      <p:sp>
        <p:nvSpPr>
          <p:cNvPr id="39" name="Text 35">
            <a:extLst xmlns:a="http://schemas.openxmlformats.org/drawingml/2006/main">
              <a:ext uri="{FF2B5EF4-FFF2-40B4-BE49-F238E27FC236}">
                <a16:creationId xmlns:a16="http://schemas.microsoft.com/office/drawing/2014/main" id="{073AC2BF-13E3-4F71-98F3-13BD172DE542}"/>
              </a:ext>
            </a:extLst>
          </p:cNvPr>
          <p:cNvSpPr>
            <a:spLocks xmlns:a="http://schemas.openxmlformats.org/drawingml/2006/main" noGrp="1"/>
          </p:cNvSpPr>
          <p:nvPr/>
        </p:nvSpPr>
        <p:spPr>
          <a:xfrm xmlns:a="http://schemas.openxmlformats.org/drawingml/2006/main">
            <a:off x="3502152" y="440740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Set direktori kerja</a:t>
            </a:r>
            <a:endParaRPr sz="1000"/>
          </a:p>
        </p:txBody>
      </p:sp>
      <p:sp>
        <p:nvSpPr>
          <p:cNvPr id="40" name="Shape 36">
            <a:extLst xmlns:a="http://schemas.openxmlformats.org/drawingml/2006/main">
              <a:ext uri="{FF2B5EF4-FFF2-40B4-BE49-F238E27FC236}">
                <a16:creationId xmlns:a16="http://schemas.microsoft.com/office/drawing/2014/main" id="{C3A8DC79-7FAA-46E9-9EFD-407837F9555D}"/>
              </a:ext>
            </a:extLst>
          </p:cNvPr>
          <p:cNvSpPr>
            <a:spLocks xmlns:a="http://schemas.openxmlformats.org/drawingml/2006/main" noGrp="1"/>
          </p:cNvSpPr>
          <p:nvPr/>
        </p:nvSpPr>
        <p:spPr>
          <a:xfrm xmlns:a="http://schemas.openxmlformats.org/drawingml/2006/main">
            <a:off x="3456432" y="502920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41" name="Shape 37">
            <a:extLst xmlns:a="http://schemas.openxmlformats.org/drawingml/2006/main">
              <a:ext uri="{FF2B5EF4-FFF2-40B4-BE49-F238E27FC236}">
                <a16:creationId xmlns:a16="http://schemas.microsoft.com/office/drawing/2014/main" id="{C9E7A981-F64D-458A-8C4B-F3953752EF7D}"/>
              </a:ext>
            </a:extLst>
          </p:cNvPr>
          <p:cNvSpPr>
            <a:spLocks xmlns:a="http://schemas.openxmlformats.org/drawingml/2006/main" noGrp="1"/>
          </p:cNvSpPr>
          <p:nvPr/>
        </p:nvSpPr>
        <p:spPr>
          <a:xfrm xmlns:a="http://schemas.openxmlformats.org/drawingml/2006/main">
            <a:off x="3456432" y="502920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42" name="Text 38">
            <a:extLst xmlns:a="http://schemas.openxmlformats.org/drawingml/2006/main">
              <a:ext uri="{FF2B5EF4-FFF2-40B4-BE49-F238E27FC236}">
                <a16:creationId xmlns:a16="http://schemas.microsoft.com/office/drawing/2014/main" id="{F9F2D1DB-4E2D-4E08-97D7-0CCBED30B705}"/>
              </a:ext>
            </a:extLst>
          </p:cNvPr>
          <p:cNvSpPr>
            <a:spLocks xmlns:a="http://schemas.openxmlformats.org/drawingml/2006/main" noGrp="1"/>
          </p:cNvSpPr>
          <p:nvPr/>
        </p:nvSpPr>
        <p:spPr>
          <a:xfrm xmlns:a="http://schemas.openxmlformats.org/drawingml/2006/main">
            <a:off x="3456432" y="502920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VOLUME</a:t>
            </a:r>
            <a:endParaRPr sz="1200"/>
          </a:p>
        </p:txBody>
      </p:sp>
      <p:sp>
        <p:nvSpPr>
          <p:cNvPr id="43" name="Text 39">
            <a:extLst xmlns:a="http://schemas.openxmlformats.org/drawingml/2006/main">
              <a:ext uri="{FF2B5EF4-FFF2-40B4-BE49-F238E27FC236}">
                <a16:creationId xmlns:a16="http://schemas.microsoft.com/office/drawing/2014/main" id="{617D2678-CEEA-4412-8817-76BE9FBB416F}"/>
              </a:ext>
            </a:extLst>
          </p:cNvPr>
          <p:cNvSpPr>
            <a:spLocks xmlns:a="http://schemas.openxmlformats.org/drawingml/2006/main" noGrp="1"/>
          </p:cNvSpPr>
          <p:nvPr/>
        </p:nvSpPr>
        <p:spPr>
          <a:xfrm xmlns:a="http://schemas.openxmlformats.org/drawingml/2006/main">
            <a:off x="3502152" y="541324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Mark mount point</a:t>
            </a:r>
            <a:endParaRPr sz="1000"/>
          </a:p>
        </p:txBody>
      </p:sp>
      <p:sp>
        <p:nvSpPr>
          <p:cNvPr id="44" name="Shape 40">
            <a:extLst xmlns:a="http://schemas.openxmlformats.org/drawingml/2006/main">
              <a:ext uri="{FF2B5EF4-FFF2-40B4-BE49-F238E27FC236}">
                <a16:creationId xmlns:a16="http://schemas.microsoft.com/office/drawing/2014/main" id="{7DF5EA42-3DE3-4A0C-8212-706002DFD516}"/>
              </a:ext>
            </a:extLst>
          </p:cNvPr>
          <p:cNvSpPr>
            <a:spLocks xmlns:a="http://schemas.openxmlformats.org/drawingml/2006/main" noGrp="1"/>
          </p:cNvSpPr>
          <p:nvPr/>
        </p:nvSpPr>
        <p:spPr>
          <a:xfrm xmlns:a="http://schemas.openxmlformats.org/drawingml/2006/main">
            <a:off x="6181344" y="1417320"/>
            <a:ext cx="269748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5" name="Shape 41">
            <a:extLst xmlns:a="http://schemas.openxmlformats.org/drawingml/2006/main">
              <a:ext uri="{FF2B5EF4-FFF2-40B4-BE49-F238E27FC236}">
                <a16:creationId xmlns:a16="http://schemas.microsoft.com/office/drawing/2014/main" id="{77082C8F-4094-42E8-A077-5307BC8AFAB7}"/>
              </a:ext>
            </a:extLst>
          </p:cNvPr>
          <p:cNvSpPr>
            <a:spLocks xmlns:a="http://schemas.openxmlformats.org/drawingml/2006/main" noGrp="1"/>
          </p:cNvSpPr>
          <p:nvPr/>
        </p:nvSpPr>
        <p:spPr>
          <a:xfrm xmlns:a="http://schemas.openxmlformats.org/drawingml/2006/main">
            <a:off x="6181344" y="1417320"/>
            <a:ext cx="2697480" cy="4572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46" name="Text 42">
            <a:extLst xmlns:a="http://schemas.openxmlformats.org/drawingml/2006/main">
              <a:ext uri="{FF2B5EF4-FFF2-40B4-BE49-F238E27FC236}">
                <a16:creationId xmlns:a16="http://schemas.microsoft.com/office/drawing/2014/main" id="{56490CE9-78F0-4C85-8CC8-BF9F46EF107B}"/>
              </a:ext>
            </a:extLst>
          </p:cNvPr>
          <p:cNvSpPr>
            <a:spLocks xmlns:a="http://schemas.openxmlformats.org/drawingml/2006/main" noGrp="1"/>
          </p:cNvSpPr>
          <p:nvPr/>
        </p:nvSpPr>
        <p:spPr>
          <a:xfrm xmlns:a="http://schemas.openxmlformats.org/drawingml/2006/main">
            <a:off x="6181344" y="1417320"/>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Runtime</a:t>
            </a:r>
            <a:endParaRPr sz="1300"/>
          </a:p>
        </p:txBody>
      </p:sp>
      <p:sp>
        <p:nvSpPr>
          <p:cNvPr id="47" name="Shape 43">
            <a:extLst xmlns:a="http://schemas.openxmlformats.org/drawingml/2006/main">
              <a:ext uri="{FF2B5EF4-FFF2-40B4-BE49-F238E27FC236}">
                <a16:creationId xmlns:a16="http://schemas.microsoft.com/office/drawing/2014/main" id="{D53F7FE6-E9D9-4D03-8EF2-097142F7CAF7}"/>
              </a:ext>
            </a:extLst>
          </p:cNvPr>
          <p:cNvSpPr>
            <a:spLocks xmlns:a="http://schemas.openxmlformats.org/drawingml/2006/main" noGrp="1"/>
          </p:cNvSpPr>
          <p:nvPr/>
        </p:nvSpPr>
        <p:spPr>
          <a:xfrm xmlns:a="http://schemas.openxmlformats.org/drawingml/2006/main">
            <a:off x="6318504" y="201168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48" name="Shape 44">
            <a:extLst xmlns:a="http://schemas.openxmlformats.org/drawingml/2006/main">
              <a:ext uri="{FF2B5EF4-FFF2-40B4-BE49-F238E27FC236}">
                <a16:creationId xmlns:a16="http://schemas.microsoft.com/office/drawing/2014/main" id="{50E92743-31FA-401F-ACD9-715DDCAF5578}"/>
              </a:ext>
            </a:extLst>
          </p:cNvPr>
          <p:cNvSpPr>
            <a:spLocks xmlns:a="http://schemas.openxmlformats.org/drawingml/2006/main" noGrp="1"/>
          </p:cNvSpPr>
          <p:nvPr/>
        </p:nvSpPr>
        <p:spPr>
          <a:xfrm xmlns:a="http://schemas.openxmlformats.org/drawingml/2006/main">
            <a:off x="6318504" y="201168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49" name="Text 45">
            <a:extLst xmlns:a="http://schemas.openxmlformats.org/drawingml/2006/main">
              <a:ext uri="{FF2B5EF4-FFF2-40B4-BE49-F238E27FC236}">
                <a16:creationId xmlns:a16="http://schemas.microsoft.com/office/drawing/2014/main" id="{970FA281-A26B-4BEE-9490-060C9C78987F}"/>
              </a:ext>
            </a:extLst>
          </p:cNvPr>
          <p:cNvSpPr>
            <a:spLocks xmlns:a="http://schemas.openxmlformats.org/drawingml/2006/main" noGrp="1"/>
          </p:cNvSpPr>
          <p:nvPr/>
        </p:nvSpPr>
        <p:spPr>
          <a:xfrm xmlns:a="http://schemas.openxmlformats.org/drawingml/2006/main">
            <a:off x="6318504" y="201168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CMD</a:t>
            </a:r>
            <a:endParaRPr sz="1200"/>
          </a:p>
        </p:txBody>
      </p:sp>
      <p:sp>
        <p:nvSpPr>
          <p:cNvPr id="50" name="Text 46">
            <a:extLst xmlns:a="http://schemas.openxmlformats.org/drawingml/2006/main">
              <a:ext uri="{FF2B5EF4-FFF2-40B4-BE49-F238E27FC236}">
                <a16:creationId xmlns:a16="http://schemas.microsoft.com/office/drawing/2014/main" id="{3705E161-9EE2-44C9-B660-39A19AE7D4F0}"/>
              </a:ext>
            </a:extLst>
          </p:cNvPr>
          <p:cNvSpPr>
            <a:spLocks xmlns:a="http://schemas.openxmlformats.org/drawingml/2006/main" noGrp="1"/>
          </p:cNvSpPr>
          <p:nvPr/>
        </p:nvSpPr>
        <p:spPr>
          <a:xfrm xmlns:a="http://schemas.openxmlformats.org/drawingml/2006/main">
            <a:off x="6364224" y="239572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Default command saat run</a:t>
            </a:r>
            <a:endParaRPr sz="1000"/>
          </a:p>
        </p:txBody>
      </p:sp>
      <p:sp>
        <p:nvSpPr>
          <p:cNvPr id="51" name="Shape 47">
            <a:extLst xmlns:a="http://schemas.openxmlformats.org/drawingml/2006/main">
              <a:ext uri="{FF2B5EF4-FFF2-40B4-BE49-F238E27FC236}">
                <a16:creationId xmlns:a16="http://schemas.microsoft.com/office/drawing/2014/main" id="{0F248959-CD71-4A14-8039-2B9C49CD1F11}"/>
              </a:ext>
            </a:extLst>
          </p:cNvPr>
          <p:cNvSpPr>
            <a:spLocks xmlns:a="http://schemas.openxmlformats.org/drawingml/2006/main" noGrp="1"/>
          </p:cNvSpPr>
          <p:nvPr/>
        </p:nvSpPr>
        <p:spPr>
          <a:xfrm xmlns:a="http://schemas.openxmlformats.org/drawingml/2006/main">
            <a:off x="6318504" y="301752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52" name="Shape 48">
            <a:extLst xmlns:a="http://schemas.openxmlformats.org/drawingml/2006/main">
              <a:ext uri="{FF2B5EF4-FFF2-40B4-BE49-F238E27FC236}">
                <a16:creationId xmlns:a16="http://schemas.microsoft.com/office/drawing/2014/main" id="{88FA5CE5-0574-4D4F-9FCE-9F5037596AB1}"/>
              </a:ext>
            </a:extLst>
          </p:cNvPr>
          <p:cNvSpPr>
            <a:spLocks xmlns:a="http://schemas.openxmlformats.org/drawingml/2006/main" noGrp="1"/>
          </p:cNvSpPr>
          <p:nvPr/>
        </p:nvSpPr>
        <p:spPr>
          <a:xfrm xmlns:a="http://schemas.openxmlformats.org/drawingml/2006/main">
            <a:off x="6318504" y="301752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53" name="Text 49">
            <a:extLst xmlns:a="http://schemas.openxmlformats.org/drawingml/2006/main">
              <a:ext uri="{FF2B5EF4-FFF2-40B4-BE49-F238E27FC236}">
                <a16:creationId xmlns:a16="http://schemas.microsoft.com/office/drawing/2014/main" id="{E8DA6C53-8D6F-48F8-B2AD-43F869B1B6BD}"/>
              </a:ext>
            </a:extLst>
          </p:cNvPr>
          <p:cNvSpPr>
            <a:spLocks xmlns:a="http://schemas.openxmlformats.org/drawingml/2006/main" noGrp="1"/>
          </p:cNvSpPr>
          <p:nvPr/>
        </p:nvSpPr>
        <p:spPr>
          <a:xfrm xmlns:a="http://schemas.openxmlformats.org/drawingml/2006/main">
            <a:off x="6318504" y="301752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ENTRYPOINT</a:t>
            </a:r>
            <a:endParaRPr sz="1200"/>
          </a:p>
        </p:txBody>
      </p:sp>
      <p:sp>
        <p:nvSpPr>
          <p:cNvPr id="54" name="Text 50">
            <a:extLst xmlns:a="http://schemas.openxmlformats.org/drawingml/2006/main">
              <a:ext uri="{FF2B5EF4-FFF2-40B4-BE49-F238E27FC236}">
                <a16:creationId xmlns:a16="http://schemas.microsoft.com/office/drawing/2014/main" id="{4978442A-BC37-42EC-B540-F521FDA5877E}"/>
              </a:ext>
            </a:extLst>
          </p:cNvPr>
          <p:cNvSpPr>
            <a:spLocks xmlns:a="http://schemas.openxmlformats.org/drawingml/2006/main" noGrp="1"/>
          </p:cNvSpPr>
          <p:nvPr/>
        </p:nvSpPr>
        <p:spPr>
          <a:xfrm xmlns:a="http://schemas.openxmlformats.org/drawingml/2006/main">
            <a:off x="6364224" y="340156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Executable default saat run</a:t>
            </a:r>
            <a:endParaRPr sz="1000"/>
          </a:p>
        </p:txBody>
      </p:sp>
      <p:sp>
        <p:nvSpPr>
          <p:cNvPr id="55" name="Shape 51">
            <a:extLst xmlns:a="http://schemas.openxmlformats.org/drawingml/2006/main">
              <a:ext uri="{FF2B5EF4-FFF2-40B4-BE49-F238E27FC236}">
                <a16:creationId xmlns:a16="http://schemas.microsoft.com/office/drawing/2014/main" id="{7190E152-52BC-40B7-BB74-A82D1AB301DD}"/>
              </a:ext>
            </a:extLst>
          </p:cNvPr>
          <p:cNvSpPr>
            <a:spLocks xmlns:a="http://schemas.openxmlformats.org/drawingml/2006/main" noGrp="1"/>
          </p:cNvSpPr>
          <p:nvPr/>
        </p:nvSpPr>
        <p:spPr>
          <a:xfrm xmlns:a="http://schemas.openxmlformats.org/drawingml/2006/main">
            <a:off x="6318504" y="402336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56" name="Shape 52">
            <a:extLst xmlns:a="http://schemas.openxmlformats.org/drawingml/2006/main">
              <a:ext uri="{FF2B5EF4-FFF2-40B4-BE49-F238E27FC236}">
                <a16:creationId xmlns:a16="http://schemas.microsoft.com/office/drawing/2014/main" id="{B4E9155E-E057-429F-A2EF-26C924FDCEE4}"/>
              </a:ext>
            </a:extLst>
          </p:cNvPr>
          <p:cNvSpPr>
            <a:spLocks xmlns:a="http://schemas.openxmlformats.org/drawingml/2006/main" noGrp="1"/>
          </p:cNvSpPr>
          <p:nvPr/>
        </p:nvSpPr>
        <p:spPr>
          <a:xfrm xmlns:a="http://schemas.openxmlformats.org/drawingml/2006/main">
            <a:off x="6318504" y="402336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57" name="Text 53">
            <a:extLst xmlns:a="http://schemas.openxmlformats.org/drawingml/2006/main">
              <a:ext uri="{FF2B5EF4-FFF2-40B4-BE49-F238E27FC236}">
                <a16:creationId xmlns:a16="http://schemas.microsoft.com/office/drawing/2014/main" id="{33823F71-F975-4283-AA66-C0589A6A2BB8}"/>
              </a:ext>
            </a:extLst>
          </p:cNvPr>
          <p:cNvSpPr>
            <a:spLocks xmlns:a="http://schemas.openxmlformats.org/drawingml/2006/main" noGrp="1"/>
          </p:cNvSpPr>
          <p:nvPr/>
        </p:nvSpPr>
        <p:spPr>
          <a:xfrm xmlns:a="http://schemas.openxmlformats.org/drawingml/2006/main">
            <a:off x="6318504" y="402336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ENV</a:t>
            </a:r>
            <a:endParaRPr sz="1200"/>
          </a:p>
        </p:txBody>
      </p:sp>
      <p:sp>
        <p:nvSpPr>
          <p:cNvPr id="58" name="Text 54">
            <a:extLst xmlns:a="http://schemas.openxmlformats.org/drawingml/2006/main">
              <a:ext uri="{FF2B5EF4-FFF2-40B4-BE49-F238E27FC236}">
                <a16:creationId xmlns:a16="http://schemas.microsoft.com/office/drawing/2014/main" id="{37E7C25A-2F1E-4B60-82D0-6E76ED3A12AE}"/>
              </a:ext>
            </a:extLst>
          </p:cNvPr>
          <p:cNvSpPr>
            <a:spLocks xmlns:a="http://schemas.openxmlformats.org/drawingml/2006/main" noGrp="1"/>
          </p:cNvSpPr>
          <p:nvPr/>
        </p:nvSpPr>
        <p:spPr>
          <a:xfrm xmlns:a="http://schemas.openxmlformats.org/drawingml/2006/main">
            <a:off x="6364224" y="440740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Environment variable</a:t>
            </a:r>
            <a:endParaRPr sz="1000"/>
          </a:p>
        </p:txBody>
      </p:sp>
      <p:sp>
        <p:nvSpPr>
          <p:cNvPr id="59" name="Shape 55">
            <a:extLst xmlns:a="http://schemas.openxmlformats.org/drawingml/2006/main">
              <a:ext uri="{FF2B5EF4-FFF2-40B4-BE49-F238E27FC236}">
                <a16:creationId xmlns:a16="http://schemas.microsoft.com/office/drawing/2014/main" id="{101B73B4-02ED-4C57-ACBD-E5847FCC6AE5}"/>
              </a:ext>
            </a:extLst>
          </p:cNvPr>
          <p:cNvSpPr>
            <a:spLocks xmlns:a="http://schemas.openxmlformats.org/drawingml/2006/main" noGrp="1"/>
          </p:cNvSpPr>
          <p:nvPr/>
        </p:nvSpPr>
        <p:spPr>
          <a:xfrm xmlns:a="http://schemas.openxmlformats.org/drawingml/2006/main">
            <a:off x="6318504" y="502920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60" name="Shape 56">
            <a:extLst xmlns:a="http://schemas.openxmlformats.org/drawingml/2006/main">
              <a:ext uri="{FF2B5EF4-FFF2-40B4-BE49-F238E27FC236}">
                <a16:creationId xmlns:a16="http://schemas.microsoft.com/office/drawing/2014/main" id="{F42F6660-FE04-4B26-885F-B898E1008671}"/>
              </a:ext>
            </a:extLst>
          </p:cNvPr>
          <p:cNvSpPr>
            <a:spLocks xmlns:a="http://schemas.openxmlformats.org/drawingml/2006/main" noGrp="1"/>
          </p:cNvSpPr>
          <p:nvPr/>
        </p:nvSpPr>
        <p:spPr>
          <a:xfrm xmlns:a="http://schemas.openxmlformats.org/drawingml/2006/main">
            <a:off x="6318504" y="502920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61" name="Text 57">
            <a:extLst xmlns:a="http://schemas.openxmlformats.org/drawingml/2006/main">
              <a:ext uri="{FF2B5EF4-FFF2-40B4-BE49-F238E27FC236}">
                <a16:creationId xmlns:a16="http://schemas.microsoft.com/office/drawing/2014/main" id="{F3204BA1-4677-47C7-A98C-62983E43A11A}"/>
              </a:ext>
            </a:extLst>
          </p:cNvPr>
          <p:cNvSpPr>
            <a:spLocks xmlns:a="http://schemas.openxmlformats.org/drawingml/2006/main" noGrp="1"/>
          </p:cNvSpPr>
          <p:nvPr/>
        </p:nvSpPr>
        <p:spPr>
          <a:xfrm xmlns:a="http://schemas.openxmlformats.org/drawingml/2006/main">
            <a:off x="6318504" y="502920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EXPOSE</a:t>
            </a:r>
            <a:endParaRPr sz="1200"/>
          </a:p>
        </p:txBody>
      </p:sp>
      <p:sp>
        <p:nvSpPr>
          <p:cNvPr id="62" name="Text 58">
            <a:extLst xmlns:a="http://schemas.openxmlformats.org/drawingml/2006/main">
              <a:ext uri="{FF2B5EF4-FFF2-40B4-BE49-F238E27FC236}">
                <a16:creationId xmlns:a16="http://schemas.microsoft.com/office/drawing/2014/main" id="{BCFB48BE-044E-4576-8BC1-19AA6EC550D9}"/>
              </a:ext>
            </a:extLst>
          </p:cNvPr>
          <p:cNvSpPr>
            <a:spLocks xmlns:a="http://schemas.openxmlformats.org/drawingml/2006/main" noGrp="1"/>
          </p:cNvSpPr>
          <p:nvPr/>
        </p:nvSpPr>
        <p:spPr>
          <a:xfrm xmlns:a="http://schemas.openxmlformats.org/drawingml/2006/main">
            <a:off x="6364224" y="541324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Dokumentasi port</a:t>
            </a:r>
            <a:endParaRPr sz="1000"/>
          </a:p>
        </p:txBody>
      </p:sp>
      <p:sp>
        <p:nvSpPr>
          <p:cNvPr id="63" name="Shape 59">
            <a:extLst xmlns:a="http://schemas.openxmlformats.org/drawingml/2006/main">
              <a:ext uri="{FF2B5EF4-FFF2-40B4-BE49-F238E27FC236}">
                <a16:creationId xmlns:a16="http://schemas.microsoft.com/office/drawing/2014/main" id="{97231C23-532D-4031-BF03-B0D39BF0E942}"/>
              </a:ext>
            </a:extLst>
          </p:cNvPr>
          <p:cNvSpPr>
            <a:spLocks xmlns:a="http://schemas.openxmlformats.org/drawingml/2006/main" noGrp="1"/>
          </p:cNvSpPr>
          <p:nvPr/>
        </p:nvSpPr>
        <p:spPr>
          <a:xfrm xmlns:a="http://schemas.openxmlformats.org/drawingml/2006/main">
            <a:off x="9043416" y="1417320"/>
            <a:ext cx="269748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64" name="Shape 60">
            <a:extLst xmlns:a="http://schemas.openxmlformats.org/drawingml/2006/main">
              <a:ext uri="{FF2B5EF4-FFF2-40B4-BE49-F238E27FC236}">
                <a16:creationId xmlns:a16="http://schemas.microsoft.com/office/drawing/2014/main" id="{8D8EEA04-9884-4714-AB68-3D0797F87651}"/>
              </a:ext>
            </a:extLst>
          </p:cNvPr>
          <p:cNvSpPr>
            <a:spLocks xmlns:a="http://schemas.openxmlformats.org/drawingml/2006/main" noGrp="1"/>
          </p:cNvSpPr>
          <p:nvPr/>
        </p:nvSpPr>
        <p:spPr>
          <a:xfrm xmlns:a="http://schemas.openxmlformats.org/drawingml/2006/main">
            <a:off x="9043416" y="1417320"/>
            <a:ext cx="2697480" cy="45720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65" name="Text 61">
            <a:extLst xmlns:a="http://schemas.openxmlformats.org/drawingml/2006/main">
              <a:ext uri="{FF2B5EF4-FFF2-40B4-BE49-F238E27FC236}">
                <a16:creationId xmlns:a16="http://schemas.microsoft.com/office/drawing/2014/main" id="{911E9529-A3DA-4EB7-A801-E290F2EEB4DD}"/>
              </a:ext>
            </a:extLst>
          </p:cNvPr>
          <p:cNvSpPr>
            <a:spLocks xmlns:a="http://schemas.openxmlformats.org/drawingml/2006/main" noGrp="1"/>
          </p:cNvSpPr>
          <p:nvPr/>
        </p:nvSpPr>
        <p:spPr>
          <a:xfrm xmlns:a="http://schemas.openxmlformats.org/drawingml/2006/main">
            <a:off x="9043416" y="1417320"/>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Meta &amp; Security</a:t>
            </a:r>
            <a:endParaRPr sz="1300"/>
          </a:p>
        </p:txBody>
      </p:sp>
      <p:sp>
        <p:nvSpPr>
          <p:cNvPr id="66" name="Shape 62">
            <a:extLst xmlns:a="http://schemas.openxmlformats.org/drawingml/2006/main">
              <a:ext uri="{FF2B5EF4-FFF2-40B4-BE49-F238E27FC236}">
                <a16:creationId xmlns:a16="http://schemas.microsoft.com/office/drawing/2014/main" id="{BEA41271-1428-4AE6-9A00-A007E476A1D0}"/>
              </a:ext>
            </a:extLst>
          </p:cNvPr>
          <p:cNvSpPr>
            <a:spLocks xmlns:a="http://schemas.openxmlformats.org/drawingml/2006/main" noGrp="1"/>
          </p:cNvSpPr>
          <p:nvPr/>
        </p:nvSpPr>
        <p:spPr>
          <a:xfrm xmlns:a="http://schemas.openxmlformats.org/drawingml/2006/main">
            <a:off x="9180576" y="201168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67" name="Shape 63">
            <a:extLst xmlns:a="http://schemas.openxmlformats.org/drawingml/2006/main">
              <a:ext uri="{FF2B5EF4-FFF2-40B4-BE49-F238E27FC236}">
                <a16:creationId xmlns:a16="http://schemas.microsoft.com/office/drawing/2014/main" id="{08656186-A7FF-41FC-AB3C-32BA9C141AA6}"/>
              </a:ext>
            </a:extLst>
          </p:cNvPr>
          <p:cNvSpPr>
            <a:spLocks xmlns:a="http://schemas.openxmlformats.org/drawingml/2006/main" noGrp="1"/>
          </p:cNvSpPr>
          <p:nvPr/>
        </p:nvSpPr>
        <p:spPr>
          <a:xfrm xmlns:a="http://schemas.openxmlformats.org/drawingml/2006/main">
            <a:off x="9180576" y="201168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68" name="Text 64">
            <a:extLst xmlns:a="http://schemas.openxmlformats.org/drawingml/2006/main">
              <a:ext uri="{FF2B5EF4-FFF2-40B4-BE49-F238E27FC236}">
                <a16:creationId xmlns:a16="http://schemas.microsoft.com/office/drawing/2014/main" id="{46887531-841F-492B-978A-18ABE9CC536D}"/>
              </a:ext>
            </a:extLst>
          </p:cNvPr>
          <p:cNvSpPr>
            <a:spLocks xmlns:a="http://schemas.openxmlformats.org/drawingml/2006/main" noGrp="1"/>
          </p:cNvSpPr>
          <p:nvPr/>
        </p:nvSpPr>
        <p:spPr>
          <a:xfrm xmlns:a="http://schemas.openxmlformats.org/drawingml/2006/main">
            <a:off x="9180576" y="201168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USER</a:t>
            </a:r>
            <a:endParaRPr sz="1200"/>
          </a:p>
        </p:txBody>
      </p:sp>
      <p:sp>
        <p:nvSpPr>
          <p:cNvPr id="69" name="Text 65">
            <a:extLst xmlns:a="http://schemas.openxmlformats.org/drawingml/2006/main">
              <a:ext uri="{FF2B5EF4-FFF2-40B4-BE49-F238E27FC236}">
                <a16:creationId xmlns:a16="http://schemas.microsoft.com/office/drawing/2014/main" id="{46A30C6A-5FC3-41D4-9264-00EABF100C54}"/>
              </a:ext>
            </a:extLst>
          </p:cNvPr>
          <p:cNvSpPr>
            <a:spLocks xmlns:a="http://schemas.openxmlformats.org/drawingml/2006/main" noGrp="1"/>
          </p:cNvSpPr>
          <p:nvPr/>
        </p:nvSpPr>
        <p:spPr>
          <a:xfrm xmlns:a="http://schemas.openxmlformats.org/drawingml/2006/main">
            <a:off x="9226296" y="239572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Set user/UID untuk RUN dan run</a:t>
            </a:r>
            <a:endParaRPr sz="1000"/>
          </a:p>
        </p:txBody>
      </p:sp>
      <p:sp>
        <p:nvSpPr>
          <p:cNvPr id="70" name="Shape 66">
            <a:extLst xmlns:a="http://schemas.openxmlformats.org/drawingml/2006/main">
              <a:ext uri="{FF2B5EF4-FFF2-40B4-BE49-F238E27FC236}">
                <a16:creationId xmlns:a16="http://schemas.microsoft.com/office/drawing/2014/main" id="{B755D775-DA7C-4147-89E8-989A913E01A8}"/>
              </a:ext>
            </a:extLst>
          </p:cNvPr>
          <p:cNvSpPr>
            <a:spLocks xmlns:a="http://schemas.openxmlformats.org/drawingml/2006/main" noGrp="1"/>
          </p:cNvSpPr>
          <p:nvPr/>
        </p:nvSpPr>
        <p:spPr>
          <a:xfrm xmlns:a="http://schemas.openxmlformats.org/drawingml/2006/main">
            <a:off x="9180576" y="301752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71" name="Shape 67">
            <a:extLst xmlns:a="http://schemas.openxmlformats.org/drawingml/2006/main">
              <a:ext uri="{FF2B5EF4-FFF2-40B4-BE49-F238E27FC236}">
                <a16:creationId xmlns:a16="http://schemas.microsoft.com/office/drawing/2014/main" id="{DE3167CC-FAF6-46EE-8C82-FD1E787A94CB}"/>
              </a:ext>
            </a:extLst>
          </p:cNvPr>
          <p:cNvSpPr>
            <a:spLocks xmlns:a="http://schemas.openxmlformats.org/drawingml/2006/main" noGrp="1"/>
          </p:cNvSpPr>
          <p:nvPr/>
        </p:nvSpPr>
        <p:spPr>
          <a:xfrm xmlns:a="http://schemas.openxmlformats.org/drawingml/2006/main">
            <a:off x="9180576" y="301752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72" name="Text 68">
            <a:extLst xmlns:a="http://schemas.openxmlformats.org/drawingml/2006/main">
              <a:ext uri="{FF2B5EF4-FFF2-40B4-BE49-F238E27FC236}">
                <a16:creationId xmlns:a16="http://schemas.microsoft.com/office/drawing/2014/main" id="{9B45B730-ED12-4B92-BE4D-13A685965EBC}"/>
              </a:ext>
            </a:extLst>
          </p:cNvPr>
          <p:cNvSpPr>
            <a:spLocks xmlns:a="http://schemas.openxmlformats.org/drawingml/2006/main" noGrp="1"/>
          </p:cNvSpPr>
          <p:nvPr/>
        </p:nvSpPr>
        <p:spPr>
          <a:xfrm xmlns:a="http://schemas.openxmlformats.org/drawingml/2006/main">
            <a:off x="9180576" y="301752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LABEL</a:t>
            </a:r>
            <a:endParaRPr sz="1200"/>
          </a:p>
        </p:txBody>
      </p:sp>
      <p:sp>
        <p:nvSpPr>
          <p:cNvPr id="73" name="Text 69">
            <a:extLst xmlns:a="http://schemas.openxmlformats.org/drawingml/2006/main">
              <a:ext uri="{FF2B5EF4-FFF2-40B4-BE49-F238E27FC236}">
                <a16:creationId xmlns:a16="http://schemas.microsoft.com/office/drawing/2014/main" id="{4311B913-ADC0-47BD-BBCA-1C3C8EFBC88F}"/>
              </a:ext>
            </a:extLst>
          </p:cNvPr>
          <p:cNvSpPr>
            <a:spLocks xmlns:a="http://schemas.openxmlformats.org/drawingml/2006/main" noGrp="1"/>
          </p:cNvSpPr>
          <p:nvPr/>
        </p:nvSpPr>
        <p:spPr>
          <a:xfrm xmlns:a="http://schemas.openxmlformats.org/drawingml/2006/main">
            <a:off x="9226296" y="340156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Metadata image (key=val)</a:t>
            </a:r>
            <a:endParaRPr sz="1000"/>
          </a:p>
        </p:txBody>
      </p:sp>
      <p:sp>
        <p:nvSpPr>
          <p:cNvPr id="74" name="Shape 70">
            <a:extLst xmlns:a="http://schemas.openxmlformats.org/drawingml/2006/main">
              <a:ext uri="{FF2B5EF4-FFF2-40B4-BE49-F238E27FC236}">
                <a16:creationId xmlns:a16="http://schemas.microsoft.com/office/drawing/2014/main" id="{92BE7B46-B8F1-4442-AB63-398E3FCB30DE}"/>
              </a:ext>
            </a:extLst>
          </p:cNvPr>
          <p:cNvSpPr>
            <a:spLocks xmlns:a="http://schemas.openxmlformats.org/drawingml/2006/main" noGrp="1"/>
          </p:cNvSpPr>
          <p:nvPr/>
        </p:nvSpPr>
        <p:spPr>
          <a:xfrm xmlns:a="http://schemas.openxmlformats.org/drawingml/2006/main">
            <a:off x="9180576" y="402336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75" name="Shape 71">
            <a:extLst xmlns:a="http://schemas.openxmlformats.org/drawingml/2006/main">
              <a:ext uri="{FF2B5EF4-FFF2-40B4-BE49-F238E27FC236}">
                <a16:creationId xmlns:a16="http://schemas.microsoft.com/office/drawing/2014/main" id="{4E16CA76-82E3-4F8F-9F1E-6267E9082251}"/>
              </a:ext>
            </a:extLst>
          </p:cNvPr>
          <p:cNvSpPr>
            <a:spLocks xmlns:a="http://schemas.openxmlformats.org/drawingml/2006/main" noGrp="1"/>
          </p:cNvSpPr>
          <p:nvPr/>
        </p:nvSpPr>
        <p:spPr>
          <a:xfrm xmlns:a="http://schemas.openxmlformats.org/drawingml/2006/main">
            <a:off x="9180576" y="402336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76" name="Text 72">
            <a:extLst xmlns:a="http://schemas.openxmlformats.org/drawingml/2006/main">
              <a:ext uri="{FF2B5EF4-FFF2-40B4-BE49-F238E27FC236}">
                <a16:creationId xmlns:a16="http://schemas.microsoft.com/office/drawing/2014/main" id="{D9E17E5B-5185-4DAE-8293-E505D50F88C6}"/>
              </a:ext>
            </a:extLst>
          </p:cNvPr>
          <p:cNvSpPr>
            <a:spLocks xmlns:a="http://schemas.openxmlformats.org/drawingml/2006/main" noGrp="1"/>
          </p:cNvSpPr>
          <p:nvPr/>
        </p:nvSpPr>
        <p:spPr>
          <a:xfrm xmlns:a="http://schemas.openxmlformats.org/drawingml/2006/main">
            <a:off x="9180576" y="402336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HEALTHCHECK</a:t>
            </a:r>
            <a:endParaRPr sz="1200"/>
          </a:p>
        </p:txBody>
      </p:sp>
      <p:sp>
        <p:nvSpPr>
          <p:cNvPr id="77" name="Text 73">
            <a:extLst xmlns:a="http://schemas.openxmlformats.org/drawingml/2006/main">
              <a:ext uri="{FF2B5EF4-FFF2-40B4-BE49-F238E27FC236}">
                <a16:creationId xmlns:a16="http://schemas.microsoft.com/office/drawing/2014/main" id="{8B1E58F9-3357-4859-AD94-7070CD52CF4D}"/>
              </a:ext>
            </a:extLst>
          </p:cNvPr>
          <p:cNvSpPr>
            <a:spLocks xmlns:a="http://schemas.openxmlformats.org/drawingml/2006/main" noGrp="1"/>
          </p:cNvSpPr>
          <p:nvPr/>
        </p:nvSpPr>
        <p:spPr>
          <a:xfrm xmlns:a="http://schemas.openxmlformats.org/drawingml/2006/main">
            <a:off x="9226296" y="440740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Cek container sehat / tidak</a:t>
            </a:r>
            <a:endParaRPr sz="1000"/>
          </a:p>
        </p:txBody>
      </p:sp>
      <p:sp>
        <p:nvSpPr>
          <p:cNvPr id="78" name="Text 74">
            <a:extLst xmlns:a="http://schemas.openxmlformats.org/drawingml/2006/main">
              <a:ext uri="{FF2B5EF4-FFF2-40B4-BE49-F238E27FC236}">
                <a16:creationId xmlns:a16="http://schemas.microsoft.com/office/drawing/2014/main" id="{C3326EFA-1ADA-4699-8B89-FA444EE46ED7}"/>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Fokus sesi: FROM, RUN, COPY, WORKDIR, ENV, EXPOSE, USER, CMD, ENTRYPOINT. Reference memuat instruksi lain.</a:t>
            </a:r>
            <a:endParaRPr sz="1100"/>
          </a:p>
        </p:txBody>
      </p:sp>
    </p:spTree>
    <p:extLst>
      <p:ext uri="{BB962C8B-B14F-4D97-AF65-F5344CB8AC3E}">
        <p14:creationId xmlns:p14="http://schemas.microsoft.com/office/powerpoint/2010/main" val="105893312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6AE3557-318E-47FE-8022-C562A1D8C8B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4CA2F5A4-091E-45A6-9A9A-2B73C985DC91}"/>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8</a:t>
            </a:r>
            <a:endParaRPr sz="900"/>
          </a:p>
        </p:txBody>
      </p:sp>
      <p:sp>
        <p:nvSpPr>
          <p:cNvPr id="4" name="Shape 2">
            <a:extLst xmlns:a="http://schemas.openxmlformats.org/drawingml/2006/main">
              <a:ext uri="{FF2B5EF4-FFF2-40B4-BE49-F238E27FC236}">
                <a16:creationId xmlns:a16="http://schemas.microsoft.com/office/drawing/2014/main" id="{A2AC52A3-ED8E-4518-A6E2-8E857D773A98}"/>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9" name="Image 0">
            <a:extLst xmlns:a="http://schemas.openxmlformats.org/drawingml/2006/main">
              <a:ext uri="{FF2B5EF4-FFF2-40B4-BE49-F238E27FC236}">
                <a16:creationId xmlns:a16="http://schemas.microsoft.com/office/drawing/2014/main" id="{F137048E-43DE-4BBA-91F1-D51CB93C2696}"/>
              </a:ext>
            </a:extLst>
          </p:cNvPr>
          <p:cNvPicPr>
            <a:picLocks xmlns:a="http://schemas.openxmlformats.org/drawingml/2006/main" noChangeAspect="1"/>
          </p:cNvPicPr>
          <p:nvPr/>
        </p:nvPicPr>
        <p:blipFill>
          <a:blip xmlns:r="http://schemas.openxmlformats.org/officeDocument/2006/relationships" xmlns:a="http://schemas.openxmlformats.org/drawingml/2006/main" r:embed="Raad3db99df1049d6"/>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A79F0C9D-077A-480B-A2BB-10F64277E6A7}"/>
              </a:ext>
            </a:extLst>
          </p:cNvPr>
          <p:cNvPicPr>
            <a:picLocks xmlns:a="http://schemas.openxmlformats.org/drawingml/2006/main" noChangeAspect="1"/>
          </p:cNvPicPr>
          <p:nvPr/>
        </p:nvPicPr>
        <p:blipFill>
          <a:blip xmlns:r="http://schemas.openxmlformats.org/officeDocument/2006/relationships" xmlns:a="http://schemas.openxmlformats.org/drawingml/2006/main" r:embed="Rf396d111956340cc"/>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DB16D606-3CFC-4165-977A-6BA74565C4F8}"/>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E457E301-0F4D-44A7-8BF1-3DF10828B020}"/>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Contoh Dockerfile Pertama - Node.js App</a:t>
            </a:r>
            <a:endParaRPr sz="2200"/>
          </a:p>
        </p:txBody>
      </p:sp>
      <p:sp>
        <p:nvSpPr>
          <p:cNvPr id="9" name="Text 5">
            <a:extLst xmlns:a="http://schemas.openxmlformats.org/drawingml/2006/main">
              <a:ext uri="{FF2B5EF4-FFF2-40B4-BE49-F238E27FC236}">
                <a16:creationId xmlns:a16="http://schemas.microsoft.com/office/drawing/2014/main" id="{385AAB07-837F-49B7-892C-B0E3DECAC96E}"/>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Contoh Node.js mandiri: lockfile tersedia, server listen 0.0.0.0</a:t>
            </a:r>
            <a:endParaRPr sz="1200"/>
          </a:p>
        </p:txBody>
      </p:sp>
      <p:sp>
        <p:nvSpPr>
          <p:cNvPr id="10" name="Shape 6">
            <a:extLst xmlns:a="http://schemas.openxmlformats.org/drawingml/2006/main">
              <a:ext uri="{FF2B5EF4-FFF2-40B4-BE49-F238E27FC236}">
                <a16:creationId xmlns:a16="http://schemas.microsoft.com/office/drawing/2014/main" id="{FEFBA26B-CB00-4C28-9711-AEE3A01032FE}"/>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1" name="Shape 7">
            <a:extLst xmlns:a="http://schemas.openxmlformats.org/drawingml/2006/main">
              <a:ext uri="{FF2B5EF4-FFF2-40B4-BE49-F238E27FC236}">
                <a16:creationId xmlns:a16="http://schemas.microsoft.com/office/drawing/2014/main" id="{0E54A884-96D6-4E92-B447-CD2410029E4A}"/>
              </a:ext>
            </a:extLst>
          </p:cNvPr>
          <p:cNvSpPr>
            <a:spLocks xmlns:a="http://schemas.openxmlformats.org/drawingml/2006/main" noGrp="1"/>
          </p:cNvSpPr>
          <p:nvPr/>
        </p:nvSpPr>
        <p:spPr>
          <a:xfrm xmlns:a="http://schemas.openxmlformats.org/drawingml/2006/main">
            <a:off x="457200" y="1417320"/>
            <a:ext cx="557784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2" name="Shape 8">
            <a:extLst xmlns:a="http://schemas.openxmlformats.org/drawingml/2006/main">
              <a:ext uri="{FF2B5EF4-FFF2-40B4-BE49-F238E27FC236}">
                <a16:creationId xmlns:a16="http://schemas.microsoft.com/office/drawing/2014/main" id="{18FEFFAB-12CD-44B7-9CB4-5F5C63E98332}"/>
              </a:ext>
            </a:extLst>
          </p:cNvPr>
          <p:cNvSpPr>
            <a:spLocks xmlns:a="http://schemas.openxmlformats.org/drawingml/2006/main" noGrp="1"/>
          </p:cNvSpPr>
          <p:nvPr/>
        </p:nvSpPr>
        <p:spPr>
          <a:xfrm xmlns:a="http://schemas.openxmlformats.org/drawingml/2006/main">
            <a:off x="548640" y="14996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13" name="Shape 9">
            <a:extLst xmlns:a="http://schemas.openxmlformats.org/drawingml/2006/main">
              <a:ext uri="{FF2B5EF4-FFF2-40B4-BE49-F238E27FC236}">
                <a16:creationId xmlns:a16="http://schemas.microsoft.com/office/drawing/2014/main" id="{3F49B5BA-B73C-4027-B2FD-C124D8994E61}"/>
              </a:ext>
            </a:extLst>
          </p:cNvPr>
          <p:cNvSpPr>
            <a:spLocks xmlns:a="http://schemas.openxmlformats.org/drawingml/2006/main" noGrp="1"/>
          </p:cNvSpPr>
          <p:nvPr/>
        </p:nvSpPr>
        <p:spPr>
          <a:xfrm xmlns:a="http://schemas.openxmlformats.org/drawingml/2006/main">
            <a:off x="685800" y="14996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4" name="Shape 10">
            <a:extLst xmlns:a="http://schemas.openxmlformats.org/drawingml/2006/main">
              <a:ext uri="{FF2B5EF4-FFF2-40B4-BE49-F238E27FC236}">
                <a16:creationId xmlns:a16="http://schemas.microsoft.com/office/drawing/2014/main" id="{EA8146B0-EEFB-461C-8A40-6C48F7D5B674}"/>
              </a:ext>
            </a:extLst>
          </p:cNvPr>
          <p:cNvSpPr>
            <a:spLocks xmlns:a="http://schemas.openxmlformats.org/drawingml/2006/main" noGrp="1"/>
          </p:cNvSpPr>
          <p:nvPr/>
        </p:nvSpPr>
        <p:spPr>
          <a:xfrm xmlns:a="http://schemas.openxmlformats.org/drawingml/2006/main">
            <a:off x="822960" y="14996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15" name="Text 11">
            <a:extLst xmlns:a="http://schemas.openxmlformats.org/drawingml/2006/main">
              <a:ext uri="{FF2B5EF4-FFF2-40B4-BE49-F238E27FC236}">
                <a16:creationId xmlns:a16="http://schemas.microsoft.com/office/drawing/2014/main" id="{4A2F93DE-2C11-40AD-A69E-5814D89071B1}"/>
              </a:ext>
            </a:extLst>
          </p:cNvPr>
          <p:cNvSpPr>
            <a:spLocks xmlns:a="http://schemas.openxmlformats.org/drawingml/2006/main" noGrp="1"/>
          </p:cNvSpPr>
          <p:nvPr/>
        </p:nvSpPr>
        <p:spPr>
          <a:xfrm xmlns:a="http://schemas.openxmlformats.org/drawingml/2006/main">
            <a:off x="1005840" y="1417320"/>
            <a:ext cx="4846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Dockerfile</a:t>
            </a:r>
            <a:endParaRPr sz="900"/>
          </a:p>
        </p:txBody>
      </p:sp>
      <p:sp>
        <p:nvSpPr>
          <p:cNvPr id="16" name="Text 12">
            <a:extLst xmlns:a="http://schemas.openxmlformats.org/drawingml/2006/main">
              <a:ext uri="{FF2B5EF4-FFF2-40B4-BE49-F238E27FC236}">
                <a16:creationId xmlns:a16="http://schemas.microsoft.com/office/drawing/2014/main" id="{5910E6C4-2258-406D-A6CF-5B8BC492BB4F}"/>
              </a:ext>
            </a:extLst>
          </p:cNvPr>
          <p:cNvSpPr>
            <a:spLocks xmlns:a="http://schemas.openxmlformats.org/drawingml/2006/main" noGrp="1"/>
          </p:cNvSpPr>
          <p:nvPr/>
        </p:nvSpPr>
        <p:spPr>
          <a:xfrm xmlns:a="http://schemas.openxmlformats.org/drawingml/2006/main">
            <a:off x="594360" y="1783080"/>
            <a:ext cx="5303520" cy="4297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200">
                <a:solidFill>
                  <a:srgbClr val="94A3B8"/>
                </a:solidFill>
                <a:latin typeface="Consolas"/>
                <a:ea typeface="Consolas"/>
                <a:cs typeface="Consolas"/>
              </a:rPr>
              <a:t># Base image dari Docker Hub</a:t>
            </a:r>
            <a:endParaRPr sz="1200"/>
          </a:p>
          <a:p xmlns:a="http://schemas.openxmlformats.org/drawingml/2006/main">
            <a:pPr marL="0" indent="0">
              <a:spcAft>
                <a:spcPts val="200"/>
              </a:spcAft>
              <a:buNone/>
            </a:pPr>
            <a:r>
              <a:rPr sz="1200" b="1">
                <a:solidFill>
                  <a:srgbClr val="F37021"/>
                </a:solidFill>
                <a:latin typeface="Consolas"/>
                <a:ea typeface="Consolas"/>
                <a:cs typeface="Consolas"/>
              </a:rPr>
              <a:t>FROM </a:t>
            </a:r>
            <a:r>
              <a:rPr sz="1200">
                <a:solidFill>
                  <a:srgbClr val="60A5FA"/>
                </a:solidFill>
                <a:latin typeface="Consolas"/>
                <a:ea typeface="Consolas"/>
                <a:cs typeface="Consolas"/>
              </a:rPr>
              <a:t>node:24-alpine</a:t>
            </a:r>
            <a:endParaRPr sz="1200"/>
          </a:p>
          <a:p xmlns:a="http://schemas.openxmlformats.org/drawingml/2006/main">
            <a:pPr marL="0" indent="0">
              <a:spcAft>
                <a:spcPts val="200"/>
              </a:spcAft>
              <a:buNone/>
            </a:pPr>
            <a:endParaRPr sz="1200"/>
          </a:p>
          <a:p xmlns:a="http://schemas.openxmlformats.org/drawingml/2006/main">
            <a:pPr marL="0" indent="0">
              <a:spcAft>
                <a:spcPts val="200"/>
              </a:spcAft>
              <a:buNone/>
            </a:pPr>
            <a:r>
              <a:rPr sz="1200">
                <a:solidFill>
                  <a:srgbClr val="94A3B8"/>
                </a:solidFill>
                <a:latin typeface="Consolas"/>
                <a:ea typeface="Consolas"/>
                <a:cs typeface="Consolas"/>
              </a:rPr>
              <a:t># Direktori kerja di image</a:t>
            </a:r>
            <a:endParaRPr sz="1200"/>
          </a:p>
          <a:p xmlns:a="http://schemas.openxmlformats.org/drawingml/2006/main">
            <a:pPr marL="0" indent="0">
              <a:spcAft>
                <a:spcPts val="200"/>
              </a:spcAft>
              <a:buNone/>
            </a:pPr>
            <a:r>
              <a:rPr sz="1200" b="1">
                <a:solidFill>
                  <a:srgbClr val="F37021"/>
                </a:solidFill>
                <a:latin typeface="Consolas"/>
                <a:ea typeface="Consolas"/>
                <a:cs typeface="Consolas"/>
              </a:rPr>
              <a:t>WORKDIR </a:t>
            </a:r>
            <a:r>
              <a:rPr sz="1200">
                <a:solidFill>
                  <a:srgbClr val="E2E8F0"/>
                </a:solidFill>
                <a:latin typeface="Consolas"/>
                <a:ea typeface="Consolas"/>
                <a:cs typeface="Consolas"/>
              </a:rPr>
              <a:t>/usr/src/app</a:t>
            </a:r>
            <a:endParaRPr sz="1200"/>
          </a:p>
          <a:p xmlns:a="http://schemas.openxmlformats.org/drawingml/2006/main">
            <a:pPr marL="0" indent="0">
              <a:spcAft>
                <a:spcPts val="200"/>
              </a:spcAft>
              <a:buNone/>
            </a:pPr>
            <a:endParaRPr sz="1200"/>
          </a:p>
          <a:p xmlns:a="http://schemas.openxmlformats.org/drawingml/2006/main">
            <a:pPr marL="0" indent="0">
              <a:spcAft>
                <a:spcPts val="200"/>
              </a:spcAft>
              <a:buNone/>
            </a:pPr>
            <a:r>
              <a:rPr sz="1200">
                <a:solidFill>
                  <a:srgbClr val="94A3B8"/>
                </a:solidFill>
                <a:latin typeface="Consolas"/>
                <a:ea typeface="Consolas"/>
                <a:cs typeface="Consolas"/>
              </a:rPr>
              <a:t># Copy package.json dulu (cache layer)</a:t>
            </a:r>
            <a:endParaRPr sz="1200"/>
          </a:p>
          <a:p xmlns:a="http://schemas.openxmlformats.org/drawingml/2006/main">
            <a:pPr marL="0" indent="0">
              <a:spcAft>
                <a:spcPts val="200"/>
              </a:spcAft>
              <a:buNone/>
            </a:pPr>
            <a:r>
              <a:rPr sz="1200" b="1">
                <a:solidFill>
                  <a:srgbClr val="F37021"/>
                </a:solidFill>
                <a:latin typeface="Consolas"/>
                <a:ea typeface="Consolas"/>
                <a:cs typeface="Consolas"/>
              </a:rPr>
              <a:t>COPY package.json package-lock.json ./</a:t>
            </a:r>
            <a:endParaRPr sz="1200"/>
          </a:p>
          <a:p xmlns:a="http://schemas.openxmlformats.org/drawingml/2006/main">
            <a:pPr marL="0" indent="0">
              <a:spcAft>
                <a:spcPts val="200"/>
              </a:spcAft>
              <a:buNone/>
            </a:pPr>
            <a:r>
              <a:rPr sz="1200" b="1">
                <a:solidFill>
                  <a:srgbClr val="F37021"/>
                </a:solidFill>
                <a:latin typeface="Consolas"/>
                <a:ea typeface="Consolas"/>
                <a:cs typeface="Consolas"/>
              </a:rPr>
              <a:t>RUN </a:t>
            </a:r>
            <a:r>
              <a:rPr sz="1200">
                <a:solidFill>
                  <a:srgbClr val="E2E8F0"/>
                </a:solidFill>
                <a:latin typeface="Consolas"/>
                <a:ea typeface="Consolas"/>
                <a:cs typeface="Consolas"/>
              </a:rPr>
              <a:t>npm ci --omit=dev</a:t>
            </a:r>
            <a:endParaRPr sz="1200"/>
          </a:p>
          <a:p xmlns:a="http://schemas.openxmlformats.org/drawingml/2006/main">
            <a:pPr marL="0" indent="0">
              <a:spcAft>
                <a:spcPts val="200"/>
              </a:spcAft>
              <a:buNone/>
            </a:pPr>
            <a:endParaRPr sz="1200"/>
          </a:p>
          <a:p xmlns:a="http://schemas.openxmlformats.org/drawingml/2006/main">
            <a:pPr marL="0" indent="0">
              <a:spcAft>
                <a:spcPts val="200"/>
              </a:spcAft>
              <a:buNone/>
            </a:pPr>
            <a:r>
              <a:rPr sz="1200">
                <a:solidFill>
                  <a:srgbClr val="94A3B8"/>
                </a:solidFill>
                <a:latin typeface="Consolas"/>
                <a:ea typeface="Consolas"/>
                <a:cs typeface="Consolas"/>
              </a:rPr>
              <a:t># Copy source code</a:t>
            </a:r>
            <a:endParaRPr sz="1200"/>
          </a:p>
          <a:p xmlns:a="http://schemas.openxmlformats.org/drawingml/2006/main">
            <a:pPr marL="0" indent="0">
              <a:spcAft>
                <a:spcPts val="200"/>
              </a:spcAft>
              <a:buNone/>
            </a:pPr>
            <a:r>
              <a:rPr sz="1200" b="1">
                <a:solidFill>
                  <a:srgbClr val="F37021"/>
                </a:solidFill>
                <a:latin typeface="Consolas"/>
                <a:ea typeface="Consolas"/>
                <a:cs typeface="Consolas"/>
              </a:rPr>
              <a:t>COPY </a:t>
            </a:r>
            <a:r>
              <a:rPr sz="1200">
                <a:solidFill>
                  <a:srgbClr val="E2E8F0"/>
                </a:solidFill>
                <a:latin typeface="Consolas"/>
                <a:ea typeface="Consolas"/>
                <a:cs typeface="Consolas"/>
              </a:rPr>
              <a:t>. .</a:t>
            </a:r>
            <a:endParaRPr sz="1200"/>
          </a:p>
          <a:p xmlns:a="http://schemas.openxmlformats.org/drawingml/2006/main">
            <a:pPr marL="0" indent="0">
              <a:spcAft>
                <a:spcPts val="200"/>
              </a:spcAft>
              <a:buNone/>
            </a:pPr>
            <a:endParaRPr sz="1200"/>
          </a:p>
          <a:p xmlns:a="http://schemas.openxmlformats.org/drawingml/2006/main">
            <a:pPr marL="0" indent="0">
              <a:spcAft>
                <a:spcPts val="200"/>
              </a:spcAft>
              <a:buNone/>
            </a:pPr>
            <a:r>
              <a:rPr sz="1200">
                <a:solidFill>
                  <a:srgbClr val="94A3B8"/>
                </a:solidFill>
                <a:latin typeface="Consolas"/>
                <a:ea typeface="Consolas"/>
                <a:cs typeface="Consolas"/>
              </a:rPr>
              <a:t># Expose + run</a:t>
            </a:r>
            <a:endParaRPr sz="1200"/>
          </a:p>
          <a:p xmlns:a="http://schemas.openxmlformats.org/drawingml/2006/main">
            <a:pPr marL="0" indent="0">
              <a:spcAft>
                <a:spcPts val="200"/>
              </a:spcAft>
              <a:buNone/>
            </a:pPr>
            <a:r>
              <a:rPr sz="1200" b="1">
                <a:solidFill>
                  <a:srgbClr val="F37021"/>
                </a:solidFill>
                <a:latin typeface="Consolas"/>
                <a:ea typeface="Consolas"/>
                <a:cs typeface="Consolas"/>
              </a:rPr>
              <a:t>EXPOSE </a:t>
            </a:r>
            <a:r>
              <a:rPr sz="1200">
                <a:solidFill>
                  <a:srgbClr val="E2E8F0"/>
                </a:solidFill>
                <a:latin typeface="Consolas"/>
                <a:ea typeface="Consolas"/>
                <a:cs typeface="Consolas"/>
              </a:rPr>
              <a:t>3000</a:t>
            </a:r>
            <a:endParaRPr sz="1200"/>
          </a:p>
          <a:p xmlns:a="http://schemas.openxmlformats.org/drawingml/2006/main">
            <a:pPr marL="0" indent="0">
              <a:spcAft>
                <a:spcPts val="200"/>
              </a:spcAft>
              <a:buNone/>
            </a:pPr>
            <a:r>
              <a:rPr sz="1200" b="1">
                <a:solidFill>
                  <a:srgbClr val="F37021"/>
                </a:solidFill>
                <a:latin typeface="Consolas"/>
                <a:ea typeface="Consolas"/>
                <a:cs typeface="Consolas"/>
              </a:rPr>
              <a:t>CMD </a:t>
            </a:r>
            <a:r>
              <a:rPr sz="1200">
                <a:solidFill>
                  <a:srgbClr val="E2E8F0"/>
                </a:solidFill>
                <a:latin typeface="Consolas"/>
                <a:ea typeface="Consolas"/>
                <a:cs typeface="Consolas"/>
              </a:rPr>
              <a:t>["node", "server.js"]</a:t>
            </a:r>
            <a:endParaRPr sz="1200"/>
          </a:p>
        </p:txBody>
      </p:sp>
      <p:sp>
        <p:nvSpPr>
          <p:cNvPr id="17" name="Shape 13">
            <a:extLst xmlns:a="http://schemas.openxmlformats.org/drawingml/2006/main">
              <a:ext uri="{FF2B5EF4-FFF2-40B4-BE49-F238E27FC236}">
                <a16:creationId xmlns:a16="http://schemas.microsoft.com/office/drawing/2014/main" id="{6ED53269-E4C8-49C6-AC7E-D73B74484A03}"/>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8" name="Shape 14">
            <a:extLst xmlns:a="http://schemas.openxmlformats.org/drawingml/2006/main">
              <a:ext uri="{FF2B5EF4-FFF2-40B4-BE49-F238E27FC236}">
                <a16:creationId xmlns:a16="http://schemas.microsoft.com/office/drawing/2014/main" id="{2C17A724-5692-4EE5-8F15-828CFE04BC86}"/>
              </a:ext>
            </a:extLst>
          </p:cNvPr>
          <p:cNvSpPr>
            <a:spLocks xmlns:a="http://schemas.openxmlformats.org/drawingml/2006/main" noGrp="1"/>
          </p:cNvSpPr>
          <p:nvPr/>
        </p:nvSpPr>
        <p:spPr>
          <a:xfrm xmlns:a="http://schemas.openxmlformats.org/drawingml/2006/main">
            <a:off x="6217920" y="1417320"/>
            <a:ext cx="548640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9" name="Shape 15">
            <a:extLst xmlns:a="http://schemas.openxmlformats.org/drawingml/2006/main">
              <a:ext uri="{FF2B5EF4-FFF2-40B4-BE49-F238E27FC236}">
                <a16:creationId xmlns:a16="http://schemas.microsoft.com/office/drawing/2014/main" id="{3E2E335B-F13F-49B6-A5C4-00BEDFEBC925}"/>
              </a:ext>
            </a:extLst>
          </p:cNvPr>
          <p:cNvSpPr>
            <a:spLocks xmlns:a="http://schemas.openxmlformats.org/drawingml/2006/main" noGrp="1"/>
          </p:cNvSpPr>
          <p:nvPr/>
        </p:nvSpPr>
        <p:spPr>
          <a:xfrm xmlns:a="http://schemas.openxmlformats.org/drawingml/2006/main">
            <a:off x="6309360" y="14996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20" name="Shape 16">
            <a:extLst xmlns:a="http://schemas.openxmlformats.org/drawingml/2006/main">
              <a:ext uri="{FF2B5EF4-FFF2-40B4-BE49-F238E27FC236}">
                <a16:creationId xmlns:a16="http://schemas.microsoft.com/office/drawing/2014/main" id="{82DA5B9F-081F-4F3F-891A-D080632D5F68}"/>
              </a:ext>
            </a:extLst>
          </p:cNvPr>
          <p:cNvSpPr>
            <a:spLocks xmlns:a="http://schemas.openxmlformats.org/drawingml/2006/main" noGrp="1"/>
          </p:cNvSpPr>
          <p:nvPr/>
        </p:nvSpPr>
        <p:spPr>
          <a:xfrm xmlns:a="http://schemas.openxmlformats.org/drawingml/2006/main">
            <a:off x="6446520" y="14996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1" name="Shape 17">
            <a:extLst xmlns:a="http://schemas.openxmlformats.org/drawingml/2006/main">
              <a:ext uri="{FF2B5EF4-FFF2-40B4-BE49-F238E27FC236}">
                <a16:creationId xmlns:a16="http://schemas.microsoft.com/office/drawing/2014/main" id="{D0598ADD-5249-48C6-AE15-0F204A3C193D}"/>
              </a:ext>
            </a:extLst>
          </p:cNvPr>
          <p:cNvSpPr>
            <a:spLocks xmlns:a="http://schemas.openxmlformats.org/drawingml/2006/main" noGrp="1"/>
          </p:cNvSpPr>
          <p:nvPr/>
        </p:nvSpPr>
        <p:spPr>
          <a:xfrm xmlns:a="http://schemas.openxmlformats.org/drawingml/2006/main">
            <a:off x="6583680" y="14996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22" name="Text 18">
            <a:extLst xmlns:a="http://schemas.openxmlformats.org/drawingml/2006/main">
              <a:ext uri="{FF2B5EF4-FFF2-40B4-BE49-F238E27FC236}">
                <a16:creationId xmlns:a16="http://schemas.microsoft.com/office/drawing/2014/main" id="{00029BDB-3CA4-48EB-B0AA-F529ABA27F4A}"/>
              </a:ext>
            </a:extLst>
          </p:cNvPr>
          <p:cNvSpPr>
            <a:spLocks xmlns:a="http://schemas.openxmlformats.org/drawingml/2006/main" noGrp="1"/>
          </p:cNvSpPr>
          <p:nvPr/>
        </p:nvSpPr>
        <p:spPr>
          <a:xfrm xmlns:a="http://schemas.openxmlformats.org/drawingml/2006/main">
            <a:off x="6766560" y="1417320"/>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build + run</a:t>
            </a:r>
            <a:endParaRPr sz="900"/>
          </a:p>
        </p:txBody>
      </p:sp>
      <p:sp>
        <p:nvSpPr>
          <p:cNvPr id="23" name="Text 19">
            <a:extLst xmlns:a="http://schemas.openxmlformats.org/drawingml/2006/main">
              <a:ext uri="{FF2B5EF4-FFF2-40B4-BE49-F238E27FC236}">
                <a16:creationId xmlns:a16="http://schemas.microsoft.com/office/drawing/2014/main" id="{7D238D50-889D-4BA5-80F3-DE7F34BC41A4}"/>
              </a:ext>
            </a:extLst>
          </p:cNvPr>
          <p:cNvSpPr>
            <a:spLocks xmlns:a="http://schemas.openxmlformats.org/drawingml/2006/main" noGrp="1"/>
          </p:cNvSpPr>
          <p:nvPr/>
        </p:nvSpPr>
        <p:spPr>
          <a:xfrm xmlns:a="http://schemas.openxmlformats.org/drawingml/2006/main">
            <a:off x="6355080" y="1783080"/>
            <a:ext cx="5212080" cy="42976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Perintah contoh Node.js</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docker build -t myapp:1.0 .</a:t>
            </a:r>
            <a:endParaRPr sz="1100"/>
          </a:p>
          <a:p xmlns:a="http://schemas.openxmlformats.org/drawingml/2006/main">
            <a:pPr marL="0" indent="0">
              <a:spcAft>
                <a:spcPts val="200"/>
              </a:spcAft>
              <a:buNone/>
            </a:pPr>
            <a:r>
              <a:rPr sz="1100">
                <a:solidFill>
                  <a:srgbClr val="10B981"/>
                </a:solidFill>
                <a:latin typeface="Consolas"/>
                <a:ea typeface="Consolas"/>
                <a:cs typeface="Consolas"/>
              </a:rPr>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Batasi port ke localhost</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docker run -d --name node-demo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-p 127.0.0.1:3000:3000 myapp:1.0</a:t>
            </a:r>
            <a:endParaRPr sz="1100"/>
          </a:p>
          <a:p xmlns:a="http://schemas.openxmlformats.org/drawingml/2006/main">
            <a:pPr marL="0" indent="0">
              <a:spcAft>
                <a:spcPts val="200"/>
              </a:spcAft>
              <a:buNone/>
            </a:pPr>
            <a:r>
              <a:rPr sz="1100">
                <a:solidFill>
                  <a:srgbClr val="94A3B8"/>
                </a:solidFill>
                <a:latin typeface="Consolas"/>
                <a:ea typeface="Consolas"/>
                <a:cs typeface="Consolas"/>
              </a:rPr>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Uji lalu bersihkan container demo</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curl http://127.0.0.1:3000</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docker rm -f node-demo</a:t>
            </a:r>
            <a:endParaRPr sz="1100"/>
          </a:p>
          <a:p xmlns:a="http://schemas.openxmlformats.org/drawingml/2006/main">
            <a:pPr marL="0" indent="0">
              <a:spcAft>
                <a:spcPts val="200"/>
              </a:spcAft>
              <a:buNone/>
            </a:pPr>
            <a:r>
              <a:rPr sz="1100">
                <a:solidFill>
                  <a:srgbClr val="94A3B8"/>
                </a:solidFill>
                <a:latin typeface="Consolas"/>
                <a:ea typeface="Consolas"/>
                <a:cs typeface="Consolas"/>
              </a:rPr>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Kode: examples/theory-node</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Lab 05 memakai FastAPI pada port 8000.</a:t>
            </a:r>
            <a:endParaRPr sz="1100"/>
          </a:p>
        </p:txBody>
      </p:sp>
    </p:spTree>
    <p:extLst>
      <p:ext uri="{BB962C8B-B14F-4D97-AF65-F5344CB8AC3E}">
        <p14:creationId xmlns:p14="http://schemas.microsoft.com/office/powerpoint/2010/main" val="1590219597"/>
      </p:ext>
    </p:extLst>
  </p:cSld>
</p:sld>
</file>

<file path=ppt/slides/slide9.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A20CA46-A39A-46A8-914B-ED6C92C1123F}"/>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C92C1DEC-FCE4-499C-9A16-5EFF473A3DC8}"/>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8E5BC6FB-BADB-4680-AB75-276E39FD95BE}"/>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39FE1AE0-793B-47DF-9882-832EEC574DB7}"/>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5E1427B4-0835-472D-8612-DC62493CC368}"/>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40078F55-B06E-43BF-AE26-A569569DBD23}"/>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9EDFFF3A-03B4-4817-862D-AD9E77DB1D81}"/>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a:extLst xmlns:a="http://schemas.openxmlformats.org/drawingml/2006/main">
              <a:ext uri="{FF2B5EF4-FFF2-40B4-BE49-F238E27FC236}">
                <a16:creationId xmlns:a16="http://schemas.microsoft.com/office/drawing/2014/main" id="{07075418-3059-44A3-AD95-29422A39A0BA}"/>
              </a:ext>
            </a:extLst>
          </p:cNvPr>
          <p:cNvPicPr>
            <a:picLocks xmlns:a="http://schemas.openxmlformats.org/drawingml/2006/main" noChangeAspect="1"/>
          </p:cNvPicPr>
          <p:nvPr/>
        </p:nvPicPr>
        <p:blipFill>
          <a:blip xmlns:r="http://schemas.openxmlformats.org/officeDocument/2006/relationships" xmlns:a="http://schemas.openxmlformats.org/drawingml/2006/main" r:embed="R91a06a57ebb8497b"/>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a:extLst xmlns:a="http://schemas.openxmlformats.org/drawingml/2006/main">
              <a:ext uri="{FF2B5EF4-FFF2-40B4-BE49-F238E27FC236}">
                <a16:creationId xmlns:a16="http://schemas.microsoft.com/office/drawing/2014/main" id="{AC40489F-2B63-44C3-91BF-92D453F5E47C}"/>
              </a:ext>
            </a:extLst>
          </p:cNvPr>
          <p:cNvPicPr>
            <a:picLocks xmlns:a="http://schemas.openxmlformats.org/drawingml/2006/main" noChangeAspect="1"/>
          </p:cNvPicPr>
          <p:nvPr/>
        </p:nvPicPr>
        <p:blipFill>
          <a:blip xmlns:r="http://schemas.openxmlformats.org/officeDocument/2006/relationships" xmlns:a="http://schemas.openxmlformats.org/drawingml/2006/main" r:embed="R7a20e9fbbf534dfc"/>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65882194-46BF-490B-8D53-E55BB247D1D6}"/>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02</a:t>
            </a:r>
            <a:endParaRPr sz="1600"/>
          </a:p>
        </p:txBody>
      </p:sp>
      <p:sp>
        <p:nvSpPr>
          <p:cNvPr id="12" name="Text 8">
            <a:extLst xmlns:a="http://schemas.openxmlformats.org/drawingml/2006/main">
              <a:ext uri="{FF2B5EF4-FFF2-40B4-BE49-F238E27FC236}">
                <a16:creationId xmlns:a16="http://schemas.microsoft.com/office/drawing/2014/main" id="{E6E304FF-F9E7-40E6-9E02-06E9FE8DCB19}"/>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Build Instructions</a:t>
            </a:r>
            <a:endParaRPr sz="5200"/>
          </a:p>
          <a:p xmlns:a="http://schemas.openxmlformats.org/drawingml/2006/main">
            <a:pPr marL="0" indent="0" algn="ctr">
              <a:buNone/>
            </a:pPr>
            <a:r>
              <a:rPr sz="5200" b="1">
                <a:solidFill>
                  <a:srgbClr val="FFFFFF"/>
                </a:solidFill>
                <a:latin typeface="Calibri"/>
                <a:ea typeface="Calibri"/>
                <a:cs typeface="Calibri"/>
              </a:rPr>
              <a:t>Deep Dive</a:t>
            </a:r>
            <a:endParaRPr sz="5200"/>
          </a:p>
        </p:txBody>
      </p:sp>
      <p:sp>
        <p:nvSpPr>
          <p:cNvPr id="13" name="Shape 9">
            <a:extLst xmlns:a="http://schemas.openxmlformats.org/drawingml/2006/main">
              <a:ext uri="{FF2B5EF4-FFF2-40B4-BE49-F238E27FC236}">
                <a16:creationId xmlns:a16="http://schemas.microsoft.com/office/drawing/2014/main" id="{EE8618D6-633B-4AE4-B7AD-BA9490ACF511}"/>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9D989134-5D6E-4CBA-89D8-07B74086FDD2}"/>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FROM, RUN, COPY, CMD, ENTRYPOINT - dibedah satu-satu.</a:t>
            </a:r>
            <a:endParaRPr sz="1400"/>
          </a:p>
        </p:txBody>
      </p:sp>
      <p:sp>
        <p:nvSpPr>
          <p:cNvPr id="26" name="text_11">
            <a:extLst xmlns:a="http://schemas.openxmlformats.org/drawingml/2006/main">
              <a:ext uri="{FF2B5EF4-FFF2-40B4-BE49-F238E27FC236}">
                <a16:creationId xmlns:a16="http://schemas.microsoft.com/office/drawing/2014/main" id="{7B9B0988-852B-4D33-BD75-773F1778D6BB}"/>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9</a:t>
            </a:r>
          </a:p>
        </p:txBody>
      </p:sp>
    </p:spTree>
    <p:extLst>
      <p:ext uri="{BB962C8B-B14F-4D97-AF65-F5344CB8AC3E}">
        <p14:creationId xmlns:p14="http://schemas.microsoft.com/office/powerpoint/2010/main" val="44217931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069CC6E-1B53-42C4-BA2C-8C7C1DA2039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8C65B36A-4711-4A71-AA26-8D00E5CB4C29}"/>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10</a:t>
            </a:r>
            <a:endParaRPr sz="900"/>
          </a:p>
        </p:txBody>
      </p:sp>
      <p:sp>
        <p:nvSpPr>
          <p:cNvPr id="4" name="Shape 2">
            <a:extLst xmlns:a="http://schemas.openxmlformats.org/drawingml/2006/main">
              <a:ext uri="{FF2B5EF4-FFF2-40B4-BE49-F238E27FC236}">
                <a16:creationId xmlns:a16="http://schemas.microsoft.com/office/drawing/2014/main" id="{0DF7C89E-86CD-4402-8C1C-038EFE79A43F}"/>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5" name="Image 0">
            <a:extLst xmlns:a="http://schemas.openxmlformats.org/drawingml/2006/main">
              <a:ext uri="{FF2B5EF4-FFF2-40B4-BE49-F238E27FC236}">
                <a16:creationId xmlns:a16="http://schemas.microsoft.com/office/drawing/2014/main" id="{C5D6F861-719C-4370-9803-7B00AC233C47}"/>
              </a:ext>
            </a:extLst>
          </p:cNvPr>
          <p:cNvPicPr>
            <a:picLocks xmlns:a="http://schemas.openxmlformats.org/drawingml/2006/main" noChangeAspect="1"/>
          </p:cNvPicPr>
          <p:nvPr/>
        </p:nvPicPr>
        <p:blipFill>
          <a:blip xmlns:r="http://schemas.openxmlformats.org/officeDocument/2006/relationships" xmlns:a="http://schemas.openxmlformats.org/drawingml/2006/main" r:embed="Rba0696fbf263473b"/>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6" name="Image 1">
            <a:extLst xmlns:a="http://schemas.openxmlformats.org/drawingml/2006/main">
              <a:ext uri="{FF2B5EF4-FFF2-40B4-BE49-F238E27FC236}">
                <a16:creationId xmlns:a16="http://schemas.microsoft.com/office/drawing/2014/main" id="{A7F2C71D-099E-448C-8C57-67687047BADC}"/>
              </a:ext>
            </a:extLst>
          </p:cNvPr>
          <p:cNvPicPr>
            <a:picLocks xmlns:a="http://schemas.openxmlformats.org/drawingml/2006/main" noChangeAspect="1"/>
          </p:cNvPicPr>
          <p:nvPr/>
        </p:nvPicPr>
        <p:blipFill>
          <a:blip xmlns:r="http://schemas.openxmlformats.org/officeDocument/2006/relationships" xmlns:a="http://schemas.openxmlformats.org/drawingml/2006/main" r:embed="Reb843a6bef414398"/>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87A95CCF-4560-4147-81A3-586E6C8AF0D3}"/>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034D69E3-1F4D-4139-A183-BBC420B5F910}"/>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FROM - Memilih Base Image</a:t>
            </a:r>
            <a:endParaRPr sz="2200"/>
          </a:p>
        </p:txBody>
      </p:sp>
      <p:sp>
        <p:nvSpPr>
          <p:cNvPr id="9" name="Text 5">
            <a:extLst xmlns:a="http://schemas.openxmlformats.org/drawingml/2006/main">
              <a:ext uri="{FF2B5EF4-FFF2-40B4-BE49-F238E27FC236}">
                <a16:creationId xmlns:a16="http://schemas.microsoft.com/office/drawing/2014/main" id="{8EA3F590-77CC-4C15-A1D0-17876DE55FA4}"/>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FROM memulai setiap stage build</a:t>
            </a:r>
            <a:endParaRPr sz="1200"/>
          </a:p>
        </p:txBody>
      </p:sp>
      <p:sp>
        <p:nvSpPr>
          <p:cNvPr id="10" name="Shape 6">
            <a:extLst xmlns:a="http://schemas.openxmlformats.org/drawingml/2006/main">
              <a:ext uri="{FF2B5EF4-FFF2-40B4-BE49-F238E27FC236}">
                <a16:creationId xmlns:a16="http://schemas.microsoft.com/office/drawing/2014/main" id="{C2A6CF26-8B56-4ADD-9D88-5A4C4E50558D}"/>
              </a:ext>
            </a:extLst>
          </p:cNvPr>
          <p:cNvSpPr>
            <a:spLocks xmlns:a="http://schemas.openxmlformats.org/drawingml/2006/main" noGrp="1"/>
          </p:cNvSpPr>
          <p:nvPr/>
        </p:nvSpPr>
        <p:spPr>
          <a:xfrm xmlns:a="http://schemas.openxmlformats.org/drawingml/2006/main">
            <a:off x="457200" y="1417320"/>
            <a:ext cx="11247120" cy="9144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1" name="Text 7">
            <a:extLst xmlns:a="http://schemas.openxmlformats.org/drawingml/2006/main">
              <a:ext uri="{FF2B5EF4-FFF2-40B4-BE49-F238E27FC236}">
                <a16:creationId xmlns:a16="http://schemas.microsoft.com/office/drawing/2014/main" id="{596E67B1-A0A7-4501-9CC3-085297E31516}"/>
              </a:ext>
            </a:extLst>
          </p:cNvPr>
          <p:cNvSpPr>
            <a:spLocks xmlns:a="http://schemas.openxmlformats.org/drawingml/2006/main" noGrp="1"/>
          </p:cNvSpPr>
          <p:nvPr/>
        </p:nvSpPr>
        <p:spPr>
          <a:xfrm xmlns:a="http://schemas.openxmlformats.org/drawingml/2006/main">
            <a:off x="685800" y="1508760"/>
            <a:ext cx="107899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37021"/>
                </a:solidFill>
                <a:latin typeface="Consolas"/>
                <a:ea typeface="Consolas"/>
                <a:cs typeface="Consolas"/>
              </a:rPr>
              <a:t>Komentar, parser directive, dan ARG global dapat mendahului FROM.</a:t>
            </a:r>
            <a:endParaRPr sz="1600"/>
          </a:p>
        </p:txBody>
      </p:sp>
      <p:sp>
        <p:nvSpPr>
          <p:cNvPr id="12" name="Text 8">
            <a:extLst xmlns:a="http://schemas.openxmlformats.org/drawingml/2006/main">
              <a:ext uri="{FF2B5EF4-FFF2-40B4-BE49-F238E27FC236}">
                <a16:creationId xmlns:a16="http://schemas.microsoft.com/office/drawing/2014/main" id="{52F6EE07-92AE-4C03-B438-16445753106B}"/>
              </a:ext>
            </a:extLst>
          </p:cNvPr>
          <p:cNvSpPr>
            <a:spLocks xmlns:a="http://schemas.openxmlformats.org/drawingml/2006/main" noGrp="1"/>
          </p:cNvSpPr>
          <p:nvPr/>
        </p:nvSpPr>
        <p:spPr>
          <a:xfrm xmlns:a="http://schemas.openxmlformats.org/drawingml/2006/main">
            <a:off x="457200" y="2514600"/>
            <a:ext cx="11247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Strategi Pilih Base Image</a:t>
            </a:r>
            <a:endParaRPr sz="1400"/>
          </a:p>
        </p:txBody>
      </p:sp>
      <p:sp>
        <p:nvSpPr>
          <p:cNvPr id="13" name="Shape 9">
            <a:extLst xmlns:a="http://schemas.openxmlformats.org/drawingml/2006/main">
              <a:ext uri="{FF2B5EF4-FFF2-40B4-BE49-F238E27FC236}">
                <a16:creationId xmlns:a16="http://schemas.microsoft.com/office/drawing/2014/main" id="{CF175193-487E-4695-8DAB-BE224B3839EA}"/>
              </a:ext>
            </a:extLst>
          </p:cNvPr>
          <p:cNvSpPr>
            <a:spLocks xmlns:a="http://schemas.openxmlformats.org/drawingml/2006/main" noGrp="1"/>
          </p:cNvSpPr>
          <p:nvPr/>
        </p:nvSpPr>
        <p:spPr>
          <a:xfrm xmlns:a="http://schemas.openxmlformats.org/drawingml/2006/main">
            <a:off x="457200" y="2971800"/>
            <a:ext cx="2743200" cy="14630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54" name="Image 2">
            <a:extLst xmlns:a="http://schemas.openxmlformats.org/drawingml/2006/main">
              <a:ext uri="{FF2B5EF4-FFF2-40B4-BE49-F238E27FC236}">
                <a16:creationId xmlns:a16="http://schemas.microsoft.com/office/drawing/2014/main" id="{13F78C65-2986-472C-9BAC-7B7BF5193B47}"/>
              </a:ext>
            </a:extLst>
          </p:cNvPr>
          <p:cNvPicPr>
            <a:picLocks xmlns:a="http://schemas.openxmlformats.org/drawingml/2006/main" noChangeAspect="1"/>
          </p:cNvPicPr>
          <p:nvPr/>
        </p:nvPicPr>
        <p:blipFill>
          <a:blip xmlns:r="http://schemas.openxmlformats.org/officeDocument/2006/relationships" xmlns:a="http://schemas.openxmlformats.org/drawingml/2006/main" r:embed="R2db9f5e1a8ac4b25"/>
          <a:stretch xmlns:a="http://schemas.openxmlformats.org/drawingml/2006/main">
            <a:fillRect l="0" t="0" r="0" b="0"/>
          </a:stretch>
        </p:blipFill>
        <p:spPr>
          <a:xfrm xmlns:a="http://schemas.openxmlformats.org/drawingml/2006/main">
            <a:off x="594360" y="3154680"/>
            <a:ext cx="457200" cy="457200"/>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B3329C85-0FE2-4F89-8773-6EB4B0B8057F}"/>
              </a:ext>
            </a:extLst>
          </p:cNvPr>
          <p:cNvSpPr>
            <a:spLocks xmlns:a="http://schemas.openxmlformats.org/drawingml/2006/main" noGrp="1"/>
          </p:cNvSpPr>
          <p:nvPr/>
        </p:nvSpPr>
        <p:spPr>
          <a:xfrm xmlns:a="http://schemas.openxmlformats.org/drawingml/2006/main">
            <a:off x="1143000" y="310896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Pakai Official Image</a:t>
            </a:r>
            <a:endParaRPr sz="1200"/>
          </a:p>
        </p:txBody>
      </p:sp>
      <p:sp>
        <p:nvSpPr>
          <p:cNvPr id="16" name="Text 11">
            <a:extLst xmlns:a="http://schemas.openxmlformats.org/drawingml/2006/main">
              <a:ext uri="{FF2B5EF4-FFF2-40B4-BE49-F238E27FC236}">
                <a16:creationId xmlns:a16="http://schemas.microsoft.com/office/drawing/2014/main" id="{42535F7B-D738-4E1D-BD18-181CF0E23CB9}"/>
              </a:ext>
            </a:extLst>
          </p:cNvPr>
          <p:cNvSpPr>
            <a:spLocks xmlns:a="http://schemas.openxmlformats.org/drawingml/2006/main" noGrp="1"/>
          </p:cNvSpPr>
          <p:nvPr/>
        </p:nvSpPr>
        <p:spPr>
          <a:xfrm xmlns:a="http://schemas.openxmlformats.org/drawingml/2006/main">
            <a:off x="594360" y="3703320"/>
            <a:ext cx="246888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Official Images mengikuti proses kurasi. Tetap cek pemelihara dan hasil scan.</a:t>
            </a:r>
            <a:endParaRPr sz="1000"/>
          </a:p>
        </p:txBody>
      </p:sp>
      <p:sp>
        <p:nvSpPr>
          <p:cNvPr id="17" name="Shape 12">
            <a:extLst xmlns:a="http://schemas.openxmlformats.org/drawingml/2006/main">
              <a:ext uri="{FF2B5EF4-FFF2-40B4-BE49-F238E27FC236}">
                <a16:creationId xmlns:a16="http://schemas.microsoft.com/office/drawing/2014/main" id="{0CF919E5-2F65-47E7-A40A-80448B8FF85C}"/>
              </a:ext>
            </a:extLst>
          </p:cNvPr>
          <p:cNvSpPr>
            <a:spLocks xmlns:a="http://schemas.openxmlformats.org/drawingml/2006/main" noGrp="1"/>
          </p:cNvSpPr>
          <p:nvPr/>
        </p:nvSpPr>
        <p:spPr>
          <a:xfrm xmlns:a="http://schemas.openxmlformats.org/drawingml/2006/main">
            <a:off x="3337560" y="2971800"/>
            <a:ext cx="2743200" cy="14630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58" name="Image 3">
            <a:extLst xmlns:a="http://schemas.openxmlformats.org/drawingml/2006/main">
              <a:ext uri="{FF2B5EF4-FFF2-40B4-BE49-F238E27FC236}">
                <a16:creationId xmlns:a16="http://schemas.microsoft.com/office/drawing/2014/main" id="{C9875B95-239E-4C0A-B23A-8FE9148EB181}"/>
              </a:ext>
            </a:extLst>
          </p:cNvPr>
          <p:cNvPicPr>
            <a:picLocks xmlns:a="http://schemas.openxmlformats.org/drawingml/2006/main" noChangeAspect="1"/>
          </p:cNvPicPr>
          <p:nvPr/>
        </p:nvPicPr>
        <p:blipFill>
          <a:blip xmlns:r="http://schemas.openxmlformats.org/officeDocument/2006/relationships" xmlns:a="http://schemas.openxmlformats.org/drawingml/2006/main" r:embed="R6dddbc79b30b4896"/>
          <a:stretch xmlns:a="http://schemas.openxmlformats.org/drawingml/2006/main">
            <a:fillRect l="0" t="0" r="0" b="0"/>
          </a:stretch>
        </p:blipFill>
        <p:spPr>
          <a:xfrm xmlns:a="http://schemas.openxmlformats.org/drawingml/2006/main">
            <a:off x="3474720" y="3154680"/>
            <a:ext cx="457200" cy="457200"/>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518D63D7-2A89-4854-979B-488D50A8E63D}"/>
              </a:ext>
            </a:extLst>
          </p:cNvPr>
          <p:cNvSpPr>
            <a:spLocks xmlns:a="http://schemas.openxmlformats.org/drawingml/2006/main" noGrp="1"/>
          </p:cNvSpPr>
          <p:nvPr/>
        </p:nvSpPr>
        <p:spPr>
          <a:xfrm xmlns:a="http://schemas.openxmlformats.org/drawingml/2006/main">
            <a:off x="4023360" y="310896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Pin Version Spesifik</a:t>
            </a:r>
            <a:endParaRPr sz="1200"/>
          </a:p>
        </p:txBody>
      </p:sp>
      <p:sp>
        <p:nvSpPr>
          <p:cNvPr id="20" name="Text 14">
            <a:extLst xmlns:a="http://schemas.openxmlformats.org/drawingml/2006/main">
              <a:ext uri="{FF2B5EF4-FFF2-40B4-BE49-F238E27FC236}">
                <a16:creationId xmlns:a16="http://schemas.microsoft.com/office/drawing/2014/main" id="{8BC62935-3313-4D7E-81C6-B91218029929}"/>
              </a:ext>
            </a:extLst>
          </p:cNvPr>
          <p:cNvSpPr>
            <a:spLocks xmlns:a="http://schemas.openxmlformats.org/drawingml/2006/main" noGrp="1"/>
          </p:cNvSpPr>
          <p:nvPr/>
        </p:nvSpPr>
        <p:spPr>
          <a:xfrm xmlns:a="http://schemas.openxmlformats.org/drawingml/2006/main">
            <a:off x="3474720" y="3703320"/>
            <a:ext cx="246888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Tag versi membatasi perubahan. Pin digest bila perlu identitas konten yang tetap.</a:t>
            </a:r>
            <a:endParaRPr sz="1000"/>
          </a:p>
        </p:txBody>
      </p:sp>
      <p:sp>
        <p:nvSpPr>
          <p:cNvPr id="21" name="Shape 15">
            <a:extLst xmlns:a="http://schemas.openxmlformats.org/drawingml/2006/main">
              <a:ext uri="{FF2B5EF4-FFF2-40B4-BE49-F238E27FC236}">
                <a16:creationId xmlns:a16="http://schemas.microsoft.com/office/drawing/2014/main" id="{41A50425-411D-4C35-B126-5F1B7C1CFB0B}"/>
              </a:ext>
            </a:extLst>
          </p:cNvPr>
          <p:cNvSpPr>
            <a:spLocks xmlns:a="http://schemas.openxmlformats.org/drawingml/2006/main" noGrp="1"/>
          </p:cNvSpPr>
          <p:nvPr/>
        </p:nvSpPr>
        <p:spPr>
          <a:xfrm xmlns:a="http://schemas.openxmlformats.org/drawingml/2006/main">
            <a:off x="6217920" y="2971800"/>
            <a:ext cx="2743200" cy="14630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62" name="Image 4">
            <a:extLst xmlns:a="http://schemas.openxmlformats.org/drawingml/2006/main">
              <a:ext uri="{FF2B5EF4-FFF2-40B4-BE49-F238E27FC236}">
                <a16:creationId xmlns:a16="http://schemas.microsoft.com/office/drawing/2014/main" id="{0F0ECB6F-EE04-4818-AF31-54DB35D7CA49}"/>
              </a:ext>
            </a:extLst>
          </p:cNvPr>
          <p:cNvPicPr>
            <a:picLocks xmlns:a="http://schemas.openxmlformats.org/drawingml/2006/main" noChangeAspect="1"/>
          </p:cNvPicPr>
          <p:nvPr/>
        </p:nvPicPr>
        <p:blipFill>
          <a:blip xmlns:r="http://schemas.openxmlformats.org/officeDocument/2006/relationships" xmlns:a="http://schemas.openxmlformats.org/drawingml/2006/main" r:embed="Rd07f2032d81548f4"/>
          <a:stretch xmlns:a="http://schemas.openxmlformats.org/drawingml/2006/main">
            <a:fillRect l="0" t="0" r="0" b="0"/>
          </a:stretch>
        </p:blipFill>
        <p:spPr>
          <a:xfrm xmlns:a="http://schemas.openxmlformats.org/drawingml/2006/main">
            <a:off x="6355080" y="3154680"/>
            <a:ext cx="457200" cy="457200"/>
          </a:xfrm>
          <a:prstGeom xmlns:a="http://schemas.openxmlformats.org/drawingml/2006/main" prst="rect">
            <a:avLst/>
          </a:prstGeom>
        </p:spPr>
      </p:pic>
      <p:sp>
        <p:nvSpPr>
          <p:cNvPr id="23" name="Text 16">
            <a:extLst xmlns:a="http://schemas.openxmlformats.org/drawingml/2006/main">
              <a:ext uri="{FF2B5EF4-FFF2-40B4-BE49-F238E27FC236}">
                <a16:creationId xmlns:a16="http://schemas.microsoft.com/office/drawing/2014/main" id="{CF2001FA-E0C6-4004-A9B3-CB490211CC71}"/>
              </a:ext>
            </a:extLst>
          </p:cNvPr>
          <p:cNvSpPr>
            <a:spLocks xmlns:a="http://schemas.openxmlformats.org/drawingml/2006/main" noGrp="1"/>
          </p:cNvSpPr>
          <p:nvPr/>
        </p:nvSpPr>
        <p:spPr>
          <a:xfrm xmlns:a="http://schemas.openxmlformats.org/drawingml/2006/main">
            <a:off x="6903720" y="310896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Pilih yang Minimal</a:t>
            </a:r>
            <a:endParaRPr sz="1200"/>
          </a:p>
        </p:txBody>
      </p:sp>
      <p:sp>
        <p:nvSpPr>
          <p:cNvPr id="24" name="Text 17">
            <a:extLst xmlns:a="http://schemas.openxmlformats.org/drawingml/2006/main">
              <a:ext uri="{FF2B5EF4-FFF2-40B4-BE49-F238E27FC236}">
                <a16:creationId xmlns:a16="http://schemas.microsoft.com/office/drawing/2014/main" id="{D0C0BB0E-53A5-41EE-BEFD-78FDF527C5F9}"/>
              </a:ext>
            </a:extLst>
          </p:cNvPr>
          <p:cNvSpPr>
            <a:spLocks xmlns:a="http://schemas.openxmlformats.org/drawingml/2006/main" noGrp="1"/>
          </p:cNvSpPr>
          <p:nvPr/>
        </p:nvSpPr>
        <p:spPr>
          <a:xfrm xmlns:a="http://schemas.openxmlformats.org/drawingml/2006/main">
            <a:off x="6355080" y="3703320"/>
            <a:ext cx="246888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alpine / distroless / slim variant - lebih kecil + attack surface kecil.</a:t>
            </a:r>
            <a:endParaRPr sz="1000"/>
          </a:p>
        </p:txBody>
      </p:sp>
      <p:sp>
        <p:nvSpPr>
          <p:cNvPr id="25" name="Shape 18">
            <a:extLst xmlns:a="http://schemas.openxmlformats.org/drawingml/2006/main">
              <a:ext uri="{FF2B5EF4-FFF2-40B4-BE49-F238E27FC236}">
                <a16:creationId xmlns:a16="http://schemas.microsoft.com/office/drawing/2014/main" id="{C537F2B8-36D3-4DA6-9143-36D5BE733261}"/>
              </a:ext>
            </a:extLst>
          </p:cNvPr>
          <p:cNvSpPr>
            <a:spLocks xmlns:a="http://schemas.openxmlformats.org/drawingml/2006/main" noGrp="1"/>
          </p:cNvSpPr>
          <p:nvPr/>
        </p:nvSpPr>
        <p:spPr>
          <a:xfrm xmlns:a="http://schemas.openxmlformats.org/drawingml/2006/main">
            <a:off x="9098280" y="2971800"/>
            <a:ext cx="2743200" cy="14630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66" name="Image 5">
            <a:extLst xmlns:a="http://schemas.openxmlformats.org/drawingml/2006/main">
              <a:ext uri="{FF2B5EF4-FFF2-40B4-BE49-F238E27FC236}">
                <a16:creationId xmlns:a16="http://schemas.microsoft.com/office/drawing/2014/main" id="{C2F6CA77-A7DD-442F-A194-AC8779394BE1}"/>
              </a:ext>
            </a:extLst>
          </p:cNvPr>
          <p:cNvPicPr>
            <a:picLocks xmlns:a="http://schemas.openxmlformats.org/drawingml/2006/main" noChangeAspect="1"/>
          </p:cNvPicPr>
          <p:nvPr/>
        </p:nvPicPr>
        <p:blipFill>
          <a:blip xmlns:r="http://schemas.openxmlformats.org/officeDocument/2006/relationships" xmlns:a="http://schemas.openxmlformats.org/drawingml/2006/main" r:embed="R2d47a16f73ba401e"/>
          <a:stretch xmlns:a="http://schemas.openxmlformats.org/drawingml/2006/main">
            <a:fillRect l="0" t="0" r="0" b="0"/>
          </a:stretch>
        </p:blipFill>
        <p:spPr>
          <a:xfrm xmlns:a="http://schemas.openxmlformats.org/drawingml/2006/main">
            <a:off x="9235440" y="3154680"/>
            <a:ext cx="457200" cy="457200"/>
          </a:xfrm>
          <a:prstGeom xmlns:a="http://schemas.openxmlformats.org/drawingml/2006/main" prst="rect">
            <a:avLst/>
          </a:prstGeom>
        </p:spPr>
      </p:pic>
      <p:sp>
        <p:nvSpPr>
          <p:cNvPr id="27" name="Text 19">
            <a:extLst xmlns:a="http://schemas.openxmlformats.org/drawingml/2006/main">
              <a:ext uri="{FF2B5EF4-FFF2-40B4-BE49-F238E27FC236}">
                <a16:creationId xmlns:a16="http://schemas.microsoft.com/office/drawing/2014/main" id="{9E5F3697-77E9-4AEB-8DF0-8C6114372AB9}"/>
              </a:ext>
            </a:extLst>
          </p:cNvPr>
          <p:cNvSpPr>
            <a:spLocks xmlns:a="http://schemas.openxmlformats.org/drawingml/2006/main" noGrp="1"/>
          </p:cNvSpPr>
          <p:nvPr/>
        </p:nvSpPr>
        <p:spPr>
          <a:xfrm xmlns:a="http://schemas.openxmlformats.org/drawingml/2006/main">
            <a:off x="9784080" y="310896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Cek Image Trusted</a:t>
            </a:r>
            <a:endParaRPr sz="1200"/>
          </a:p>
        </p:txBody>
      </p:sp>
      <p:sp>
        <p:nvSpPr>
          <p:cNvPr id="28" name="Text 20">
            <a:extLst xmlns:a="http://schemas.openxmlformats.org/drawingml/2006/main">
              <a:ext uri="{FF2B5EF4-FFF2-40B4-BE49-F238E27FC236}">
                <a16:creationId xmlns:a16="http://schemas.microsoft.com/office/drawing/2014/main" id="{133B2788-31DD-445E-A86A-69B10696116E}"/>
              </a:ext>
            </a:extLst>
          </p:cNvPr>
          <p:cNvSpPr>
            <a:spLocks xmlns:a="http://schemas.openxmlformats.org/drawingml/2006/main" noGrp="1"/>
          </p:cNvSpPr>
          <p:nvPr/>
        </p:nvSpPr>
        <p:spPr>
          <a:xfrm xmlns:a="http://schemas.openxmlformats.org/drawingml/2006/main">
            <a:off x="9235440" y="3703320"/>
            <a:ext cx="246888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Periksa sumber Dockerfile, versi yang didukung, dan kebijakan pembaruan.</a:t>
            </a:r>
            <a:endParaRPr sz="1000"/>
          </a:p>
        </p:txBody>
      </p:sp>
      <p:sp>
        <p:nvSpPr>
          <p:cNvPr id="29" name="Shape 21">
            <a:extLst xmlns:a="http://schemas.openxmlformats.org/drawingml/2006/main">
              <a:ext uri="{FF2B5EF4-FFF2-40B4-BE49-F238E27FC236}">
                <a16:creationId xmlns:a16="http://schemas.microsoft.com/office/drawing/2014/main" id="{BBDE0C09-6F56-4DC0-ADC4-A8EEFF985F5C}"/>
              </a:ext>
            </a:extLst>
          </p:cNvPr>
          <p:cNvSpPr>
            <a:spLocks xmlns:a="http://schemas.openxmlformats.org/drawingml/2006/main" noGrp="1"/>
          </p:cNvSpPr>
          <p:nvPr/>
        </p:nvSpPr>
        <p:spPr>
          <a:xfrm xmlns:a="http://schemas.openxmlformats.org/drawingml/2006/main">
            <a:off x="457200" y="4617720"/>
            <a:ext cx="11247120" cy="169164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30" name="Shape 22">
            <a:extLst xmlns:a="http://schemas.openxmlformats.org/drawingml/2006/main">
              <a:ext uri="{FF2B5EF4-FFF2-40B4-BE49-F238E27FC236}">
                <a16:creationId xmlns:a16="http://schemas.microsoft.com/office/drawing/2014/main" id="{A3ADAAF8-D9DA-4035-A800-0F39E3997F72}"/>
              </a:ext>
            </a:extLst>
          </p:cNvPr>
          <p:cNvSpPr>
            <a:spLocks xmlns:a="http://schemas.openxmlformats.org/drawingml/2006/main" noGrp="1"/>
          </p:cNvSpPr>
          <p:nvPr/>
        </p:nvSpPr>
        <p:spPr>
          <a:xfrm xmlns:a="http://schemas.openxmlformats.org/drawingml/2006/main">
            <a:off x="457200" y="4617720"/>
            <a:ext cx="1124712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31" name="Shape 23">
            <a:extLst xmlns:a="http://schemas.openxmlformats.org/drawingml/2006/main">
              <a:ext uri="{FF2B5EF4-FFF2-40B4-BE49-F238E27FC236}">
                <a16:creationId xmlns:a16="http://schemas.microsoft.com/office/drawing/2014/main" id="{F1CFFA46-CEC4-4D01-8AF4-FF6BAF9F5B60}"/>
              </a:ext>
            </a:extLst>
          </p:cNvPr>
          <p:cNvSpPr>
            <a:spLocks xmlns:a="http://schemas.openxmlformats.org/drawingml/2006/main" noGrp="1"/>
          </p:cNvSpPr>
          <p:nvPr/>
        </p:nvSpPr>
        <p:spPr>
          <a:xfrm xmlns:a="http://schemas.openxmlformats.org/drawingml/2006/main">
            <a:off x="548640" y="47000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32" name="Shape 24">
            <a:extLst xmlns:a="http://schemas.openxmlformats.org/drawingml/2006/main">
              <a:ext uri="{FF2B5EF4-FFF2-40B4-BE49-F238E27FC236}">
                <a16:creationId xmlns:a16="http://schemas.microsoft.com/office/drawing/2014/main" id="{660CBDE0-400E-4D47-BE92-F278561B2AE8}"/>
              </a:ext>
            </a:extLst>
          </p:cNvPr>
          <p:cNvSpPr>
            <a:spLocks xmlns:a="http://schemas.openxmlformats.org/drawingml/2006/main" noGrp="1"/>
          </p:cNvSpPr>
          <p:nvPr/>
        </p:nvSpPr>
        <p:spPr>
          <a:xfrm xmlns:a="http://schemas.openxmlformats.org/drawingml/2006/main">
            <a:off x="685800" y="47000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33" name="Shape 25">
            <a:extLst xmlns:a="http://schemas.openxmlformats.org/drawingml/2006/main">
              <a:ext uri="{FF2B5EF4-FFF2-40B4-BE49-F238E27FC236}">
                <a16:creationId xmlns:a16="http://schemas.microsoft.com/office/drawing/2014/main" id="{05B31529-12CD-4E5D-9F1B-3BBB517CD300}"/>
              </a:ext>
            </a:extLst>
          </p:cNvPr>
          <p:cNvSpPr>
            <a:spLocks xmlns:a="http://schemas.openxmlformats.org/drawingml/2006/main" noGrp="1"/>
          </p:cNvSpPr>
          <p:nvPr/>
        </p:nvSpPr>
        <p:spPr>
          <a:xfrm xmlns:a="http://schemas.openxmlformats.org/drawingml/2006/main">
            <a:off x="822960" y="47000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34" name="Text 26">
            <a:extLst xmlns:a="http://schemas.openxmlformats.org/drawingml/2006/main">
              <a:ext uri="{FF2B5EF4-FFF2-40B4-BE49-F238E27FC236}">
                <a16:creationId xmlns:a16="http://schemas.microsoft.com/office/drawing/2014/main" id="{E6DC4049-578A-4751-8D32-64B31451D997}"/>
              </a:ext>
            </a:extLst>
          </p:cNvPr>
          <p:cNvSpPr>
            <a:spLocks xmlns:a="http://schemas.openxmlformats.org/drawingml/2006/main" noGrp="1"/>
          </p:cNvSpPr>
          <p:nvPr/>
        </p:nvSpPr>
        <p:spPr>
          <a:xfrm xmlns:a="http://schemas.openxmlformats.org/drawingml/2006/main">
            <a:off x="1005840" y="4617720"/>
            <a:ext cx="10515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FROM examples</a:t>
            </a:r>
            <a:endParaRPr sz="900"/>
          </a:p>
        </p:txBody>
      </p:sp>
      <p:sp>
        <p:nvSpPr>
          <p:cNvPr id="35" name="Text 27">
            <a:extLst xmlns:a="http://schemas.openxmlformats.org/drawingml/2006/main">
              <a:ext uri="{FF2B5EF4-FFF2-40B4-BE49-F238E27FC236}">
                <a16:creationId xmlns:a16="http://schemas.microsoft.com/office/drawing/2014/main" id="{AD53EEEE-A1FF-40B3-A93E-D3FE96EC2A7D}"/>
              </a:ext>
            </a:extLst>
          </p:cNvPr>
          <p:cNvSpPr>
            <a:spLocks xmlns:a="http://schemas.openxmlformats.org/drawingml/2006/main" noGrp="1"/>
          </p:cNvSpPr>
          <p:nvPr/>
        </p:nvSpPr>
        <p:spPr>
          <a:xfrm xmlns:a="http://schemas.openxmlformats.org/drawingml/2006/main">
            <a:off x="594360" y="4983480"/>
            <a:ext cx="10972800" cy="1234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FROM node:24-alpine             # uji dependensi musl</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FROM python:3.12-slim           # contoh Lab 05</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FROM gcr.io/distroless/static-debian12</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FROM scratch                   # binary statis</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Pin konten: image@sha256:&lt;digest-terverifikasi&gt;</a:t>
            </a:r>
            <a:endParaRPr sz="1100"/>
          </a:p>
        </p:txBody>
      </p:sp>
    </p:spTree>
    <p:extLst>
      <p:ext uri="{BB962C8B-B14F-4D97-AF65-F5344CB8AC3E}">
        <p14:creationId xmlns:p14="http://schemas.microsoft.com/office/powerpoint/2010/main" val="189073008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74521B1-7849-42A8-AAAA-75994201B0BB}"/>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2C59B304-99E1-4B20-B85E-91161740E33C}"/>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11</a:t>
            </a:r>
            <a:endParaRPr sz="900"/>
          </a:p>
        </p:txBody>
      </p:sp>
      <p:sp>
        <p:nvSpPr>
          <p:cNvPr id="4" name="Shape 2">
            <a:extLst xmlns:a="http://schemas.openxmlformats.org/drawingml/2006/main">
              <a:ext uri="{FF2B5EF4-FFF2-40B4-BE49-F238E27FC236}">
                <a16:creationId xmlns:a16="http://schemas.microsoft.com/office/drawing/2014/main" id="{A76E797B-489B-4AB3-B6E6-493BE6ABA0B8}"/>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0" name="Image 0">
            <a:extLst xmlns:a="http://schemas.openxmlformats.org/drawingml/2006/main">
              <a:ext uri="{FF2B5EF4-FFF2-40B4-BE49-F238E27FC236}">
                <a16:creationId xmlns:a16="http://schemas.microsoft.com/office/drawing/2014/main" id="{781C8413-2891-47F4-B387-4FF26CC7F749}"/>
              </a:ext>
            </a:extLst>
          </p:cNvPr>
          <p:cNvPicPr>
            <a:picLocks xmlns:a="http://schemas.openxmlformats.org/drawingml/2006/main" noChangeAspect="1"/>
          </p:cNvPicPr>
          <p:nvPr/>
        </p:nvPicPr>
        <p:blipFill>
          <a:blip xmlns:r="http://schemas.openxmlformats.org/officeDocument/2006/relationships" xmlns:a="http://schemas.openxmlformats.org/drawingml/2006/main" r:embed="Rb778ffc6e33d4e25"/>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1" name="Image 1">
            <a:extLst xmlns:a="http://schemas.openxmlformats.org/drawingml/2006/main">
              <a:ext uri="{FF2B5EF4-FFF2-40B4-BE49-F238E27FC236}">
                <a16:creationId xmlns:a16="http://schemas.microsoft.com/office/drawing/2014/main" id="{036EBE08-E20C-4A69-81E5-4383BDAF67BC}"/>
              </a:ext>
            </a:extLst>
          </p:cNvPr>
          <p:cNvPicPr>
            <a:picLocks xmlns:a="http://schemas.openxmlformats.org/drawingml/2006/main" noChangeAspect="1"/>
          </p:cNvPicPr>
          <p:nvPr/>
        </p:nvPicPr>
        <p:blipFill>
          <a:blip xmlns:r="http://schemas.openxmlformats.org/officeDocument/2006/relationships" xmlns:a="http://schemas.openxmlformats.org/drawingml/2006/main" r:embed="Rf35226413b4e4508"/>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F48E3161-580E-4634-B97C-D8EDE2ECE150}"/>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16A063B2-77BA-4E04-8C35-FB5AFE5FA20A}"/>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RUN vs CMD vs ENTRYPOINT</a:t>
            </a:r>
            <a:endParaRPr sz="2200"/>
          </a:p>
        </p:txBody>
      </p:sp>
      <p:sp>
        <p:nvSpPr>
          <p:cNvPr id="9" name="Text 5">
            <a:extLst xmlns:a="http://schemas.openxmlformats.org/drawingml/2006/main">
              <a:ext uri="{FF2B5EF4-FFF2-40B4-BE49-F238E27FC236}">
                <a16:creationId xmlns:a16="http://schemas.microsoft.com/office/drawing/2014/main" id="{24A9F339-8D5C-4B8A-91FC-FBE2035F8962}"/>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Tiga instruksi paling sering disalahpahami</a:t>
            </a:r>
            <a:endParaRPr sz="1200"/>
          </a:p>
        </p:txBody>
      </p:sp>
      <p:sp>
        <p:nvSpPr>
          <p:cNvPr id="10" name="Shape 6">
            <a:extLst xmlns:a="http://schemas.openxmlformats.org/drawingml/2006/main">
              <a:ext uri="{FF2B5EF4-FFF2-40B4-BE49-F238E27FC236}">
                <a16:creationId xmlns:a16="http://schemas.microsoft.com/office/drawing/2014/main" id="{A6EEBC45-CD07-453A-8D66-083D04C91406}"/>
              </a:ext>
            </a:extLst>
          </p:cNvPr>
          <p:cNvSpPr>
            <a:spLocks xmlns:a="http://schemas.openxmlformats.org/drawingml/2006/main" noGrp="1"/>
          </p:cNvSpPr>
          <p:nvPr/>
        </p:nvSpPr>
        <p:spPr>
          <a:xfrm xmlns:a="http://schemas.openxmlformats.org/drawingml/2006/main">
            <a:off x="457200" y="1417320"/>
            <a:ext cx="370332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F84ECB7E-FC27-4FA3-AE03-E98CA001332E}"/>
              </a:ext>
            </a:extLst>
          </p:cNvPr>
          <p:cNvSpPr>
            <a:spLocks xmlns:a="http://schemas.openxmlformats.org/drawingml/2006/main" noGrp="1"/>
          </p:cNvSpPr>
          <p:nvPr/>
        </p:nvSpPr>
        <p:spPr>
          <a:xfrm xmlns:a="http://schemas.openxmlformats.org/drawingml/2006/main">
            <a:off x="457200" y="1417320"/>
            <a:ext cx="3703320" cy="77724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12" name="Text 8">
            <a:extLst xmlns:a="http://schemas.openxmlformats.org/drawingml/2006/main">
              <a:ext uri="{FF2B5EF4-FFF2-40B4-BE49-F238E27FC236}">
                <a16:creationId xmlns:a16="http://schemas.microsoft.com/office/drawing/2014/main" id="{7789EB79-2DF1-451F-90B1-C322EE6F21B3}"/>
              </a:ext>
            </a:extLst>
          </p:cNvPr>
          <p:cNvSpPr>
            <a:spLocks xmlns:a="http://schemas.openxmlformats.org/drawingml/2006/main" noGrp="1"/>
          </p:cNvSpPr>
          <p:nvPr/>
        </p:nvSpPr>
        <p:spPr>
          <a:xfrm xmlns:a="http://schemas.openxmlformats.org/drawingml/2006/main">
            <a:off x="594360" y="1508760"/>
            <a:ext cx="3429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FFFFF"/>
                </a:solidFill>
                <a:latin typeface="Consolas"/>
                <a:ea typeface="Consolas"/>
                <a:cs typeface="Consolas"/>
              </a:rPr>
              <a:t>RUN</a:t>
            </a:r>
            <a:endParaRPr sz="2200"/>
          </a:p>
        </p:txBody>
      </p:sp>
      <p:sp>
        <p:nvSpPr>
          <p:cNvPr id="13" name="Text 9">
            <a:extLst xmlns:a="http://schemas.openxmlformats.org/drawingml/2006/main">
              <a:ext uri="{FF2B5EF4-FFF2-40B4-BE49-F238E27FC236}">
                <a16:creationId xmlns:a16="http://schemas.microsoft.com/office/drawing/2014/main" id="{703EEA06-B67E-4D20-9868-3D40A880AA5C}"/>
              </a:ext>
            </a:extLst>
          </p:cNvPr>
          <p:cNvSpPr>
            <a:spLocks xmlns:a="http://schemas.openxmlformats.org/drawingml/2006/main" noGrp="1"/>
          </p:cNvSpPr>
          <p:nvPr/>
        </p:nvSpPr>
        <p:spPr>
          <a:xfrm xmlns:a="http://schemas.openxmlformats.org/drawingml/2006/main">
            <a:off x="594360" y="1874520"/>
            <a:ext cx="3429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spc="200">
                <a:solidFill>
                  <a:srgbClr val="FFFFFF"/>
                </a:solidFill>
                <a:latin typeface="Calibri"/>
                <a:ea typeface="Calibri"/>
                <a:cs typeface="Calibri"/>
              </a:rPr>
              <a:t>BUILD time</a:t>
            </a:r>
            <a:endParaRPr sz="1000"/>
          </a:p>
        </p:txBody>
      </p:sp>
      <p:sp>
        <p:nvSpPr>
          <p:cNvPr id="14" name="Text 10">
            <a:extLst xmlns:a="http://schemas.openxmlformats.org/drawingml/2006/main">
              <a:ext uri="{FF2B5EF4-FFF2-40B4-BE49-F238E27FC236}">
                <a16:creationId xmlns:a16="http://schemas.microsoft.com/office/drawing/2014/main" id="{F788668D-FD71-41ED-9C8C-041D5522A1C5}"/>
              </a:ext>
            </a:extLst>
          </p:cNvPr>
          <p:cNvSpPr>
            <a:spLocks xmlns:a="http://schemas.openxmlformats.org/drawingml/2006/main" noGrp="1"/>
          </p:cNvSpPr>
          <p:nvPr/>
        </p:nvSpPr>
        <p:spPr>
          <a:xfrm xmlns:a="http://schemas.openxmlformats.org/drawingml/2006/main">
            <a:off x="640080" y="2331720"/>
            <a:ext cx="3337560" cy="10058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b="1">
                <a:solidFill>
                  <a:srgbClr val="1E293B"/>
                </a:solidFill>
                <a:latin typeface="Calibri"/>
                <a:ea typeface="Calibri"/>
                <a:cs typeface="Calibri"/>
              </a:rPr>
              <a:t>Jalankan command saat build. Perubahan filesystem menjadi bagian image.</a:t>
            </a:r>
            <a:endParaRPr sz="1100"/>
          </a:p>
        </p:txBody>
      </p:sp>
      <p:sp>
        <p:nvSpPr>
          <p:cNvPr id="15" name="Text 11">
            <a:extLst xmlns:a="http://schemas.openxmlformats.org/drawingml/2006/main">
              <a:ext uri="{FF2B5EF4-FFF2-40B4-BE49-F238E27FC236}">
                <a16:creationId xmlns:a16="http://schemas.microsoft.com/office/drawing/2014/main" id="{F0C716DC-09FA-40CC-983F-71B0098C6013}"/>
              </a:ext>
            </a:extLst>
          </p:cNvPr>
          <p:cNvSpPr>
            <a:spLocks xmlns:a="http://schemas.openxmlformats.org/drawingml/2006/main" noGrp="1"/>
          </p:cNvSpPr>
          <p:nvPr/>
        </p:nvSpPr>
        <p:spPr>
          <a:xfrm xmlns:a="http://schemas.openxmlformats.org/drawingml/2006/main">
            <a:off x="640080" y="3383280"/>
            <a:ext cx="3337560" cy="10972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i="1">
                <a:solidFill>
                  <a:srgbClr val="1E293B"/>
                </a:solidFill>
                <a:latin typeface="Calibri"/>
                <a:ea typeface="Calibri"/>
                <a:cs typeface="Calibri"/>
              </a:rPr>
              <a:t>Install package, compile, generate file.</a:t>
            </a:r>
            <a:endParaRPr sz="1050"/>
          </a:p>
        </p:txBody>
      </p:sp>
      <p:sp>
        <p:nvSpPr>
          <p:cNvPr id="16" name="Shape 12">
            <a:extLst xmlns:a="http://schemas.openxmlformats.org/drawingml/2006/main">
              <a:ext uri="{FF2B5EF4-FFF2-40B4-BE49-F238E27FC236}">
                <a16:creationId xmlns:a16="http://schemas.microsoft.com/office/drawing/2014/main" id="{66A3894A-ABFA-4C8C-BCE0-32C6B5D1CFC1}"/>
              </a:ext>
            </a:extLst>
          </p:cNvPr>
          <p:cNvSpPr>
            <a:spLocks xmlns:a="http://schemas.openxmlformats.org/drawingml/2006/main" noGrp="1"/>
          </p:cNvSpPr>
          <p:nvPr/>
        </p:nvSpPr>
        <p:spPr>
          <a:xfrm xmlns:a="http://schemas.openxmlformats.org/drawingml/2006/main">
            <a:off x="640080" y="4617720"/>
            <a:ext cx="3337560" cy="14173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7" name="Text 13">
            <a:extLst xmlns:a="http://schemas.openxmlformats.org/drawingml/2006/main">
              <a:ext uri="{FF2B5EF4-FFF2-40B4-BE49-F238E27FC236}">
                <a16:creationId xmlns:a16="http://schemas.microsoft.com/office/drawing/2014/main" id="{F9BE6B4C-16A7-4D6D-B9BB-FEEE40E695E9}"/>
              </a:ext>
            </a:extLst>
          </p:cNvPr>
          <p:cNvSpPr>
            <a:spLocks xmlns:a="http://schemas.openxmlformats.org/drawingml/2006/main" noGrp="1"/>
          </p:cNvSpPr>
          <p:nvPr/>
        </p:nvSpPr>
        <p:spPr>
          <a:xfrm xmlns:a="http://schemas.openxmlformats.org/drawingml/2006/main">
            <a:off x="731520" y="4709160"/>
            <a:ext cx="315468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spcAft>
                <a:spcPts val="3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RUN apt-get update &amp;&amp; \</a:t>
            </a:r>
            <a:endParaRPr sz="1100"/>
          </a:p>
          <a:p xmlns:a="http://schemas.openxmlformats.org/drawingml/2006/main">
            <a:pPr marL="0" indent="0">
              <a:spcAft>
                <a:spcPts val="3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apt-get install -y curl &amp;&amp; \</a:t>
            </a:r>
            <a:endParaRPr sz="1100"/>
          </a:p>
          <a:p xmlns:a="http://schemas.openxmlformats.org/drawingml/2006/main">
            <a:pPr marL="0" indent="0">
              <a:spcAft>
                <a:spcPts val="3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rm -rf /var/lib/apt/lists/*</a:t>
            </a:r>
            <a:endParaRPr sz="1100"/>
          </a:p>
        </p:txBody>
      </p:sp>
      <p:sp>
        <p:nvSpPr>
          <p:cNvPr id="18" name="Shape 14">
            <a:extLst xmlns:a="http://schemas.openxmlformats.org/drawingml/2006/main">
              <a:ext uri="{FF2B5EF4-FFF2-40B4-BE49-F238E27FC236}">
                <a16:creationId xmlns:a16="http://schemas.microsoft.com/office/drawing/2014/main" id="{EE1EAFE2-02F6-42CC-99A0-0AE62B3DB867}"/>
              </a:ext>
            </a:extLst>
          </p:cNvPr>
          <p:cNvSpPr>
            <a:spLocks xmlns:a="http://schemas.openxmlformats.org/drawingml/2006/main" noGrp="1"/>
          </p:cNvSpPr>
          <p:nvPr/>
        </p:nvSpPr>
        <p:spPr>
          <a:xfrm xmlns:a="http://schemas.openxmlformats.org/drawingml/2006/main">
            <a:off x="4297680" y="1417320"/>
            <a:ext cx="370332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9" name="Shape 15">
            <a:extLst xmlns:a="http://schemas.openxmlformats.org/drawingml/2006/main">
              <a:ext uri="{FF2B5EF4-FFF2-40B4-BE49-F238E27FC236}">
                <a16:creationId xmlns:a16="http://schemas.microsoft.com/office/drawing/2014/main" id="{E423AEE8-C959-4B4E-9D2F-E099F853A723}"/>
              </a:ext>
            </a:extLst>
          </p:cNvPr>
          <p:cNvSpPr>
            <a:spLocks xmlns:a="http://schemas.openxmlformats.org/drawingml/2006/main" noGrp="1"/>
          </p:cNvSpPr>
          <p:nvPr/>
        </p:nvSpPr>
        <p:spPr>
          <a:xfrm xmlns:a="http://schemas.openxmlformats.org/drawingml/2006/main">
            <a:off x="4297680" y="1417320"/>
            <a:ext cx="3703320" cy="77724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0" name="Text 16">
            <a:extLst xmlns:a="http://schemas.openxmlformats.org/drawingml/2006/main">
              <a:ext uri="{FF2B5EF4-FFF2-40B4-BE49-F238E27FC236}">
                <a16:creationId xmlns:a16="http://schemas.microsoft.com/office/drawing/2014/main" id="{B0A373A7-C81B-4BDB-A74E-C889B67871CC}"/>
              </a:ext>
            </a:extLst>
          </p:cNvPr>
          <p:cNvSpPr>
            <a:spLocks xmlns:a="http://schemas.openxmlformats.org/drawingml/2006/main" noGrp="1"/>
          </p:cNvSpPr>
          <p:nvPr/>
        </p:nvSpPr>
        <p:spPr>
          <a:xfrm xmlns:a="http://schemas.openxmlformats.org/drawingml/2006/main">
            <a:off x="4434840" y="1508760"/>
            <a:ext cx="3429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FFFFF"/>
                </a:solidFill>
                <a:latin typeface="Consolas"/>
                <a:ea typeface="Consolas"/>
                <a:cs typeface="Consolas"/>
              </a:rPr>
              <a:t>CMD</a:t>
            </a:r>
            <a:endParaRPr sz="2200"/>
          </a:p>
        </p:txBody>
      </p:sp>
      <p:sp>
        <p:nvSpPr>
          <p:cNvPr id="21" name="Text 17">
            <a:extLst xmlns:a="http://schemas.openxmlformats.org/drawingml/2006/main">
              <a:ext uri="{FF2B5EF4-FFF2-40B4-BE49-F238E27FC236}">
                <a16:creationId xmlns:a16="http://schemas.microsoft.com/office/drawing/2014/main" id="{863EABA1-C111-4E10-89F9-50F049D6D73C}"/>
              </a:ext>
            </a:extLst>
          </p:cNvPr>
          <p:cNvSpPr>
            <a:spLocks xmlns:a="http://schemas.openxmlformats.org/drawingml/2006/main" noGrp="1"/>
          </p:cNvSpPr>
          <p:nvPr/>
        </p:nvSpPr>
        <p:spPr>
          <a:xfrm xmlns:a="http://schemas.openxmlformats.org/drawingml/2006/main">
            <a:off x="4434840" y="1874520"/>
            <a:ext cx="3429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spc="200">
                <a:solidFill>
                  <a:srgbClr val="FFFFFF"/>
                </a:solidFill>
                <a:latin typeface="Calibri"/>
                <a:ea typeface="Calibri"/>
                <a:cs typeface="Calibri"/>
              </a:rPr>
              <a:t>RUNTIME default</a:t>
            </a:r>
            <a:endParaRPr sz="1000"/>
          </a:p>
        </p:txBody>
      </p:sp>
      <p:sp>
        <p:nvSpPr>
          <p:cNvPr id="22" name="Text 18">
            <a:extLst xmlns:a="http://schemas.openxmlformats.org/drawingml/2006/main">
              <a:ext uri="{FF2B5EF4-FFF2-40B4-BE49-F238E27FC236}">
                <a16:creationId xmlns:a16="http://schemas.microsoft.com/office/drawing/2014/main" id="{95FD5459-6673-4FE1-B7EA-67C6E2A304A4}"/>
              </a:ext>
            </a:extLst>
          </p:cNvPr>
          <p:cNvSpPr>
            <a:spLocks xmlns:a="http://schemas.openxmlformats.org/drawingml/2006/main" noGrp="1"/>
          </p:cNvSpPr>
          <p:nvPr/>
        </p:nvSpPr>
        <p:spPr>
          <a:xfrm xmlns:a="http://schemas.openxmlformats.org/drawingml/2006/main">
            <a:off x="4480560" y="2331720"/>
            <a:ext cx="3337560" cy="10058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b="1">
                <a:solidFill>
                  <a:srgbClr val="1E293B"/>
                </a:solidFill>
                <a:latin typeface="Calibri"/>
                <a:ea typeface="Calibri"/>
                <a:cs typeface="Calibri"/>
              </a:rPr>
              <a:t>Default command saat 'docker run' (boleh di-override).</a:t>
            </a:r>
            <a:endParaRPr sz="1100"/>
          </a:p>
        </p:txBody>
      </p:sp>
      <p:sp>
        <p:nvSpPr>
          <p:cNvPr id="23" name="Text 19">
            <a:extLst xmlns:a="http://schemas.openxmlformats.org/drawingml/2006/main">
              <a:ext uri="{FF2B5EF4-FFF2-40B4-BE49-F238E27FC236}">
                <a16:creationId xmlns:a16="http://schemas.microsoft.com/office/drawing/2014/main" id="{5290C223-9237-4D09-B3F4-C16A90549594}"/>
              </a:ext>
            </a:extLst>
          </p:cNvPr>
          <p:cNvSpPr>
            <a:spLocks xmlns:a="http://schemas.openxmlformats.org/drawingml/2006/main" noGrp="1"/>
          </p:cNvSpPr>
          <p:nvPr/>
        </p:nvSpPr>
        <p:spPr>
          <a:xfrm xmlns:a="http://schemas.openxmlformats.org/drawingml/2006/main">
            <a:off x="4480560" y="3383280"/>
            <a:ext cx="3337560" cy="10972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i="1">
                <a:solidFill>
                  <a:srgbClr val="1E293B"/>
                </a:solidFill>
                <a:latin typeface="Calibri"/>
                <a:ea typeface="Calibri"/>
                <a:cs typeface="Calibri"/>
              </a:rPr>
              <a:t>Hanya CMD terakhir berlaku. Argumen docker run dapat mengganti CMD.</a:t>
            </a:r>
            <a:endParaRPr sz="1050"/>
          </a:p>
        </p:txBody>
      </p:sp>
      <p:sp>
        <p:nvSpPr>
          <p:cNvPr id="24" name="Shape 20">
            <a:extLst xmlns:a="http://schemas.openxmlformats.org/drawingml/2006/main">
              <a:ext uri="{FF2B5EF4-FFF2-40B4-BE49-F238E27FC236}">
                <a16:creationId xmlns:a16="http://schemas.microsoft.com/office/drawing/2014/main" id="{D2CC0EFE-5039-4541-90D2-15413A21C09C}"/>
              </a:ext>
            </a:extLst>
          </p:cNvPr>
          <p:cNvSpPr>
            <a:spLocks xmlns:a="http://schemas.openxmlformats.org/drawingml/2006/main" noGrp="1"/>
          </p:cNvSpPr>
          <p:nvPr/>
        </p:nvSpPr>
        <p:spPr>
          <a:xfrm xmlns:a="http://schemas.openxmlformats.org/drawingml/2006/main">
            <a:off x="4480560" y="4617720"/>
            <a:ext cx="3337560" cy="14173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5" name="Text 21">
            <a:extLst xmlns:a="http://schemas.openxmlformats.org/drawingml/2006/main">
              <a:ext uri="{FF2B5EF4-FFF2-40B4-BE49-F238E27FC236}">
                <a16:creationId xmlns:a16="http://schemas.microsoft.com/office/drawing/2014/main" id="{AA0325D2-5B1F-4AA4-BB04-07446BE74E2E}"/>
              </a:ext>
            </a:extLst>
          </p:cNvPr>
          <p:cNvSpPr>
            <a:spLocks xmlns:a="http://schemas.openxmlformats.org/drawingml/2006/main" noGrp="1"/>
          </p:cNvSpPr>
          <p:nvPr/>
        </p:nvSpPr>
        <p:spPr>
          <a:xfrm xmlns:a="http://schemas.openxmlformats.org/drawingml/2006/main">
            <a:off x="4572000" y="4709160"/>
            <a:ext cx="3154680" cy="12801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0B981"/>
                </a:solidFill>
                <a:latin typeface="Consolas"/>
                <a:ea typeface="Consolas"/>
                <a:cs typeface="Consolas"/>
              </a:rPr>
              <a:t>CMD ["node", "server.js"]</a:t>
            </a:r>
            <a:endParaRPr sz="1100"/>
          </a:p>
        </p:txBody>
      </p:sp>
      <p:sp>
        <p:nvSpPr>
          <p:cNvPr id="26" name="Shape 22">
            <a:extLst xmlns:a="http://schemas.openxmlformats.org/drawingml/2006/main">
              <a:ext uri="{FF2B5EF4-FFF2-40B4-BE49-F238E27FC236}">
                <a16:creationId xmlns:a16="http://schemas.microsoft.com/office/drawing/2014/main" id="{C2F8E10A-5598-46F8-95BA-988E4FBBDBF1}"/>
              </a:ext>
            </a:extLst>
          </p:cNvPr>
          <p:cNvSpPr>
            <a:spLocks xmlns:a="http://schemas.openxmlformats.org/drawingml/2006/main" noGrp="1"/>
          </p:cNvSpPr>
          <p:nvPr/>
        </p:nvSpPr>
        <p:spPr>
          <a:xfrm xmlns:a="http://schemas.openxmlformats.org/drawingml/2006/main">
            <a:off x="8138160" y="1417320"/>
            <a:ext cx="370332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7" name="Shape 23">
            <a:extLst xmlns:a="http://schemas.openxmlformats.org/drawingml/2006/main">
              <a:ext uri="{FF2B5EF4-FFF2-40B4-BE49-F238E27FC236}">
                <a16:creationId xmlns:a16="http://schemas.microsoft.com/office/drawing/2014/main" id="{684A4363-C98F-4022-9729-5A476BA3044C}"/>
              </a:ext>
            </a:extLst>
          </p:cNvPr>
          <p:cNvSpPr>
            <a:spLocks xmlns:a="http://schemas.openxmlformats.org/drawingml/2006/main" noGrp="1"/>
          </p:cNvSpPr>
          <p:nvPr/>
        </p:nvSpPr>
        <p:spPr>
          <a:xfrm xmlns:a="http://schemas.openxmlformats.org/drawingml/2006/main">
            <a:off x="8138160" y="1417320"/>
            <a:ext cx="3703320" cy="77724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28" name="Text 24">
            <a:extLst xmlns:a="http://schemas.openxmlformats.org/drawingml/2006/main">
              <a:ext uri="{FF2B5EF4-FFF2-40B4-BE49-F238E27FC236}">
                <a16:creationId xmlns:a16="http://schemas.microsoft.com/office/drawing/2014/main" id="{940EF99F-9E43-489D-A24F-CF9433D1C1C9}"/>
              </a:ext>
            </a:extLst>
          </p:cNvPr>
          <p:cNvSpPr>
            <a:spLocks xmlns:a="http://schemas.openxmlformats.org/drawingml/2006/main" noGrp="1"/>
          </p:cNvSpPr>
          <p:nvPr/>
        </p:nvSpPr>
        <p:spPr>
          <a:xfrm xmlns:a="http://schemas.openxmlformats.org/drawingml/2006/main">
            <a:off x="8275320" y="1508760"/>
            <a:ext cx="3429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FFFFF"/>
                </a:solidFill>
                <a:latin typeface="Consolas"/>
                <a:ea typeface="Consolas"/>
                <a:cs typeface="Consolas"/>
              </a:rPr>
              <a:t>ENTRYPOINT</a:t>
            </a:r>
            <a:endParaRPr sz="2200"/>
          </a:p>
        </p:txBody>
      </p:sp>
      <p:sp>
        <p:nvSpPr>
          <p:cNvPr id="29" name="Text 25">
            <a:extLst xmlns:a="http://schemas.openxmlformats.org/drawingml/2006/main">
              <a:ext uri="{FF2B5EF4-FFF2-40B4-BE49-F238E27FC236}">
                <a16:creationId xmlns:a16="http://schemas.microsoft.com/office/drawing/2014/main" id="{C4846302-F29D-4619-B5EE-BF91BF0376B2}"/>
              </a:ext>
            </a:extLst>
          </p:cNvPr>
          <p:cNvSpPr>
            <a:spLocks xmlns:a="http://schemas.openxmlformats.org/drawingml/2006/main" noGrp="1"/>
          </p:cNvSpPr>
          <p:nvPr/>
        </p:nvSpPr>
        <p:spPr>
          <a:xfrm xmlns:a="http://schemas.openxmlformats.org/drawingml/2006/main">
            <a:off x="8275320" y="1874520"/>
            <a:ext cx="3429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spc="200">
                <a:solidFill>
                  <a:srgbClr val="FFFFFF"/>
                </a:solidFill>
                <a:latin typeface="Calibri"/>
                <a:ea typeface="Calibri"/>
                <a:cs typeface="Calibri"/>
              </a:rPr>
              <a:t>RUNTIME executable</a:t>
            </a:r>
            <a:endParaRPr sz="1000"/>
          </a:p>
        </p:txBody>
      </p:sp>
      <p:sp>
        <p:nvSpPr>
          <p:cNvPr id="30" name="Text 26">
            <a:extLst xmlns:a="http://schemas.openxmlformats.org/drawingml/2006/main">
              <a:ext uri="{FF2B5EF4-FFF2-40B4-BE49-F238E27FC236}">
                <a16:creationId xmlns:a16="http://schemas.microsoft.com/office/drawing/2014/main" id="{98BE1681-73FE-4607-B51B-4FAB3A437BB2}"/>
              </a:ext>
            </a:extLst>
          </p:cNvPr>
          <p:cNvSpPr>
            <a:spLocks xmlns:a="http://schemas.openxmlformats.org/drawingml/2006/main" noGrp="1"/>
          </p:cNvSpPr>
          <p:nvPr/>
        </p:nvSpPr>
        <p:spPr>
          <a:xfrm xmlns:a="http://schemas.openxmlformats.org/drawingml/2006/main">
            <a:off x="8321040" y="2331720"/>
            <a:ext cx="3337560" cy="10058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b="1">
                <a:solidFill>
                  <a:srgbClr val="1E293B"/>
                </a:solidFill>
                <a:latin typeface="Calibri"/>
                <a:ea typeface="Calibri"/>
                <a:cs typeface="Calibri"/>
              </a:rPr>
              <a:t>Exec-form ENTRYPOINT menerima argumen run. Dapat diganti dengan --entrypoint.</a:t>
            </a:r>
            <a:endParaRPr sz="1100"/>
          </a:p>
        </p:txBody>
      </p:sp>
      <p:sp>
        <p:nvSpPr>
          <p:cNvPr id="31" name="Text 27">
            <a:extLst xmlns:a="http://schemas.openxmlformats.org/drawingml/2006/main">
              <a:ext uri="{FF2B5EF4-FFF2-40B4-BE49-F238E27FC236}">
                <a16:creationId xmlns:a16="http://schemas.microsoft.com/office/drawing/2014/main" id="{3FA15720-94FF-44F2-AA73-CC80BBA1217F}"/>
              </a:ext>
            </a:extLst>
          </p:cNvPr>
          <p:cNvSpPr>
            <a:spLocks xmlns:a="http://schemas.openxmlformats.org/drawingml/2006/main" noGrp="1"/>
          </p:cNvSpPr>
          <p:nvPr/>
        </p:nvSpPr>
        <p:spPr>
          <a:xfrm xmlns:a="http://schemas.openxmlformats.org/drawingml/2006/main">
            <a:off x="8321040" y="3383280"/>
            <a:ext cx="3337560" cy="10972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i="1">
                <a:solidFill>
                  <a:srgbClr val="1E293B"/>
                </a:solidFill>
                <a:latin typeface="Calibri"/>
                <a:ea typeface="Calibri"/>
                <a:cs typeface="Calibri"/>
              </a:rPr>
              <a:t>Cocok untuk image yang behave seperti executable.</a:t>
            </a:r>
            <a:endParaRPr sz="1050"/>
          </a:p>
        </p:txBody>
      </p:sp>
      <p:sp>
        <p:nvSpPr>
          <p:cNvPr id="32" name="Shape 28">
            <a:extLst xmlns:a="http://schemas.openxmlformats.org/drawingml/2006/main">
              <a:ext uri="{FF2B5EF4-FFF2-40B4-BE49-F238E27FC236}">
                <a16:creationId xmlns:a16="http://schemas.microsoft.com/office/drawing/2014/main" id="{6AA437FD-5B0C-444F-924C-99CDED553A96}"/>
              </a:ext>
            </a:extLst>
          </p:cNvPr>
          <p:cNvSpPr>
            <a:spLocks xmlns:a="http://schemas.openxmlformats.org/drawingml/2006/main" noGrp="1"/>
          </p:cNvSpPr>
          <p:nvPr/>
        </p:nvSpPr>
        <p:spPr>
          <a:xfrm xmlns:a="http://schemas.openxmlformats.org/drawingml/2006/main">
            <a:off x="8321040" y="4617720"/>
            <a:ext cx="3337560" cy="14173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3" name="Text 29">
            <a:extLst xmlns:a="http://schemas.openxmlformats.org/drawingml/2006/main">
              <a:ext uri="{FF2B5EF4-FFF2-40B4-BE49-F238E27FC236}">
                <a16:creationId xmlns:a16="http://schemas.microsoft.com/office/drawing/2014/main" id="{CB68EF3E-78E5-438E-8B53-A8443FFD1848}"/>
              </a:ext>
            </a:extLst>
          </p:cNvPr>
          <p:cNvSpPr>
            <a:spLocks xmlns:a="http://schemas.openxmlformats.org/drawingml/2006/main" noGrp="1"/>
          </p:cNvSpPr>
          <p:nvPr/>
        </p:nvSpPr>
        <p:spPr>
          <a:xfrm xmlns:a="http://schemas.openxmlformats.org/drawingml/2006/main">
            <a:off x="8412480" y="4709160"/>
            <a:ext cx="3154680" cy="12801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0B981"/>
                </a:solidFill>
                <a:latin typeface="Consolas"/>
                <a:ea typeface="Consolas"/>
                <a:cs typeface="Consolas"/>
              </a:rPr>
              <a:t>ENTRYPOINT ["node"]</a:t>
            </a:r>
            <a:endParaRPr sz="1100"/>
          </a:p>
          <a:p xmlns:a="http://schemas.openxmlformats.org/drawingml/2006/main">
            <a:pPr marL="0" indent="0">
              <a:spcAft>
                <a:spcPts val="300"/>
              </a:spcAft>
              <a:buNone/>
            </a:pPr>
            <a:r>
              <a:rPr sz="1100">
                <a:solidFill>
                  <a:srgbClr val="10B981"/>
                </a:solidFill>
                <a:latin typeface="Consolas"/>
                <a:ea typeface="Consolas"/>
                <a:cs typeface="Consolas"/>
              </a:rPr>
              <a:t>CMD ["server.js"]</a:t>
            </a:r>
            <a:endParaRPr sz="1100"/>
          </a:p>
        </p:txBody>
      </p:sp>
      <p:sp>
        <p:nvSpPr>
          <p:cNvPr id="34" name="Text 30">
            <a:extLst xmlns:a="http://schemas.openxmlformats.org/drawingml/2006/main">
              <a:ext uri="{FF2B5EF4-FFF2-40B4-BE49-F238E27FC236}">
                <a16:creationId xmlns:a16="http://schemas.microsoft.com/office/drawing/2014/main" id="{B53A2E5A-B6F1-450C-8176-A7019F3E344A}"/>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ENTRYPOINT menentukan executable default. CMD menyediakan command atau argumen default. Gunakan exec form untuk penerusan sinyal.</a:t>
            </a:r>
            <a:endParaRPr sz="1100"/>
          </a:p>
        </p:txBody>
      </p:sp>
    </p:spTree>
    <p:extLst>
      <p:ext uri="{BB962C8B-B14F-4D97-AF65-F5344CB8AC3E}">
        <p14:creationId xmlns:p14="http://schemas.microsoft.com/office/powerpoint/2010/main" val="110509397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0" name="">
            <a:extLst xmlns:a="http://schemas.openxmlformats.org/drawingml/2006/main">
              <a:ext uri="{FF2B5EF4-FFF2-40B4-BE49-F238E27FC236}">
                <a16:creationId xmlns:a16="http://schemas.microsoft.com/office/drawing/2014/main" id="{922EFED8-0770-4195-A640-F4CF162BC398}"/>
              </a:ext>
            </a:extLst>
          </p:cNvPr>
          <p:cNvPicPr>
            <a:picLocks xmlns:a="http://schemas.openxmlformats.org/drawingml/2006/main" noChangeAspect="1"/>
          </p:cNvPicPr>
          <p:nvPr/>
        </p:nvPicPr>
        <p:blipFill>
          <a:blip xmlns:r="http://schemas.openxmlformats.org/officeDocument/2006/relationships" xmlns:a="http://schemas.openxmlformats.org/drawingml/2006/main" r:embed="R6dc47e81cfa142b2"/>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0086C53C-6E5A-4FF0-920D-9AA669E594B6}"/>
              </a:ext>
            </a:extLst>
          </p:cNvPr>
          <p:cNvPicPr>
            <a:picLocks xmlns:a="http://schemas.openxmlformats.org/drawingml/2006/main" noChangeAspect="1"/>
          </p:cNvPicPr>
          <p:nvPr/>
        </p:nvPicPr>
        <p:blipFill>
          <a:blip xmlns:r="http://schemas.openxmlformats.org/officeDocument/2006/relationships" xmlns:a="http://schemas.openxmlformats.org/drawingml/2006/main" r:embed="R3b8fc7795fff4f4d"/>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E3132CD0-FA5D-489B-AACC-3A4B2B3B9865}"/>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Persiapan dapur dan pembukaan layanan</a:t>
            </a:r>
          </a:p>
        </p:txBody>
      </p:sp>
      <p:sp>
        <p:nvSpPr>
          <p:cNvPr id="4" name="text_1">
            <a:extLst xmlns:a="http://schemas.openxmlformats.org/drawingml/2006/main">
              <a:ext uri="{FF2B5EF4-FFF2-40B4-BE49-F238E27FC236}">
                <a16:creationId xmlns:a16="http://schemas.microsoft.com/office/drawing/2014/main" id="{00791B5F-B5B1-45AE-A635-182B425E7073}"/>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RUN bekerja saat build; CMD/ENTRYPOINT mengatur awal proses saat run</a:t>
            </a:r>
          </a:p>
        </p:txBody>
      </p:sp>
      <p:sp>
        <p:nvSpPr>
          <p:cNvPr id="5" name="">
            <a:extLst xmlns:a="http://schemas.openxmlformats.org/drawingml/2006/main">
              <a:ext uri="{FF2B5EF4-FFF2-40B4-BE49-F238E27FC236}">
                <a16:creationId xmlns:a16="http://schemas.microsoft.com/office/drawing/2014/main" id="{C3DBC1BE-0C4F-4279-B168-2B989EA0BBB8}"/>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4CB7EBD-F075-4DDD-AB3F-497A6F164BE7}"/>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5554878F-E89E-4329-95D0-242A94848D05}"/>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E49374E7-96D2-4E55-ADF4-938E641B2DB2}"/>
              </a:ext>
            </a:extLst>
          </p:cNvPr>
          <p:cNvPicPr>
            <a:picLocks xmlns:a="http://schemas.openxmlformats.org/drawingml/2006/main" noChangeAspect="1"/>
          </p:cNvPicPr>
          <p:nvPr/>
        </p:nvPicPr>
        <p:blipFill>
          <a:blip xmlns:r="http://schemas.openxmlformats.org/officeDocument/2006/relationships" xmlns:a="http://schemas.openxmlformats.org/drawingml/2006/main" r:embed="Rc72fd865557c4e69"/>
          <a:srcRect xmlns:a="http://schemas.openxmlformats.org/drawingml/2006/main" l="2444" t="0" r="2444" b="0"/>
          <a:stretch xmlns:a="http://schemas.openxmlformats.org/drawingml/2006/main">
            <a:fillRect l="0" t="0" r="0" b="0"/>
          </a:stretch>
        </p:blipFill>
        <p:spPr>
          <a:xfrm xmlns:a="http://schemas.openxmlformats.org/drawingml/2006/main">
            <a:off x="6762750" y="1571625"/>
            <a:ext cx="4972050" cy="3486150"/>
          </a:xfrm>
          <a:prstGeom xmlns:a="http://schemas.openxmlformats.org/drawingml/2006/main" prst="rect">
            <a:avLst/>
          </a:prstGeom>
        </p:spPr>
      </p:pic>
      <p:sp>
        <p:nvSpPr>
          <p:cNvPr id="9" name="text_5">
            <a:extLst xmlns:a="http://schemas.openxmlformats.org/drawingml/2006/main">
              <a:ext uri="{FF2B5EF4-FFF2-40B4-BE49-F238E27FC236}">
                <a16:creationId xmlns:a16="http://schemas.microsoft.com/office/drawing/2014/main" id="{A00ED927-5298-4A0A-B91C-0B37FE87C9D2}"/>
              </a:ext>
            </a:extLst>
          </p:cNvPr>
          <p:cNvSpPr>
            <a:spLocks xmlns:a="http://schemas.openxmlformats.org/drawingml/2006/main" noGrp="1"/>
          </p:cNvSpPr>
          <p:nvPr/>
        </p:nvSpPr>
        <p:spPr>
          <a:xfrm xmlns:a="http://schemas.openxmlformats.org/drawingml/2006/main">
            <a:off x="6762750" y="5133975"/>
            <a:ext cx="4972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00" b="0">
                <a:solidFill>
                  <a:srgbClr val="64748B"/>
                </a:solidFill>
                <a:latin typeface="Calibri"/>
                <a:ea typeface="Calibri"/>
                <a:cs typeface="Calibri"/>
              </a:defRPr>
            </a:defPPr>
          </a:lstStyle>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Foto: Mateusz Feliksik / Pexels · ilustrasi perumpamaan</a:t>
            </a:r>
          </a:p>
        </p:txBody>
      </p:sp>
      <p:sp>
        <p:nvSpPr>
          <p:cNvPr id="10" name="text_6">
            <a:extLst xmlns:a="http://schemas.openxmlformats.org/drawingml/2006/main">
              <a:ext uri="{FF2B5EF4-FFF2-40B4-BE49-F238E27FC236}">
                <a16:creationId xmlns:a16="http://schemas.microsoft.com/office/drawing/2014/main" id="{E6E9351B-50BA-4FE1-B7E4-84876A539DE6}"/>
              </a:ext>
            </a:extLst>
          </p:cNvPr>
          <p:cNvSpPr>
            <a:spLocks xmlns:a="http://schemas.openxmlformats.org/drawingml/2006/main" noGrp="1"/>
          </p:cNvSpPr>
          <p:nvPr/>
        </p:nvSpPr>
        <p:spPr>
          <a:xfrm xmlns:a="http://schemas.openxmlformats.org/drawingml/2006/main">
            <a:off x="457200" y="157162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defRPr sz="1875" b="1">
                <a:solidFill>
                  <a:srgbClr val="052877"/>
                </a:solidFill>
                <a:latin typeface="Calibri"/>
                <a:ea typeface="Calibri"/>
                <a:cs typeface="Calibri"/>
              </a:defRPr>
            </a:pPr>
            <a:r>
              <a:rPr sz="1875" b="1">
                <a:solidFill>
                  <a:srgbClr val="052877"/>
                </a:solidFill>
                <a:latin typeface="Calibri"/>
                <a:ea typeface="Calibri"/>
                <a:cs typeface="Calibri"/>
              </a:rPr>
              <a:t>RUN = pekerjaan persiapan</a:t>
            </a:r>
          </a:p>
        </p:txBody>
      </p:sp>
      <p:sp>
        <p:nvSpPr>
          <p:cNvPr id="11" name="text_7">
            <a:extLst xmlns:a="http://schemas.openxmlformats.org/drawingml/2006/main">
              <a:ext uri="{FF2B5EF4-FFF2-40B4-BE49-F238E27FC236}">
                <a16:creationId xmlns:a16="http://schemas.microsoft.com/office/drawing/2014/main" id="{A417EB15-3578-4FAD-B0F2-FB683A9EBF2C}"/>
              </a:ext>
            </a:extLst>
          </p:cNvPr>
          <p:cNvSpPr>
            <a:spLocks xmlns:a="http://schemas.openxmlformats.org/drawingml/2006/main" noGrp="1"/>
          </p:cNvSpPr>
          <p:nvPr/>
        </p:nvSpPr>
        <p:spPr>
          <a:xfrm xmlns:a="http://schemas.openxmlformats.org/drawingml/2006/main">
            <a:off x="457200" y="1971675"/>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Memasang dependency dan menyiapkan file.</a:t>
            </a:r>
          </a:p>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Hasil filesystem menjadi bagian image.</a:t>
            </a:r>
          </a:p>
        </p:txBody>
      </p:sp>
      <p:sp>
        <p:nvSpPr>
          <p:cNvPr id="12" name="text_8">
            <a:extLst xmlns:a="http://schemas.openxmlformats.org/drawingml/2006/main">
              <a:ext uri="{FF2B5EF4-FFF2-40B4-BE49-F238E27FC236}">
                <a16:creationId xmlns:a16="http://schemas.microsoft.com/office/drawing/2014/main" id="{8075DF68-4DD9-4F50-A23B-40695C3C2593}"/>
              </a:ext>
            </a:extLst>
          </p:cNvPr>
          <p:cNvSpPr>
            <a:spLocks xmlns:a="http://schemas.openxmlformats.org/drawingml/2006/main" noGrp="1"/>
          </p:cNvSpPr>
          <p:nvPr/>
        </p:nvSpPr>
        <p:spPr>
          <a:xfrm xmlns:a="http://schemas.openxmlformats.org/drawingml/2006/main">
            <a:off x="457200" y="27336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defRPr sz="1875" b="1">
                <a:solidFill>
                  <a:srgbClr val="052877"/>
                </a:solidFill>
                <a:latin typeface="Calibri"/>
                <a:ea typeface="Calibri"/>
                <a:cs typeface="Calibri"/>
              </a:defRPr>
            </a:pPr>
            <a:r>
              <a:rPr sz="1875" b="1">
                <a:solidFill>
                  <a:srgbClr val="052877"/>
                </a:solidFill>
                <a:latin typeface="Calibri"/>
                <a:ea typeface="Calibri"/>
                <a:cs typeface="Calibri"/>
              </a:rPr>
              <a:t>CMD = cara mulai yang default</a:t>
            </a:r>
          </a:p>
        </p:txBody>
      </p:sp>
      <p:sp>
        <p:nvSpPr>
          <p:cNvPr id="13" name="text_9">
            <a:extLst xmlns:a="http://schemas.openxmlformats.org/drawingml/2006/main">
              <a:ext uri="{FF2B5EF4-FFF2-40B4-BE49-F238E27FC236}">
                <a16:creationId xmlns:a16="http://schemas.microsoft.com/office/drawing/2014/main" id="{43C2CA5D-4B44-45FA-8DBC-BE6F96991870}"/>
              </a:ext>
            </a:extLst>
          </p:cNvPr>
          <p:cNvSpPr>
            <a:spLocks xmlns:a="http://schemas.openxmlformats.org/drawingml/2006/main" noGrp="1"/>
          </p:cNvSpPr>
          <p:nvPr/>
        </p:nvSpPr>
        <p:spPr>
          <a:xfrm xmlns:a="http://schemas.openxmlformats.org/drawingml/2006/main">
            <a:off x="457200" y="3133725"/>
            <a:ext cx="5905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Pada Lab 05: memulai server Uvicorn.</a:t>
            </a:r>
          </a:p>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Dijalankan ketika container mulai.</a:t>
            </a:r>
          </a:p>
        </p:txBody>
      </p:sp>
      <p:sp>
        <p:nvSpPr>
          <p:cNvPr id="14" name="text_10">
            <a:extLst xmlns:a="http://schemas.openxmlformats.org/drawingml/2006/main">
              <a:ext uri="{FF2B5EF4-FFF2-40B4-BE49-F238E27FC236}">
                <a16:creationId xmlns:a16="http://schemas.microsoft.com/office/drawing/2014/main" id="{E5C57A4E-F401-4145-87E1-A42A2EC646AD}"/>
              </a:ext>
            </a:extLst>
          </p:cNvPr>
          <p:cNvSpPr>
            <a:spLocks xmlns:a="http://schemas.openxmlformats.org/drawingml/2006/main" noGrp="1"/>
          </p:cNvSpPr>
          <p:nvPr/>
        </p:nvSpPr>
        <p:spPr>
          <a:xfrm xmlns:a="http://schemas.openxmlformats.org/drawingml/2006/main">
            <a:off x="457200" y="389572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defRPr sz="1875" b="1">
                <a:solidFill>
                  <a:srgbClr val="052877"/>
                </a:solidFill>
                <a:latin typeface="Calibri"/>
                <a:ea typeface="Calibri"/>
                <a:cs typeface="Calibri"/>
              </a:defRPr>
            </a:pPr>
            <a:r>
              <a:rPr sz="1875" b="1">
                <a:solidFill>
                  <a:srgbClr val="052877"/>
                </a:solidFill>
                <a:latin typeface="Calibri"/>
                <a:ea typeface="Calibri"/>
                <a:cs typeface="Calibri"/>
              </a:rPr>
              <a:t>ENTRYPOINT = executable default</a:t>
            </a:r>
          </a:p>
        </p:txBody>
      </p:sp>
      <p:sp>
        <p:nvSpPr>
          <p:cNvPr id="15" name="text_11">
            <a:extLst xmlns:a="http://schemas.openxmlformats.org/drawingml/2006/main">
              <a:ext uri="{FF2B5EF4-FFF2-40B4-BE49-F238E27FC236}">
                <a16:creationId xmlns:a16="http://schemas.microsoft.com/office/drawing/2014/main" id="{17CE0968-1CEA-425B-B7F2-071FA862C66B}"/>
              </a:ext>
            </a:extLst>
          </p:cNvPr>
          <p:cNvSpPr>
            <a:spLocks xmlns:a="http://schemas.openxmlformats.org/drawingml/2006/main" noGrp="1"/>
          </p:cNvSpPr>
          <p:nvPr/>
        </p:nvSpPr>
        <p:spPr>
          <a:xfrm xmlns:a="http://schemas.openxmlformats.org/drawingml/2006/main">
            <a:off x="457200" y="4295775"/>
            <a:ext cx="5905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CMD dapat memberi argumen default.</a:t>
            </a:r>
          </a:p>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ENTRYPOINT bisa diganti dengan --entrypoint.</a:t>
            </a:r>
          </a:p>
        </p:txBody>
      </p:sp>
      <p:sp>
        <p:nvSpPr>
          <p:cNvPr id="16" name="">
            <a:extLst xmlns:a="http://schemas.openxmlformats.org/drawingml/2006/main">
              <a:ext uri="{FF2B5EF4-FFF2-40B4-BE49-F238E27FC236}">
                <a16:creationId xmlns:a16="http://schemas.microsoft.com/office/drawing/2014/main" id="{4FAD5D32-96B3-416B-8BE7-FF7BAA220D07}"/>
              </a:ext>
            </a:extLst>
          </p:cNvPr>
          <p:cNvSpPr>
            <a:spLocks xmlns:a="http://schemas.openxmlformats.org/drawingml/2006/main" noGrp="1"/>
          </p:cNvSpPr>
          <p:nvPr/>
        </p:nvSpPr>
        <p:spPr>
          <a:xfrm xmlns:a="http://schemas.openxmlformats.org/drawingml/2006/main">
            <a:off x="457200" y="5391150"/>
            <a:ext cx="11277600" cy="6667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7" name="text_13">
            <a:extLst xmlns:a="http://schemas.openxmlformats.org/drawingml/2006/main">
              <a:ext uri="{FF2B5EF4-FFF2-40B4-BE49-F238E27FC236}">
                <a16:creationId xmlns:a16="http://schemas.microsoft.com/office/drawing/2014/main" id="{EF8D6215-14D5-493E-8697-B38F6FBEA95D}"/>
              </a:ext>
            </a:extLst>
          </p:cNvPr>
          <p:cNvSpPr>
            <a:spLocks xmlns:a="http://schemas.openxmlformats.org/drawingml/2006/main" noGrp="1"/>
          </p:cNvSpPr>
          <p:nvPr/>
        </p:nvSpPr>
        <p:spPr>
          <a:xfrm xmlns:a="http://schemas.openxmlformats.org/drawingml/2006/main">
            <a:off x="590550" y="5505450"/>
            <a:ext cx="11010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RUN /opt/venv/bin/pip install --no-cache-dir -r requirements.txt</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CMD ["uvicorn", "app.main:app", "--host", "0.0.0.0", "--port", "8000"]</a:t>
            </a:r>
          </a:p>
        </p:txBody>
      </p:sp>
      <p:sp>
        <p:nvSpPr>
          <p:cNvPr id="18" name="text_14">
            <a:extLst xmlns:a="http://schemas.openxmlformats.org/drawingml/2006/main">
              <a:ext uri="{FF2B5EF4-FFF2-40B4-BE49-F238E27FC236}">
                <a16:creationId xmlns:a16="http://schemas.microsoft.com/office/drawing/2014/main" id="{8EF7C589-391A-4A57-9CC4-9E12437A7AD4}"/>
              </a:ext>
            </a:extLst>
          </p:cNvPr>
          <p:cNvSpPr>
            <a:spLocks xmlns:a="http://schemas.openxmlformats.org/drawingml/2006/main" noGrp="1"/>
          </p:cNvSpPr>
          <p:nvPr/>
        </p:nvSpPr>
        <p:spPr>
          <a:xfrm xmlns:a="http://schemas.openxmlformats.org/drawingml/2006/main">
            <a:off x="457200" y="6143625"/>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F97316"/>
                </a:solidFill>
                <a:latin typeface="Calibri"/>
                <a:ea typeface="Calibri"/>
                <a:cs typeface="Calibri"/>
              </a:defRPr>
            </a:defPPr>
          </a:lstStyle>
          <a:p xmlns:a="http://schemas.openxmlformats.org/drawingml/2006/main">
            <a:pPr>
              <a:defRPr sz="1500" b="1">
                <a:solidFill>
                  <a:srgbClr val="F97316"/>
                </a:solidFill>
                <a:latin typeface="Calibri"/>
                <a:ea typeface="Calibri"/>
                <a:cs typeface="Calibri"/>
              </a:defRPr>
            </a:pPr>
            <a:r>
              <a:rPr sz="1500" b="1">
                <a:solidFill>
                  <a:srgbClr val="F97316"/>
                </a:solidFill>
                <a:latin typeface="Calibri"/>
                <a:ea typeface="Calibri"/>
                <a:cs typeface="Calibri"/>
              </a:rPr>
              <a:t>Mengubah instruksi build perlu rebuild image; run memakai hasilnya.</a:t>
            </a:r>
          </a:p>
        </p:txBody>
      </p:sp>
      <p:sp>
        <p:nvSpPr>
          <p:cNvPr id="19" name="text_15">
            <a:extLst xmlns:a="http://schemas.openxmlformats.org/drawingml/2006/main">
              <a:ext uri="{FF2B5EF4-FFF2-40B4-BE49-F238E27FC236}">
                <a16:creationId xmlns:a16="http://schemas.microsoft.com/office/drawing/2014/main" id="{248D833A-048F-4590-8CE2-BEF6041659F4}"/>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12</a:t>
            </a:r>
          </a:p>
        </p:txBody>
      </p:sp>
    </p:spTree>
    <p:extLst>
      <p:ext uri="{BB962C8B-B14F-4D97-AF65-F5344CB8AC3E}">
        <p14:creationId xmlns:p14="http://schemas.microsoft.com/office/powerpoint/2010/main" val="26400886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1BEC20B-FF6D-44CD-9139-645A893F79D5}"/>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BCBB0CB7-DE1B-44B8-96D9-1A6A4DC04283}"/>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13</a:t>
            </a:r>
            <a:endParaRPr sz="900"/>
          </a:p>
        </p:txBody>
      </p:sp>
      <p:sp>
        <p:nvSpPr>
          <p:cNvPr id="4" name="Shape 2">
            <a:extLst xmlns:a="http://schemas.openxmlformats.org/drawingml/2006/main">
              <a:ext uri="{FF2B5EF4-FFF2-40B4-BE49-F238E27FC236}">
                <a16:creationId xmlns:a16="http://schemas.microsoft.com/office/drawing/2014/main" id="{0DE9BA6A-18F7-47B5-B319-0C39D9CB16B3}"/>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1" name="Image 0">
            <a:extLst xmlns:a="http://schemas.openxmlformats.org/drawingml/2006/main">
              <a:ext uri="{FF2B5EF4-FFF2-40B4-BE49-F238E27FC236}">
                <a16:creationId xmlns:a16="http://schemas.microsoft.com/office/drawing/2014/main" id="{305A69F1-D2EA-485F-85D9-7504154B0B5D}"/>
              </a:ext>
            </a:extLst>
          </p:cNvPr>
          <p:cNvPicPr>
            <a:picLocks xmlns:a="http://schemas.openxmlformats.org/drawingml/2006/main" noChangeAspect="1"/>
          </p:cNvPicPr>
          <p:nvPr/>
        </p:nvPicPr>
        <p:blipFill>
          <a:blip xmlns:r="http://schemas.openxmlformats.org/officeDocument/2006/relationships" xmlns:a="http://schemas.openxmlformats.org/drawingml/2006/main" r:embed="R2c006745f5b24e0b"/>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2" name="Image 1">
            <a:extLst xmlns:a="http://schemas.openxmlformats.org/drawingml/2006/main">
              <a:ext uri="{FF2B5EF4-FFF2-40B4-BE49-F238E27FC236}">
                <a16:creationId xmlns:a16="http://schemas.microsoft.com/office/drawing/2014/main" id="{D9AFA3DC-54BC-4C19-878B-08AAA88E1547}"/>
              </a:ext>
            </a:extLst>
          </p:cNvPr>
          <p:cNvPicPr>
            <a:picLocks xmlns:a="http://schemas.openxmlformats.org/drawingml/2006/main" noChangeAspect="1"/>
          </p:cNvPicPr>
          <p:nvPr/>
        </p:nvPicPr>
        <p:blipFill>
          <a:blip xmlns:r="http://schemas.openxmlformats.org/officeDocument/2006/relationships" xmlns:a="http://schemas.openxmlformats.org/drawingml/2006/main" r:embed="R4378b71d7b414168"/>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85CD6DB8-A5A1-48C8-BBF3-464A2B31FEEA}"/>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486B3A69-BCAC-4C02-A886-9FF8106364F3}"/>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COPY, ADD, WORKDIR</a:t>
            </a:r>
            <a:endParaRPr sz="2200"/>
          </a:p>
        </p:txBody>
      </p:sp>
      <p:sp>
        <p:nvSpPr>
          <p:cNvPr id="9" name="Text 5">
            <a:extLst xmlns:a="http://schemas.openxmlformats.org/drawingml/2006/main">
              <a:ext uri="{FF2B5EF4-FFF2-40B4-BE49-F238E27FC236}">
                <a16:creationId xmlns:a16="http://schemas.microsoft.com/office/drawing/2014/main" id="{51AAEC8F-941C-40C0-AD08-527581C9F9A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Filesystem manipulation di image</a:t>
            </a:r>
            <a:endParaRPr sz="1200"/>
          </a:p>
        </p:txBody>
      </p:sp>
      <p:sp>
        <p:nvSpPr>
          <p:cNvPr id="10" name="Shape 6">
            <a:extLst xmlns:a="http://schemas.openxmlformats.org/drawingml/2006/main">
              <a:ext uri="{FF2B5EF4-FFF2-40B4-BE49-F238E27FC236}">
                <a16:creationId xmlns:a16="http://schemas.microsoft.com/office/drawing/2014/main" id="{0F99872E-35AB-4A17-B312-54E99912648B}"/>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Text 7">
            <a:extLst xmlns:a="http://schemas.openxmlformats.org/drawingml/2006/main">
              <a:ext uri="{FF2B5EF4-FFF2-40B4-BE49-F238E27FC236}">
                <a16:creationId xmlns:a16="http://schemas.microsoft.com/office/drawing/2014/main" id="{94564775-6C4B-4C0E-A9BF-1A2EA1358BF3}"/>
              </a:ext>
            </a:extLst>
          </p:cNvPr>
          <p:cNvSpPr>
            <a:spLocks xmlns:a="http://schemas.openxmlformats.org/drawingml/2006/main" noGrp="1"/>
          </p:cNvSpPr>
          <p:nvPr/>
        </p:nvSpPr>
        <p:spPr>
          <a:xfrm xmlns:a="http://schemas.openxmlformats.org/drawingml/2006/main">
            <a:off x="640080" y="1554480"/>
            <a:ext cx="52120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COPY vs ADD</a:t>
            </a:r>
            <a:endParaRPr sz="1400"/>
          </a:p>
        </p:txBody>
      </p:sp>
      <p:sp>
        <p:nvSpPr>
          <p:cNvPr id="12" name="Text 8">
            <a:extLst xmlns:a="http://schemas.openxmlformats.org/drawingml/2006/main">
              <a:ext uri="{FF2B5EF4-FFF2-40B4-BE49-F238E27FC236}">
                <a16:creationId xmlns:a16="http://schemas.microsoft.com/office/drawing/2014/main" id="{A7BCD076-9F53-4A7C-B488-58B3368C1609}"/>
              </a:ext>
            </a:extLst>
          </p:cNvPr>
          <p:cNvSpPr>
            <a:spLocks xmlns:a="http://schemas.openxmlformats.org/drawingml/2006/main" noGrp="1"/>
          </p:cNvSpPr>
          <p:nvPr/>
        </p:nvSpPr>
        <p:spPr>
          <a:xfrm xmlns:a="http://schemas.openxmlformats.org/drawingml/2006/main">
            <a:off x="640080" y="1920240"/>
            <a:ext cx="52120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64748B"/>
                </a:solidFill>
                <a:latin typeface="Calibri"/>
                <a:ea typeface="Calibri"/>
                <a:cs typeface="Calibri"/>
              </a:rPr>
              <a:t>Keduanya copy file ke image. Pakai COPY hampir selalu - lebih predictable.</a:t>
            </a:r>
            <a:endParaRPr sz="1100"/>
          </a:p>
        </p:txBody>
      </p:sp>
      <p:sp>
        <p:nvSpPr>
          <p:cNvPr id="13" name="Shape 9">
            <a:extLst xmlns:a="http://schemas.openxmlformats.org/drawingml/2006/main">
              <a:ext uri="{FF2B5EF4-FFF2-40B4-BE49-F238E27FC236}">
                <a16:creationId xmlns:a16="http://schemas.microsoft.com/office/drawing/2014/main" id="{39B8AD52-544A-446A-B00E-5BF18710C259}"/>
              </a:ext>
            </a:extLst>
          </p:cNvPr>
          <p:cNvSpPr>
            <a:spLocks xmlns:a="http://schemas.openxmlformats.org/drawingml/2006/main" noGrp="1"/>
          </p:cNvSpPr>
          <p:nvPr/>
        </p:nvSpPr>
        <p:spPr>
          <a:xfrm xmlns:a="http://schemas.openxmlformats.org/drawingml/2006/main">
            <a:off x="640080" y="2377440"/>
            <a:ext cx="521208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4" name="Shape 10">
            <a:extLst xmlns:a="http://schemas.openxmlformats.org/drawingml/2006/main">
              <a:ext uri="{FF2B5EF4-FFF2-40B4-BE49-F238E27FC236}">
                <a16:creationId xmlns:a16="http://schemas.microsoft.com/office/drawing/2014/main" id="{33C1ECDC-6C14-4F03-B083-2959C2614A39}"/>
              </a:ext>
            </a:extLst>
          </p:cNvPr>
          <p:cNvSpPr>
            <a:spLocks xmlns:a="http://schemas.openxmlformats.org/drawingml/2006/main" noGrp="1"/>
          </p:cNvSpPr>
          <p:nvPr/>
        </p:nvSpPr>
        <p:spPr>
          <a:xfrm xmlns:a="http://schemas.openxmlformats.org/drawingml/2006/main">
            <a:off x="640080" y="2377440"/>
            <a:ext cx="822960" cy="91440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15" name="Text 11">
            <a:extLst xmlns:a="http://schemas.openxmlformats.org/drawingml/2006/main">
              <a:ext uri="{FF2B5EF4-FFF2-40B4-BE49-F238E27FC236}">
                <a16:creationId xmlns:a16="http://schemas.microsoft.com/office/drawing/2014/main" id="{6A191123-B797-42D2-9B6F-7C3F9F5098DD}"/>
              </a:ext>
            </a:extLst>
          </p:cNvPr>
          <p:cNvSpPr>
            <a:spLocks xmlns:a="http://schemas.openxmlformats.org/drawingml/2006/main" noGrp="1"/>
          </p:cNvSpPr>
          <p:nvPr/>
        </p:nvSpPr>
        <p:spPr>
          <a:xfrm xmlns:a="http://schemas.openxmlformats.org/drawingml/2006/main">
            <a:off x="640080" y="2377440"/>
            <a:ext cx="8229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onsolas"/>
                <a:ea typeface="Consolas"/>
                <a:cs typeface="Consolas"/>
              </a:rPr>
              <a:t>COPY</a:t>
            </a:r>
            <a:endParaRPr sz="1300"/>
          </a:p>
        </p:txBody>
      </p:sp>
      <p:sp>
        <p:nvSpPr>
          <p:cNvPr id="16" name="Text 12">
            <a:extLst xmlns:a="http://schemas.openxmlformats.org/drawingml/2006/main">
              <a:ext uri="{FF2B5EF4-FFF2-40B4-BE49-F238E27FC236}">
                <a16:creationId xmlns:a16="http://schemas.microsoft.com/office/drawing/2014/main" id="{50C67E97-321A-4C65-8054-73A14AF077F3}"/>
              </a:ext>
            </a:extLst>
          </p:cNvPr>
          <p:cNvSpPr>
            <a:spLocks xmlns:a="http://schemas.openxmlformats.org/drawingml/2006/main" noGrp="1"/>
          </p:cNvSpPr>
          <p:nvPr/>
        </p:nvSpPr>
        <p:spPr>
          <a:xfrm xmlns:a="http://schemas.openxmlformats.org/drawingml/2006/main">
            <a:off x="1600200" y="2468880"/>
            <a:ext cx="4160520" cy="4572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Copy file/folder dari build context ke image. Sederhana dan eksplisit.</a:t>
            </a:r>
            <a:endParaRPr sz="1100"/>
          </a:p>
        </p:txBody>
      </p:sp>
      <p:sp>
        <p:nvSpPr>
          <p:cNvPr id="17" name="Text 13">
            <a:extLst xmlns:a="http://schemas.openxmlformats.org/drawingml/2006/main">
              <a:ext uri="{FF2B5EF4-FFF2-40B4-BE49-F238E27FC236}">
                <a16:creationId xmlns:a16="http://schemas.microsoft.com/office/drawing/2014/main" id="{6DFAE565-67BF-4731-A56E-AEBD21681FB5}"/>
              </a:ext>
            </a:extLst>
          </p:cNvPr>
          <p:cNvSpPr>
            <a:spLocks xmlns:a="http://schemas.openxmlformats.org/drawingml/2006/main" noGrp="1"/>
          </p:cNvSpPr>
          <p:nvPr/>
        </p:nvSpPr>
        <p:spPr>
          <a:xfrm xmlns:a="http://schemas.openxmlformats.org/drawingml/2006/main">
            <a:off x="1600200" y="2880360"/>
            <a:ext cx="4160520" cy="3657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b="1">
                <a:solidFill>
                  <a:srgbClr val="002677"/>
                </a:solidFill>
                <a:latin typeface="Consolas"/>
                <a:ea typeface="Consolas"/>
                <a:cs typeface="Consolas"/>
              </a:rPr>
              <a:t>COPY src/ /app/src/</a:t>
            </a:r>
            <a:endParaRPr sz="1100"/>
          </a:p>
        </p:txBody>
      </p:sp>
      <p:sp>
        <p:nvSpPr>
          <p:cNvPr id="18" name="Shape 14">
            <a:extLst xmlns:a="http://schemas.openxmlformats.org/drawingml/2006/main">
              <a:ext uri="{FF2B5EF4-FFF2-40B4-BE49-F238E27FC236}">
                <a16:creationId xmlns:a16="http://schemas.microsoft.com/office/drawing/2014/main" id="{E2E8A2F4-6C1E-4E25-BBEB-B16648DAC852}"/>
              </a:ext>
            </a:extLst>
          </p:cNvPr>
          <p:cNvSpPr>
            <a:spLocks xmlns:a="http://schemas.openxmlformats.org/drawingml/2006/main" noGrp="1"/>
          </p:cNvSpPr>
          <p:nvPr/>
        </p:nvSpPr>
        <p:spPr>
          <a:xfrm xmlns:a="http://schemas.openxmlformats.org/drawingml/2006/main">
            <a:off x="640080" y="3383280"/>
            <a:ext cx="5212080" cy="14630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9" name="Shape 15">
            <a:extLst xmlns:a="http://schemas.openxmlformats.org/drawingml/2006/main">
              <a:ext uri="{FF2B5EF4-FFF2-40B4-BE49-F238E27FC236}">
                <a16:creationId xmlns:a16="http://schemas.microsoft.com/office/drawing/2014/main" id="{43E3E18B-E18E-45C5-9786-3B5F291E6C89}"/>
              </a:ext>
            </a:extLst>
          </p:cNvPr>
          <p:cNvSpPr>
            <a:spLocks xmlns:a="http://schemas.openxmlformats.org/drawingml/2006/main" noGrp="1"/>
          </p:cNvSpPr>
          <p:nvPr/>
        </p:nvSpPr>
        <p:spPr>
          <a:xfrm xmlns:a="http://schemas.openxmlformats.org/drawingml/2006/main">
            <a:off x="640080" y="3383280"/>
            <a:ext cx="822960" cy="146304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0" name="Text 16">
            <a:extLst xmlns:a="http://schemas.openxmlformats.org/drawingml/2006/main">
              <a:ext uri="{FF2B5EF4-FFF2-40B4-BE49-F238E27FC236}">
                <a16:creationId xmlns:a16="http://schemas.microsoft.com/office/drawing/2014/main" id="{72EC8892-BF63-4EFE-A193-BF923FFBFBEF}"/>
              </a:ext>
            </a:extLst>
          </p:cNvPr>
          <p:cNvSpPr>
            <a:spLocks xmlns:a="http://schemas.openxmlformats.org/drawingml/2006/main" noGrp="1"/>
          </p:cNvSpPr>
          <p:nvPr/>
        </p:nvSpPr>
        <p:spPr>
          <a:xfrm xmlns:a="http://schemas.openxmlformats.org/drawingml/2006/main">
            <a:off x="640080" y="3383280"/>
            <a:ext cx="82296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onsolas"/>
                <a:ea typeface="Consolas"/>
                <a:cs typeface="Consolas"/>
              </a:rPr>
              <a:t>ADD</a:t>
            </a:r>
            <a:endParaRPr sz="1300"/>
          </a:p>
        </p:txBody>
      </p:sp>
      <p:sp>
        <p:nvSpPr>
          <p:cNvPr id="21" name="Text 17">
            <a:extLst xmlns:a="http://schemas.openxmlformats.org/drawingml/2006/main">
              <a:ext uri="{FF2B5EF4-FFF2-40B4-BE49-F238E27FC236}">
                <a16:creationId xmlns:a16="http://schemas.microsoft.com/office/drawing/2014/main" id="{EDFC5C64-CA98-4231-B0DD-4D420513951B}"/>
              </a:ext>
            </a:extLst>
          </p:cNvPr>
          <p:cNvSpPr>
            <a:spLocks xmlns:a="http://schemas.openxmlformats.org/drawingml/2006/main" noGrp="1"/>
          </p:cNvSpPr>
          <p:nvPr/>
        </p:nvSpPr>
        <p:spPr>
          <a:xfrm xmlns:a="http://schemas.openxmlformats.org/drawingml/2006/main">
            <a:off x="1600200" y="3474720"/>
            <a:ext cx="4160520" cy="594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ADD mendukung tar lokal dan sumber remote. URL arsip tidak otomatis diekstrak.</a:t>
            </a:r>
            <a:endParaRPr sz="1100"/>
          </a:p>
        </p:txBody>
      </p:sp>
      <p:sp>
        <p:nvSpPr>
          <p:cNvPr id="22" name="Text 18">
            <a:extLst xmlns:a="http://schemas.openxmlformats.org/drawingml/2006/main">
              <a:ext uri="{FF2B5EF4-FFF2-40B4-BE49-F238E27FC236}">
                <a16:creationId xmlns:a16="http://schemas.microsoft.com/office/drawing/2014/main" id="{8BCA87F2-EEEC-4EBD-90BA-8D9274DCB590}"/>
              </a:ext>
            </a:extLst>
          </p:cNvPr>
          <p:cNvSpPr>
            <a:spLocks xmlns:a="http://schemas.openxmlformats.org/drawingml/2006/main" noGrp="1"/>
          </p:cNvSpPr>
          <p:nvPr/>
        </p:nvSpPr>
        <p:spPr>
          <a:xfrm xmlns:a="http://schemas.openxmlformats.org/drawingml/2006/main">
            <a:off x="1600200" y="4069080"/>
            <a:ext cx="416052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a:solidFill>
                  <a:srgbClr val="002677"/>
                </a:solidFill>
                <a:latin typeface="Consolas"/>
                <a:ea typeface="Consolas"/>
                <a:cs typeface="Consolas"/>
              </a:rPr>
              <a:t>ADD app.tar.gz /opt/  # auto-extract!</a:t>
            </a:r>
            <a:endParaRPr sz="1000"/>
          </a:p>
        </p:txBody>
      </p:sp>
      <p:sp>
        <p:nvSpPr>
          <p:cNvPr id="23" name="Text 19">
            <a:extLst xmlns:a="http://schemas.openxmlformats.org/drawingml/2006/main">
              <a:ext uri="{FF2B5EF4-FFF2-40B4-BE49-F238E27FC236}">
                <a16:creationId xmlns:a16="http://schemas.microsoft.com/office/drawing/2014/main" id="{32513554-F15E-4E29-80D3-8E3B5CEED787}"/>
              </a:ext>
            </a:extLst>
          </p:cNvPr>
          <p:cNvSpPr>
            <a:spLocks xmlns:a="http://schemas.openxmlformats.org/drawingml/2006/main" noGrp="1"/>
          </p:cNvSpPr>
          <p:nvPr/>
        </p:nvSpPr>
        <p:spPr>
          <a:xfrm xmlns:a="http://schemas.openxmlformats.org/drawingml/2006/main">
            <a:off x="1600200" y="4389120"/>
            <a:ext cx="4160520" cy="411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a:solidFill>
                  <a:srgbClr val="002677"/>
                </a:solidFill>
                <a:latin typeface="Consolas"/>
                <a:ea typeface="Consolas"/>
                <a:cs typeface="Consolas"/>
              </a:rPr>
              <a:t>ADD https://x.com/f.zip /tmp/ # download</a:t>
            </a:r>
            <a:endParaRPr sz="1000"/>
          </a:p>
        </p:txBody>
      </p:sp>
      <p:sp>
        <p:nvSpPr>
          <p:cNvPr id="24" name="Shape 20">
            <a:extLst xmlns:a="http://schemas.openxmlformats.org/drawingml/2006/main">
              <a:ext uri="{FF2B5EF4-FFF2-40B4-BE49-F238E27FC236}">
                <a16:creationId xmlns:a16="http://schemas.microsoft.com/office/drawing/2014/main" id="{299FD431-8D98-47A3-A917-75AC0C1D9E33}"/>
              </a:ext>
            </a:extLst>
          </p:cNvPr>
          <p:cNvSpPr>
            <a:spLocks xmlns:a="http://schemas.openxmlformats.org/drawingml/2006/main" noGrp="1"/>
          </p:cNvSpPr>
          <p:nvPr/>
        </p:nvSpPr>
        <p:spPr>
          <a:xfrm xmlns:a="http://schemas.openxmlformats.org/drawingml/2006/main">
            <a:off x="640080" y="4937760"/>
            <a:ext cx="5212080" cy="1188720"/>
          </a:xfrm>
          <a:prstGeom xmlns:a="http://schemas.openxmlformats.org/drawingml/2006/main" prst="rect">
            <a:avLst/>
          </a:prstGeom>
          <a:solidFill xmlns:a="http://schemas.openxmlformats.org/drawingml/2006/main">
            <a:srgbClr val="FEF3C7"/>
          </a:solidFill>
          <a:ln xmlns:a="http://schemas.openxmlformats.org/drawingml/2006/main" w="12700">
            <a:solidFill>
              <a:srgbClr val="F37021"/>
            </a:solidFill>
            <a:prstDash val="solid"/>
          </a:ln>
        </p:spPr>
      </p:sp>
      <p:sp>
        <p:nvSpPr>
          <p:cNvPr id="25" name="Text 21">
            <a:extLst xmlns:a="http://schemas.openxmlformats.org/drawingml/2006/main">
              <a:ext uri="{FF2B5EF4-FFF2-40B4-BE49-F238E27FC236}">
                <a16:creationId xmlns:a16="http://schemas.microsoft.com/office/drawing/2014/main" id="{A62ACA8F-BA90-4143-8C33-C08685DA98A8}"/>
              </a:ext>
            </a:extLst>
          </p:cNvPr>
          <p:cNvSpPr>
            <a:spLocks xmlns:a="http://schemas.openxmlformats.org/drawingml/2006/main" noGrp="1"/>
          </p:cNvSpPr>
          <p:nvPr/>
        </p:nvSpPr>
        <p:spPr>
          <a:xfrm xmlns:a="http://schemas.openxmlformats.org/drawingml/2006/main">
            <a:off x="777240" y="5029200"/>
            <a:ext cx="4937760"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spcAft>
                <a:spcPts val="300"/>
              </a:spcAft>
              <a:buNone/>
            </a:pPr>
            <a:r>
              <a:rPr sz="1100" b="1">
                <a:solidFill>
                  <a:srgbClr val="F37021"/>
                </a:solidFill>
                <a:latin typeface="Calibri"/>
                <a:ea typeface="Calibri"/>
                <a:cs typeface="Calibri"/>
              </a:rPr>
              <a:t>COPY untuk file lokal. ADD bila perlu tar/remote. ADD --checksum memverifikasi sumber HTTP.</a:t>
            </a:r>
            <a:endParaRPr sz="1100"/>
          </a:p>
        </p:txBody>
      </p:sp>
      <p:sp>
        <p:nvSpPr>
          <p:cNvPr id="26" name="Shape 22">
            <a:extLst xmlns:a="http://schemas.openxmlformats.org/drawingml/2006/main">
              <a:ext uri="{FF2B5EF4-FFF2-40B4-BE49-F238E27FC236}">
                <a16:creationId xmlns:a16="http://schemas.microsoft.com/office/drawing/2014/main" id="{0DC3E842-2A2B-4F2E-89CF-5C04E6545B48}"/>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7" name="Text 23">
            <a:extLst xmlns:a="http://schemas.openxmlformats.org/drawingml/2006/main">
              <a:ext uri="{FF2B5EF4-FFF2-40B4-BE49-F238E27FC236}">
                <a16:creationId xmlns:a16="http://schemas.microsoft.com/office/drawing/2014/main" id="{C50D4E00-8143-4330-84EB-142DC44869D8}"/>
              </a:ext>
            </a:extLst>
          </p:cNvPr>
          <p:cNvSpPr>
            <a:spLocks xmlns:a="http://schemas.openxmlformats.org/drawingml/2006/main" noGrp="1"/>
          </p:cNvSpPr>
          <p:nvPr/>
        </p:nvSpPr>
        <p:spPr>
          <a:xfrm xmlns:a="http://schemas.openxmlformats.org/drawingml/2006/main">
            <a:off x="6400800" y="1554480"/>
            <a:ext cx="512064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WORKDIR - Direktori Kerja</a:t>
            </a:r>
            <a:endParaRPr sz="1400"/>
          </a:p>
        </p:txBody>
      </p:sp>
      <p:sp>
        <p:nvSpPr>
          <p:cNvPr id="28" name="Text 24">
            <a:extLst xmlns:a="http://schemas.openxmlformats.org/drawingml/2006/main">
              <a:ext uri="{FF2B5EF4-FFF2-40B4-BE49-F238E27FC236}">
                <a16:creationId xmlns:a16="http://schemas.microsoft.com/office/drawing/2014/main" id="{23314185-628B-4302-A7B7-B718650E47CE}"/>
              </a:ext>
            </a:extLst>
          </p:cNvPr>
          <p:cNvSpPr>
            <a:spLocks xmlns:a="http://schemas.openxmlformats.org/drawingml/2006/main" noGrp="1"/>
          </p:cNvSpPr>
          <p:nvPr/>
        </p:nvSpPr>
        <p:spPr>
          <a:xfrm xmlns:a="http://schemas.openxmlformats.org/drawingml/2006/main">
            <a:off x="6400800" y="1920240"/>
            <a:ext cx="5120640" cy="7772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i="1">
                <a:solidFill>
                  <a:srgbClr val="64748B"/>
                </a:solidFill>
                <a:latin typeface="Calibri"/>
                <a:ea typeface="Calibri"/>
                <a:cs typeface="Calibri"/>
              </a:rPr>
              <a:t>Set 'cd' untuk RUN, CMD, ENTRYPOINT, COPY, ADD selanjutnya. Direktori dibuat otomatis kalau belum ada.</a:t>
            </a:r>
            <a:endParaRPr sz="1100"/>
          </a:p>
        </p:txBody>
      </p:sp>
      <p:sp>
        <p:nvSpPr>
          <p:cNvPr id="29" name="Shape 25">
            <a:extLst xmlns:a="http://schemas.openxmlformats.org/drawingml/2006/main">
              <a:ext uri="{FF2B5EF4-FFF2-40B4-BE49-F238E27FC236}">
                <a16:creationId xmlns:a16="http://schemas.microsoft.com/office/drawing/2014/main" id="{54132259-9482-4A57-A7D0-9A15EEAE4086}"/>
              </a:ext>
            </a:extLst>
          </p:cNvPr>
          <p:cNvSpPr>
            <a:spLocks xmlns:a="http://schemas.openxmlformats.org/drawingml/2006/main" noGrp="1"/>
          </p:cNvSpPr>
          <p:nvPr/>
        </p:nvSpPr>
        <p:spPr>
          <a:xfrm xmlns:a="http://schemas.openxmlformats.org/drawingml/2006/main">
            <a:off x="6400800" y="2743200"/>
            <a:ext cx="5120640" cy="33832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30" name="Shape 26">
            <a:extLst xmlns:a="http://schemas.openxmlformats.org/drawingml/2006/main">
              <a:ext uri="{FF2B5EF4-FFF2-40B4-BE49-F238E27FC236}">
                <a16:creationId xmlns:a16="http://schemas.microsoft.com/office/drawing/2014/main" id="{0C7529DC-1674-463C-9417-42F36F647029}"/>
              </a:ext>
            </a:extLst>
          </p:cNvPr>
          <p:cNvSpPr>
            <a:spLocks xmlns:a="http://schemas.openxmlformats.org/drawingml/2006/main" noGrp="1"/>
          </p:cNvSpPr>
          <p:nvPr/>
        </p:nvSpPr>
        <p:spPr>
          <a:xfrm xmlns:a="http://schemas.openxmlformats.org/drawingml/2006/main">
            <a:off x="6400800" y="2743200"/>
            <a:ext cx="512064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31" name="Shape 27">
            <a:extLst xmlns:a="http://schemas.openxmlformats.org/drawingml/2006/main">
              <a:ext uri="{FF2B5EF4-FFF2-40B4-BE49-F238E27FC236}">
                <a16:creationId xmlns:a16="http://schemas.microsoft.com/office/drawing/2014/main" id="{D1B02473-D677-4598-A0EA-C435002A35AA}"/>
              </a:ext>
            </a:extLst>
          </p:cNvPr>
          <p:cNvSpPr>
            <a:spLocks xmlns:a="http://schemas.openxmlformats.org/drawingml/2006/main" noGrp="1"/>
          </p:cNvSpPr>
          <p:nvPr/>
        </p:nvSpPr>
        <p:spPr>
          <a:xfrm xmlns:a="http://schemas.openxmlformats.org/drawingml/2006/main">
            <a:off x="6492240" y="282549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32" name="Shape 28">
            <a:extLst xmlns:a="http://schemas.openxmlformats.org/drawingml/2006/main">
              <a:ext uri="{FF2B5EF4-FFF2-40B4-BE49-F238E27FC236}">
                <a16:creationId xmlns:a16="http://schemas.microsoft.com/office/drawing/2014/main" id="{4263262A-19A3-4382-AB9A-5575D9881342}"/>
              </a:ext>
            </a:extLst>
          </p:cNvPr>
          <p:cNvSpPr>
            <a:spLocks xmlns:a="http://schemas.openxmlformats.org/drawingml/2006/main" noGrp="1"/>
          </p:cNvSpPr>
          <p:nvPr/>
        </p:nvSpPr>
        <p:spPr>
          <a:xfrm xmlns:a="http://schemas.openxmlformats.org/drawingml/2006/main">
            <a:off x="6629400" y="282549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33" name="Shape 29">
            <a:extLst xmlns:a="http://schemas.openxmlformats.org/drawingml/2006/main">
              <a:ext uri="{FF2B5EF4-FFF2-40B4-BE49-F238E27FC236}">
                <a16:creationId xmlns:a16="http://schemas.microsoft.com/office/drawing/2014/main" id="{472FDA3A-CB66-44D4-A4E2-2F7753246FE6}"/>
              </a:ext>
            </a:extLst>
          </p:cNvPr>
          <p:cNvSpPr>
            <a:spLocks xmlns:a="http://schemas.openxmlformats.org/drawingml/2006/main" noGrp="1"/>
          </p:cNvSpPr>
          <p:nvPr/>
        </p:nvSpPr>
        <p:spPr>
          <a:xfrm xmlns:a="http://schemas.openxmlformats.org/drawingml/2006/main">
            <a:off x="6766560" y="282549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34" name="Text 30">
            <a:extLst xmlns:a="http://schemas.openxmlformats.org/drawingml/2006/main">
              <a:ext uri="{FF2B5EF4-FFF2-40B4-BE49-F238E27FC236}">
                <a16:creationId xmlns:a16="http://schemas.microsoft.com/office/drawing/2014/main" id="{ECE12B36-7306-44F4-9A12-1819F210120A}"/>
              </a:ext>
            </a:extLst>
          </p:cNvPr>
          <p:cNvSpPr>
            <a:spLocks xmlns:a="http://schemas.openxmlformats.org/drawingml/2006/main" noGrp="1"/>
          </p:cNvSpPr>
          <p:nvPr/>
        </p:nvSpPr>
        <p:spPr>
          <a:xfrm xmlns:a="http://schemas.openxmlformats.org/drawingml/2006/main">
            <a:off x="6949440" y="2743200"/>
            <a:ext cx="4389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WORKDIR vs RUN cd</a:t>
            </a:r>
            <a:endParaRPr sz="900"/>
          </a:p>
        </p:txBody>
      </p:sp>
      <p:sp>
        <p:nvSpPr>
          <p:cNvPr id="35" name="Text 31">
            <a:extLst xmlns:a="http://schemas.openxmlformats.org/drawingml/2006/main">
              <a:ext uri="{FF2B5EF4-FFF2-40B4-BE49-F238E27FC236}">
                <a16:creationId xmlns:a16="http://schemas.microsoft.com/office/drawing/2014/main" id="{438BE095-1E94-44FD-B584-D3A0D0A54F3C}"/>
              </a:ext>
            </a:extLst>
          </p:cNvPr>
          <p:cNvSpPr>
            <a:spLocks xmlns:a="http://schemas.openxmlformats.org/drawingml/2006/main" noGrp="1"/>
          </p:cNvSpPr>
          <p:nvPr/>
        </p:nvSpPr>
        <p:spPr>
          <a:xfrm xmlns:a="http://schemas.openxmlformats.org/drawingml/2006/main">
            <a:off x="6537960" y="3108960"/>
            <a:ext cx="484632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CWD tidak bertahan pada RUN baru</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RUN cd /app &amp;&amp; touch a.txt</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RUN touch b.txt   # bukan otomatis /app</a:t>
            </a:r>
            <a:endParaRPr sz="1100"/>
          </a:p>
          <a:p xmlns:a="http://schemas.openxmlformats.org/drawingml/2006/main">
            <a:pPr marL="0" indent="0">
              <a:spcAft>
                <a:spcPts val="200"/>
              </a:spcAft>
              <a:buNone/>
            </a:pPr>
            <a:r>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WORKDIR menetapkan CWD berikutnya</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WORKDIR /app</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RUN touch a.txt</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RUN touch b.txt</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COPY package.json .</a:t>
            </a:r>
            <a:endParaRPr sz="1100"/>
          </a:p>
          <a:p xmlns:a="http://schemas.openxmlformats.org/drawingml/2006/main">
            <a:pPr marL="0" indent="0">
              <a:spcAft>
                <a:spcPts val="200"/>
              </a:spcAft>
              <a:buNone/>
            </a:pPr>
            <a:r>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WORKDIR /a</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WORKDIR b        # /a/b</a:t>
            </a:r>
            <a:endParaRPr sz="1100"/>
          </a:p>
        </p:txBody>
      </p:sp>
    </p:spTree>
    <p:extLst>
      <p:ext uri="{BB962C8B-B14F-4D97-AF65-F5344CB8AC3E}">
        <p14:creationId xmlns:p14="http://schemas.microsoft.com/office/powerpoint/2010/main" val="106328629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3F40374-ED1D-441A-BBC8-3E067967D8B5}"/>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2E8D8F16-5D9D-4D98-A7B1-C67E6E9B0179}"/>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14</a:t>
            </a:r>
            <a:endParaRPr sz="900"/>
          </a:p>
        </p:txBody>
      </p:sp>
      <p:sp>
        <p:nvSpPr>
          <p:cNvPr id="4" name="Shape 2">
            <a:extLst xmlns:a="http://schemas.openxmlformats.org/drawingml/2006/main">
              <a:ext uri="{FF2B5EF4-FFF2-40B4-BE49-F238E27FC236}">
                <a16:creationId xmlns:a16="http://schemas.microsoft.com/office/drawing/2014/main" id="{240456BA-0123-4B30-98BA-080399A9687E}"/>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7" name="Image 0">
            <a:extLst xmlns:a="http://schemas.openxmlformats.org/drawingml/2006/main">
              <a:ext uri="{FF2B5EF4-FFF2-40B4-BE49-F238E27FC236}">
                <a16:creationId xmlns:a16="http://schemas.microsoft.com/office/drawing/2014/main" id="{FC55C2F4-6046-438B-82C2-CBEBBC32EAB2}"/>
              </a:ext>
            </a:extLst>
          </p:cNvPr>
          <p:cNvPicPr>
            <a:picLocks xmlns:a="http://schemas.openxmlformats.org/drawingml/2006/main" noChangeAspect="1"/>
          </p:cNvPicPr>
          <p:nvPr/>
        </p:nvPicPr>
        <p:blipFill>
          <a:blip xmlns:r="http://schemas.openxmlformats.org/officeDocument/2006/relationships" xmlns:a="http://schemas.openxmlformats.org/drawingml/2006/main" r:embed="R008d22d0989e46f7"/>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8" name="Image 1">
            <a:extLst xmlns:a="http://schemas.openxmlformats.org/drawingml/2006/main">
              <a:ext uri="{FF2B5EF4-FFF2-40B4-BE49-F238E27FC236}">
                <a16:creationId xmlns:a16="http://schemas.microsoft.com/office/drawing/2014/main" id="{E1446E28-ECC7-4E85-AE49-15801FBECBD6}"/>
              </a:ext>
            </a:extLst>
          </p:cNvPr>
          <p:cNvPicPr>
            <a:picLocks xmlns:a="http://schemas.openxmlformats.org/drawingml/2006/main" noChangeAspect="1"/>
          </p:cNvPicPr>
          <p:nvPr/>
        </p:nvPicPr>
        <p:blipFill>
          <a:blip xmlns:r="http://schemas.openxmlformats.org/officeDocument/2006/relationships" xmlns:a="http://schemas.openxmlformats.org/drawingml/2006/main" r:embed="R5d7b620a6fed4387"/>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FF2B2AC3-EF48-4167-A468-A53DA0F3FDF3}"/>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08CE3214-EEA1-4430-B2E1-5DD3EC437564}"/>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ENV vs ARG</a:t>
            </a:r>
            <a:endParaRPr sz="2200"/>
          </a:p>
        </p:txBody>
      </p:sp>
      <p:sp>
        <p:nvSpPr>
          <p:cNvPr id="9" name="Text 5">
            <a:extLst xmlns:a="http://schemas.openxmlformats.org/drawingml/2006/main">
              <a:ext uri="{FF2B5EF4-FFF2-40B4-BE49-F238E27FC236}">
                <a16:creationId xmlns:a16="http://schemas.microsoft.com/office/drawing/2014/main" id="{05B5221F-0904-4FAD-A78A-F8451DB8BA39}"/>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Variabel di Dockerfile - kapan pakai yang mana</a:t>
            </a:r>
            <a:endParaRPr sz="1200"/>
          </a:p>
        </p:txBody>
      </p:sp>
      <p:sp>
        <p:nvSpPr>
          <p:cNvPr id="10" name="Shape 6">
            <a:extLst xmlns:a="http://schemas.openxmlformats.org/drawingml/2006/main">
              <a:ext uri="{FF2B5EF4-FFF2-40B4-BE49-F238E27FC236}">
                <a16:creationId xmlns:a16="http://schemas.microsoft.com/office/drawing/2014/main" id="{7E49C60E-7BB6-4D30-85A7-FCA4583E365B}"/>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D5C20E88-D727-46FA-BEBC-D2B183C8B887}"/>
              </a:ext>
            </a:extLst>
          </p:cNvPr>
          <p:cNvSpPr>
            <a:spLocks xmlns:a="http://schemas.openxmlformats.org/drawingml/2006/main" noGrp="1"/>
          </p:cNvSpPr>
          <p:nvPr/>
        </p:nvSpPr>
        <p:spPr>
          <a:xfrm xmlns:a="http://schemas.openxmlformats.org/drawingml/2006/main">
            <a:off x="457200" y="1417320"/>
            <a:ext cx="5577840" cy="64008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12" name="Text 8">
            <a:extLst xmlns:a="http://schemas.openxmlformats.org/drawingml/2006/main">
              <a:ext uri="{FF2B5EF4-FFF2-40B4-BE49-F238E27FC236}">
                <a16:creationId xmlns:a16="http://schemas.microsoft.com/office/drawing/2014/main" id="{1D9B972A-F4DF-4C89-B99B-715FE9F96C04}"/>
              </a:ext>
            </a:extLst>
          </p:cNvPr>
          <p:cNvSpPr>
            <a:spLocks xmlns:a="http://schemas.openxmlformats.org/drawingml/2006/main" noGrp="1"/>
          </p:cNvSpPr>
          <p:nvPr/>
        </p:nvSpPr>
        <p:spPr>
          <a:xfrm xmlns:a="http://schemas.openxmlformats.org/drawingml/2006/main">
            <a:off x="457200" y="1417320"/>
            <a:ext cx="55778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spc="200">
                <a:solidFill>
                  <a:srgbClr val="FFFFFF"/>
                </a:solidFill>
                <a:latin typeface="Calibri"/>
                <a:ea typeface="Calibri"/>
                <a:cs typeface="Calibri"/>
              </a:rPr>
              <a:t>ENV  -  Runtime Variable</a:t>
            </a:r>
            <a:endParaRPr sz="1600"/>
          </a:p>
        </p:txBody>
      </p:sp>
      <p:sp>
        <p:nvSpPr>
          <p:cNvPr id="13" name="Text 9">
            <a:extLst xmlns:a="http://schemas.openxmlformats.org/drawingml/2006/main">
              <a:ext uri="{FF2B5EF4-FFF2-40B4-BE49-F238E27FC236}">
                <a16:creationId xmlns:a16="http://schemas.microsoft.com/office/drawing/2014/main" id="{9179B211-D091-4692-BA3D-8BACC48B268D}"/>
              </a:ext>
            </a:extLst>
          </p:cNvPr>
          <p:cNvSpPr>
            <a:spLocks xmlns:a="http://schemas.openxmlformats.org/drawingml/2006/main" noGrp="1"/>
          </p:cNvSpPr>
          <p:nvPr/>
        </p:nvSpPr>
        <p:spPr>
          <a:xfrm xmlns:a="http://schemas.openxmlformats.org/drawingml/2006/main">
            <a:off x="640080" y="2148840"/>
            <a:ext cx="521208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1E293B"/>
                </a:solidFill>
                <a:latin typeface="Calibri"/>
                <a:ea typeface="Calibri"/>
                <a:cs typeface="Calibri"/>
              </a:rPr>
              <a:t>ENV dipakai saat build dan menjadi default environment container.</a:t>
            </a:r>
            <a:endParaRPr sz="1100"/>
          </a:p>
        </p:txBody>
      </p:sp>
      <p:sp>
        <p:nvSpPr>
          <p:cNvPr id="14" name="Shape 10">
            <a:extLst xmlns:a="http://schemas.openxmlformats.org/drawingml/2006/main">
              <a:ext uri="{FF2B5EF4-FFF2-40B4-BE49-F238E27FC236}">
                <a16:creationId xmlns:a16="http://schemas.microsoft.com/office/drawing/2014/main" id="{16F148CF-5F81-46AE-9E30-AAD12E3B7876}"/>
              </a:ext>
            </a:extLst>
          </p:cNvPr>
          <p:cNvSpPr>
            <a:spLocks xmlns:a="http://schemas.openxmlformats.org/drawingml/2006/main" noGrp="1"/>
          </p:cNvSpPr>
          <p:nvPr/>
        </p:nvSpPr>
        <p:spPr>
          <a:xfrm xmlns:a="http://schemas.openxmlformats.org/drawingml/2006/main">
            <a:off x="640080" y="2697480"/>
            <a:ext cx="5212080" cy="34747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5" name="Shape 11">
            <a:extLst xmlns:a="http://schemas.openxmlformats.org/drawingml/2006/main">
              <a:ext uri="{FF2B5EF4-FFF2-40B4-BE49-F238E27FC236}">
                <a16:creationId xmlns:a16="http://schemas.microsoft.com/office/drawing/2014/main" id="{4C46330B-BF53-4CE7-8A4E-1EBB39428A55}"/>
              </a:ext>
            </a:extLst>
          </p:cNvPr>
          <p:cNvSpPr>
            <a:spLocks xmlns:a="http://schemas.openxmlformats.org/drawingml/2006/main" noGrp="1"/>
          </p:cNvSpPr>
          <p:nvPr/>
        </p:nvSpPr>
        <p:spPr>
          <a:xfrm xmlns:a="http://schemas.openxmlformats.org/drawingml/2006/main">
            <a:off x="640080" y="2697480"/>
            <a:ext cx="521208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6" name="Shape 12">
            <a:extLst xmlns:a="http://schemas.openxmlformats.org/drawingml/2006/main">
              <a:ext uri="{FF2B5EF4-FFF2-40B4-BE49-F238E27FC236}">
                <a16:creationId xmlns:a16="http://schemas.microsoft.com/office/drawing/2014/main" id="{80DF607A-62F7-4CEB-8E96-AE0F5CB030C1}"/>
              </a:ext>
            </a:extLst>
          </p:cNvPr>
          <p:cNvSpPr>
            <a:spLocks xmlns:a="http://schemas.openxmlformats.org/drawingml/2006/main" noGrp="1"/>
          </p:cNvSpPr>
          <p:nvPr/>
        </p:nvSpPr>
        <p:spPr>
          <a:xfrm xmlns:a="http://schemas.openxmlformats.org/drawingml/2006/main">
            <a:off x="731520" y="277977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17" name="Shape 13">
            <a:extLst xmlns:a="http://schemas.openxmlformats.org/drawingml/2006/main">
              <a:ext uri="{FF2B5EF4-FFF2-40B4-BE49-F238E27FC236}">
                <a16:creationId xmlns:a16="http://schemas.microsoft.com/office/drawing/2014/main" id="{2ABFB1FA-7E31-401F-8B93-7A71A429F85C}"/>
              </a:ext>
            </a:extLst>
          </p:cNvPr>
          <p:cNvSpPr>
            <a:spLocks xmlns:a="http://schemas.openxmlformats.org/drawingml/2006/main" noGrp="1"/>
          </p:cNvSpPr>
          <p:nvPr/>
        </p:nvSpPr>
        <p:spPr>
          <a:xfrm xmlns:a="http://schemas.openxmlformats.org/drawingml/2006/main">
            <a:off x="868680" y="277977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8" name="Shape 14">
            <a:extLst xmlns:a="http://schemas.openxmlformats.org/drawingml/2006/main">
              <a:ext uri="{FF2B5EF4-FFF2-40B4-BE49-F238E27FC236}">
                <a16:creationId xmlns:a16="http://schemas.microsoft.com/office/drawing/2014/main" id="{8CE66C78-CA8D-4E9B-BA0A-FDE31900A415}"/>
              </a:ext>
            </a:extLst>
          </p:cNvPr>
          <p:cNvSpPr>
            <a:spLocks xmlns:a="http://schemas.openxmlformats.org/drawingml/2006/main" noGrp="1"/>
          </p:cNvSpPr>
          <p:nvPr/>
        </p:nvSpPr>
        <p:spPr>
          <a:xfrm xmlns:a="http://schemas.openxmlformats.org/drawingml/2006/main">
            <a:off x="1005840" y="277977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19" name="Text 15">
            <a:extLst xmlns:a="http://schemas.openxmlformats.org/drawingml/2006/main">
              <a:ext uri="{FF2B5EF4-FFF2-40B4-BE49-F238E27FC236}">
                <a16:creationId xmlns:a16="http://schemas.microsoft.com/office/drawing/2014/main" id="{9E96D537-6012-4DB8-8F96-6D5ABE230B8D}"/>
              </a:ext>
            </a:extLst>
          </p:cNvPr>
          <p:cNvSpPr>
            <a:spLocks xmlns:a="http://schemas.openxmlformats.org/drawingml/2006/main" noGrp="1"/>
          </p:cNvSpPr>
          <p:nvPr/>
        </p:nvSpPr>
        <p:spPr>
          <a:xfrm xmlns:a="http://schemas.openxmlformats.org/drawingml/2006/main">
            <a:off x="1188720" y="2697480"/>
            <a:ext cx="4480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ENV examples</a:t>
            </a:r>
            <a:endParaRPr sz="900"/>
          </a:p>
        </p:txBody>
      </p:sp>
      <p:sp>
        <p:nvSpPr>
          <p:cNvPr id="20" name="Text 16">
            <a:extLst xmlns:a="http://schemas.openxmlformats.org/drawingml/2006/main">
              <a:ext uri="{FF2B5EF4-FFF2-40B4-BE49-F238E27FC236}">
                <a16:creationId xmlns:a16="http://schemas.microsoft.com/office/drawing/2014/main" id="{5C3F1215-DC42-48C5-AAE0-735F7F713340}"/>
              </a:ext>
            </a:extLst>
          </p:cNvPr>
          <p:cNvSpPr>
            <a:spLocks xmlns:a="http://schemas.openxmlformats.org/drawingml/2006/main" noGrp="1"/>
          </p:cNvSpPr>
          <p:nvPr/>
        </p:nvSpPr>
        <p:spPr>
          <a:xfrm xmlns:a="http://schemas.openxmlformats.org/drawingml/2006/main">
            <a:off x="777240" y="3063240"/>
            <a:ext cx="4937760" cy="3017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94A3B8"/>
                </a:solidFill>
                <a:latin typeface="Consolas"/>
                <a:ea typeface="Consolas"/>
                <a:cs typeface="Consolas"/>
              </a:rPr>
              <a:t># Set saat build, persist saat run</a:t>
            </a:r>
            <a:endParaRPr sz="1100"/>
          </a:p>
          <a:p xmlns:a="http://schemas.openxmlformats.org/drawingml/2006/main">
            <a:pPr marL="0" indent="0">
              <a:spcAft>
                <a:spcPts val="200"/>
              </a:spcAft>
              <a:buNone/>
            </a:pPr>
            <a:r>
              <a:rPr sz="1100">
                <a:solidFill>
                  <a:srgbClr val="60A5FA"/>
                </a:solidFill>
                <a:latin typeface="Consolas"/>
                <a:ea typeface="Consolas"/>
                <a:cs typeface="Consolas"/>
              </a:rPr>
              <a:t>ENV NODE_ENV=production</a:t>
            </a:r>
            <a:endParaRPr sz="1100"/>
          </a:p>
          <a:p xmlns:a="http://schemas.openxmlformats.org/drawingml/2006/main">
            <a:pPr marL="0" indent="0">
              <a:spcAft>
                <a:spcPts val="200"/>
              </a:spcAft>
              <a:buNone/>
            </a:pPr>
            <a:r>
              <a:rPr sz="1100">
                <a:solidFill>
                  <a:srgbClr val="60A5FA"/>
                </a:solidFill>
                <a:latin typeface="Consolas"/>
                <a:ea typeface="Consolas"/>
                <a:cs typeface="Consolas"/>
              </a:rPr>
              <a:t>ENV PORT=3000</a:t>
            </a:r>
            <a:endParaRPr sz="1100"/>
          </a:p>
          <a:p xmlns:a="http://schemas.openxmlformats.org/drawingml/2006/main">
            <a:pPr marL="0" indent="0">
              <a:spcAft>
                <a:spcPts val="200"/>
              </a:spcAft>
              <a:buNone/>
            </a:pPr>
            <a:r>
              <a:rPr sz="1100">
                <a:solidFill>
                  <a:srgbClr val="60A5FA"/>
                </a:solidFill>
                <a:latin typeface="Consolas"/>
                <a:ea typeface="Consolas"/>
                <a:cs typeface="Consolas"/>
              </a:rPr>
              <a:t>ENV PATH=/app/bin:$PATH</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Pakai di Dockerfile sendiri</a:t>
            </a:r>
            <a:endParaRPr sz="1100"/>
          </a:p>
          <a:p xmlns:a="http://schemas.openxmlformats.org/drawingml/2006/main">
            <a:pPr marL="0" indent="0">
              <a:spcAft>
                <a:spcPts val="200"/>
              </a:spcAft>
              <a:buNone/>
            </a:pPr>
            <a:r>
              <a:rPr sz="1100">
                <a:solidFill>
                  <a:srgbClr val="E2E8F0"/>
                </a:solidFill>
                <a:latin typeface="Consolas"/>
                <a:ea typeface="Consolas"/>
                <a:cs typeface="Consolas"/>
              </a:rPr>
              <a:t>WORKDIR /app</a:t>
            </a:r>
            <a:endParaRPr sz="1100"/>
          </a:p>
          <a:p xmlns:a="http://schemas.openxmlformats.org/drawingml/2006/main">
            <a:pPr marL="0" indent="0">
              <a:spcAft>
                <a:spcPts val="200"/>
              </a:spcAft>
              <a:buNone/>
            </a:pPr>
            <a:r>
              <a:rPr sz="1100">
                <a:solidFill>
                  <a:srgbClr val="E2E8F0"/>
                </a:solidFill>
                <a:latin typeface="Consolas"/>
                <a:ea typeface="Consolas"/>
                <a:cs typeface="Consolas"/>
              </a:rPr>
              <a:t>EXPOSE $PORT</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Override saat docker run:</a:t>
            </a:r>
            <a:endParaRPr sz="1100"/>
          </a:p>
          <a:p xmlns:a="http://schemas.openxmlformats.org/drawingml/2006/main">
            <a:pPr marL="0" indent="0">
              <a:spcAft>
                <a:spcPts val="200"/>
              </a:spcAft>
              <a:buNone/>
            </a:pPr>
            <a:r>
              <a:rPr sz="1100">
                <a:solidFill>
                  <a:srgbClr val="10B981"/>
                </a:solidFill>
                <a:latin typeface="Consolas"/>
                <a:ea typeface="Consolas"/>
                <a:cs typeface="Consolas"/>
              </a:rPr>
              <a:t>$ docker run -e NODE_ENV=dev myapp</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Use case: config app, secret (jangan!)</a:t>
            </a:r>
            <a:endParaRPr sz="1100"/>
          </a:p>
        </p:txBody>
      </p:sp>
      <p:sp>
        <p:nvSpPr>
          <p:cNvPr id="21" name="Shape 17">
            <a:extLst xmlns:a="http://schemas.openxmlformats.org/drawingml/2006/main">
              <a:ext uri="{FF2B5EF4-FFF2-40B4-BE49-F238E27FC236}">
                <a16:creationId xmlns:a16="http://schemas.microsoft.com/office/drawing/2014/main" id="{8F84B722-0B6C-471C-9214-E9C4DF05181C}"/>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2" name="Shape 18">
            <a:extLst xmlns:a="http://schemas.openxmlformats.org/drawingml/2006/main">
              <a:ext uri="{FF2B5EF4-FFF2-40B4-BE49-F238E27FC236}">
                <a16:creationId xmlns:a16="http://schemas.microsoft.com/office/drawing/2014/main" id="{6B37CBAF-961A-44D1-B194-A44B03EB0B9B}"/>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3" name="Text 19">
            <a:extLst xmlns:a="http://schemas.openxmlformats.org/drawingml/2006/main">
              <a:ext uri="{FF2B5EF4-FFF2-40B4-BE49-F238E27FC236}">
                <a16:creationId xmlns:a16="http://schemas.microsoft.com/office/drawing/2014/main" id="{8CBD3837-5CC2-40AD-9E2F-658C66ECF727}"/>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spc="200">
                <a:solidFill>
                  <a:srgbClr val="FFFFFF"/>
                </a:solidFill>
                <a:latin typeface="Calibri"/>
                <a:ea typeface="Calibri"/>
                <a:cs typeface="Calibri"/>
              </a:rPr>
              <a:t>ARG  -  Build-time Variable</a:t>
            </a:r>
            <a:endParaRPr sz="1600"/>
          </a:p>
        </p:txBody>
      </p:sp>
      <p:sp>
        <p:nvSpPr>
          <p:cNvPr id="24" name="Text 20">
            <a:extLst xmlns:a="http://schemas.openxmlformats.org/drawingml/2006/main">
              <a:ext uri="{FF2B5EF4-FFF2-40B4-BE49-F238E27FC236}">
                <a16:creationId xmlns:a16="http://schemas.microsoft.com/office/drawing/2014/main" id="{E1CEFB4F-2419-4C50-A411-ECC3284DF624}"/>
              </a:ext>
            </a:extLst>
          </p:cNvPr>
          <p:cNvSpPr>
            <a:spLocks xmlns:a="http://schemas.openxmlformats.org/drawingml/2006/main" noGrp="1"/>
          </p:cNvSpPr>
          <p:nvPr/>
        </p:nvSpPr>
        <p:spPr>
          <a:xfrm xmlns:a="http://schemas.openxmlformats.org/drawingml/2006/main">
            <a:off x="6400800" y="2148840"/>
            <a:ext cx="512064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1E293B"/>
                </a:solidFill>
                <a:latin typeface="Calibri"/>
                <a:ea typeface="Calibri"/>
                <a:cs typeface="Calibri"/>
              </a:rPr>
              <a:t>ARG tidak otomatis menjadi env runtime. Nilai bisa tertinggal pada metadata/artefak.</a:t>
            </a:r>
            <a:endParaRPr sz="1100"/>
          </a:p>
        </p:txBody>
      </p:sp>
      <p:sp>
        <p:nvSpPr>
          <p:cNvPr id="25" name="Shape 21">
            <a:extLst xmlns:a="http://schemas.openxmlformats.org/drawingml/2006/main">
              <a:ext uri="{FF2B5EF4-FFF2-40B4-BE49-F238E27FC236}">
                <a16:creationId xmlns:a16="http://schemas.microsoft.com/office/drawing/2014/main" id="{575B0BE2-F4D8-4C91-B1A8-D13683ACF526}"/>
              </a:ext>
            </a:extLst>
          </p:cNvPr>
          <p:cNvSpPr>
            <a:spLocks xmlns:a="http://schemas.openxmlformats.org/drawingml/2006/main" noGrp="1"/>
          </p:cNvSpPr>
          <p:nvPr/>
        </p:nvSpPr>
        <p:spPr>
          <a:xfrm xmlns:a="http://schemas.openxmlformats.org/drawingml/2006/main">
            <a:off x="6400800" y="2697480"/>
            <a:ext cx="5120640" cy="34747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26" name="Shape 22">
            <a:extLst xmlns:a="http://schemas.openxmlformats.org/drawingml/2006/main">
              <a:ext uri="{FF2B5EF4-FFF2-40B4-BE49-F238E27FC236}">
                <a16:creationId xmlns:a16="http://schemas.microsoft.com/office/drawing/2014/main" id="{07CD6F2E-449B-43D4-9360-A2305A229288}"/>
              </a:ext>
            </a:extLst>
          </p:cNvPr>
          <p:cNvSpPr>
            <a:spLocks xmlns:a="http://schemas.openxmlformats.org/drawingml/2006/main" noGrp="1"/>
          </p:cNvSpPr>
          <p:nvPr/>
        </p:nvSpPr>
        <p:spPr>
          <a:xfrm xmlns:a="http://schemas.openxmlformats.org/drawingml/2006/main">
            <a:off x="6400800" y="2697480"/>
            <a:ext cx="512064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27" name="Shape 23">
            <a:extLst xmlns:a="http://schemas.openxmlformats.org/drawingml/2006/main">
              <a:ext uri="{FF2B5EF4-FFF2-40B4-BE49-F238E27FC236}">
                <a16:creationId xmlns:a16="http://schemas.microsoft.com/office/drawing/2014/main" id="{EF8F3534-630D-463F-B6B7-CCE7DB16395A}"/>
              </a:ext>
            </a:extLst>
          </p:cNvPr>
          <p:cNvSpPr>
            <a:spLocks xmlns:a="http://schemas.openxmlformats.org/drawingml/2006/main" noGrp="1"/>
          </p:cNvSpPr>
          <p:nvPr/>
        </p:nvSpPr>
        <p:spPr>
          <a:xfrm xmlns:a="http://schemas.openxmlformats.org/drawingml/2006/main">
            <a:off x="6492240" y="277977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28" name="Shape 24">
            <a:extLst xmlns:a="http://schemas.openxmlformats.org/drawingml/2006/main">
              <a:ext uri="{FF2B5EF4-FFF2-40B4-BE49-F238E27FC236}">
                <a16:creationId xmlns:a16="http://schemas.microsoft.com/office/drawing/2014/main" id="{3BA68D09-2273-4CF7-A918-75373C94055B}"/>
              </a:ext>
            </a:extLst>
          </p:cNvPr>
          <p:cNvSpPr>
            <a:spLocks xmlns:a="http://schemas.openxmlformats.org/drawingml/2006/main" noGrp="1"/>
          </p:cNvSpPr>
          <p:nvPr/>
        </p:nvSpPr>
        <p:spPr>
          <a:xfrm xmlns:a="http://schemas.openxmlformats.org/drawingml/2006/main">
            <a:off x="6629400" y="277977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9" name="Shape 25">
            <a:extLst xmlns:a="http://schemas.openxmlformats.org/drawingml/2006/main">
              <a:ext uri="{FF2B5EF4-FFF2-40B4-BE49-F238E27FC236}">
                <a16:creationId xmlns:a16="http://schemas.microsoft.com/office/drawing/2014/main" id="{529699E2-43E8-4A81-8A62-B0E98ED00434}"/>
              </a:ext>
            </a:extLst>
          </p:cNvPr>
          <p:cNvSpPr>
            <a:spLocks xmlns:a="http://schemas.openxmlformats.org/drawingml/2006/main" noGrp="1"/>
          </p:cNvSpPr>
          <p:nvPr/>
        </p:nvSpPr>
        <p:spPr>
          <a:xfrm xmlns:a="http://schemas.openxmlformats.org/drawingml/2006/main">
            <a:off x="6766560" y="277977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30" name="Text 26">
            <a:extLst xmlns:a="http://schemas.openxmlformats.org/drawingml/2006/main">
              <a:ext uri="{FF2B5EF4-FFF2-40B4-BE49-F238E27FC236}">
                <a16:creationId xmlns:a16="http://schemas.microsoft.com/office/drawing/2014/main" id="{EF5983D7-5AA2-4BD4-BB37-09B5B0664CC7}"/>
              </a:ext>
            </a:extLst>
          </p:cNvPr>
          <p:cNvSpPr>
            <a:spLocks xmlns:a="http://schemas.openxmlformats.org/drawingml/2006/main" noGrp="1"/>
          </p:cNvSpPr>
          <p:nvPr/>
        </p:nvSpPr>
        <p:spPr>
          <a:xfrm xmlns:a="http://schemas.openxmlformats.org/drawingml/2006/main">
            <a:off x="6949440" y="2697480"/>
            <a:ext cx="4389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ARG examples</a:t>
            </a:r>
            <a:endParaRPr sz="900"/>
          </a:p>
        </p:txBody>
      </p:sp>
      <p:sp>
        <p:nvSpPr>
          <p:cNvPr id="31" name="Text 27">
            <a:extLst xmlns:a="http://schemas.openxmlformats.org/drawingml/2006/main">
              <a:ext uri="{FF2B5EF4-FFF2-40B4-BE49-F238E27FC236}">
                <a16:creationId xmlns:a16="http://schemas.microsoft.com/office/drawing/2014/main" id="{0E2D9BC9-04A7-4FB0-8E3B-1A9E62E54258}"/>
              </a:ext>
            </a:extLst>
          </p:cNvPr>
          <p:cNvSpPr>
            <a:spLocks xmlns:a="http://schemas.openxmlformats.org/drawingml/2006/main" noGrp="1"/>
          </p:cNvSpPr>
          <p:nvPr/>
        </p:nvSpPr>
        <p:spPr>
          <a:xfrm xmlns:a="http://schemas.openxmlformats.org/drawingml/2006/main">
            <a:off x="6537960" y="3063240"/>
            <a:ext cx="4846320" cy="3017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94A3B8"/>
                </a:solidFill>
                <a:latin typeface="Consolas"/>
                <a:ea typeface="Consolas"/>
                <a:cs typeface="Consolas"/>
              </a:rPr>
              <a:t># Deklarasi dengan default</a:t>
            </a:r>
            <a:endParaRPr sz="1100"/>
          </a:p>
          <a:p xmlns:a="http://schemas.openxmlformats.org/drawingml/2006/main">
            <a:pPr marL="0" indent="0">
              <a:spcAft>
                <a:spcPts val="200"/>
              </a:spcAft>
              <a:buNone/>
            </a:pPr>
            <a:r>
              <a:rPr sz="1100">
                <a:solidFill>
                  <a:srgbClr val="F37021"/>
                </a:solidFill>
                <a:latin typeface="Consolas"/>
                <a:ea typeface="Consolas"/>
                <a:cs typeface="Consolas"/>
              </a:rPr>
              <a:t>ARG NODE_VERSION=24</a:t>
            </a:r>
            <a:endParaRPr sz="1100"/>
          </a:p>
          <a:p xmlns:a="http://schemas.openxmlformats.org/drawingml/2006/main">
            <a:pPr marL="0" indent="0">
              <a:spcAft>
                <a:spcPts val="200"/>
              </a:spcAft>
              <a:buNone/>
            </a:pPr>
            <a:r>
              <a:rPr sz="1100">
                <a:solidFill>
                  <a:srgbClr val="E2E8F0"/>
                </a:solidFill>
                <a:latin typeface="Consolas"/>
                <a:ea typeface="Consolas"/>
                <a:cs typeface="Consolas"/>
              </a:rPr>
              <a:t>FROM node:$NODE_VERSION-alpine</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Tanpa default: kosong bila tak dipasok</a:t>
            </a:r>
            <a:endParaRPr sz="1100"/>
          </a:p>
          <a:p xmlns:a="http://schemas.openxmlformats.org/drawingml/2006/main">
            <a:pPr marL="0" indent="0">
              <a:spcAft>
                <a:spcPts val="200"/>
              </a:spcAft>
              <a:buNone/>
            </a:pPr>
            <a:r>
              <a:rPr sz="1100">
                <a:solidFill>
                  <a:srgbClr val="F37021"/>
                </a:solidFill>
                <a:latin typeface="Consolas"/>
                <a:ea typeface="Consolas"/>
                <a:cs typeface="Consolas"/>
              </a:rPr>
              <a:t>ARG GIT_COMMIT</a:t>
            </a:r>
            <a:endParaRPr sz="1100"/>
          </a:p>
          <a:p xmlns:a="http://schemas.openxmlformats.org/drawingml/2006/main">
            <a:pPr marL="0" indent="0">
              <a:spcAft>
                <a:spcPts val="200"/>
              </a:spcAft>
              <a:buNone/>
            </a:pPr>
            <a:r>
              <a:rPr sz="1100">
                <a:solidFill>
                  <a:srgbClr val="E2E8F0"/>
                </a:solidFill>
                <a:latin typeface="Consolas"/>
                <a:ea typeface="Consolas"/>
                <a:cs typeface="Consolas"/>
              </a:rPr>
              <a:t>LABEL commit=$GIT_COMMIT</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Pass saat build:</a:t>
            </a:r>
            <a:endParaRPr sz="1100"/>
          </a:p>
          <a:p xmlns:a="http://schemas.openxmlformats.org/drawingml/2006/main">
            <a:pPr marL="0" indent="0">
              <a:spcAft>
                <a:spcPts val="200"/>
              </a:spcAft>
              <a:buNone/>
            </a:pPr>
            <a:r>
              <a:rPr sz="1100">
                <a:solidFill>
                  <a:srgbClr val="10B981"/>
                </a:solidFill>
                <a:latin typeface="Consolas"/>
                <a:ea typeface="Consolas"/>
                <a:cs typeface="Consolas"/>
              </a:rPr>
              <a:t>$ docker build \</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10B981"/>
                </a:solidFill>
                <a:latin typeface="Consolas"/>
                <a:ea typeface="Consolas"/>
                <a:cs typeface="Consolas"/>
              </a:rPr>
              <a:t>--build-arg NODE_VERSION=24</a:t>
            </a:r>
            <a:r>
              <a:rPr sz="1100">
                <a:solidFill>
                  <a:srgbClr val="10B981"/>
                </a:solidFill>
                <a:latin typeface="Consolas"/>
                <a:ea typeface="Consolas"/>
                <a:cs typeface="Consolas"/>
              </a:rPr>
              <a:t> \</a:t>
            </a:r>
            <a:endParaRPr sz="1100"/>
          </a:p>
          <a:p xmlns:a="http://schemas.openxmlformats.org/drawingml/2006/main">
            <a:pPr marL="0" indent="0">
              <a:spcAft>
                <a:spcPts val="200"/>
              </a:spcAft>
              <a:buNone/>
            </a:pPr>
            <a:r>
              <a:rPr sz="1100">
                <a:solidFill>
                  <a:srgbClr val="10B981"/>
                </a:solidFill>
                <a:latin typeface="Consolas"/>
                <a:ea typeface="Consolas"/>
                <a:cs typeface="Consolas"/>
              </a:rPr>
              <a:t>  --build-arg GIT_COMMIT=abc123 .</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Untuk konfigurasi build, bukan secret</a:t>
            </a:r>
            <a:endParaRPr sz="1100"/>
          </a:p>
        </p:txBody>
      </p:sp>
    </p:spTree>
    <p:extLst>
      <p:ext uri="{BB962C8B-B14F-4D97-AF65-F5344CB8AC3E}">
        <p14:creationId xmlns:p14="http://schemas.microsoft.com/office/powerpoint/2010/main" val="147279086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36D191F-483C-49FB-9A29-09B6367DCE20}"/>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15884832-FFD1-469A-B168-04C4778FEA86}"/>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15</a:t>
            </a:r>
            <a:endParaRPr sz="900"/>
          </a:p>
        </p:txBody>
      </p:sp>
      <p:sp>
        <p:nvSpPr>
          <p:cNvPr id="4" name="Shape 2">
            <a:extLst xmlns:a="http://schemas.openxmlformats.org/drawingml/2006/main">
              <a:ext uri="{FF2B5EF4-FFF2-40B4-BE49-F238E27FC236}">
                <a16:creationId xmlns:a16="http://schemas.microsoft.com/office/drawing/2014/main" id="{27B9F22D-4362-4087-B293-8260114803FE}"/>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0" name="Image 0">
            <a:extLst xmlns:a="http://schemas.openxmlformats.org/drawingml/2006/main">
              <a:ext uri="{FF2B5EF4-FFF2-40B4-BE49-F238E27FC236}">
                <a16:creationId xmlns:a16="http://schemas.microsoft.com/office/drawing/2014/main" id="{3D2FAE9B-3AA8-48C5-83FD-9DE783B8E869}"/>
              </a:ext>
            </a:extLst>
          </p:cNvPr>
          <p:cNvPicPr>
            <a:picLocks xmlns:a="http://schemas.openxmlformats.org/drawingml/2006/main" noChangeAspect="1"/>
          </p:cNvPicPr>
          <p:nvPr/>
        </p:nvPicPr>
        <p:blipFill>
          <a:blip xmlns:r="http://schemas.openxmlformats.org/officeDocument/2006/relationships" xmlns:a="http://schemas.openxmlformats.org/drawingml/2006/main" r:embed="R7c8962d81fee402f"/>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1" name="Image 1">
            <a:extLst xmlns:a="http://schemas.openxmlformats.org/drawingml/2006/main">
              <a:ext uri="{FF2B5EF4-FFF2-40B4-BE49-F238E27FC236}">
                <a16:creationId xmlns:a16="http://schemas.microsoft.com/office/drawing/2014/main" id="{173866E0-E154-408B-8073-333302CEEE30}"/>
              </a:ext>
            </a:extLst>
          </p:cNvPr>
          <p:cNvPicPr>
            <a:picLocks xmlns:a="http://schemas.openxmlformats.org/drawingml/2006/main" noChangeAspect="1"/>
          </p:cNvPicPr>
          <p:nvPr/>
        </p:nvPicPr>
        <p:blipFill>
          <a:blip xmlns:r="http://schemas.openxmlformats.org/officeDocument/2006/relationships" xmlns:a="http://schemas.openxmlformats.org/drawingml/2006/main" r:embed="Re00d8203b0f841a8"/>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0AAFBBCC-627B-43E9-9AC8-8531FF4F2AE9}"/>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8A2F2558-ECA9-4FB4-B480-A4956C1F8527}"/>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EXPOSE, USER, HEALTHCHECK, LABEL</a:t>
            </a:r>
            <a:endParaRPr sz="2200"/>
          </a:p>
        </p:txBody>
      </p:sp>
      <p:sp>
        <p:nvSpPr>
          <p:cNvPr id="9" name="Text 5">
            <a:extLst xmlns:a="http://schemas.openxmlformats.org/drawingml/2006/main">
              <a:ext uri="{FF2B5EF4-FFF2-40B4-BE49-F238E27FC236}">
                <a16:creationId xmlns:a16="http://schemas.microsoft.com/office/drawing/2014/main" id="{2FD26638-0EF5-4E32-A346-D7572D72CFEB}"/>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Meta-instructions untuk dokumentasi + security + monitoring</a:t>
            </a:r>
            <a:endParaRPr sz="1200"/>
          </a:p>
        </p:txBody>
      </p:sp>
      <p:sp>
        <p:nvSpPr>
          <p:cNvPr id="10" name="Shape 6">
            <a:extLst xmlns:a="http://schemas.openxmlformats.org/drawingml/2006/main">
              <a:ext uri="{FF2B5EF4-FFF2-40B4-BE49-F238E27FC236}">
                <a16:creationId xmlns:a16="http://schemas.microsoft.com/office/drawing/2014/main" id="{A3443BB7-F8DB-473F-8B46-EC804D1A3C69}"/>
              </a:ext>
            </a:extLst>
          </p:cNvPr>
          <p:cNvSpPr>
            <a:spLocks xmlns:a="http://schemas.openxmlformats.org/drawingml/2006/main" noGrp="1"/>
          </p:cNvSpPr>
          <p:nvPr/>
        </p:nvSpPr>
        <p:spPr>
          <a:xfrm xmlns:a="http://schemas.openxmlformats.org/drawingml/2006/main">
            <a:off x="457200" y="1417320"/>
            <a:ext cx="269748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666F4630-BC3E-4ED8-8815-301C26A94AF4}"/>
              </a:ext>
            </a:extLst>
          </p:cNvPr>
          <p:cNvSpPr>
            <a:spLocks xmlns:a="http://schemas.openxmlformats.org/drawingml/2006/main" noGrp="1"/>
          </p:cNvSpPr>
          <p:nvPr/>
        </p:nvSpPr>
        <p:spPr>
          <a:xfrm xmlns:a="http://schemas.openxmlformats.org/drawingml/2006/main">
            <a:off x="457200" y="1417320"/>
            <a:ext cx="2697480" cy="64008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12" name="Text 8">
            <a:extLst xmlns:a="http://schemas.openxmlformats.org/drawingml/2006/main">
              <a:ext uri="{FF2B5EF4-FFF2-40B4-BE49-F238E27FC236}">
                <a16:creationId xmlns:a16="http://schemas.microsoft.com/office/drawing/2014/main" id="{9962518A-D0AB-43DE-BB35-323504DD5484}"/>
              </a:ext>
            </a:extLst>
          </p:cNvPr>
          <p:cNvSpPr>
            <a:spLocks xmlns:a="http://schemas.openxmlformats.org/drawingml/2006/main" noGrp="1"/>
          </p:cNvSpPr>
          <p:nvPr/>
        </p:nvSpPr>
        <p:spPr>
          <a:xfrm xmlns:a="http://schemas.openxmlformats.org/drawingml/2006/main">
            <a:off x="457200" y="14173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onsolas"/>
                <a:ea typeface="Consolas"/>
                <a:cs typeface="Consolas"/>
              </a:rPr>
              <a:t>EXPOSE</a:t>
            </a:r>
            <a:endParaRPr sz="1700"/>
          </a:p>
        </p:txBody>
      </p:sp>
      <p:sp>
        <p:nvSpPr>
          <p:cNvPr id="13" name="Text 9">
            <a:extLst xmlns:a="http://schemas.openxmlformats.org/drawingml/2006/main">
              <a:ext uri="{FF2B5EF4-FFF2-40B4-BE49-F238E27FC236}">
                <a16:creationId xmlns:a16="http://schemas.microsoft.com/office/drawing/2014/main" id="{409090C0-D47E-4C31-8F26-34C5C9D3DEC1}"/>
              </a:ext>
            </a:extLst>
          </p:cNvPr>
          <p:cNvSpPr>
            <a:spLocks xmlns:a="http://schemas.openxmlformats.org/drawingml/2006/main" noGrp="1"/>
          </p:cNvSpPr>
          <p:nvPr/>
        </p:nvSpPr>
        <p:spPr>
          <a:xfrm xmlns:a="http://schemas.openxmlformats.org/drawingml/2006/main">
            <a:off x="640080" y="2194560"/>
            <a:ext cx="2331720" cy="19202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Dokumentasi port yang dipakai (tidak buka port secara fisik). Untuk konsumsi tooling.</a:t>
            </a:r>
            <a:endParaRPr sz="1100"/>
          </a:p>
        </p:txBody>
      </p:sp>
      <p:sp>
        <p:nvSpPr>
          <p:cNvPr id="14" name="Shape 10">
            <a:extLst xmlns:a="http://schemas.openxmlformats.org/drawingml/2006/main">
              <a:ext uri="{FF2B5EF4-FFF2-40B4-BE49-F238E27FC236}">
                <a16:creationId xmlns:a16="http://schemas.microsoft.com/office/drawing/2014/main" id="{E2B7A23D-0FC9-433D-AD0D-C786172C9FDB}"/>
              </a:ext>
            </a:extLst>
          </p:cNvPr>
          <p:cNvSpPr>
            <a:spLocks xmlns:a="http://schemas.openxmlformats.org/drawingml/2006/main" noGrp="1"/>
          </p:cNvSpPr>
          <p:nvPr/>
        </p:nvSpPr>
        <p:spPr>
          <a:xfrm xmlns:a="http://schemas.openxmlformats.org/drawingml/2006/main">
            <a:off x="640080" y="4160520"/>
            <a:ext cx="2331720" cy="18288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5" name="Text 11">
            <a:extLst xmlns:a="http://schemas.openxmlformats.org/drawingml/2006/main">
              <a:ext uri="{FF2B5EF4-FFF2-40B4-BE49-F238E27FC236}">
                <a16:creationId xmlns:a16="http://schemas.microsoft.com/office/drawing/2014/main" id="{3BDE94BE-21BA-4AF7-90B2-A4B5A589B644}"/>
              </a:ext>
            </a:extLst>
          </p:cNvPr>
          <p:cNvSpPr>
            <a:spLocks xmlns:a="http://schemas.openxmlformats.org/drawingml/2006/main" noGrp="1"/>
          </p:cNvSpPr>
          <p:nvPr/>
        </p:nvSpPr>
        <p:spPr>
          <a:xfrm xmlns:a="http://schemas.openxmlformats.org/drawingml/2006/main">
            <a:off x="731520" y="4251960"/>
            <a:ext cx="2148840" cy="16916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200"/>
              </a:spcAft>
              <a:buNone/>
            </a:pPr>
            <a:r>
              <a:rPr sz="1000">
                <a:solidFill>
                  <a:srgbClr val="10B981"/>
                </a:solidFill>
                <a:latin typeface="Consolas"/>
                <a:ea typeface="Consolas"/>
                <a:cs typeface="Consolas"/>
              </a:rPr>
              <a:t>EXPOSE 3000</a:t>
            </a:r>
            <a:endParaRPr sz="1000"/>
          </a:p>
          <a:p xmlns:a="http://schemas.openxmlformats.org/drawingml/2006/main">
            <a:pPr marL="0" indent="0">
              <a:spcAft>
                <a:spcPts val="200"/>
              </a:spcAft>
              <a:buNone/>
            </a:pPr>
            <a:r>
              <a:rPr sz="1000">
                <a:solidFill>
                  <a:srgbClr val="10B981"/>
                </a:solidFill>
                <a:latin typeface="Consolas"/>
                <a:ea typeface="Consolas"/>
                <a:cs typeface="Consolas"/>
              </a:rPr>
              <a:t>EXPOSE 443/tcp</a:t>
            </a:r>
            <a:endParaRPr sz="1000"/>
          </a:p>
        </p:txBody>
      </p:sp>
      <p:sp>
        <p:nvSpPr>
          <p:cNvPr id="16" name="Shape 12">
            <a:extLst xmlns:a="http://schemas.openxmlformats.org/drawingml/2006/main">
              <a:ext uri="{FF2B5EF4-FFF2-40B4-BE49-F238E27FC236}">
                <a16:creationId xmlns:a16="http://schemas.microsoft.com/office/drawing/2014/main" id="{5E0F81C4-20EE-4997-A020-244BA2D4F102}"/>
              </a:ext>
            </a:extLst>
          </p:cNvPr>
          <p:cNvSpPr>
            <a:spLocks xmlns:a="http://schemas.openxmlformats.org/drawingml/2006/main" noGrp="1"/>
          </p:cNvSpPr>
          <p:nvPr/>
        </p:nvSpPr>
        <p:spPr>
          <a:xfrm xmlns:a="http://schemas.openxmlformats.org/drawingml/2006/main">
            <a:off x="3319272" y="1417320"/>
            <a:ext cx="269748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7" name="Shape 13">
            <a:extLst xmlns:a="http://schemas.openxmlformats.org/drawingml/2006/main">
              <a:ext uri="{FF2B5EF4-FFF2-40B4-BE49-F238E27FC236}">
                <a16:creationId xmlns:a16="http://schemas.microsoft.com/office/drawing/2014/main" id="{4E3054B0-A6CF-40D3-9BED-EE157BC5ED38}"/>
              </a:ext>
            </a:extLst>
          </p:cNvPr>
          <p:cNvSpPr>
            <a:spLocks xmlns:a="http://schemas.openxmlformats.org/drawingml/2006/main" noGrp="1"/>
          </p:cNvSpPr>
          <p:nvPr/>
        </p:nvSpPr>
        <p:spPr>
          <a:xfrm xmlns:a="http://schemas.openxmlformats.org/drawingml/2006/main">
            <a:off x="3319272" y="1417320"/>
            <a:ext cx="2697480" cy="64008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18" name="Text 14">
            <a:extLst xmlns:a="http://schemas.openxmlformats.org/drawingml/2006/main">
              <a:ext uri="{FF2B5EF4-FFF2-40B4-BE49-F238E27FC236}">
                <a16:creationId xmlns:a16="http://schemas.microsoft.com/office/drawing/2014/main" id="{CCEDA84D-DE0C-4046-B080-873448304663}"/>
              </a:ext>
            </a:extLst>
          </p:cNvPr>
          <p:cNvSpPr>
            <a:spLocks xmlns:a="http://schemas.openxmlformats.org/drawingml/2006/main" noGrp="1"/>
          </p:cNvSpPr>
          <p:nvPr/>
        </p:nvSpPr>
        <p:spPr>
          <a:xfrm xmlns:a="http://schemas.openxmlformats.org/drawingml/2006/main">
            <a:off x="3319272" y="14173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onsolas"/>
                <a:ea typeface="Consolas"/>
                <a:cs typeface="Consolas"/>
              </a:rPr>
              <a:t>USER</a:t>
            </a:r>
            <a:endParaRPr sz="1700"/>
          </a:p>
        </p:txBody>
      </p:sp>
      <p:sp>
        <p:nvSpPr>
          <p:cNvPr id="19" name="Text 15">
            <a:extLst xmlns:a="http://schemas.openxmlformats.org/drawingml/2006/main">
              <a:ext uri="{FF2B5EF4-FFF2-40B4-BE49-F238E27FC236}">
                <a16:creationId xmlns:a16="http://schemas.microsoft.com/office/drawing/2014/main" id="{64224AD6-2BA8-4D27-8108-3646CE1D7F1C}"/>
              </a:ext>
            </a:extLst>
          </p:cNvPr>
          <p:cNvSpPr>
            <a:spLocks xmlns:a="http://schemas.openxmlformats.org/drawingml/2006/main" noGrp="1"/>
          </p:cNvSpPr>
          <p:nvPr/>
        </p:nvSpPr>
        <p:spPr>
          <a:xfrm xmlns:a="http://schemas.openxmlformats.org/drawingml/2006/main">
            <a:off x="3502152" y="2194560"/>
            <a:ext cx="2331720" cy="19202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USER memilih UID/GID. Gunakan user non-root yang sudah tersedia/dibuat.</a:t>
            </a:r>
            <a:endParaRPr sz="1100"/>
          </a:p>
        </p:txBody>
      </p:sp>
      <p:sp>
        <p:nvSpPr>
          <p:cNvPr id="20" name="Shape 16">
            <a:extLst xmlns:a="http://schemas.openxmlformats.org/drawingml/2006/main">
              <a:ext uri="{FF2B5EF4-FFF2-40B4-BE49-F238E27FC236}">
                <a16:creationId xmlns:a16="http://schemas.microsoft.com/office/drawing/2014/main" id="{B44F8DB9-8A53-4CCA-9E99-D5275F00CFFC}"/>
              </a:ext>
            </a:extLst>
          </p:cNvPr>
          <p:cNvSpPr>
            <a:spLocks xmlns:a="http://schemas.openxmlformats.org/drawingml/2006/main" noGrp="1"/>
          </p:cNvSpPr>
          <p:nvPr/>
        </p:nvSpPr>
        <p:spPr>
          <a:xfrm xmlns:a="http://schemas.openxmlformats.org/drawingml/2006/main">
            <a:off x="3502152" y="4160520"/>
            <a:ext cx="2331720" cy="18288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1" name="Text 17">
            <a:extLst xmlns:a="http://schemas.openxmlformats.org/drawingml/2006/main">
              <a:ext uri="{FF2B5EF4-FFF2-40B4-BE49-F238E27FC236}">
                <a16:creationId xmlns:a16="http://schemas.microsoft.com/office/drawing/2014/main" id="{A33F98D4-F129-4880-AE57-D3BAB702ED58}"/>
              </a:ext>
            </a:extLst>
          </p:cNvPr>
          <p:cNvSpPr>
            <a:spLocks xmlns:a="http://schemas.openxmlformats.org/drawingml/2006/main" noGrp="1"/>
          </p:cNvSpPr>
          <p:nvPr/>
        </p:nvSpPr>
        <p:spPr>
          <a:xfrm xmlns:a="http://schemas.openxmlformats.org/drawingml/2006/main">
            <a:off x="3593592" y="4251960"/>
            <a:ext cx="2148840" cy="16916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200"/>
              </a:spcAft>
              <a:buNone/>
            </a:pPr>
            <a:r>
              <a:rPr sz="1000">
                <a:solidFill>
                  <a:srgbClr val="10B981"/>
                </a:solidFill>
                <a:latin typeface="Consolas"/>
                <a:ea typeface="Consolas"/>
                <a:cs typeface="Consolas"/>
              </a:rPr>
              <a:t>RUN adduser -D app</a:t>
            </a:r>
            <a:endParaRPr sz="1000"/>
          </a:p>
          <a:p xmlns:a="http://schemas.openxmlformats.org/drawingml/2006/main">
            <a:pPr marL="0" indent="0">
              <a:spcAft>
                <a:spcPts val="200"/>
              </a:spcAft>
              <a:buNone/>
            </a:pPr>
            <a:r>
              <a:rPr sz="1000">
                <a:solidFill>
                  <a:srgbClr val="10B981"/>
                </a:solidFill>
                <a:latin typeface="Consolas"/>
                <a:ea typeface="Consolas"/>
                <a:cs typeface="Consolas"/>
              </a:rPr>
              <a:t>USER app</a:t>
            </a:r>
            <a:endParaRPr sz="1000"/>
          </a:p>
        </p:txBody>
      </p:sp>
      <p:sp>
        <p:nvSpPr>
          <p:cNvPr id="22" name="Shape 18">
            <a:extLst xmlns:a="http://schemas.openxmlformats.org/drawingml/2006/main">
              <a:ext uri="{FF2B5EF4-FFF2-40B4-BE49-F238E27FC236}">
                <a16:creationId xmlns:a16="http://schemas.microsoft.com/office/drawing/2014/main" id="{367664AE-B308-48BC-B224-62244A7C3830}"/>
              </a:ext>
            </a:extLst>
          </p:cNvPr>
          <p:cNvSpPr>
            <a:spLocks xmlns:a="http://schemas.openxmlformats.org/drawingml/2006/main" noGrp="1"/>
          </p:cNvSpPr>
          <p:nvPr/>
        </p:nvSpPr>
        <p:spPr>
          <a:xfrm xmlns:a="http://schemas.openxmlformats.org/drawingml/2006/main">
            <a:off x="6181344" y="1417320"/>
            <a:ext cx="269748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Shape 19">
            <a:extLst xmlns:a="http://schemas.openxmlformats.org/drawingml/2006/main">
              <a:ext uri="{FF2B5EF4-FFF2-40B4-BE49-F238E27FC236}">
                <a16:creationId xmlns:a16="http://schemas.microsoft.com/office/drawing/2014/main" id="{A70CD399-B965-45C1-A139-0F94666D29EC}"/>
              </a:ext>
            </a:extLst>
          </p:cNvPr>
          <p:cNvSpPr>
            <a:spLocks xmlns:a="http://schemas.openxmlformats.org/drawingml/2006/main" noGrp="1"/>
          </p:cNvSpPr>
          <p:nvPr/>
        </p:nvSpPr>
        <p:spPr>
          <a:xfrm xmlns:a="http://schemas.openxmlformats.org/drawingml/2006/main">
            <a:off x="6181344" y="1417320"/>
            <a:ext cx="2697480" cy="6400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4" name="Text 20">
            <a:extLst xmlns:a="http://schemas.openxmlformats.org/drawingml/2006/main">
              <a:ext uri="{FF2B5EF4-FFF2-40B4-BE49-F238E27FC236}">
                <a16:creationId xmlns:a16="http://schemas.microsoft.com/office/drawing/2014/main" id="{1B2E5F16-330D-4ECB-9290-1B3A1431BB7F}"/>
              </a:ext>
            </a:extLst>
          </p:cNvPr>
          <p:cNvSpPr>
            <a:spLocks xmlns:a="http://schemas.openxmlformats.org/drawingml/2006/main" noGrp="1"/>
          </p:cNvSpPr>
          <p:nvPr/>
        </p:nvSpPr>
        <p:spPr>
          <a:xfrm xmlns:a="http://schemas.openxmlformats.org/drawingml/2006/main">
            <a:off x="6181344" y="14173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onsolas"/>
                <a:ea typeface="Consolas"/>
                <a:cs typeface="Consolas"/>
              </a:rPr>
              <a:t>HEALTHCHECK</a:t>
            </a:r>
            <a:endParaRPr sz="1700"/>
          </a:p>
        </p:txBody>
      </p:sp>
      <p:sp>
        <p:nvSpPr>
          <p:cNvPr id="25" name="Text 21">
            <a:extLst xmlns:a="http://schemas.openxmlformats.org/drawingml/2006/main">
              <a:ext uri="{FF2B5EF4-FFF2-40B4-BE49-F238E27FC236}">
                <a16:creationId xmlns:a16="http://schemas.microsoft.com/office/drawing/2014/main" id="{2CE15BF4-3C9C-4131-8E56-5A77D278ADFE}"/>
              </a:ext>
            </a:extLst>
          </p:cNvPr>
          <p:cNvSpPr>
            <a:spLocks xmlns:a="http://schemas.openxmlformats.org/drawingml/2006/main" noGrp="1"/>
          </p:cNvSpPr>
          <p:nvPr/>
        </p:nvSpPr>
        <p:spPr>
          <a:xfrm xmlns:a="http://schemas.openxmlformats.org/drawingml/2006/main">
            <a:off x="6364224" y="2194560"/>
            <a:ext cx="2331720" cy="19202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Probe aplikasi berkala. Tool probe harus tersedia di image.</a:t>
            </a:r>
            <a:endParaRPr sz="1100"/>
          </a:p>
        </p:txBody>
      </p:sp>
      <p:sp>
        <p:nvSpPr>
          <p:cNvPr id="26" name="Shape 22">
            <a:extLst xmlns:a="http://schemas.openxmlformats.org/drawingml/2006/main">
              <a:ext uri="{FF2B5EF4-FFF2-40B4-BE49-F238E27FC236}">
                <a16:creationId xmlns:a16="http://schemas.microsoft.com/office/drawing/2014/main" id="{693B5D6D-7877-47C6-A453-0FC18EC90756}"/>
              </a:ext>
            </a:extLst>
          </p:cNvPr>
          <p:cNvSpPr>
            <a:spLocks xmlns:a="http://schemas.openxmlformats.org/drawingml/2006/main" noGrp="1"/>
          </p:cNvSpPr>
          <p:nvPr/>
        </p:nvSpPr>
        <p:spPr>
          <a:xfrm xmlns:a="http://schemas.openxmlformats.org/drawingml/2006/main">
            <a:off x="6364224" y="4160520"/>
            <a:ext cx="2331720" cy="18288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7" name="Text 23">
            <a:extLst xmlns:a="http://schemas.openxmlformats.org/drawingml/2006/main">
              <a:ext uri="{FF2B5EF4-FFF2-40B4-BE49-F238E27FC236}">
                <a16:creationId xmlns:a16="http://schemas.microsoft.com/office/drawing/2014/main" id="{DDDA568C-CEAF-4030-B7FB-D4E374758235}"/>
              </a:ext>
            </a:extLst>
          </p:cNvPr>
          <p:cNvSpPr>
            <a:spLocks xmlns:a="http://schemas.openxmlformats.org/drawingml/2006/main" noGrp="1"/>
          </p:cNvSpPr>
          <p:nvPr/>
        </p:nvSpPr>
        <p:spPr>
          <a:xfrm xmlns:a="http://schemas.openxmlformats.org/drawingml/2006/main">
            <a:off x="6455664" y="4251960"/>
            <a:ext cx="2148840" cy="16916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spcAft>
                <a:spcPts val="200"/>
              </a:spcAft>
              <a:buNone/>
              <a:defRPr sz="863">
                <a:solidFill>
                  <a:srgbClr val="00C896"/>
                </a:solidFill>
                <a:latin typeface="Consolas"/>
                <a:ea typeface="Consolas"/>
                <a:cs typeface="Consolas"/>
              </a:defRPr>
            </a:pPr>
            <a:r>
              <a:rPr sz="863">
                <a:solidFill>
                  <a:srgbClr val="00C896"/>
                </a:solidFill>
                <a:latin typeface="Consolas"/>
                <a:ea typeface="Consolas"/>
                <a:cs typeface="Consolas"/>
              </a:rPr>
              <a:t>HEALTHCHECK --interval=30s \</a:t>
            </a:r>
            <a:endParaRPr sz="1000"/>
          </a:p>
          <a:p xmlns:a="http://schemas.openxmlformats.org/drawingml/2006/main">
            <a:pPr marL="0" indent="0">
              <a:spcAft>
                <a:spcPts val="200"/>
              </a:spcAft>
              <a:buNone/>
              <a:defRPr sz="863">
                <a:solidFill>
                  <a:srgbClr val="00C896"/>
                </a:solidFill>
                <a:latin typeface="Consolas"/>
                <a:ea typeface="Consolas"/>
                <a:cs typeface="Consolas"/>
              </a:defRPr>
            </a:pPr>
            <a:r>
              <a:rPr sz="863">
                <a:solidFill>
                  <a:srgbClr val="00C896"/>
                </a:solidFill>
                <a:latin typeface="Consolas"/>
                <a:ea typeface="Consolas"/>
                <a:cs typeface="Consolas"/>
              </a:rPr>
              <a:t> CMD curl -f \</a:t>
            </a:r>
            <a:endParaRPr sz="1000"/>
          </a:p>
          <a:p xmlns:a="http://schemas.openxmlformats.org/drawingml/2006/main">
            <a:pPr marL="0" indent="0">
              <a:spcAft>
                <a:spcPts val="200"/>
              </a:spcAft>
              <a:buNone/>
              <a:defRPr sz="863">
                <a:solidFill>
                  <a:srgbClr val="00C896"/>
                </a:solidFill>
                <a:latin typeface="Consolas"/>
                <a:ea typeface="Consolas"/>
                <a:cs typeface="Consolas"/>
              </a:defRPr>
            </a:pPr>
            <a:r>
              <a:rPr sz="863">
                <a:solidFill>
                  <a:srgbClr val="00C896"/>
                </a:solidFill>
                <a:latin typeface="Consolas"/>
                <a:ea typeface="Consolas"/>
                <a:cs typeface="Consolas"/>
              </a:rPr>
              <a:t> http://localhost:3000/health \</a:t>
            </a:r>
            <a:endParaRPr sz="1000"/>
          </a:p>
          <a:p xmlns:a="http://schemas.openxmlformats.org/drawingml/2006/main">
            <a:pPr marL="0" indent="0">
              <a:spcAft>
                <a:spcPts val="200"/>
              </a:spcAft>
              <a:buNone/>
              <a:defRPr sz="863">
                <a:solidFill>
                  <a:srgbClr val="00C896"/>
                </a:solidFill>
                <a:latin typeface="Consolas"/>
                <a:ea typeface="Consolas"/>
                <a:cs typeface="Consolas"/>
              </a:defRPr>
            </a:pPr>
            <a:r>
              <a:rPr sz="863">
                <a:solidFill>
                  <a:srgbClr val="00C896"/>
                </a:solidFill>
                <a:latin typeface="Consolas"/>
                <a:ea typeface="Consolas"/>
                <a:cs typeface="Consolas"/>
              </a:rPr>
              <a:t> || exit 1</a:t>
            </a:r>
            <a:endParaRPr sz="1000"/>
          </a:p>
        </p:txBody>
      </p:sp>
      <p:sp>
        <p:nvSpPr>
          <p:cNvPr id="28" name="Shape 24">
            <a:extLst xmlns:a="http://schemas.openxmlformats.org/drawingml/2006/main">
              <a:ext uri="{FF2B5EF4-FFF2-40B4-BE49-F238E27FC236}">
                <a16:creationId xmlns:a16="http://schemas.microsoft.com/office/drawing/2014/main" id="{E31C03CA-2FAD-4F81-A09E-3E7B25FB4FFC}"/>
              </a:ext>
            </a:extLst>
          </p:cNvPr>
          <p:cNvSpPr>
            <a:spLocks xmlns:a="http://schemas.openxmlformats.org/drawingml/2006/main" noGrp="1"/>
          </p:cNvSpPr>
          <p:nvPr/>
        </p:nvSpPr>
        <p:spPr>
          <a:xfrm xmlns:a="http://schemas.openxmlformats.org/drawingml/2006/main">
            <a:off x="9043416" y="1417320"/>
            <a:ext cx="269748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9" name="Shape 25">
            <a:extLst xmlns:a="http://schemas.openxmlformats.org/drawingml/2006/main">
              <a:ext uri="{FF2B5EF4-FFF2-40B4-BE49-F238E27FC236}">
                <a16:creationId xmlns:a16="http://schemas.microsoft.com/office/drawing/2014/main" id="{5FF7194B-4D24-4028-88A7-AA148A902BA0}"/>
              </a:ext>
            </a:extLst>
          </p:cNvPr>
          <p:cNvSpPr>
            <a:spLocks xmlns:a="http://schemas.openxmlformats.org/drawingml/2006/main" noGrp="1"/>
          </p:cNvSpPr>
          <p:nvPr/>
        </p:nvSpPr>
        <p:spPr>
          <a:xfrm xmlns:a="http://schemas.openxmlformats.org/drawingml/2006/main">
            <a:off x="9043416" y="1417320"/>
            <a:ext cx="2697480" cy="640080"/>
          </a:xfrm>
          <a:prstGeom xmlns:a="http://schemas.openxmlformats.org/drawingml/2006/main" prst="rect">
            <a:avLst/>
          </a:prstGeom>
          <a:solidFill xmlns:a="http://schemas.openxmlformats.org/drawingml/2006/main">
            <a:srgbClr val="7C3AED"/>
          </a:solidFill>
          <a:ln xmlns:a="http://schemas.openxmlformats.org/drawingml/2006/main" w="12700">
            <a:solidFill>
              <a:srgbClr val="7C3AED"/>
            </a:solidFill>
            <a:prstDash val="solid"/>
          </a:ln>
        </p:spPr>
      </p:sp>
      <p:sp>
        <p:nvSpPr>
          <p:cNvPr id="30" name="Text 26">
            <a:extLst xmlns:a="http://schemas.openxmlformats.org/drawingml/2006/main">
              <a:ext uri="{FF2B5EF4-FFF2-40B4-BE49-F238E27FC236}">
                <a16:creationId xmlns:a16="http://schemas.microsoft.com/office/drawing/2014/main" id="{733CF3C9-0216-44D2-9162-462511FF282E}"/>
              </a:ext>
            </a:extLst>
          </p:cNvPr>
          <p:cNvSpPr>
            <a:spLocks xmlns:a="http://schemas.openxmlformats.org/drawingml/2006/main" noGrp="1"/>
          </p:cNvSpPr>
          <p:nvPr/>
        </p:nvSpPr>
        <p:spPr>
          <a:xfrm xmlns:a="http://schemas.openxmlformats.org/drawingml/2006/main">
            <a:off x="9043416" y="14173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onsolas"/>
                <a:ea typeface="Consolas"/>
                <a:cs typeface="Consolas"/>
              </a:rPr>
              <a:t>LABEL</a:t>
            </a:r>
            <a:endParaRPr sz="1700"/>
          </a:p>
        </p:txBody>
      </p:sp>
      <p:sp>
        <p:nvSpPr>
          <p:cNvPr id="31" name="Text 27">
            <a:extLst xmlns:a="http://schemas.openxmlformats.org/drawingml/2006/main">
              <a:ext uri="{FF2B5EF4-FFF2-40B4-BE49-F238E27FC236}">
                <a16:creationId xmlns:a16="http://schemas.microsoft.com/office/drawing/2014/main" id="{04E3231B-3004-423F-BD54-34F9EC6992CF}"/>
              </a:ext>
            </a:extLst>
          </p:cNvPr>
          <p:cNvSpPr>
            <a:spLocks xmlns:a="http://schemas.openxmlformats.org/drawingml/2006/main" noGrp="1"/>
          </p:cNvSpPr>
          <p:nvPr/>
        </p:nvSpPr>
        <p:spPr>
          <a:xfrm xmlns:a="http://schemas.openxmlformats.org/drawingml/2006/main">
            <a:off x="9226296" y="2194560"/>
            <a:ext cx="2331720" cy="19202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Metadata key=value di image. Untuk filtering &amp; dokumentasi.</a:t>
            </a:r>
            <a:endParaRPr sz="1100"/>
          </a:p>
        </p:txBody>
      </p:sp>
      <p:sp>
        <p:nvSpPr>
          <p:cNvPr id="32" name="Shape 28">
            <a:extLst xmlns:a="http://schemas.openxmlformats.org/drawingml/2006/main">
              <a:ext uri="{FF2B5EF4-FFF2-40B4-BE49-F238E27FC236}">
                <a16:creationId xmlns:a16="http://schemas.microsoft.com/office/drawing/2014/main" id="{2DFB51C4-FFED-441F-B527-CABB7BA88914}"/>
              </a:ext>
            </a:extLst>
          </p:cNvPr>
          <p:cNvSpPr>
            <a:spLocks xmlns:a="http://schemas.openxmlformats.org/drawingml/2006/main" noGrp="1"/>
          </p:cNvSpPr>
          <p:nvPr/>
        </p:nvSpPr>
        <p:spPr>
          <a:xfrm xmlns:a="http://schemas.openxmlformats.org/drawingml/2006/main">
            <a:off x="9226296" y="4160520"/>
            <a:ext cx="2331720" cy="18288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3" name="Text 29">
            <a:extLst xmlns:a="http://schemas.openxmlformats.org/drawingml/2006/main">
              <a:ext uri="{FF2B5EF4-FFF2-40B4-BE49-F238E27FC236}">
                <a16:creationId xmlns:a16="http://schemas.microsoft.com/office/drawing/2014/main" id="{F351B21A-5565-4DF0-B806-15042AE69A8D}"/>
              </a:ext>
            </a:extLst>
          </p:cNvPr>
          <p:cNvSpPr>
            <a:spLocks xmlns:a="http://schemas.openxmlformats.org/drawingml/2006/main" noGrp="1"/>
          </p:cNvSpPr>
          <p:nvPr/>
        </p:nvSpPr>
        <p:spPr>
          <a:xfrm xmlns:a="http://schemas.openxmlformats.org/drawingml/2006/main">
            <a:off x="9317736" y="4251960"/>
            <a:ext cx="2148840" cy="16916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200"/>
              </a:spcAft>
              <a:buNone/>
            </a:pPr>
            <a:r>
              <a:rPr sz="1000">
                <a:solidFill>
                  <a:srgbClr val="10B981"/>
                </a:solidFill>
                <a:latin typeface="Consolas"/>
                <a:ea typeface="Consolas"/>
                <a:cs typeface="Consolas"/>
              </a:rPr>
              <a:t>LABEL version="1.0"</a:t>
            </a:r>
            <a:endParaRPr sz="1000"/>
          </a:p>
          <a:p xmlns:a="http://schemas.openxmlformats.org/drawingml/2006/main">
            <a:pPr marL="0" indent="0">
              <a:spcAft>
                <a:spcPts val="200"/>
              </a:spcAft>
              <a:buNone/>
            </a:pPr>
            <a:r>
              <a:rPr sz="1000">
                <a:solidFill>
                  <a:srgbClr val="10B981"/>
                </a:solidFill>
                <a:latin typeface="Consolas"/>
                <a:ea typeface="Consolas"/>
                <a:cs typeface="Consolas"/>
              </a:rPr>
              <a:t>LABEL maintainer="budi@bdg"</a:t>
            </a:r>
            <a:endParaRPr sz="1000"/>
          </a:p>
        </p:txBody>
      </p:sp>
      <p:sp>
        <p:nvSpPr>
          <p:cNvPr id="34" name="Text 30">
            <a:extLst xmlns:a="http://schemas.openxmlformats.org/drawingml/2006/main">
              <a:ext uri="{FF2B5EF4-FFF2-40B4-BE49-F238E27FC236}">
                <a16:creationId xmlns:a16="http://schemas.microsoft.com/office/drawing/2014/main" id="{7B94F585-0E21-48BC-A3A7-169017656BE6}"/>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Catatan: </a:t>
            </a:r>
            <a:r>
              <a:rPr sz="1100" i="1">
                <a:solidFill>
                  <a:srgbClr val="1E293B"/>
                </a:solidFill>
                <a:latin typeface="Calibri"/>
                <a:ea typeface="Calibri"/>
                <a:cs typeface="Calibri"/>
              </a:rPr>
              <a:t>EXPOSE bukan port mapping. Mapping tetap pakai </a:t>
            </a:r>
            <a:r>
              <a:rPr sz="1100" b="1" i="1">
                <a:solidFill>
                  <a:srgbClr val="002677"/>
                </a:solidFill>
                <a:latin typeface="Consolas"/>
                <a:ea typeface="Consolas"/>
                <a:cs typeface="Consolas"/>
              </a:rPr>
              <a:t>-p host:container</a:t>
            </a:r>
            <a:r>
              <a:rPr sz="1100" i="1">
                <a:solidFill>
                  <a:srgbClr val="1E293B"/>
                </a:solidFill>
                <a:latin typeface="Calibri"/>
                <a:ea typeface="Calibri"/>
                <a:cs typeface="Calibri"/>
              </a:rPr>
              <a:t> saat docker run.</a:t>
            </a:r>
            <a:endParaRPr sz="1100"/>
          </a:p>
        </p:txBody>
      </p:sp>
    </p:spTree>
    <p:extLst>
      <p:ext uri="{BB962C8B-B14F-4D97-AF65-F5344CB8AC3E}">
        <p14:creationId xmlns:p14="http://schemas.microsoft.com/office/powerpoint/2010/main" val="176064255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0" name="">
            <a:extLst xmlns:a="http://schemas.openxmlformats.org/drawingml/2006/main">
              <a:ext uri="{FF2B5EF4-FFF2-40B4-BE49-F238E27FC236}">
                <a16:creationId xmlns:a16="http://schemas.microsoft.com/office/drawing/2014/main" id="{E4C21222-E04A-4253-9E0B-DFE6E86F1DFA}"/>
              </a:ext>
            </a:extLst>
          </p:cNvPr>
          <p:cNvPicPr>
            <a:picLocks xmlns:a="http://schemas.openxmlformats.org/drawingml/2006/main" noChangeAspect="1"/>
          </p:cNvPicPr>
          <p:nvPr/>
        </p:nvPicPr>
        <p:blipFill>
          <a:blip xmlns:r="http://schemas.openxmlformats.org/officeDocument/2006/relationships" xmlns:a="http://schemas.openxmlformats.org/drawingml/2006/main" r:embed="R602522f27ae0495e"/>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B8D00FF2-D5BE-4CE4-91B3-A3BA6146A154}"/>
              </a:ext>
            </a:extLst>
          </p:cNvPr>
          <p:cNvPicPr>
            <a:picLocks xmlns:a="http://schemas.openxmlformats.org/drawingml/2006/main" noChangeAspect="1"/>
          </p:cNvPicPr>
          <p:nvPr/>
        </p:nvPicPr>
        <p:blipFill>
          <a:blip xmlns:r="http://schemas.openxmlformats.org/officeDocument/2006/relationships" xmlns:a="http://schemas.openxmlformats.org/drawingml/2006/main" r:embed="R5a48265cc4684d81"/>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845D2DB6-F451-47A3-9C75-5003A96A4DFA}"/>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Nomor loket dan jalur masuk</a:t>
            </a:r>
          </a:p>
        </p:txBody>
      </p:sp>
      <p:sp>
        <p:nvSpPr>
          <p:cNvPr id="4" name="text_1">
            <a:extLst xmlns:a="http://schemas.openxmlformats.org/drawingml/2006/main">
              <a:ext uri="{FF2B5EF4-FFF2-40B4-BE49-F238E27FC236}">
                <a16:creationId xmlns:a16="http://schemas.microsoft.com/office/drawing/2014/main" id="{000FE2C9-1982-4815-A735-2D4392EC3164}"/>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EXPOSE memberi informasi; -p membuat mapping port host ke container</a:t>
            </a:r>
          </a:p>
        </p:txBody>
      </p:sp>
      <p:sp>
        <p:nvSpPr>
          <p:cNvPr id="5" name="">
            <a:extLst xmlns:a="http://schemas.openxmlformats.org/drawingml/2006/main">
              <a:ext uri="{FF2B5EF4-FFF2-40B4-BE49-F238E27FC236}">
                <a16:creationId xmlns:a16="http://schemas.microsoft.com/office/drawing/2014/main" id="{69A96D2E-2762-4B8B-8643-6CF4DF16E426}"/>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0E47FB7-F5DE-40BD-82DB-DD3ED48BBEF7}"/>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3A3364AD-23F7-4FD3-A8C7-0E33EC7CF5D2}"/>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8BA7BE5F-CC00-4807-8ADD-9F369A7B95DA}"/>
              </a:ext>
            </a:extLst>
          </p:cNvPr>
          <p:cNvPicPr>
            <a:picLocks xmlns:a="http://schemas.openxmlformats.org/drawingml/2006/main" noChangeAspect="1"/>
          </p:cNvPicPr>
          <p:nvPr/>
        </p:nvPicPr>
        <p:blipFill>
          <a:blip xmlns:r="http://schemas.openxmlformats.org/officeDocument/2006/relationships" xmlns:a="http://schemas.openxmlformats.org/drawingml/2006/main" r:embed="R5e559a01c5ae4d69"/>
          <a:srcRect xmlns:a="http://schemas.openxmlformats.org/drawingml/2006/main" l="1508" t="0" r="1508" b="0"/>
          <a:stretch xmlns:a="http://schemas.openxmlformats.org/drawingml/2006/main">
            <a:fillRect l="0" t="0" r="0" b="0"/>
          </a:stretch>
        </p:blipFill>
        <p:spPr>
          <a:xfrm xmlns:a="http://schemas.openxmlformats.org/drawingml/2006/main">
            <a:off x="6762750" y="1571625"/>
            <a:ext cx="4972050" cy="3486150"/>
          </a:xfrm>
          <a:prstGeom xmlns:a="http://schemas.openxmlformats.org/drawingml/2006/main" prst="rect">
            <a:avLst/>
          </a:prstGeom>
        </p:spPr>
      </p:pic>
      <p:sp>
        <p:nvSpPr>
          <p:cNvPr id="9" name="text_5">
            <a:extLst xmlns:a="http://schemas.openxmlformats.org/drawingml/2006/main">
              <a:ext uri="{FF2B5EF4-FFF2-40B4-BE49-F238E27FC236}">
                <a16:creationId xmlns:a16="http://schemas.microsoft.com/office/drawing/2014/main" id="{74D4C76F-5915-43EA-8369-77BB124B488E}"/>
              </a:ext>
            </a:extLst>
          </p:cNvPr>
          <p:cNvSpPr>
            <a:spLocks xmlns:a="http://schemas.openxmlformats.org/drawingml/2006/main" noGrp="1"/>
          </p:cNvSpPr>
          <p:nvPr/>
        </p:nvSpPr>
        <p:spPr>
          <a:xfrm xmlns:a="http://schemas.openxmlformats.org/drawingml/2006/main">
            <a:off x="6762750" y="5133975"/>
            <a:ext cx="4972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00" b="0">
                <a:solidFill>
                  <a:srgbClr val="64748B"/>
                </a:solidFill>
                <a:latin typeface="Calibri"/>
                <a:ea typeface="Calibri"/>
                <a:cs typeface="Calibri"/>
              </a:defRPr>
            </a:defPPr>
          </a:lstStyle>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Foto: Nam Quân Nguyễn / Pexels · ilustrasi perumpamaan</a:t>
            </a:r>
          </a:p>
        </p:txBody>
      </p:sp>
      <p:sp>
        <p:nvSpPr>
          <p:cNvPr id="10" name="text_6">
            <a:extLst xmlns:a="http://schemas.openxmlformats.org/drawingml/2006/main">
              <a:ext uri="{FF2B5EF4-FFF2-40B4-BE49-F238E27FC236}">
                <a16:creationId xmlns:a16="http://schemas.microsoft.com/office/drawing/2014/main" id="{954CC94E-4A41-48DF-9F30-860FF65290B4}"/>
              </a:ext>
            </a:extLst>
          </p:cNvPr>
          <p:cNvSpPr>
            <a:spLocks xmlns:a="http://schemas.openxmlformats.org/drawingml/2006/main" noGrp="1"/>
          </p:cNvSpPr>
          <p:nvPr/>
        </p:nvSpPr>
        <p:spPr>
          <a:xfrm xmlns:a="http://schemas.openxmlformats.org/drawingml/2006/main">
            <a:off x="457200" y="157162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defRPr sz="1875" b="1">
                <a:solidFill>
                  <a:srgbClr val="052877"/>
                </a:solidFill>
                <a:latin typeface="Calibri"/>
                <a:ea typeface="Calibri"/>
                <a:cs typeface="Calibri"/>
              </a:defRPr>
            </a:pPr>
            <a:r>
              <a:rPr sz="1875" b="1">
                <a:solidFill>
                  <a:srgbClr val="052877"/>
                </a:solidFill>
                <a:latin typeface="Calibri"/>
                <a:ea typeface="Calibri"/>
                <a:cs typeface="Calibri"/>
              </a:rPr>
              <a:t>EXPOSE 8000 = papan informasi</a:t>
            </a:r>
          </a:p>
        </p:txBody>
      </p:sp>
      <p:sp>
        <p:nvSpPr>
          <p:cNvPr id="11" name="text_7">
            <a:extLst xmlns:a="http://schemas.openxmlformats.org/drawingml/2006/main">
              <a:ext uri="{FF2B5EF4-FFF2-40B4-BE49-F238E27FC236}">
                <a16:creationId xmlns:a16="http://schemas.microsoft.com/office/drawing/2014/main" id="{CE1AAFF2-B432-4AD6-9A4E-1B79C992AFEE}"/>
              </a:ext>
            </a:extLst>
          </p:cNvPr>
          <p:cNvSpPr>
            <a:spLocks xmlns:a="http://schemas.openxmlformats.org/drawingml/2006/main" noGrp="1"/>
          </p:cNvSpPr>
          <p:nvPr/>
        </p:nvSpPr>
        <p:spPr>
          <a:xfrm xmlns:a="http://schemas.openxmlformats.org/drawingml/2006/main">
            <a:off x="457200" y="1971675"/>
            <a:ext cx="5905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Menyatakan port yang dipakai aplikasi.</a:t>
            </a:r>
          </a:p>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Belum membuka jalur dari mesin host.</a:t>
            </a:r>
          </a:p>
        </p:txBody>
      </p:sp>
      <p:sp>
        <p:nvSpPr>
          <p:cNvPr id="12" name="text_8">
            <a:extLst xmlns:a="http://schemas.openxmlformats.org/drawingml/2006/main">
              <a:ext uri="{FF2B5EF4-FFF2-40B4-BE49-F238E27FC236}">
                <a16:creationId xmlns:a16="http://schemas.microsoft.com/office/drawing/2014/main" id="{8EDF24AE-BDF0-4DCE-B1D1-5E49A674C4FC}"/>
              </a:ext>
            </a:extLst>
          </p:cNvPr>
          <p:cNvSpPr>
            <a:spLocks xmlns:a="http://schemas.openxmlformats.org/drawingml/2006/main" noGrp="1"/>
          </p:cNvSpPr>
          <p:nvPr/>
        </p:nvSpPr>
        <p:spPr>
          <a:xfrm xmlns:a="http://schemas.openxmlformats.org/drawingml/2006/main">
            <a:off x="457200" y="2724150"/>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defRPr sz="1875" b="1">
                <a:solidFill>
                  <a:srgbClr val="052877"/>
                </a:solidFill>
                <a:latin typeface="Calibri"/>
                <a:ea typeface="Calibri"/>
                <a:cs typeface="Calibri"/>
              </a:defRPr>
            </a:pPr>
            <a:r>
              <a:rPr sz="1875" b="1">
                <a:solidFill>
                  <a:srgbClr val="052877"/>
                </a:solidFill>
                <a:latin typeface="Calibri"/>
                <a:ea typeface="Calibri"/>
                <a:cs typeface="Calibri"/>
              </a:rPr>
              <a:t>-p 8080:8000 = jalur pelayanan</a:t>
            </a:r>
          </a:p>
        </p:txBody>
      </p:sp>
      <p:sp>
        <p:nvSpPr>
          <p:cNvPr id="13" name="text_9">
            <a:extLst xmlns:a="http://schemas.openxmlformats.org/drawingml/2006/main">
              <a:ext uri="{FF2B5EF4-FFF2-40B4-BE49-F238E27FC236}">
                <a16:creationId xmlns:a16="http://schemas.microsoft.com/office/drawing/2014/main" id="{7234BCFA-8E03-48DB-9F2F-4DE62701676B}"/>
              </a:ext>
            </a:extLst>
          </p:cNvPr>
          <p:cNvSpPr>
            <a:spLocks xmlns:a="http://schemas.openxmlformats.org/drawingml/2006/main" noGrp="1"/>
          </p:cNvSpPr>
          <p:nvPr/>
        </p:nvSpPr>
        <p:spPr>
          <a:xfrm xmlns:a="http://schemas.openxmlformats.org/drawingml/2006/main">
            <a:off x="457200" y="3124200"/>
            <a:ext cx="5905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8080: port pada mesin tempat Docker berjalan.</a:t>
            </a:r>
          </a:p>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8000: port aplikasi di dalam container.</a:t>
            </a:r>
          </a:p>
        </p:txBody>
      </p:sp>
      <p:sp>
        <p:nvSpPr>
          <p:cNvPr id="14" name="text_10">
            <a:extLst xmlns:a="http://schemas.openxmlformats.org/drawingml/2006/main">
              <a:ext uri="{FF2B5EF4-FFF2-40B4-BE49-F238E27FC236}">
                <a16:creationId xmlns:a16="http://schemas.microsoft.com/office/drawing/2014/main" id="{76B1F6B6-6F74-42EC-8957-FD74BBC603E6}"/>
              </a:ext>
            </a:extLst>
          </p:cNvPr>
          <p:cNvSpPr>
            <a:spLocks xmlns:a="http://schemas.openxmlformats.org/drawingml/2006/main" noGrp="1"/>
          </p:cNvSpPr>
          <p:nvPr/>
        </p:nvSpPr>
        <p:spPr>
          <a:xfrm xmlns:a="http://schemas.openxmlformats.org/drawingml/2006/main">
            <a:off x="457200" y="3905250"/>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defRPr sz="1875" b="1">
                <a:solidFill>
                  <a:srgbClr val="052877"/>
                </a:solidFill>
                <a:latin typeface="Calibri"/>
                <a:ea typeface="Calibri"/>
                <a:cs typeface="Calibri"/>
              </a:defRPr>
            </a:pPr>
            <a:r>
              <a:rPr sz="1875" b="1">
                <a:solidFill>
                  <a:srgbClr val="052877"/>
                </a:solidFill>
                <a:latin typeface="Calibri"/>
                <a:ea typeface="Calibri"/>
                <a:cs typeface="Calibri"/>
              </a:rPr>
              <a:t>Dua nomor boleh berbeda</a:t>
            </a:r>
          </a:p>
        </p:txBody>
      </p:sp>
      <p:sp>
        <p:nvSpPr>
          <p:cNvPr id="15" name="text_11">
            <a:extLst xmlns:a="http://schemas.openxmlformats.org/drawingml/2006/main">
              <a:ext uri="{FF2B5EF4-FFF2-40B4-BE49-F238E27FC236}">
                <a16:creationId xmlns:a16="http://schemas.microsoft.com/office/drawing/2014/main" id="{35886550-BDFA-4F8D-8582-573D4042D016}"/>
              </a:ext>
            </a:extLst>
          </p:cNvPr>
          <p:cNvSpPr>
            <a:spLocks xmlns:a="http://schemas.openxmlformats.org/drawingml/2006/main" noGrp="1"/>
          </p:cNvSpPr>
          <p:nvPr/>
        </p:nvSpPr>
        <p:spPr>
          <a:xfrm xmlns:a="http://schemas.openxmlformats.org/drawingml/2006/main">
            <a:off x="457200" y="4305300"/>
            <a:ext cx="5905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Server tetap harus listen pada port 8000.</a:t>
            </a:r>
          </a:p>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Di Codespaces, forward port HOST melalui Ports.</a:t>
            </a:r>
          </a:p>
        </p:txBody>
      </p:sp>
      <p:sp>
        <p:nvSpPr>
          <p:cNvPr id="16" name="">
            <a:extLst xmlns:a="http://schemas.openxmlformats.org/drawingml/2006/main">
              <a:ext uri="{FF2B5EF4-FFF2-40B4-BE49-F238E27FC236}">
                <a16:creationId xmlns:a16="http://schemas.microsoft.com/office/drawing/2014/main" id="{676FC56B-5BF9-4EC0-8B98-D50AECAF5D76}"/>
              </a:ext>
            </a:extLst>
          </p:cNvPr>
          <p:cNvSpPr>
            <a:spLocks xmlns:a="http://schemas.openxmlformats.org/drawingml/2006/main" noGrp="1"/>
          </p:cNvSpPr>
          <p:nvPr/>
        </p:nvSpPr>
        <p:spPr>
          <a:xfrm xmlns:a="http://schemas.openxmlformats.org/drawingml/2006/main">
            <a:off x="457200" y="5391150"/>
            <a:ext cx="11277600" cy="6667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7" name="text_13">
            <a:extLst xmlns:a="http://schemas.openxmlformats.org/drawingml/2006/main">
              <a:ext uri="{FF2B5EF4-FFF2-40B4-BE49-F238E27FC236}">
                <a16:creationId xmlns:a16="http://schemas.microsoft.com/office/drawing/2014/main" id="{AC93C9E9-13EF-48DE-B72C-24F63EBDD00A}"/>
              </a:ext>
            </a:extLst>
          </p:cNvPr>
          <p:cNvSpPr>
            <a:spLocks xmlns:a="http://schemas.openxmlformats.org/drawingml/2006/main" noGrp="1"/>
          </p:cNvSpPr>
          <p:nvPr/>
        </p:nvSpPr>
        <p:spPr>
          <a:xfrm xmlns:a="http://schemas.openxmlformats.org/drawingml/2006/main">
            <a:off x="590550" y="5505450"/>
            <a:ext cx="11010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run -d -p 8080:8000 cloud-notes-api:theory-online</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curl -i http://127.0.0.1:8080/health</a:t>
            </a:r>
          </a:p>
        </p:txBody>
      </p:sp>
      <p:sp>
        <p:nvSpPr>
          <p:cNvPr id="18" name="text_14">
            <a:extLst xmlns:a="http://schemas.openxmlformats.org/drawingml/2006/main">
              <a:ext uri="{FF2B5EF4-FFF2-40B4-BE49-F238E27FC236}">
                <a16:creationId xmlns:a16="http://schemas.microsoft.com/office/drawing/2014/main" id="{3F01A679-AA9C-4761-A596-9279BC9A619D}"/>
              </a:ext>
            </a:extLst>
          </p:cNvPr>
          <p:cNvSpPr>
            <a:spLocks xmlns:a="http://schemas.openxmlformats.org/drawingml/2006/main" noGrp="1"/>
          </p:cNvSpPr>
          <p:nvPr/>
        </p:nvSpPr>
        <p:spPr>
          <a:xfrm xmlns:a="http://schemas.openxmlformats.org/drawingml/2006/main">
            <a:off x="457200" y="6143625"/>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F97316"/>
                </a:solidFill>
                <a:latin typeface="Calibri"/>
                <a:ea typeface="Calibri"/>
                <a:cs typeface="Calibri"/>
              </a:defRPr>
            </a:defPPr>
          </a:lstStyle>
          <a:p xmlns:a="http://schemas.openxmlformats.org/drawingml/2006/main">
            <a:pPr>
              <a:defRPr sz="1500" b="1">
                <a:solidFill>
                  <a:srgbClr val="F97316"/>
                </a:solidFill>
                <a:latin typeface="Calibri"/>
                <a:ea typeface="Calibri"/>
                <a:cs typeface="Calibri"/>
              </a:defRPr>
            </a:pPr>
            <a:r>
              <a:rPr sz="1500" b="1">
                <a:solidFill>
                  <a:srgbClr val="F97316"/>
                </a:solidFill>
                <a:latin typeface="Calibri"/>
                <a:ea typeface="Calibri"/>
                <a:cs typeface="Calibri"/>
              </a:rPr>
              <a:t>Browser laptop memakai URL Ports saat Docker berjalan di cloud.</a:t>
            </a:r>
          </a:p>
        </p:txBody>
      </p:sp>
      <p:sp>
        <p:nvSpPr>
          <p:cNvPr id="19" name="text_15">
            <a:extLst xmlns:a="http://schemas.openxmlformats.org/drawingml/2006/main">
              <a:ext uri="{FF2B5EF4-FFF2-40B4-BE49-F238E27FC236}">
                <a16:creationId xmlns:a16="http://schemas.microsoft.com/office/drawing/2014/main" id="{FFCB26F8-084A-4C4F-9562-2D9A7FA6B936}"/>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16</a:t>
            </a:r>
          </a:p>
        </p:txBody>
      </p:sp>
    </p:spTree>
    <p:extLst>
      <p:ext uri="{BB962C8B-B14F-4D97-AF65-F5344CB8AC3E}">
        <p14:creationId xmlns:p14="http://schemas.microsoft.com/office/powerpoint/2010/main" val="1173032845"/>
      </p:ext>
    </p:extLst>
  </p:cSld>
</p:sld>
</file>

<file path=ppt/slides/slide17.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B20A163-C37C-4B07-BA53-054A7DBE5558}"/>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C763026F-D8C3-4646-B50E-202B19175953}"/>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ADAD7FCB-E5C6-4628-8487-B6747412921E}"/>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0BBE2DC2-D09A-4C24-9DCC-4E4C6CD24E5D}"/>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B2AB881F-FD70-4AFF-AEEC-553DB4B9098A}"/>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3AB5DD14-AC3E-441D-92F3-C46790158508}"/>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C34CCB38-115A-4ED0-8C9D-47E7D34FDCA0}"/>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a:extLst xmlns:a="http://schemas.openxmlformats.org/drawingml/2006/main">
              <a:ext uri="{FF2B5EF4-FFF2-40B4-BE49-F238E27FC236}">
                <a16:creationId xmlns:a16="http://schemas.microsoft.com/office/drawing/2014/main" id="{76BCCFF1-4C16-4C94-980F-5B4068D56410}"/>
              </a:ext>
            </a:extLst>
          </p:cNvPr>
          <p:cNvPicPr>
            <a:picLocks xmlns:a="http://schemas.openxmlformats.org/drawingml/2006/main" noChangeAspect="1"/>
          </p:cNvPicPr>
          <p:nvPr/>
        </p:nvPicPr>
        <p:blipFill>
          <a:blip xmlns:r="http://schemas.openxmlformats.org/officeDocument/2006/relationships" xmlns:a="http://schemas.openxmlformats.org/drawingml/2006/main" r:embed="Rd23e06f0f6c944d0"/>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a:extLst xmlns:a="http://schemas.openxmlformats.org/drawingml/2006/main">
              <a:ext uri="{FF2B5EF4-FFF2-40B4-BE49-F238E27FC236}">
                <a16:creationId xmlns:a16="http://schemas.microsoft.com/office/drawing/2014/main" id="{D2B5C43C-99FA-4D37-81FF-EE66CFC42B39}"/>
              </a:ext>
            </a:extLst>
          </p:cNvPr>
          <p:cNvPicPr>
            <a:picLocks xmlns:a="http://schemas.openxmlformats.org/drawingml/2006/main" noChangeAspect="1"/>
          </p:cNvPicPr>
          <p:nvPr/>
        </p:nvPicPr>
        <p:blipFill>
          <a:blip xmlns:r="http://schemas.openxmlformats.org/officeDocument/2006/relationships" xmlns:a="http://schemas.openxmlformats.org/drawingml/2006/main" r:embed="R7ede753ac1194eb7"/>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018F4E64-AEB8-42DC-B29E-C1DF1CEDD00C}"/>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03</a:t>
            </a:r>
            <a:endParaRPr sz="1600"/>
          </a:p>
        </p:txBody>
      </p:sp>
      <p:sp>
        <p:nvSpPr>
          <p:cNvPr id="12" name="Text 8">
            <a:extLst xmlns:a="http://schemas.openxmlformats.org/drawingml/2006/main">
              <a:ext uri="{FF2B5EF4-FFF2-40B4-BE49-F238E27FC236}">
                <a16:creationId xmlns:a16="http://schemas.microsoft.com/office/drawing/2014/main" id="{15373FE1-5B8A-4E3D-BFA5-813330E9E397}"/>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Build Process</a:t>
            </a:r>
            <a:endParaRPr sz="5200"/>
          </a:p>
          <a:p xmlns:a="http://schemas.openxmlformats.org/drawingml/2006/main">
            <a:pPr marL="0" indent="0" algn="ctr">
              <a:buNone/>
            </a:pPr>
            <a:r>
              <a:rPr sz="5200" b="1">
                <a:solidFill>
                  <a:srgbClr val="FFFFFF"/>
                </a:solidFill>
                <a:latin typeface="Calibri"/>
                <a:ea typeface="Calibri"/>
                <a:cs typeface="Calibri"/>
              </a:rPr>
              <a:t>&amp; Layer Cache</a:t>
            </a:r>
            <a:endParaRPr sz="5200"/>
          </a:p>
        </p:txBody>
      </p:sp>
      <p:sp>
        <p:nvSpPr>
          <p:cNvPr id="13" name="Shape 9">
            <a:extLst xmlns:a="http://schemas.openxmlformats.org/drawingml/2006/main">
              <a:ext uri="{FF2B5EF4-FFF2-40B4-BE49-F238E27FC236}">
                <a16:creationId xmlns:a16="http://schemas.microsoft.com/office/drawing/2014/main" id="{1424E1FD-32BA-4A9E-84A3-B475E2E3B38A}"/>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65DB9761-67B6-41C1-B7EE-F2FC89CD5124}"/>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Bagaimana docker build bekerja - dan kenapa urutan instruksi penting.</a:t>
            </a:r>
            <a:endParaRPr sz="1400"/>
          </a:p>
        </p:txBody>
      </p:sp>
      <p:sp>
        <p:nvSpPr>
          <p:cNvPr id="26" name="text_11">
            <a:extLst xmlns:a="http://schemas.openxmlformats.org/drawingml/2006/main">
              <a:ext uri="{FF2B5EF4-FFF2-40B4-BE49-F238E27FC236}">
                <a16:creationId xmlns:a16="http://schemas.microsoft.com/office/drawing/2014/main" id="{159E3503-6CED-43F7-87D1-1E0D90B013EB}"/>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17</a:t>
            </a:r>
          </a:p>
        </p:txBody>
      </p:sp>
    </p:spTree>
    <p:extLst>
      <p:ext uri="{BB962C8B-B14F-4D97-AF65-F5344CB8AC3E}">
        <p14:creationId xmlns:p14="http://schemas.microsoft.com/office/powerpoint/2010/main" val="52801875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4832C49-756D-46AD-BB96-9AE2F6E79AA8}"/>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F8654FF3-347A-4B88-AAF9-1589B7341B2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18</a:t>
            </a:r>
            <a:endParaRPr sz="900"/>
          </a:p>
        </p:txBody>
      </p:sp>
      <p:sp>
        <p:nvSpPr>
          <p:cNvPr id="4" name="Shape 2">
            <a:extLst xmlns:a="http://schemas.openxmlformats.org/drawingml/2006/main">
              <a:ext uri="{FF2B5EF4-FFF2-40B4-BE49-F238E27FC236}">
                <a16:creationId xmlns:a16="http://schemas.microsoft.com/office/drawing/2014/main" id="{2232524B-82EA-4493-A1CF-A925FC71CF54}"/>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1" name="Image 0">
            <a:extLst xmlns:a="http://schemas.openxmlformats.org/drawingml/2006/main">
              <a:ext uri="{FF2B5EF4-FFF2-40B4-BE49-F238E27FC236}">
                <a16:creationId xmlns:a16="http://schemas.microsoft.com/office/drawing/2014/main" id="{DF5FAA51-608D-4795-BC61-5C7C1C68AD73}"/>
              </a:ext>
            </a:extLst>
          </p:cNvPr>
          <p:cNvPicPr>
            <a:picLocks xmlns:a="http://schemas.openxmlformats.org/drawingml/2006/main" noChangeAspect="1"/>
          </p:cNvPicPr>
          <p:nvPr/>
        </p:nvPicPr>
        <p:blipFill>
          <a:blip xmlns:r="http://schemas.openxmlformats.org/officeDocument/2006/relationships" xmlns:a="http://schemas.openxmlformats.org/drawingml/2006/main" r:embed="R9fa7c8713fdd4af5"/>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2" name="Image 1">
            <a:extLst xmlns:a="http://schemas.openxmlformats.org/drawingml/2006/main">
              <a:ext uri="{FF2B5EF4-FFF2-40B4-BE49-F238E27FC236}">
                <a16:creationId xmlns:a16="http://schemas.microsoft.com/office/drawing/2014/main" id="{EDA25EDD-D97E-489B-B400-D0B6DD15BDD3}"/>
              </a:ext>
            </a:extLst>
          </p:cNvPr>
          <p:cNvPicPr>
            <a:picLocks xmlns:a="http://schemas.openxmlformats.org/drawingml/2006/main" noChangeAspect="1"/>
          </p:cNvPicPr>
          <p:nvPr/>
        </p:nvPicPr>
        <p:blipFill>
          <a:blip xmlns:r="http://schemas.openxmlformats.org/officeDocument/2006/relationships" xmlns:a="http://schemas.openxmlformats.org/drawingml/2006/main" r:embed="R52de9be28493447c"/>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55793E07-DDC5-4731-A345-2A4CD4C7D01A}"/>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4779E06E-B759-4914-99E0-BC44CCA7F1BB}"/>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docker build - Step by Step</a:t>
            </a:r>
            <a:endParaRPr sz="2200"/>
          </a:p>
        </p:txBody>
      </p:sp>
      <p:sp>
        <p:nvSpPr>
          <p:cNvPr id="9" name="Text 5">
            <a:extLst xmlns:a="http://schemas.openxmlformats.org/drawingml/2006/main">
              <a:ext uri="{FF2B5EF4-FFF2-40B4-BE49-F238E27FC236}">
                <a16:creationId xmlns:a16="http://schemas.microsoft.com/office/drawing/2014/main" id="{46519B07-A5DC-4F35-A99B-AB681F2B67B7}"/>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Apa yang terjadi saat Anda eksekusi 'docker build'</a:t>
            </a:r>
            <a:endParaRPr sz="1200"/>
          </a:p>
        </p:txBody>
      </p:sp>
      <p:sp>
        <p:nvSpPr>
          <p:cNvPr id="10" name="Shape 6">
            <a:extLst xmlns:a="http://schemas.openxmlformats.org/drawingml/2006/main">
              <a:ext uri="{FF2B5EF4-FFF2-40B4-BE49-F238E27FC236}">
                <a16:creationId xmlns:a16="http://schemas.microsoft.com/office/drawing/2014/main" id="{EA6411C2-A89C-4C38-BABF-F72FCAC27DE4}"/>
              </a:ext>
            </a:extLst>
          </p:cNvPr>
          <p:cNvSpPr>
            <a:spLocks xmlns:a="http://schemas.openxmlformats.org/drawingml/2006/main" noGrp="1"/>
          </p:cNvSpPr>
          <p:nvPr/>
        </p:nvSpPr>
        <p:spPr>
          <a:xfrm xmlns:a="http://schemas.openxmlformats.org/drawingml/2006/main">
            <a:off x="457200" y="1417320"/>
            <a:ext cx="11247120" cy="7772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35A4AD57-88EF-4C9B-BD4E-845B45F4D812}"/>
              </a:ext>
            </a:extLst>
          </p:cNvPr>
          <p:cNvSpPr>
            <a:spLocks xmlns:a="http://schemas.openxmlformats.org/drawingml/2006/main" noGrp="1"/>
          </p:cNvSpPr>
          <p:nvPr/>
        </p:nvSpPr>
        <p:spPr>
          <a:xfrm xmlns:a="http://schemas.openxmlformats.org/drawingml/2006/main">
            <a:off x="594360" y="1554480"/>
            <a:ext cx="502920" cy="502920"/>
          </a:xfrm>
          <a:prstGeom xmlns:a="http://schemas.openxmlformats.org/drawingml/2006/main" prst="ellipse">
            <a:avLst/>
          </a:prstGeom>
          <a:solidFill xmlns:a="http://schemas.openxmlformats.org/drawingml/2006/main">
            <a:srgbClr val="1976D2"/>
          </a:solidFill>
          <a:ln xmlns:a="http://schemas.openxmlformats.org/drawingml/2006/main" w="12700">
            <a:solidFill>
              <a:srgbClr val="1976D2"/>
            </a:solidFill>
            <a:prstDash val="solid"/>
          </a:ln>
        </p:spPr>
      </p:sp>
      <p:sp>
        <p:nvSpPr>
          <p:cNvPr id="12" name="Text 8">
            <a:extLst xmlns:a="http://schemas.openxmlformats.org/drawingml/2006/main">
              <a:ext uri="{FF2B5EF4-FFF2-40B4-BE49-F238E27FC236}">
                <a16:creationId xmlns:a16="http://schemas.microsoft.com/office/drawing/2014/main" id="{AD2FD0C8-694A-4475-8BA7-0479465E27DF}"/>
              </a:ext>
            </a:extLst>
          </p:cNvPr>
          <p:cNvSpPr>
            <a:spLocks xmlns:a="http://schemas.openxmlformats.org/drawingml/2006/main" noGrp="1"/>
          </p:cNvSpPr>
          <p:nvPr/>
        </p:nvSpPr>
        <p:spPr>
          <a:xfrm xmlns:a="http://schemas.openxmlformats.org/drawingml/2006/main">
            <a:off x="594360" y="155448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FFFFFF"/>
                </a:solidFill>
                <a:latin typeface="Calibri"/>
                <a:ea typeface="Calibri"/>
                <a:cs typeface="Calibri"/>
              </a:rPr>
              <a:t>1</a:t>
            </a:r>
            <a:endParaRPr sz="2000"/>
          </a:p>
        </p:txBody>
      </p:sp>
      <p:sp>
        <p:nvSpPr>
          <p:cNvPr id="13" name="Text 9">
            <a:extLst xmlns:a="http://schemas.openxmlformats.org/drawingml/2006/main">
              <a:ext uri="{FF2B5EF4-FFF2-40B4-BE49-F238E27FC236}">
                <a16:creationId xmlns:a16="http://schemas.microsoft.com/office/drawing/2014/main" id="{08BDEB7E-FB12-42BB-9C66-8559C9D70A0E}"/>
              </a:ext>
            </a:extLst>
          </p:cNvPr>
          <p:cNvSpPr>
            <a:spLocks xmlns:a="http://schemas.openxmlformats.org/drawingml/2006/main" noGrp="1"/>
          </p:cNvSpPr>
          <p:nvPr/>
        </p:nvSpPr>
        <p:spPr>
          <a:xfrm xmlns:a="http://schemas.openxmlformats.org/drawingml/2006/main">
            <a:off x="1325880" y="150876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Siapkan Build Context</a:t>
            </a:r>
            <a:endParaRPr sz="1400"/>
          </a:p>
        </p:txBody>
      </p:sp>
      <p:sp>
        <p:nvSpPr>
          <p:cNvPr id="14" name="Text 10">
            <a:extLst xmlns:a="http://schemas.openxmlformats.org/drawingml/2006/main">
              <a:ext uri="{FF2B5EF4-FFF2-40B4-BE49-F238E27FC236}">
                <a16:creationId xmlns:a16="http://schemas.microsoft.com/office/drawing/2014/main" id="{7D68C8B0-7260-4912-B034-4E6998A88C82}"/>
              </a:ext>
            </a:extLst>
          </p:cNvPr>
          <p:cNvSpPr>
            <a:spLocks xmlns:a="http://schemas.openxmlformats.org/drawingml/2006/main" noGrp="1"/>
          </p:cNvSpPr>
          <p:nvPr/>
        </p:nvSpPr>
        <p:spPr>
          <a:xfrm xmlns:a="http://schemas.openxmlformats.org/drawingml/2006/main">
            <a:off x="1325880" y="182880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Context memberi input build. .dockerignore membatasi file yang tersedia.</a:t>
            </a:r>
            <a:endParaRPr sz="1100"/>
          </a:p>
        </p:txBody>
      </p:sp>
      <p:sp>
        <p:nvSpPr>
          <p:cNvPr id="15" name="Shape 11">
            <a:extLst xmlns:a="http://schemas.openxmlformats.org/drawingml/2006/main">
              <a:ext uri="{FF2B5EF4-FFF2-40B4-BE49-F238E27FC236}">
                <a16:creationId xmlns:a16="http://schemas.microsoft.com/office/drawing/2014/main" id="{3E7E348B-70E1-455A-A853-62672DE0CEEF}"/>
              </a:ext>
            </a:extLst>
          </p:cNvPr>
          <p:cNvSpPr>
            <a:spLocks xmlns:a="http://schemas.openxmlformats.org/drawingml/2006/main" noGrp="1"/>
          </p:cNvSpPr>
          <p:nvPr/>
        </p:nvSpPr>
        <p:spPr>
          <a:xfrm xmlns:a="http://schemas.openxmlformats.org/drawingml/2006/main">
            <a:off x="457200" y="2286000"/>
            <a:ext cx="11247120" cy="7772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Shape 12">
            <a:extLst xmlns:a="http://schemas.openxmlformats.org/drawingml/2006/main">
              <a:ext uri="{FF2B5EF4-FFF2-40B4-BE49-F238E27FC236}">
                <a16:creationId xmlns:a16="http://schemas.microsoft.com/office/drawing/2014/main" id="{A33799C3-B607-4DA3-888D-33F3D17F8C07}"/>
              </a:ext>
            </a:extLst>
          </p:cNvPr>
          <p:cNvSpPr>
            <a:spLocks xmlns:a="http://schemas.openxmlformats.org/drawingml/2006/main" noGrp="1"/>
          </p:cNvSpPr>
          <p:nvPr/>
        </p:nvSpPr>
        <p:spPr>
          <a:xfrm xmlns:a="http://schemas.openxmlformats.org/drawingml/2006/main">
            <a:off x="594360" y="2423160"/>
            <a:ext cx="502920" cy="502920"/>
          </a:xfrm>
          <a:prstGeom xmlns:a="http://schemas.openxmlformats.org/drawingml/2006/main" prst="ellipse">
            <a:avLst/>
          </a:prstGeom>
          <a:solidFill xmlns:a="http://schemas.openxmlformats.org/drawingml/2006/main">
            <a:srgbClr val="1E40AF"/>
          </a:solidFill>
          <a:ln xmlns:a="http://schemas.openxmlformats.org/drawingml/2006/main" w="12700">
            <a:solidFill>
              <a:srgbClr val="1E40AF"/>
            </a:solidFill>
            <a:prstDash val="solid"/>
          </a:ln>
        </p:spPr>
      </p:sp>
      <p:sp>
        <p:nvSpPr>
          <p:cNvPr id="17" name="Text 13">
            <a:extLst xmlns:a="http://schemas.openxmlformats.org/drawingml/2006/main">
              <a:ext uri="{FF2B5EF4-FFF2-40B4-BE49-F238E27FC236}">
                <a16:creationId xmlns:a16="http://schemas.microsoft.com/office/drawing/2014/main" id="{F353464F-621C-4638-88A8-BC2CA635AE86}"/>
              </a:ext>
            </a:extLst>
          </p:cNvPr>
          <p:cNvSpPr>
            <a:spLocks xmlns:a="http://schemas.openxmlformats.org/drawingml/2006/main" noGrp="1"/>
          </p:cNvSpPr>
          <p:nvPr/>
        </p:nvSpPr>
        <p:spPr>
          <a:xfrm xmlns:a="http://schemas.openxmlformats.org/drawingml/2006/main">
            <a:off x="594360" y="242316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FFFFFF"/>
                </a:solidFill>
                <a:latin typeface="Calibri"/>
                <a:ea typeface="Calibri"/>
                <a:cs typeface="Calibri"/>
              </a:rPr>
              <a:t>2</a:t>
            </a:r>
            <a:endParaRPr sz="2000"/>
          </a:p>
        </p:txBody>
      </p:sp>
      <p:sp>
        <p:nvSpPr>
          <p:cNvPr id="18" name="Text 14">
            <a:extLst xmlns:a="http://schemas.openxmlformats.org/drawingml/2006/main">
              <a:ext uri="{FF2B5EF4-FFF2-40B4-BE49-F238E27FC236}">
                <a16:creationId xmlns:a16="http://schemas.microsoft.com/office/drawing/2014/main" id="{9F96907B-FED8-4E0E-96D2-2787857FA759}"/>
              </a:ext>
            </a:extLst>
          </p:cNvPr>
          <p:cNvSpPr>
            <a:spLocks xmlns:a="http://schemas.openxmlformats.org/drawingml/2006/main" noGrp="1"/>
          </p:cNvSpPr>
          <p:nvPr/>
        </p:nvSpPr>
        <p:spPr>
          <a:xfrm xmlns:a="http://schemas.openxmlformats.org/drawingml/2006/main">
            <a:off x="1325880" y="237744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Parse Dockerfile</a:t>
            </a:r>
            <a:endParaRPr sz="1400"/>
          </a:p>
        </p:txBody>
      </p:sp>
      <p:sp>
        <p:nvSpPr>
          <p:cNvPr id="19" name="Text 15">
            <a:extLst xmlns:a="http://schemas.openxmlformats.org/drawingml/2006/main">
              <a:ext uri="{FF2B5EF4-FFF2-40B4-BE49-F238E27FC236}">
                <a16:creationId xmlns:a16="http://schemas.microsoft.com/office/drawing/2014/main" id="{5DC81C11-9764-4826-A935-F56F6C1E7296}"/>
              </a:ext>
            </a:extLst>
          </p:cNvPr>
          <p:cNvSpPr>
            <a:spLocks xmlns:a="http://schemas.openxmlformats.org/drawingml/2006/main" noGrp="1"/>
          </p:cNvSpPr>
          <p:nvPr/>
        </p:nvSpPr>
        <p:spPr>
          <a:xfrm xmlns:a="http://schemas.openxmlformats.org/drawingml/2006/main">
            <a:off x="1325880" y="269748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Builder membaca Dockerfile dan menyusun dependensi tiap stage.</a:t>
            </a:r>
            <a:endParaRPr sz="1100"/>
          </a:p>
        </p:txBody>
      </p:sp>
      <p:sp>
        <p:nvSpPr>
          <p:cNvPr id="20" name="Shape 16">
            <a:extLst xmlns:a="http://schemas.openxmlformats.org/drawingml/2006/main">
              <a:ext uri="{FF2B5EF4-FFF2-40B4-BE49-F238E27FC236}">
                <a16:creationId xmlns:a16="http://schemas.microsoft.com/office/drawing/2014/main" id="{D924EE41-0C75-461A-8FD9-458F5C1F63CD}"/>
              </a:ext>
            </a:extLst>
          </p:cNvPr>
          <p:cNvSpPr>
            <a:spLocks xmlns:a="http://schemas.openxmlformats.org/drawingml/2006/main" noGrp="1"/>
          </p:cNvSpPr>
          <p:nvPr/>
        </p:nvSpPr>
        <p:spPr>
          <a:xfrm xmlns:a="http://schemas.openxmlformats.org/drawingml/2006/main">
            <a:off x="457200" y="3154680"/>
            <a:ext cx="11247120" cy="7772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1" name="Shape 17">
            <a:extLst xmlns:a="http://schemas.openxmlformats.org/drawingml/2006/main">
              <a:ext uri="{FF2B5EF4-FFF2-40B4-BE49-F238E27FC236}">
                <a16:creationId xmlns:a16="http://schemas.microsoft.com/office/drawing/2014/main" id="{74BE923D-D369-4C4F-9E33-0B33681A7030}"/>
              </a:ext>
            </a:extLst>
          </p:cNvPr>
          <p:cNvSpPr>
            <a:spLocks xmlns:a="http://schemas.openxmlformats.org/drawingml/2006/main" noGrp="1"/>
          </p:cNvSpPr>
          <p:nvPr/>
        </p:nvSpPr>
        <p:spPr>
          <a:xfrm xmlns:a="http://schemas.openxmlformats.org/drawingml/2006/main">
            <a:off x="594360" y="3291840"/>
            <a:ext cx="502920" cy="5029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2" name="Text 18">
            <a:extLst xmlns:a="http://schemas.openxmlformats.org/drawingml/2006/main">
              <a:ext uri="{FF2B5EF4-FFF2-40B4-BE49-F238E27FC236}">
                <a16:creationId xmlns:a16="http://schemas.microsoft.com/office/drawing/2014/main" id="{B69AFB69-D6F9-411D-BF93-84005C691882}"/>
              </a:ext>
            </a:extLst>
          </p:cNvPr>
          <p:cNvSpPr>
            <a:spLocks xmlns:a="http://schemas.openxmlformats.org/drawingml/2006/main" noGrp="1"/>
          </p:cNvSpPr>
          <p:nvPr/>
        </p:nvSpPr>
        <p:spPr>
          <a:xfrm xmlns:a="http://schemas.openxmlformats.org/drawingml/2006/main">
            <a:off x="594360" y="329184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FFFFFF"/>
                </a:solidFill>
                <a:latin typeface="Calibri"/>
                <a:ea typeface="Calibri"/>
                <a:cs typeface="Calibri"/>
              </a:rPr>
              <a:t>3</a:t>
            </a:r>
            <a:endParaRPr sz="2000"/>
          </a:p>
        </p:txBody>
      </p:sp>
      <p:sp>
        <p:nvSpPr>
          <p:cNvPr id="23" name="Text 19">
            <a:extLst xmlns:a="http://schemas.openxmlformats.org/drawingml/2006/main">
              <a:ext uri="{FF2B5EF4-FFF2-40B4-BE49-F238E27FC236}">
                <a16:creationId xmlns:a16="http://schemas.microsoft.com/office/drawing/2014/main" id="{A918B2A8-CE59-48FF-A071-B9BCDB281226}"/>
              </a:ext>
            </a:extLst>
          </p:cNvPr>
          <p:cNvSpPr>
            <a:spLocks xmlns:a="http://schemas.openxmlformats.org/drawingml/2006/main" noGrp="1"/>
          </p:cNvSpPr>
          <p:nvPr/>
        </p:nvSpPr>
        <p:spPr>
          <a:xfrm xmlns:a="http://schemas.openxmlformats.org/drawingml/2006/main">
            <a:off x="1325880" y="324612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Execute Each Instruction</a:t>
            </a:r>
            <a:endParaRPr sz="1400"/>
          </a:p>
        </p:txBody>
      </p:sp>
      <p:sp>
        <p:nvSpPr>
          <p:cNvPr id="24" name="Text 20">
            <a:extLst xmlns:a="http://schemas.openxmlformats.org/drawingml/2006/main">
              <a:ext uri="{FF2B5EF4-FFF2-40B4-BE49-F238E27FC236}">
                <a16:creationId xmlns:a16="http://schemas.microsoft.com/office/drawing/2014/main" id="{BF6DBED7-95E6-4FDF-A48D-511E4A2DA8A7}"/>
              </a:ext>
            </a:extLst>
          </p:cNvPr>
          <p:cNvSpPr>
            <a:spLocks xmlns:a="http://schemas.openxmlformats.org/drawingml/2006/main" noGrp="1"/>
          </p:cNvSpPr>
          <p:nvPr/>
        </p:nvSpPr>
        <p:spPr>
          <a:xfrm xmlns:a="http://schemas.openxmlformats.org/drawingml/2006/main">
            <a:off x="1325880" y="356616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Builder memeriksa cache instruksi beserta input sebelum menjalankannya.</a:t>
            </a:r>
            <a:endParaRPr sz="1100"/>
          </a:p>
        </p:txBody>
      </p:sp>
      <p:sp>
        <p:nvSpPr>
          <p:cNvPr id="25" name="Shape 21">
            <a:extLst xmlns:a="http://schemas.openxmlformats.org/drawingml/2006/main">
              <a:ext uri="{FF2B5EF4-FFF2-40B4-BE49-F238E27FC236}">
                <a16:creationId xmlns:a16="http://schemas.microsoft.com/office/drawing/2014/main" id="{6BCF98A7-CC32-48C5-9DB8-E1668543E719}"/>
              </a:ext>
            </a:extLst>
          </p:cNvPr>
          <p:cNvSpPr>
            <a:spLocks xmlns:a="http://schemas.openxmlformats.org/drawingml/2006/main" noGrp="1"/>
          </p:cNvSpPr>
          <p:nvPr/>
        </p:nvSpPr>
        <p:spPr>
          <a:xfrm xmlns:a="http://schemas.openxmlformats.org/drawingml/2006/main">
            <a:off x="457200" y="4023360"/>
            <a:ext cx="11247120" cy="7772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Shape 22">
            <a:extLst xmlns:a="http://schemas.openxmlformats.org/drawingml/2006/main">
              <a:ext uri="{FF2B5EF4-FFF2-40B4-BE49-F238E27FC236}">
                <a16:creationId xmlns:a16="http://schemas.microsoft.com/office/drawing/2014/main" id="{ACCD43D2-CC5D-4107-9FA3-B69E96EC7CC2}"/>
              </a:ext>
            </a:extLst>
          </p:cNvPr>
          <p:cNvSpPr>
            <a:spLocks xmlns:a="http://schemas.openxmlformats.org/drawingml/2006/main" noGrp="1"/>
          </p:cNvSpPr>
          <p:nvPr/>
        </p:nvSpPr>
        <p:spPr>
          <a:xfrm xmlns:a="http://schemas.openxmlformats.org/drawingml/2006/main">
            <a:off x="594360" y="4160520"/>
            <a:ext cx="502920" cy="502920"/>
          </a:xfrm>
          <a:prstGeom xmlns:a="http://schemas.openxmlformats.org/drawingml/2006/main" prst="ellipse">
            <a:avLst/>
          </a:prstGeom>
          <a:solidFill xmlns:a="http://schemas.openxmlformats.org/drawingml/2006/main">
            <a:srgbClr val="7C3AED"/>
          </a:solidFill>
          <a:ln xmlns:a="http://schemas.openxmlformats.org/drawingml/2006/main" w="12700">
            <a:solidFill>
              <a:srgbClr val="7C3AED"/>
            </a:solidFill>
            <a:prstDash val="solid"/>
          </a:ln>
        </p:spPr>
      </p:sp>
      <p:sp>
        <p:nvSpPr>
          <p:cNvPr id="27" name="Text 23">
            <a:extLst xmlns:a="http://schemas.openxmlformats.org/drawingml/2006/main">
              <a:ext uri="{FF2B5EF4-FFF2-40B4-BE49-F238E27FC236}">
                <a16:creationId xmlns:a16="http://schemas.microsoft.com/office/drawing/2014/main" id="{FC029380-DFB5-46E4-82B4-45CD716D5743}"/>
              </a:ext>
            </a:extLst>
          </p:cNvPr>
          <p:cNvSpPr>
            <a:spLocks xmlns:a="http://schemas.openxmlformats.org/drawingml/2006/main" noGrp="1"/>
          </p:cNvSpPr>
          <p:nvPr/>
        </p:nvSpPr>
        <p:spPr>
          <a:xfrm xmlns:a="http://schemas.openxmlformats.org/drawingml/2006/main">
            <a:off x="594360" y="416052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FFFFFF"/>
                </a:solidFill>
                <a:latin typeface="Calibri"/>
                <a:ea typeface="Calibri"/>
                <a:cs typeface="Calibri"/>
              </a:rPr>
              <a:t>4</a:t>
            </a:r>
            <a:endParaRPr sz="2000"/>
          </a:p>
        </p:txBody>
      </p:sp>
      <p:sp>
        <p:nvSpPr>
          <p:cNvPr id="28" name="Text 24">
            <a:extLst xmlns:a="http://schemas.openxmlformats.org/drawingml/2006/main">
              <a:ext uri="{FF2B5EF4-FFF2-40B4-BE49-F238E27FC236}">
                <a16:creationId xmlns:a16="http://schemas.microsoft.com/office/drawing/2014/main" id="{828A4051-668E-425E-BFE3-62BD56C6E9F3}"/>
              </a:ext>
            </a:extLst>
          </p:cNvPr>
          <p:cNvSpPr>
            <a:spLocks xmlns:a="http://schemas.openxmlformats.org/drawingml/2006/main" noGrp="1"/>
          </p:cNvSpPr>
          <p:nvPr/>
        </p:nvSpPr>
        <p:spPr>
          <a:xfrm xmlns:a="http://schemas.openxmlformats.org/drawingml/2006/main">
            <a:off x="1325880" y="411480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Commit Layer</a:t>
            </a:r>
            <a:endParaRPr sz="1400"/>
          </a:p>
        </p:txBody>
      </p:sp>
      <p:sp>
        <p:nvSpPr>
          <p:cNvPr id="29" name="Text 25">
            <a:extLst xmlns:a="http://schemas.openxmlformats.org/drawingml/2006/main">
              <a:ext uri="{FF2B5EF4-FFF2-40B4-BE49-F238E27FC236}">
                <a16:creationId xmlns:a16="http://schemas.microsoft.com/office/drawing/2014/main" id="{69F01C8E-5A87-4D37-9E88-114A2D9D0BB0}"/>
              </a:ext>
            </a:extLst>
          </p:cNvPr>
          <p:cNvSpPr>
            <a:spLocks xmlns:a="http://schemas.openxmlformats.org/drawingml/2006/main" noGrp="1"/>
          </p:cNvSpPr>
          <p:nvPr/>
        </p:nvSpPr>
        <p:spPr>
          <a:xfrm xmlns:a="http://schemas.openxmlformats.org/drawingml/2006/main">
            <a:off x="1325880" y="443484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RUN/COPY/ADD dapat menghasilkan layer. Instruksi lain menyimpan konfigurasi.</a:t>
            </a:r>
            <a:endParaRPr sz="1100"/>
          </a:p>
        </p:txBody>
      </p:sp>
      <p:sp>
        <p:nvSpPr>
          <p:cNvPr id="30" name="Shape 26">
            <a:extLst xmlns:a="http://schemas.openxmlformats.org/drawingml/2006/main">
              <a:ext uri="{FF2B5EF4-FFF2-40B4-BE49-F238E27FC236}">
                <a16:creationId xmlns:a16="http://schemas.microsoft.com/office/drawing/2014/main" id="{A615BFD8-5F9F-43C8-916B-1600F409A664}"/>
              </a:ext>
            </a:extLst>
          </p:cNvPr>
          <p:cNvSpPr>
            <a:spLocks xmlns:a="http://schemas.openxmlformats.org/drawingml/2006/main" noGrp="1"/>
          </p:cNvSpPr>
          <p:nvPr/>
        </p:nvSpPr>
        <p:spPr>
          <a:xfrm xmlns:a="http://schemas.openxmlformats.org/drawingml/2006/main">
            <a:off x="457200" y="4892040"/>
            <a:ext cx="11247120" cy="7772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Shape 27">
            <a:extLst xmlns:a="http://schemas.openxmlformats.org/drawingml/2006/main">
              <a:ext uri="{FF2B5EF4-FFF2-40B4-BE49-F238E27FC236}">
                <a16:creationId xmlns:a16="http://schemas.microsoft.com/office/drawing/2014/main" id="{D187ACCD-54CB-41E7-B15D-844D378D5843}"/>
              </a:ext>
            </a:extLst>
          </p:cNvPr>
          <p:cNvSpPr>
            <a:spLocks xmlns:a="http://schemas.openxmlformats.org/drawingml/2006/main" noGrp="1"/>
          </p:cNvSpPr>
          <p:nvPr/>
        </p:nvSpPr>
        <p:spPr>
          <a:xfrm xmlns:a="http://schemas.openxmlformats.org/drawingml/2006/main">
            <a:off x="594360" y="5029200"/>
            <a:ext cx="502920" cy="502920"/>
          </a:xfrm>
          <a:prstGeom xmlns:a="http://schemas.openxmlformats.org/drawingml/2006/main" prst="ellipse">
            <a:avLst/>
          </a:prstGeom>
          <a:solidFill xmlns:a="http://schemas.openxmlformats.org/drawingml/2006/main">
            <a:srgbClr val="059669"/>
          </a:solidFill>
          <a:ln xmlns:a="http://schemas.openxmlformats.org/drawingml/2006/main" w="12700">
            <a:solidFill>
              <a:srgbClr val="059669"/>
            </a:solidFill>
            <a:prstDash val="solid"/>
          </a:ln>
        </p:spPr>
      </p:sp>
      <p:sp>
        <p:nvSpPr>
          <p:cNvPr id="32" name="Text 28">
            <a:extLst xmlns:a="http://schemas.openxmlformats.org/drawingml/2006/main">
              <a:ext uri="{FF2B5EF4-FFF2-40B4-BE49-F238E27FC236}">
                <a16:creationId xmlns:a16="http://schemas.microsoft.com/office/drawing/2014/main" id="{96F90AFA-84DE-4680-9F6B-A4557DD5B585}"/>
              </a:ext>
            </a:extLst>
          </p:cNvPr>
          <p:cNvSpPr>
            <a:spLocks xmlns:a="http://schemas.openxmlformats.org/drawingml/2006/main" noGrp="1"/>
          </p:cNvSpPr>
          <p:nvPr/>
        </p:nvSpPr>
        <p:spPr>
          <a:xfrm xmlns:a="http://schemas.openxmlformats.org/drawingml/2006/main">
            <a:off x="594360" y="502920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FFFFFF"/>
                </a:solidFill>
                <a:latin typeface="Calibri"/>
                <a:ea typeface="Calibri"/>
                <a:cs typeface="Calibri"/>
              </a:rPr>
              <a:t>5</a:t>
            </a:r>
            <a:endParaRPr sz="2000"/>
          </a:p>
        </p:txBody>
      </p:sp>
      <p:sp>
        <p:nvSpPr>
          <p:cNvPr id="33" name="Text 29">
            <a:extLst xmlns:a="http://schemas.openxmlformats.org/drawingml/2006/main">
              <a:ext uri="{FF2B5EF4-FFF2-40B4-BE49-F238E27FC236}">
                <a16:creationId xmlns:a16="http://schemas.microsoft.com/office/drawing/2014/main" id="{66DFD8E7-60A2-4276-909A-0AEE6E32A774}"/>
              </a:ext>
            </a:extLst>
          </p:cNvPr>
          <p:cNvSpPr>
            <a:spLocks xmlns:a="http://schemas.openxmlformats.org/drawingml/2006/main" noGrp="1"/>
          </p:cNvSpPr>
          <p:nvPr/>
        </p:nvSpPr>
        <p:spPr>
          <a:xfrm xmlns:a="http://schemas.openxmlformats.org/drawingml/2006/main">
            <a:off x="1325880" y="498348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Tag Final Image</a:t>
            </a:r>
            <a:endParaRPr sz="1400"/>
          </a:p>
        </p:txBody>
      </p:sp>
      <p:sp>
        <p:nvSpPr>
          <p:cNvPr id="34" name="Text 30">
            <a:extLst xmlns:a="http://schemas.openxmlformats.org/drawingml/2006/main">
              <a:ext uri="{FF2B5EF4-FFF2-40B4-BE49-F238E27FC236}">
                <a16:creationId xmlns:a16="http://schemas.microsoft.com/office/drawing/2014/main" id="{71237F7B-F51D-4CBF-BD5F-4AAEF8439DB3}"/>
              </a:ext>
            </a:extLst>
          </p:cNvPr>
          <p:cNvSpPr>
            <a:spLocks xmlns:a="http://schemas.openxmlformats.org/drawingml/2006/main" noGrp="1"/>
          </p:cNvSpPr>
          <p:nvPr/>
        </p:nvSpPr>
        <p:spPr>
          <a:xfrm xmlns:a="http://schemas.openxmlformats.org/drawingml/2006/main">
            <a:off x="1325880" y="530352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Semua layer di-stack jadi 1 image, di-tag dengan nama yang user kasih (-t).</a:t>
            </a:r>
            <a:endParaRPr sz="1100"/>
          </a:p>
        </p:txBody>
      </p:sp>
      <p:sp>
        <p:nvSpPr>
          <p:cNvPr id="35" name="Text 31">
            <a:extLst xmlns:a="http://schemas.openxmlformats.org/drawingml/2006/main">
              <a:ext uri="{FF2B5EF4-FFF2-40B4-BE49-F238E27FC236}">
                <a16:creationId xmlns:a16="http://schemas.microsoft.com/office/drawing/2014/main" id="{393AC1B9-31F2-4EAC-A95C-02FA8788B73D}"/>
              </a:ext>
            </a:extLst>
          </p:cNvPr>
          <p:cNvSpPr>
            <a:spLocks xmlns:a="http://schemas.openxmlformats.org/drawingml/2006/main" noGrp="1"/>
          </p:cNvSpPr>
          <p:nvPr/>
        </p:nvSpPr>
        <p:spPr>
          <a:xfrm xmlns:a="http://schemas.openxmlformats.org/drawingml/2006/main">
            <a:off x="457200" y="5897880"/>
            <a:ext cx="11247120" cy="4572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BuildKit mentransfer input secara efisien dan dapat melewati file yang tak digunakan. .dockerignore tetap penting.</a:t>
            </a:r>
            <a:endParaRPr sz="1100"/>
          </a:p>
        </p:txBody>
      </p:sp>
    </p:spTree>
    <p:extLst>
      <p:ext uri="{BB962C8B-B14F-4D97-AF65-F5344CB8AC3E}">
        <p14:creationId xmlns:p14="http://schemas.microsoft.com/office/powerpoint/2010/main" val="126015832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0AB1282-DDC8-4794-9F7B-56B1D6E51AFD}"/>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C4D881E4-F97D-488A-95E9-D8E4191F551A}"/>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19</a:t>
            </a:r>
            <a:endParaRPr sz="900"/>
          </a:p>
        </p:txBody>
      </p:sp>
      <p:sp>
        <p:nvSpPr>
          <p:cNvPr id="4" name="Shape 2">
            <a:extLst xmlns:a="http://schemas.openxmlformats.org/drawingml/2006/main">
              <a:ext uri="{FF2B5EF4-FFF2-40B4-BE49-F238E27FC236}">
                <a16:creationId xmlns:a16="http://schemas.microsoft.com/office/drawing/2014/main" id="{C04368DA-C75C-4B54-8B8D-6F93995FE7D4}"/>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1" name="Image 0">
            <a:extLst xmlns:a="http://schemas.openxmlformats.org/drawingml/2006/main">
              <a:ext uri="{FF2B5EF4-FFF2-40B4-BE49-F238E27FC236}">
                <a16:creationId xmlns:a16="http://schemas.microsoft.com/office/drawing/2014/main" id="{3417A662-4223-4B94-8C51-C4CAD6CB1662}"/>
              </a:ext>
            </a:extLst>
          </p:cNvPr>
          <p:cNvPicPr>
            <a:picLocks xmlns:a="http://schemas.openxmlformats.org/drawingml/2006/main" noChangeAspect="1"/>
          </p:cNvPicPr>
          <p:nvPr/>
        </p:nvPicPr>
        <p:blipFill>
          <a:blip xmlns:r="http://schemas.openxmlformats.org/officeDocument/2006/relationships" xmlns:a="http://schemas.openxmlformats.org/drawingml/2006/main" r:embed="R0bd41ce0c2f3488b"/>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2" name="Image 1">
            <a:extLst xmlns:a="http://schemas.openxmlformats.org/drawingml/2006/main">
              <a:ext uri="{FF2B5EF4-FFF2-40B4-BE49-F238E27FC236}">
                <a16:creationId xmlns:a16="http://schemas.microsoft.com/office/drawing/2014/main" id="{AD1C0934-9C7A-4E84-BBB5-B5CF53854BA2}"/>
              </a:ext>
            </a:extLst>
          </p:cNvPr>
          <p:cNvPicPr>
            <a:picLocks xmlns:a="http://schemas.openxmlformats.org/drawingml/2006/main" noChangeAspect="1"/>
          </p:cNvPicPr>
          <p:nvPr/>
        </p:nvPicPr>
        <p:blipFill>
          <a:blip xmlns:r="http://schemas.openxmlformats.org/officeDocument/2006/relationships" xmlns:a="http://schemas.openxmlformats.org/drawingml/2006/main" r:embed="Rf4c724b043614900"/>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6D89CCBD-8554-4BCB-8740-2B64619BED5F}"/>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C59DB46D-5AC6-4643-A9A6-2F9FF8D85279}"/>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Layer Caching - Urutan Instruksi Penting</a:t>
            </a:r>
            <a:endParaRPr sz="2200"/>
          </a:p>
        </p:txBody>
      </p:sp>
      <p:sp>
        <p:nvSpPr>
          <p:cNvPr id="9" name="Text 5">
            <a:extLst xmlns:a="http://schemas.openxmlformats.org/drawingml/2006/main">
              <a:ext uri="{FF2B5EF4-FFF2-40B4-BE49-F238E27FC236}">
                <a16:creationId xmlns:a16="http://schemas.microsoft.com/office/drawing/2014/main" id="{EF0DEEDA-9839-4149-97EC-300DE34E3DBD}"/>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Aturan #1 Docker: yang jarang berubah ditaruh di atas</a:t>
            </a:r>
            <a:endParaRPr sz="1200"/>
          </a:p>
        </p:txBody>
      </p:sp>
      <p:sp>
        <p:nvSpPr>
          <p:cNvPr id="10" name="Shape 6">
            <a:extLst xmlns:a="http://schemas.openxmlformats.org/drawingml/2006/main">
              <a:ext uri="{FF2B5EF4-FFF2-40B4-BE49-F238E27FC236}">
                <a16:creationId xmlns:a16="http://schemas.microsoft.com/office/drawing/2014/main" id="{A3A65880-DBB5-4FB6-B90B-C32D16667B87}"/>
              </a:ext>
            </a:extLst>
          </p:cNvPr>
          <p:cNvSpPr>
            <a:spLocks xmlns:a="http://schemas.openxmlformats.org/drawingml/2006/main" noGrp="1"/>
          </p:cNvSpPr>
          <p:nvPr/>
        </p:nvSpPr>
        <p:spPr>
          <a:xfrm xmlns:a="http://schemas.openxmlformats.org/drawingml/2006/main">
            <a:off x="457200" y="1417320"/>
            <a:ext cx="11247120" cy="9144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1" name="Text 7">
            <a:extLst xmlns:a="http://schemas.openxmlformats.org/drawingml/2006/main">
              <a:ext uri="{FF2B5EF4-FFF2-40B4-BE49-F238E27FC236}">
                <a16:creationId xmlns:a16="http://schemas.microsoft.com/office/drawing/2014/main" id="{FD749B2B-201E-4A69-8B89-6A3CD40B26A5}"/>
              </a:ext>
            </a:extLst>
          </p:cNvPr>
          <p:cNvSpPr>
            <a:spLocks xmlns:a="http://schemas.openxmlformats.org/drawingml/2006/main" noGrp="1"/>
          </p:cNvSpPr>
          <p:nvPr/>
        </p:nvSpPr>
        <p:spPr>
          <a:xfrm xmlns:a="http://schemas.openxmlformats.org/drawingml/2006/main">
            <a:off x="685800" y="1508760"/>
            <a:ext cx="107899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37021"/>
                </a:solidFill>
                <a:latin typeface="Calibri"/>
                <a:ea typeface="Calibri"/>
                <a:cs typeface="Calibri"/>
              </a:rPr>
              <a:t>Cache mengikuti instruksi dan inputnya. Perubahan membatalkan langkah yang bergantung padanya dalam stage terkait.</a:t>
            </a:r>
            <a:endParaRPr sz="1300"/>
          </a:p>
        </p:txBody>
      </p:sp>
      <p:sp>
        <p:nvSpPr>
          <p:cNvPr id="12" name="Shape 8">
            <a:extLst xmlns:a="http://schemas.openxmlformats.org/drawingml/2006/main">
              <a:ext uri="{FF2B5EF4-FFF2-40B4-BE49-F238E27FC236}">
                <a16:creationId xmlns:a16="http://schemas.microsoft.com/office/drawing/2014/main" id="{B53B8C83-2970-4355-89CD-C69527CD5C88}"/>
              </a:ext>
            </a:extLst>
          </p:cNvPr>
          <p:cNvSpPr>
            <a:spLocks xmlns:a="http://schemas.openxmlformats.org/drawingml/2006/main" noGrp="1"/>
          </p:cNvSpPr>
          <p:nvPr/>
        </p:nvSpPr>
        <p:spPr>
          <a:xfrm xmlns:a="http://schemas.openxmlformats.org/drawingml/2006/main">
            <a:off x="457200" y="2514600"/>
            <a:ext cx="5577840" cy="365760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3" name="Shape 9">
            <a:extLst xmlns:a="http://schemas.openxmlformats.org/drawingml/2006/main">
              <a:ext uri="{FF2B5EF4-FFF2-40B4-BE49-F238E27FC236}">
                <a16:creationId xmlns:a16="http://schemas.microsoft.com/office/drawing/2014/main" id="{C2A07DDA-C91E-49C3-91F5-39474D9EA5F0}"/>
              </a:ext>
            </a:extLst>
          </p:cNvPr>
          <p:cNvSpPr>
            <a:spLocks xmlns:a="http://schemas.openxmlformats.org/drawingml/2006/main" noGrp="1"/>
          </p:cNvSpPr>
          <p:nvPr/>
        </p:nvSpPr>
        <p:spPr>
          <a:xfrm xmlns:a="http://schemas.openxmlformats.org/drawingml/2006/main">
            <a:off x="457200" y="2514600"/>
            <a:ext cx="557784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4" name="Shape 10">
            <a:extLst xmlns:a="http://schemas.openxmlformats.org/drawingml/2006/main">
              <a:ext uri="{FF2B5EF4-FFF2-40B4-BE49-F238E27FC236}">
                <a16:creationId xmlns:a16="http://schemas.microsoft.com/office/drawing/2014/main" id="{ACB7D6A6-C6A6-4BD6-8B92-81E8EE61CE71}"/>
              </a:ext>
            </a:extLst>
          </p:cNvPr>
          <p:cNvSpPr>
            <a:spLocks xmlns:a="http://schemas.openxmlformats.org/drawingml/2006/main" noGrp="1"/>
          </p:cNvSpPr>
          <p:nvPr/>
        </p:nvSpPr>
        <p:spPr>
          <a:xfrm xmlns:a="http://schemas.openxmlformats.org/drawingml/2006/main">
            <a:off x="548640" y="259689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15" name="Shape 11">
            <a:extLst xmlns:a="http://schemas.openxmlformats.org/drawingml/2006/main">
              <a:ext uri="{FF2B5EF4-FFF2-40B4-BE49-F238E27FC236}">
                <a16:creationId xmlns:a16="http://schemas.microsoft.com/office/drawing/2014/main" id="{5C0CF47A-F7DE-4795-94EB-C26BC634A9BD}"/>
              </a:ext>
            </a:extLst>
          </p:cNvPr>
          <p:cNvSpPr>
            <a:spLocks xmlns:a="http://schemas.openxmlformats.org/drawingml/2006/main" noGrp="1"/>
          </p:cNvSpPr>
          <p:nvPr/>
        </p:nvSpPr>
        <p:spPr>
          <a:xfrm xmlns:a="http://schemas.openxmlformats.org/drawingml/2006/main">
            <a:off x="685800" y="259689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6" name="Shape 12">
            <a:extLst xmlns:a="http://schemas.openxmlformats.org/drawingml/2006/main">
              <a:ext uri="{FF2B5EF4-FFF2-40B4-BE49-F238E27FC236}">
                <a16:creationId xmlns:a16="http://schemas.microsoft.com/office/drawing/2014/main" id="{B35F8C24-4FC6-4F26-8044-7AED50D6D5B9}"/>
              </a:ext>
            </a:extLst>
          </p:cNvPr>
          <p:cNvSpPr>
            <a:spLocks xmlns:a="http://schemas.openxmlformats.org/drawingml/2006/main" noGrp="1"/>
          </p:cNvSpPr>
          <p:nvPr/>
        </p:nvSpPr>
        <p:spPr>
          <a:xfrm xmlns:a="http://schemas.openxmlformats.org/drawingml/2006/main">
            <a:off x="822960" y="259689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17" name="Text 13">
            <a:extLst xmlns:a="http://schemas.openxmlformats.org/drawingml/2006/main">
              <a:ext uri="{FF2B5EF4-FFF2-40B4-BE49-F238E27FC236}">
                <a16:creationId xmlns:a16="http://schemas.microsoft.com/office/drawing/2014/main" id="{087BBA09-E491-4E1A-A63A-B7B5B7B5F8FE}"/>
              </a:ext>
            </a:extLst>
          </p:cNvPr>
          <p:cNvSpPr>
            <a:spLocks xmlns:a="http://schemas.openxmlformats.org/drawingml/2006/main" noGrp="1"/>
          </p:cNvSpPr>
          <p:nvPr/>
        </p:nvSpPr>
        <p:spPr>
          <a:xfrm xmlns:a="http://schemas.openxmlformats.org/drawingml/2006/main">
            <a:off x="1005840" y="2514600"/>
            <a:ext cx="4846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BAD - rebuild npm install setiap kali code berubah</a:t>
            </a:r>
            <a:endParaRPr sz="900"/>
          </a:p>
        </p:txBody>
      </p:sp>
      <p:sp>
        <p:nvSpPr>
          <p:cNvPr id="18" name="Text 14">
            <a:extLst xmlns:a="http://schemas.openxmlformats.org/drawingml/2006/main">
              <a:ext uri="{FF2B5EF4-FFF2-40B4-BE49-F238E27FC236}">
                <a16:creationId xmlns:a16="http://schemas.microsoft.com/office/drawing/2014/main" id="{6523A6D0-1E84-4609-A766-8DF4F4A2831A}"/>
              </a:ext>
            </a:extLst>
          </p:cNvPr>
          <p:cNvSpPr>
            <a:spLocks xmlns:a="http://schemas.openxmlformats.org/drawingml/2006/main" noGrp="1"/>
          </p:cNvSpPr>
          <p:nvPr/>
        </p:nvSpPr>
        <p:spPr>
          <a:xfrm xmlns:a="http://schemas.openxmlformats.org/drawingml/2006/main">
            <a:off x="594360" y="2880360"/>
            <a:ext cx="5303520" cy="3200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b="1">
                <a:solidFill>
                  <a:srgbClr val="F37021"/>
                </a:solidFill>
                <a:latin typeface="Consolas"/>
                <a:ea typeface="Consolas"/>
                <a:cs typeface="Consolas"/>
              </a:rPr>
              <a:t>FROM </a:t>
            </a:r>
            <a:r>
              <a:rPr sz="1100" b="1">
                <a:solidFill>
                  <a:srgbClr val="F37021"/>
                </a:solidFill>
                <a:latin typeface="Consolas"/>
                <a:ea typeface="Consolas"/>
                <a:cs typeface="Consolas"/>
              </a:rPr>
              <a:t>node:24-alpine</a:t>
            </a:r>
            <a:endParaRPr sz="1100"/>
          </a:p>
          <a:p xmlns:a="http://schemas.openxmlformats.org/drawingml/2006/main">
            <a:pPr marL="0" indent="0">
              <a:spcAft>
                <a:spcPts val="200"/>
              </a:spcAft>
              <a:buNone/>
            </a:pPr>
            <a:r>
              <a:rPr sz="1100">
                <a:solidFill>
                  <a:srgbClr val="E2E8F0"/>
                </a:solidFill>
                <a:latin typeface="Consolas"/>
                <a:ea typeface="Consolas"/>
                <a:cs typeface="Consolas"/>
              </a:rPr>
              <a:t>WORKDIR /app</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b="1">
                <a:solidFill>
                  <a:srgbClr val="EF4444"/>
                </a:solidFill>
                <a:latin typeface="Consolas"/>
                <a:ea typeface="Consolas"/>
                <a:cs typeface="Consolas"/>
              </a:rPr>
              <a:t>COPY . .</a:t>
            </a:r>
            <a:endParaRPr sz="1100"/>
          </a:p>
          <a:p xmlns:a="http://schemas.openxmlformats.org/drawingml/2006/main">
            <a:pPr marL="0" indent="0">
              <a:spcAft>
                <a:spcPts val="200"/>
              </a:spcAft>
              <a:buNone/>
            </a:pPr>
            <a:r>
              <a:rPr sz="1100" b="1">
                <a:solidFill>
                  <a:srgbClr val="EF4444"/>
                </a:solidFill>
                <a:latin typeface="Consolas"/>
                <a:ea typeface="Consolas"/>
                <a:cs typeface="Consolas"/>
              </a:rPr>
              <a:t>RUN npm install</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E2E8F0"/>
                </a:solidFill>
                <a:latin typeface="Consolas"/>
                <a:ea typeface="Consolas"/>
                <a:cs typeface="Consolas"/>
              </a:rPr>
              <a:t>CMD ["node", "server.js"]</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Problem: edit 1 baris server.js</a:t>
            </a:r>
            <a:endParaRPr sz="1100"/>
          </a:p>
          <a:p xmlns:a="http://schemas.openxmlformats.org/drawingml/2006/main">
            <a:pPr marL="0" indent="0">
              <a:spcAft>
                <a:spcPts val="200"/>
              </a:spcAft>
              <a:buNone/>
            </a:pPr>
            <a:r>
              <a:rPr sz="1100">
                <a:solidFill>
                  <a:srgbClr val="94A3B8"/>
                </a:solidFill>
                <a:latin typeface="Consolas"/>
                <a:ea typeface="Consolas"/>
                <a:cs typeface="Consolas"/>
              </a:rPr>
              <a:t># -&gt; COPY . . berubah</a:t>
            </a:r>
            <a:endParaRPr sz="1100"/>
          </a:p>
          <a:p xmlns:a="http://schemas.openxmlformats.org/drawingml/2006/main">
            <a:pPr marL="0" indent="0">
              <a:spcAft>
                <a:spcPts val="200"/>
              </a:spcAft>
              <a:buNone/>
            </a:pPr>
            <a:r>
              <a:rPr sz="1100">
                <a:solidFill>
                  <a:srgbClr val="94A3B8"/>
                </a:solidFill>
                <a:latin typeface="Consolas"/>
                <a:ea typeface="Consolas"/>
                <a:cs typeface="Consolas"/>
              </a:rPr>
              <a:t># -&gt; npm install rebuild juga</a:t>
            </a:r>
            <a:endParaRPr sz="1100"/>
          </a:p>
          <a:p xmlns:a="http://schemas.openxmlformats.org/drawingml/2006/main">
            <a:pPr marL="0" indent="0">
              <a:spcAft>
                <a:spcPts val="200"/>
              </a:spcAft>
              <a:buNone/>
            </a:pPr>
            <a:r>
              <a:rPr sz="1100">
                <a:solidFill>
                  <a:srgbClr val="EF4444"/>
                </a:solidFill>
                <a:latin typeface="Consolas"/>
                <a:ea typeface="Consolas"/>
                <a:cs typeface="Consolas"/>
              </a:rPr>
              <a:t># -&gt; dependency dipasang ulang</a:t>
            </a:r>
            <a:endParaRPr sz="1100"/>
          </a:p>
        </p:txBody>
      </p:sp>
      <p:sp>
        <p:nvSpPr>
          <p:cNvPr id="19" name="Shape 15">
            <a:extLst xmlns:a="http://schemas.openxmlformats.org/drawingml/2006/main">
              <a:ext uri="{FF2B5EF4-FFF2-40B4-BE49-F238E27FC236}">
                <a16:creationId xmlns:a16="http://schemas.microsoft.com/office/drawing/2014/main" id="{3A1D2F51-B3B1-49D1-B629-0A517EAE114F}"/>
              </a:ext>
            </a:extLst>
          </p:cNvPr>
          <p:cNvSpPr>
            <a:spLocks xmlns:a="http://schemas.openxmlformats.org/drawingml/2006/main" noGrp="1"/>
          </p:cNvSpPr>
          <p:nvPr/>
        </p:nvSpPr>
        <p:spPr>
          <a:xfrm xmlns:a="http://schemas.openxmlformats.org/drawingml/2006/main">
            <a:off x="6217920" y="2514600"/>
            <a:ext cx="5486400" cy="365760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20" name="Shape 16">
            <a:extLst xmlns:a="http://schemas.openxmlformats.org/drawingml/2006/main">
              <a:ext uri="{FF2B5EF4-FFF2-40B4-BE49-F238E27FC236}">
                <a16:creationId xmlns:a16="http://schemas.microsoft.com/office/drawing/2014/main" id="{06DF92B9-4B53-447C-B195-05A7A6557DD3}"/>
              </a:ext>
            </a:extLst>
          </p:cNvPr>
          <p:cNvSpPr>
            <a:spLocks xmlns:a="http://schemas.openxmlformats.org/drawingml/2006/main" noGrp="1"/>
          </p:cNvSpPr>
          <p:nvPr/>
        </p:nvSpPr>
        <p:spPr>
          <a:xfrm xmlns:a="http://schemas.openxmlformats.org/drawingml/2006/main">
            <a:off x="6217920" y="2514600"/>
            <a:ext cx="548640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21" name="Shape 17">
            <a:extLst xmlns:a="http://schemas.openxmlformats.org/drawingml/2006/main">
              <a:ext uri="{FF2B5EF4-FFF2-40B4-BE49-F238E27FC236}">
                <a16:creationId xmlns:a16="http://schemas.microsoft.com/office/drawing/2014/main" id="{77B9F15C-7E00-4E35-BCE2-303D41EBE256}"/>
              </a:ext>
            </a:extLst>
          </p:cNvPr>
          <p:cNvSpPr>
            <a:spLocks xmlns:a="http://schemas.openxmlformats.org/drawingml/2006/main" noGrp="1"/>
          </p:cNvSpPr>
          <p:nvPr/>
        </p:nvSpPr>
        <p:spPr>
          <a:xfrm xmlns:a="http://schemas.openxmlformats.org/drawingml/2006/main">
            <a:off x="6309360" y="259689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22" name="Shape 18">
            <a:extLst xmlns:a="http://schemas.openxmlformats.org/drawingml/2006/main">
              <a:ext uri="{FF2B5EF4-FFF2-40B4-BE49-F238E27FC236}">
                <a16:creationId xmlns:a16="http://schemas.microsoft.com/office/drawing/2014/main" id="{1AEF27C3-D9FF-4F4F-B394-B3487448C6D4}"/>
              </a:ext>
            </a:extLst>
          </p:cNvPr>
          <p:cNvSpPr>
            <a:spLocks xmlns:a="http://schemas.openxmlformats.org/drawingml/2006/main" noGrp="1"/>
          </p:cNvSpPr>
          <p:nvPr/>
        </p:nvSpPr>
        <p:spPr>
          <a:xfrm xmlns:a="http://schemas.openxmlformats.org/drawingml/2006/main">
            <a:off x="6446520" y="259689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3" name="Shape 19">
            <a:extLst xmlns:a="http://schemas.openxmlformats.org/drawingml/2006/main">
              <a:ext uri="{FF2B5EF4-FFF2-40B4-BE49-F238E27FC236}">
                <a16:creationId xmlns:a16="http://schemas.microsoft.com/office/drawing/2014/main" id="{F2982DB3-4592-4714-8FCC-143B6111E85A}"/>
              </a:ext>
            </a:extLst>
          </p:cNvPr>
          <p:cNvSpPr>
            <a:spLocks xmlns:a="http://schemas.openxmlformats.org/drawingml/2006/main" noGrp="1"/>
          </p:cNvSpPr>
          <p:nvPr/>
        </p:nvSpPr>
        <p:spPr>
          <a:xfrm xmlns:a="http://schemas.openxmlformats.org/drawingml/2006/main">
            <a:off x="6583680" y="259689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24" name="Text 20">
            <a:extLst xmlns:a="http://schemas.openxmlformats.org/drawingml/2006/main">
              <a:ext uri="{FF2B5EF4-FFF2-40B4-BE49-F238E27FC236}">
                <a16:creationId xmlns:a16="http://schemas.microsoft.com/office/drawing/2014/main" id="{F65D2F4B-B11F-4F97-934A-FD0D8821CD06}"/>
              </a:ext>
            </a:extLst>
          </p:cNvPr>
          <p:cNvSpPr>
            <a:spLocks xmlns:a="http://schemas.openxmlformats.org/drawingml/2006/main" noGrp="1"/>
          </p:cNvSpPr>
          <p:nvPr/>
        </p:nvSpPr>
        <p:spPr>
          <a:xfrm xmlns:a="http://schemas.openxmlformats.org/drawingml/2006/main">
            <a:off x="6766560" y="2514600"/>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GOOD - dependency dipisah, cache npm install</a:t>
            </a:r>
            <a:endParaRPr sz="900"/>
          </a:p>
        </p:txBody>
      </p:sp>
      <p:sp>
        <p:nvSpPr>
          <p:cNvPr id="25" name="Text 21">
            <a:extLst xmlns:a="http://schemas.openxmlformats.org/drawingml/2006/main">
              <a:ext uri="{FF2B5EF4-FFF2-40B4-BE49-F238E27FC236}">
                <a16:creationId xmlns:a16="http://schemas.microsoft.com/office/drawing/2014/main" id="{577028D9-1C6F-4A32-83F7-DC592E14AE9B}"/>
              </a:ext>
            </a:extLst>
          </p:cNvPr>
          <p:cNvSpPr>
            <a:spLocks xmlns:a="http://schemas.openxmlformats.org/drawingml/2006/main" noGrp="1"/>
          </p:cNvSpPr>
          <p:nvPr/>
        </p:nvSpPr>
        <p:spPr>
          <a:xfrm xmlns:a="http://schemas.openxmlformats.org/drawingml/2006/main">
            <a:off x="6355080" y="2880360"/>
            <a:ext cx="5212080" cy="3200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b="1">
                <a:solidFill>
                  <a:srgbClr val="F37021"/>
                </a:solidFill>
                <a:latin typeface="Consolas"/>
                <a:ea typeface="Consolas"/>
                <a:cs typeface="Consolas"/>
              </a:rPr>
              <a:t>FROM </a:t>
            </a:r>
            <a:r>
              <a:rPr sz="1100" b="1">
                <a:solidFill>
                  <a:srgbClr val="F37021"/>
                </a:solidFill>
                <a:latin typeface="Consolas"/>
                <a:ea typeface="Consolas"/>
                <a:cs typeface="Consolas"/>
              </a:rPr>
              <a:t>node:24-alpine</a:t>
            </a:r>
            <a:endParaRPr sz="1100"/>
          </a:p>
          <a:p xmlns:a="http://schemas.openxmlformats.org/drawingml/2006/main">
            <a:pPr marL="0" indent="0">
              <a:spcAft>
                <a:spcPts val="200"/>
              </a:spcAft>
              <a:buNone/>
            </a:pPr>
            <a:r>
              <a:rPr sz="1100">
                <a:solidFill>
                  <a:srgbClr val="E2E8F0"/>
                </a:solidFill>
                <a:latin typeface="Consolas"/>
                <a:ea typeface="Consolas"/>
                <a:cs typeface="Consolas"/>
              </a:rPr>
              <a:t>WORKDIR /app</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b="1">
                <a:solidFill>
                  <a:srgbClr val="10B981"/>
                </a:solidFill>
                <a:latin typeface="Consolas"/>
                <a:ea typeface="Consolas"/>
                <a:cs typeface="Consolas"/>
              </a:rPr>
              <a:t>COPY package.json package-lock.json ./</a:t>
            </a:r>
            <a:endParaRPr sz="1100"/>
          </a:p>
          <a:p xmlns:a="http://schemas.openxmlformats.org/drawingml/2006/main">
            <a:pPr marL="0" indent="0">
              <a:spcAft>
                <a:spcPts val="200"/>
              </a:spcAft>
              <a:buNone/>
            </a:pPr>
            <a:r>
              <a:rPr sz="1100" b="1">
                <a:solidFill>
                  <a:srgbClr val="10B981"/>
                </a:solidFill>
                <a:latin typeface="Consolas"/>
                <a:ea typeface="Consolas"/>
                <a:cs typeface="Consolas"/>
              </a:rPr>
              <a:t>RUN </a:t>
            </a:r>
            <a:r>
              <a:rPr sz="1100" b="1">
                <a:solidFill>
                  <a:srgbClr val="10B981"/>
                </a:solidFill>
                <a:latin typeface="Consolas"/>
                <a:ea typeface="Consolas"/>
                <a:cs typeface="Consolas"/>
              </a:rPr>
              <a:t>npm ci --omit=dev</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E2E8F0"/>
                </a:solidFill>
                <a:latin typeface="Consolas"/>
                <a:ea typeface="Consolas"/>
                <a:cs typeface="Consolas"/>
              </a:rPr>
              <a:t>COPY . .</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E2E8F0"/>
                </a:solidFill>
                <a:latin typeface="Consolas"/>
                <a:ea typeface="Consolas"/>
                <a:cs typeface="Consolas"/>
              </a:rPr>
              <a:t>CMD ["node", "server.js"]</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Edit server.js -&gt; COPY . . rebuild</a:t>
            </a:r>
            <a:endParaRPr sz="1100"/>
          </a:p>
          <a:p xmlns:a="http://schemas.openxmlformats.org/drawingml/2006/main">
            <a:pPr marL="0" indent="0">
              <a:spcAft>
                <a:spcPts val="200"/>
              </a:spcAft>
              <a:buNone/>
            </a:pPr>
            <a:r>
              <a:rPr sz="1100">
                <a:solidFill>
                  <a:srgbClr val="94A3B8"/>
                </a:solidFill>
                <a:latin typeface="Consolas"/>
                <a:ea typeface="Consolas"/>
                <a:cs typeface="Consolas"/>
              </a:rPr>
              <a:t># Tapi npm install tetap cached</a:t>
            </a:r>
            <a:endParaRPr sz="1100"/>
          </a:p>
          <a:p xmlns:a="http://schemas.openxmlformats.org/drawingml/2006/main">
            <a:pPr marL="0" indent="0">
              <a:spcAft>
                <a:spcPts val="200"/>
              </a:spcAft>
              <a:buNone/>
            </a:pPr>
            <a:r>
              <a:rPr sz="1100">
                <a:solidFill>
                  <a:srgbClr val="10B981"/>
                </a:solidFill>
                <a:latin typeface="Consolas"/>
                <a:ea typeface="Consolas"/>
                <a:cs typeface="Consolas"/>
              </a:rPr>
              <a:t># -&gt; ukur waktu pada mesin sendiri</a:t>
            </a:r>
            <a:endParaRPr sz="1100"/>
          </a:p>
        </p:txBody>
      </p:sp>
    </p:spTree>
    <p:extLst>
      <p:ext uri="{BB962C8B-B14F-4D97-AF65-F5344CB8AC3E}">
        <p14:creationId xmlns:p14="http://schemas.microsoft.com/office/powerpoint/2010/main" val="27859207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0" name="">
            <a:extLst xmlns:a="http://schemas.openxmlformats.org/drawingml/2006/main">
              <a:ext uri="{FF2B5EF4-FFF2-40B4-BE49-F238E27FC236}">
                <a16:creationId xmlns:a16="http://schemas.microsoft.com/office/drawing/2014/main" id="{27F613C2-24DB-4591-9831-A85C271692DE}"/>
              </a:ext>
            </a:extLst>
          </p:cNvPr>
          <p:cNvPicPr>
            <a:picLocks xmlns:a="http://schemas.openxmlformats.org/drawingml/2006/main" noChangeAspect="1"/>
          </p:cNvPicPr>
          <p:nvPr/>
        </p:nvPicPr>
        <p:blipFill>
          <a:blip xmlns:r="http://schemas.openxmlformats.org/officeDocument/2006/relationships" xmlns:a="http://schemas.openxmlformats.org/drawingml/2006/main" r:embed="Rde322e01551f4795"/>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2EDDC597-8C93-4620-A693-653AD1503767}"/>
              </a:ext>
            </a:extLst>
          </p:cNvPr>
          <p:cNvPicPr>
            <a:picLocks xmlns:a="http://schemas.openxmlformats.org/drawingml/2006/main" noChangeAspect="1"/>
          </p:cNvPicPr>
          <p:nvPr/>
        </p:nvPicPr>
        <p:blipFill>
          <a:blip xmlns:r="http://schemas.openxmlformats.org/officeDocument/2006/relationships" xmlns:a="http://schemas.openxmlformats.org/drawingml/2006/main" r:embed="R17e35fcff163431d"/>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0C83297A-3EA9-45E2-A31B-77AA28ECC7D0}"/>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Bahan yang sudah disiapkan: build cache</a:t>
            </a:r>
          </a:p>
        </p:txBody>
      </p:sp>
      <p:sp>
        <p:nvSpPr>
          <p:cNvPr id="4" name="text_1">
            <a:extLst xmlns:a="http://schemas.openxmlformats.org/drawingml/2006/main">
              <a:ext uri="{FF2B5EF4-FFF2-40B4-BE49-F238E27FC236}">
                <a16:creationId xmlns:a16="http://schemas.microsoft.com/office/drawing/2014/main" id="{9906E8E5-3405-46AE-8936-12BFF847E009}"/>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Input yang stabil lebih dahulu; kode yang sering berubah belakangan</a:t>
            </a:r>
          </a:p>
        </p:txBody>
      </p:sp>
      <p:sp>
        <p:nvSpPr>
          <p:cNvPr id="5" name="">
            <a:extLst xmlns:a="http://schemas.openxmlformats.org/drawingml/2006/main">
              <a:ext uri="{FF2B5EF4-FFF2-40B4-BE49-F238E27FC236}">
                <a16:creationId xmlns:a16="http://schemas.microsoft.com/office/drawing/2014/main" id="{85C19964-25F5-4680-8A2D-DA6F28A2E79B}"/>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928F016-E687-41CD-83EF-60921F7BEBF8}"/>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21F74CCD-344D-4BB5-A0D1-DF9E9B649097}"/>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3A890B53-7015-4CFC-ABB8-5CA86F2DFA66}"/>
              </a:ext>
            </a:extLst>
          </p:cNvPr>
          <p:cNvPicPr>
            <a:picLocks xmlns:a="http://schemas.openxmlformats.org/drawingml/2006/main" noChangeAspect="1"/>
          </p:cNvPicPr>
          <p:nvPr/>
        </p:nvPicPr>
        <p:blipFill>
          <a:blip xmlns:r="http://schemas.openxmlformats.org/officeDocument/2006/relationships" xmlns:a="http://schemas.openxmlformats.org/drawingml/2006/main" r:embed="Ra4496cef38e14e19"/>
          <a:srcRect xmlns:a="http://schemas.openxmlformats.org/drawingml/2006/main" l="2444" t="0" r="2444" b="0"/>
          <a:stretch xmlns:a="http://schemas.openxmlformats.org/drawingml/2006/main">
            <a:fillRect l="0" t="0" r="0" b="0"/>
          </a:stretch>
        </p:blipFill>
        <p:spPr>
          <a:xfrm xmlns:a="http://schemas.openxmlformats.org/drawingml/2006/main">
            <a:off x="6762750" y="1571625"/>
            <a:ext cx="4972050" cy="3486150"/>
          </a:xfrm>
          <a:prstGeom xmlns:a="http://schemas.openxmlformats.org/drawingml/2006/main" prst="rect">
            <a:avLst/>
          </a:prstGeom>
        </p:spPr>
      </p:pic>
      <p:sp>
        <p:nvSpPr>
          <p:cNvPr id="9" name="text_5">
            <a:extLst xmlns:a="http://schemas.openxmlformats.org/drawingml/2006/main">
              <a:ext uri="{FF2B5EF4-FFF2-40B4-BE49-F238E27FC236}">
                <a16:creationId xmlns:a16="http://schemas.microsoft.com/office/drawing/2014/main" id="{8FCEBB9F-792B-4B2F-B129-E66B59E48AB2}"/>
              </a:ext>
            </a:extLst>
          </p:cNvPr>
          <p:cNvSpPr>
            <a:spLocks xmlns:a="http://schemas.openxmlformats.org/drawingml/2006/main" noGrp="1"/>
          </p:cNvSpPr>
          <p:nvPr/>
        </p:nvSpPr>
        <p:spPr>
          <a:xfrm xmlns:a="http://schemas.openxmlformats.org/drawingml/2006/main">
            <a:off x="6762750" y="5133975"/>
            <a:ext cx="4972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00" b="0">
                <a:solidFill>
                  <a:srgbClr val="64748B"/>
                </a:solidFill>
                <a:latin typeface="Calibri"/>
                <a:ea typeface="Calibri"/>
                <a:cs typeface="Calibri"/>
              </a:defRPr>
            </a:defPPr>
          </a:lstStyle>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Foto: Rachel Claire / Pexels · ilustrasi perumpamaan</a:t>
            </a:r>
          </a:p>
        </p:txBody>
      </p:sp>
      <p:sp>
        <p:nvSpPr>
          <p:cNvPr id="10" name="text_6">
            <a:extLst xmlns:a="http://schemas.openxmlformats.org/drawingml/2006/main">
              <a:ext uri="{FF2B5EF4-FFF2-40B4-BE49-F238E27FC236}">
                <a16:creationId xmlns:a16="http://schemas.microsoft.com/office/drawing/2014/main" id="{3033D585-D8D1-4A45-B006-555FD2EF212D}"/>
              </a:ext>
            </a:extLst>
          </p:cNvPr>
          <p:cNvSpPr>
            <a:spLocks xmlns:a="http://schemas.openxmlformats.org/drawingml/2006/main" noGrp="1"/>
          </p:cNvSpPr>
          <p:nvPr/>
        </p:nvSpPr>
        <p:spPr>
          <a:xfrm xmlns:a="http://schemas.openxmlformats.org/drawingml/2006/main">
            <a:off x="457200" y="157162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defRPr sz="1875" b="1">
                <a:solidFill>
                  <a:srgbClr val="052877"/>
                </a:solidFill>
                <a:latin typeface="Calibri"/>
                <a:ea typeface="Calibri"/>
                <a:cs typeface="Calibri"/>
              </a:defRPr>
            </a:pPr>
            <a:r>
              <a:rPr sz="1875" b="1">
                <a:solidFill>
                  <a:srgbClr val="052877"/>
                </a:solidFill>
                <a:latin typeface="Calibri"/>
                <a:ea typeface="Calibri"/>
                <a:cs typeface="Calibri"/>
              </a:rPr>
              <a:t>Daftar bahan jarang berubah</a:t>
            </a:r>
          </a:p>
        </p:txBody>
      </p:sp>
      <p:sp>
        <p:nvSpPr>
          <p:cNvPr id="11" name="text_7">
            <a:extLst xmlns:a="http://schemas.openxmlformats.org/drawingml/2006/main">
              <a:ext uri="{FF2B5EF4-FFF2-40B4-BE49-F238E27FC236}">
                <a16:creationId xmlns:a16="http://schemas.microsoft.com/office/drawing/2014/main" id="{1605519C-E128-4EE0-BC7B-F2F416D573A6}"/>
              </a:ext>
            </a:extLst>
          </p:cNvPr>
          <p:cNvSpPr>
            <a:spLocks xmlns:a="http://schemas.openxmlformats.org/drawingml/2006/main" noGrp="1"/>
          </p:cNvSpPr>
          <p:nvPr/>
        </p:nvSpPr>
        <p:spPr>
          <a:xfrm xmlns:a="http://schemas.openxmlformats.org/drawingml/2006/main">
            <a:off x="457200" y="1971675"/>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COPY requirements.txt lalu pasang dependency.</a:t>
            </a:r>
          </a:p>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Cache bisa dipakai bila instruksi/input sama.</a:t>
            </a:r>
          </a:p>
        </p:txBody>
      </p:sp>
      <p:sp>
        <p:nvSpPr>
          <p:cNvPr id="12" name="text_8">
            <a:extLst xmlns:a="http://schemas.openxmlformats.org/drawingml/2006/main">
              <a:ext uri="{FF2B5EF4-FFF2-40B4-BE49-F238E27FC236}">
                <a16:creationId xmlns:a16="http://schemas.microsoft.com/office/drawing/2014/main" id="{9D96DA3F-E042-44D6-8FAF-FEBC8A1FEA70}"/>
              </a:ext>
            </a:extLst>
          </p:cNvPr>
          <p:cNvSpPr>
            <a:spLocks xmlns:a="http://schemas.openxmlformats.org/drawingml/2006/main" noGrp="1"/>
          </p:cNvSpPr>
          <p:nvPr/>
        </p:nvSpPr>
        <p:spPr>
          <a:xfrm xmlns:a="http://schemas.openxmlformats.org/drawingml/2006/main">
            <a:off x="457200" y="27336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defRPr sz="1875" b="1">
                <a:solidFill>
                  <a:srgbClr val="052877"/>
                </a:solidFill>
                <a:latin typeface="Calibri"/>
                <a:ea typeface="Calibri"/>
                <a:cs typeface="Calibri"/>
              </a:defRPr>
            </a:pPr>
            <a:r>
              <a:rPr sz="1875" b="1">
                <a:solidFill>
                  <a:srgbClr val="052877"/>
                </a:solidFill>
                <a:latin typeface="Calibri"/>
                <a:ea typeface="Calibri"/>
                <a:cs typeface="Calibri"/>
              </a:rPr>
              <a:t>Resep aplikasi sering diperbaiki</a:t>
            </a:r>
          </a:p>
        </p:txBody>
      </p:sp>
      <p:sp>
        <p:nvSpPr>
          <p:cNvPr id="13" name="text_9">
            <a:extLst xmlns:a="http://schemas.openxmlformats.org/drawingml/2006/main">
              <a:ext uri="{FF2B5EF4-FFF2-40B4-BE49-F238E27FC236}">
                <a16:creationId xmlns:a16="http://schemas.microsoft.com/office/drawing/2014/main" id="{150C9CCA-2FE7-4E53-B97F-EA4742DB3030}"/>
              </a:ext>
            </a:extLst>
          </p:cNvPr>
          <p:cNvSpPr>
            <a:spLocks xmlns:a="http://schemas.openxmlformats.org/drawingml/2006/main" noGrp="1"/>
          </p:cNvSpPr>
          <p:nvPr/>
        </p:nvSpPr>
        <p:spPr>
          <a:xfrm xmlns:a="http://schemas.openxmlformats.org/drawingml/2006/main">
            <a:off x="457200" y="3133725"/>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COPY app ./app dilakukan setelah dependency.</a:t>
            </a:r>
          </a:p>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Perubahan source tidak selalu mengulang pip.</a:t>
            </a:r>
          </a:p>
        </p:txBody>
      </p:sp>
      <p:sp>
        <p:nvSpPr>
          <p:cNvPr id="14" name="text_10">
            <a:extLst xmlns:a="http://schemas.openxmlformats.org/drawingml/2006/main">
              <a:ext uri="{FF2B5EF4-FFF2-40B4-BE49-F238E27FC236}">
                <a16:creationId xmlns:a16="http://schemas.microsoft.com/office/drawing/2014/main" id="{44D89328-C432-44D6-B845-4A11C7AE8E06}"/>
              </a:ext>
            </a:extLst>
          </p:cNvPr>
          <p:cNvSpPr>
            <a:spLocks xmlns:a="http://schemas.openxmlformats.org/drawingml/2006/main" noGrp="1"/>
          </p:cNvSpPr>
          <p:nvPr/>
        </p:nvSpPr>
        <p:spPr>
          <a:xfrm xmlns:a="http://schemas.openxmlformats.org/drawingml/2006/main">
            <a:off x="457200" y="389572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defRPr sz="1875" b="1">
                <a:solidFill>
                  <a:srgbClr val="052877"/>
                </a:solidFill>
                <a:latin typeface="Calibri"/>
                <a:ea typeface="Calibri"/>
                <a:cs typeface="Calibri"/>
              </a:defRPr>
            </a:pPr>
            <a:r>
              <a:rPr sz="1875" b="1">
                <a:solidFill>
                  <a:srgbClr val="052877"/>
                </a:solidFill>
                <a:latin typeface="Calibri"/>
                <a:ea typeface="Calibri"/>
                <a:cs typeface="Calibri"/>
              </a:rPr>
              <a:t>Buktikan lewat build kedua</a:t>
            </a:r>
          </a:p>
        </p:txBody>
      </p:sp>
      <p:sp>
        <p:nvSpPr>
          <p:cNvPr id="15" name="text_11">
            <a:extLst xmlns:a="http://schemas.openxmlformats.org/drawingml/2006/main">
              <a:ext uri="{FF2B5EF4-FFF2-40B4-BE49-F238E27FC236}">
                <a16:creationId xmlns:a16="http://schemas.microsoft.com/office/drawing/2014/main" id="{1877E5CE-2A7E-4D1E-8C42-7F1E336D1395}"/>
              </a:ext>
            </a:extLst>
          </p:cNvPr>
          <p:cNvSpPr>
            <a:spLocks xmlns:a="http://schemas.openxmlformats.org/drawingml/2006/main" noGrp="1"/>
          </p:cNvSpPr>
          <p:nvPr/>
        </p:nvSpPr>
        <p:spPr>
          <a:xfrm xmlns:a="http://schemas.openxmlformats.org/drawingml/2006/main">
            <a:off x="457200" y="4295775"/>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Cari CACHED pada output build.</a:t>
            </a:r>
          </a:p>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Waktu aktual bergantung mesin dan cache.</a:t>
            </a:r>
          </a:p>
        </p:txBody>
      </p:sp>
      <p:sp>
        <p:nvSpPr>
          <p:cNvPr id="16" name="">
            <a:extLst xmlns:a="http://schemas.openxmlformats.org/drawingml/2006/main">
              <a:ext uri="{FF2B5EF4-FFF2-40B4-BE49-F238E27FC236}">
                <a16:creationId xmlns:a16="http://schemas.microsoft.com/office/drawing/2014/main" id="{BA63331A-B089-4923-9C69-B21A2C9D4CFB}"/>
              </a:ext>
            </a:extLst>
          </p:cNvPr>
          <p:cNvSpPr>
            <a:spLocks xmlns:a="http://schemas.openxmlformats.org/drawingml/2006/main" noGrp="1"/>
          </p:cNvSpPr>
          <p:nvPr/>
        </p:nvSpPr>
        <p:spPr>
          <a:xfrm xmlns:a="http://schemas.openxmlformats.org/drawingml/2006/main">
            <a:off x="457200" y="5391150"/>
            <a:ext cx="11277600" cy="6667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7" name="text_13">
            <a:extLst xmlns:a="http://schemas.openxmlformats.org/drawingml/2006/main">
              <a:ext uri="{FF2B5EF4-FFF2-40B4-BE49-F238E27FC236}">
                <a16:creationId xmlns:a16="http://schemas.microsoft.com/office/drawing/2014/main" id="{B179D587-8A7F-4BA0-9E03-67D42CC20768}"/>
              </a:ext>
            </a:extLst>
          </p:cNvPr>
          <p:cNvSpPr>
            <a:spLocks xmlns:a="http://schemas.openxmlformats.org/drawingml/2006/main" noGrp="1"/>
          </p:cNvSpPr>
          <p:nvPr/>
        </p:nvSpPr>
        <p:spPr>
          <a:xfrm xmlns:a="http://schemas.openxmlformats.org/drawingml/2006/main">
            <a:off x="590550" y="5505450"/>
            <a:ext cx="11010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build --progress=plain -t cloud-notes-api:theory-online .</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 Jalankan lagi; bandingkan langkah yang menampilkan CACHED.</a:t>
            </a:r>
          </a:p>
        </p:txBody>
      </p:sp>
      <p:sp>
        <p:nvSpPr>
          <p:cNvPr id="18" name="text_14">
            <a:extLst xmlns:a="http://schemas.openxmlformats.org/drawingml/2006/main">
              <a:ext uri="{FF2B5EF4-FFF2-40B4-BE49-F238E27FC236}">
                <a16:creationId xmlns:a16="http://schemas.microsoft.com/office/drawing/2014/main" id="{79DDE827-A3B8-4D38-8D2B-89C44586BDCE}"/>
              </a:ext>
            </a:extLst>
          </p:cNvPr>
          <p:cNvSpPr>
            <a:spLocks xmlns:a="http://schemas.openxmlformats.org/drawingml/2006/main" noGrp="1"/>
          </p:cNvSpPr>
          <p:nvPr/>
        </p:nvSpPr>
        <p:spPr>
          <a:xfrm xmlns:a="http://schemas.openxmlformats.org/drawingml/2006/main">
            <a:off x="457200" y="6143625"/>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F97316"/>
                </a:solidFill>
                <a:latin typeface="Calibri"/>
                <a:ea typeface="Calibri"/>
                <a:cs typeface="Calibri"/>
              </a:defRPr>
            </a:defPPr>
          </a:lstStyle>
          <a:p xmlns:a="http://schemas.openxmlformats.org/drawingml/2006/main">
            <a:pPr>
              <a:defRPr sz="1500" b="1">
                <a:solidFill>
                  <a:srgbClr val="F97316"/>
                </a:solidFill>
                <a:latin typeface="Calibri"/>
                <a:ea typeface="Calibri"/>
                <a:cs typeface="Calibri"/>
              </a:defRPr>
            </a:pPr>
            <a:r>
              <a:rPr sz="1500" b="1">
                <a:solidFill>
                  <a:srgbClr val="F97316"/>
                </a:solidFill>
                <a:latin typeface="Calibri"/>
                <a:ea typeface="Calibri"/>
                <a:cs typeface="Calibri"/>
              </a:rPr>
              <a:t>Cache memeriksa instruksi dan input; hasil cepat perlu diamati.</a:t>
            </a:r>
          </a:p>
        </p:txBody>
      </p:sp>
      <p:sp>
        <p:nvSpPr>
          <p:cNvPr id="19" name="text_15">
            <a:extLst xmlns:a="http://schemas.openxmlformats.org/drawingml/2006/main">
              <a:ext uri="{FF2B5EF4-FFF2-40B4-BE49-F238E27FC236}">
                <a16:creationId xmlns:a16="http://schemas.microsoft.com/office/drawing/2014/main" id="{50B1E900-5934-4643-9E00-B3E29E73246F}"/>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20</a:t>
            </a:r>
          </a:p>
        </p:txBody>
      </p:sp>
    </p:spTree>
    <p:extLst>
      <p:ext uri="{BB962C8B-B14F-4D97-AF65-F5344CB8AC3E}">
        <p14:creationId xmlns:p14="http://schemas.microsoft.com/office/powerpoint/2010/main" val="105964106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8C27C59-D1D3-4983-9456-AB40D6FFBD43}"/>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59859F35-1C45-4004-BDFB-CE7029EB615B}"/>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21</a:t>
            </a:r>
            <a:endParaRPr sz="900"/>
          </a:p>
        </p:txBody>
      </p:sp>
      <p:sp>
        <p:nvSpPr>
          <p:cNvPr id="4" name="Shape 2">
            <a:extLst xmlns:a="http://schemas.openxmlformats.org/drawingml/2006/main">
              <a:ext uri="{FF2B5EF4-FFF2-40B4-BE49-F238E27FC236}">
                <a16:creationId xmlns:a16="http://schemas.microsoft.com/office/drawing/2014/main" id="{72FEDFCE-27BC-483A-A325-05567DB964BD}"/>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7" name="Image 0">
            <a:extLst xmlns:a="http://schemas.openxmlformats.org/drawingml/2006/main">
              <a:ext uri="{FF2B5EF4-FFF2-40B4-BE49-F238E27FC236}">
                <a16:creationId xmlns:a16="http://schemas.microsoft.com/office/drawing/2014/main" id="{33F39A06-0F51-4BB9-A1B0-DFCCCE7CDC7E}"/>
              </a:ext>
            </a:extLst>
          </p:cNvPr>
          <p:cNvPicPr>
            <a:picLocks xmlns:a="http://schemas.openxmlformats.org/drawingml/2006/main" noChangeAspect="1"/>
          </p:cNvPicPr>
          <p:nvPr/>
        </p:nvPicPr>
        <p:blipFill>
          <a:blip xmlns:r="http://schemas.openxmlformats.org/officeDocument/2006/relationships" xmlns:a="http://schemas.openxmlformats.org/drawingml/2006/main" r:embed="Rfae0a5ab511a452d"/>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28" name="Image 1">
            <a:extLst xmlns:a="http://schemas.openxmlformats.org/drawingml/2006/main">
              <a:ext uri="{FF2B5EF4-FFF2-40B4-BE49-F238E27FC236}">
                <a16:creationId xmlns:a16="http://schemas.microsoft.com/office/drawing/2014/main" id="{EAD1BB64-52BD-4217-B5C3-2F2CC56BEC8F}"/>
              </a:ext>
            </a:extLst>
          </p:cNvPr>
          <p:cNvPicPr>
            <a:picLocks xmlns:a="http://schemas.openxmlformats.org/drawingml/2006/main" noChangeAspect="1"/>
          </p:cNvPicPr>
          <p:nvPr/>
        </p:nvPicPr>
        <p:blipFill>
          <a:blip xmlns:r="http://schemas.openxmlformats.org/officeDocument/2006/relationships" xmlns:a="http://schemas.openxmlformats.org/drawingml/2006/main" r:embed="R23eb356a2fd549af"/>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ABADA1EC-F73D-4A14-BABD-00D2AB6842FC}"/>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CC6EC9CA-7740-414E-99B4-B24955BBC52B}"/>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.dockerignore - Exclude dari Build Context</a:t>
            </a:r>
            <a:endParaRPr sz="2200"/>
          </a:p>
        </p:txBody>
      </p:sp>
      <p:sp>
        <p:nvSpPr>
          <p:cNvPr id="9" name="Text 5">
            <a:extLst xmlns:a="http://schemas.openxmlformats.org/drawingml/2006/main">
              <a:ext uri="{FF2B5EF4-FFF2-40B4-BE49-F238E27FC236}">
                <a16:creationId xmlns:a16="http://schemas.microsoft.com/office/drawing/2014/main" id="{573DABE8-8E13-4102-AEC8-5715191062B0}"/>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Mirip .gitignore, untuk hemat build context size</a:t>
            </a:r>
            <a:endParaRPr sz="1200"/>
          </a:p>
        </p:txBody>
      </p:sp>
      <p:sp>
        <p:nvSpPr>
          <p:cNvPr id="10" name="Shape 6">
            <a:extLst xmlns:a="http://schemas.openxmlformats.org/drawingml/2006/main">
              <a:ext uri="{FF2B5EF4-FFF2-40B4-BE49-F238E27FC236}">
                <a16:creationId xmlns:a16="http://schemas.microsoft.com/office/drawing/2014/main" id="{1365EF9B-A591-4181-B578-928941465551}"/>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Text 7">
            <a:extLst xmlns:a="http://schemas.openxmlformats.org/drawingml/2006/main">
              <a:ext uri="{FF2B5EF4-FFF2-40B4-BE49-F238E27FC236}">
                <a16:creationId xmlns:a16="http://schemas.microsoft.com/office/drawing/2014/main" id="{600DD077-9038-438E-98F1-EE164325F31E}"/>
              </a:ext>
            </a:extLst>
          </p:cNvPr>
          <p:cNvSpPr>
            <a:spLocks xmlns:a="http://schemas.openxmlformats.org/drawingml/2006/main" noGrp="1"/>
          </p:cNvSpPr>
          <p:nvPr/>
        </p:nvSpPr>
        <p:spPr>
          <a:xfrm xmlns:a="http://schemas.openxmlformats.org/drawingml/2006/main">
            <a:off x="640080" y="1554480"/>
            <a:ext cx="52120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Kenapa Penting?</a:t>
            </a:r>
            <a:endParaRPr sz="1400"/>
          </a:p>
        </p:txBody>
      </p:sp>
      <p:sp>
        <p:nvSpPr>
          <p:cNvPr id="12" name="Text 8">
            <a:extLst xmlns:a="http://schemas.openxmlformats.org/drawingml/2006/main">
              <a:ext uri="{FF2B5EF4-FFF2-40B4-BE49-F238E27FC236}">
                <a16:creationId xmlns:a16="http://schemas.microsoft.com/office/drawing/2014/main" id="{82CF8328-D417-41ED-B787-553299A8C381}"/>
              </a:ext>
            </a:extLst>
          </p:cNvPr>
          <p:cNvSpPr>
            <a:spLocks xmlns:a="http://schemas.openxmlformats.org/drawingml/2006/main" noGrp="1"/>
          </p:cNvSpPr>
          <p:nvPr/>
        </p:nvSpPr>
        <p:spPr>
          <a:xfrm xmlns:a="http://schemas.openxmlformats.org/drawingml/2006/main">
            <a:off x="777240" y="1965960"/>
            <a:ext cx="4937760" cy="2743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500"/>
              </a:spcAft>
              <a:buSzPct val="100000"/>
              <a:buChar char="▸"/>
            </a:pPr>
            <a:r>
              <a:rPr sz="1150">
                <a:solidFill>
                  <a:srgbClr val="1E293B"/>
                </a:solidFill>
                <a:latin typeface="Calibri"/>
                <a:ea typeface="Calibri"/>
                <a:cs typeface="Calibri"/>
              </a:rPr>
              <a:t>Context besar menambah input dan potensi transfer</a:t>
            </a:r>
            <a:endParaRPr sz="1150"/>
          </a:p>
          <a:p xmlns:a="http://schemas.openxmlformats.org/drawingml/2006/main">
            <a:pPr marL="342900" indent="-342900">
              <a:spcAft>
                <a:spcPts val="500"/>
              </a:spcAft>
              <a:buSzPct val="100000"/>
              <a:buChar char="▸"/>
            </a:pPr>
            <a:r>
              <a:rPr sz="1150">
                <a:solidFill>
                  <a:srgbClr val="1E293B"/>
                </a:solidFill>
                <a:latin typeface="Calibri"/>
                <a:ea typeface="Calibri"/>
                <a:cs typeface="Calibri"/>
              </a:rPr>
              <a:t>node_modules/ bisa GB+ - bikin build lambat</a:t>
            </a:r>
            <a:endParaRPr sz="1150"/>
          </a:p>
          <a:p xmlns:a="http://schemas.openxmlformats.org/drawingml/2006/main">
            <a:pPr marL="342900" indent="-342900">
              <a:spcAft>
                <a:spcPts val="500"/>
              </a:spcAft>
              <a:buSzPct val="100000"/>
              <a:buChar char="▸"/>
            </a:pPr>
            <a:r>
              <a:rPr sz="1150">
                <a:solidFill>
                  <a:srgbClr val="1E293B"/>
                </a:solidFill>
                <a:latin typeface="Calibri"/>
                <a:ea typeface="Calibri"/>
                <a:cs typeface="Calibri"/>
              </a:rPr>
              <a:t>Mencegah COPY .env dari context ke image</a:t>
            </a:r>
            <a:endParaRPr sz="1150"/>
          </a:p>
          <a:p xmlns:a="http://schemas.openxmlformats.org/drawingml/2006/main">
            <a:pPr marL="342900" indent="-342900">
              <a:spcAft>
                <a:spcPts val="500"/>
              </a:spcAft>
              <a:buSzPct val="100000"/>
              <a:buChar char="▸"/>
            </a:pPr>
            <a:r>
              <a:rPr sz="1150">
                <a:solidFill>
                  <a:srgbClr val="1E293B"/>
                </a:solidFill>
                <a:latin typeface="Calibri"/>
                <a:ea typeface="Calibri"/>
                <a:cs typeface="Calibri"/>
              </a:rPr>
              <a:t>COPY . . jadi predictable - tidak include sampah</a:t>
            </a:r>
            <a:endParaRPr sz="1150"/>
          </a:p>
          <a:p xmlns:a="http://schemas.openxmlformats.org/drawingml/2006/main">
            <a:pPr marL="342900" indent="-342900">
              <a:spcAft>
                <a:spcPts val="500"/>
              </a:spcAft>
              <a:buSzPct val="100000"/>
              <a:buChar char="▸"/>
            </a:pPr>
            <a:r>
              <a:rPr sz="1150">
                <a:solidFill>
                  <a:srgbClr val="1E293B"/>
                </a:solidFill>
                <a:latin typeface="Calibri"/>
                <a:ea typeface="Calibri"/>
                <a:cs typeface="Calibri"/>
              </a:rPr>
              <a:t>Speed up cache invalidation (lebih sedikit file)</a:t>
            </a:r>
            <a:endParaRPr sz="1150"/>
          </a:p>
        </p:txBody>
      </p:sp>
      <p:sp>
        <p:nvSpPr>
          <p:cNvPr id="13" name="Shape 9">
            <a:extLst xmlns:a="http://schemas.openxmlformats.org/drawingml/2006/main">
              <a:ext uri="{FF2B5EF4-FFF2-40B4-BE49-F238E27FC236}">
                <a16:creationId xmlns:a16="http://schemas.microsoft.com/office/drawing/2014/main" id="{2431A2C5-B7F4-4F4A-B887-E9708E0835D0}"/>
              </a:ext>
            </a:extLst>
          </p:cNvPr>
          <p:cNvSpPr>
            <a:spLocks xmlns:a="http://schemas.openxmlformats.org/drawingml/2006/main" noGrp="1"/>
          </p:cNvSpPr>
          <p:nvPr/>
        </p:nvSpPr>
        <p:spPr>
          <a:xfrm xmlns:a="http://schemas.openxmlformats.org/drawingml/2006/main">
            <a:off x="640080" y="4937760"/>
            <a:ext cx="5212080" cy="1188720"/>
          </a:xfrm>
          <a:prstGeom xmlns:a="http://schemas.openxmlformats.org/drawingml/2006/main" prst="rect">
            <a:avLst/>
          </a:prstGeom>
          <a:solidFill xmlns:a="http://schemas.openxmlformats.org/drawingml/2006/main">
            <a:srgbClr val="FEF3C7"/>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881F817F-62F5-4F2C-8326-F9C2A75D5FDF}"/>
              </a:ext>
            </a:extLst>
          </p:cNvPr>
          <p:cNvSpPr>
            <a:spLocks xmlns:a="http://schemas.openxmlformats.org/drawingml/2006/main" noGrp="1"/>
          </p:cNvSpPr>
          <p:nvPr/>
        </p:nvSpPr>
        <p:spPr>
          <a:xfrm xmlns:a="http://schemas.openxmlformats.org/drawingml/2006/main">
            <a:off x="777240" y="5029200"/>
            <a:ext cx="4937760"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a:solidFill>
                  <a:srgbClr val="F37021"/>
                </a:solidFill>
                <a:latin typeface="Calibri"/>
                <a:ea typeface="Calibri"/>
                <a:cs typeface="Calibri"/>
              </a:rPr>
              <a:t>Tinjau kebutuhan runtime sebelum mengabaikan file. .dockerignore tidak melindungi secret yang diberikan melalui ARG/ENV.</a:t>
            </a:r>
            <a:endParaRPr sz="1100"/>
          </a:p>
        </p:txBody>
      </p:sp>
      <p:sp>
        <p:nvSpPr>
          <p:cNvPr id="15" name="Shape 11">
            <a:extLst xmlns:a="http://schemas.openxmlformats.org/drawingml/2006/main">
              <a:ext uri="{FF2B5EF4-FFF2-40B4-BE49-F238E27FC236}">
                <a16:creationId xmlns:a16="http://schemas.microsoft.com/office/drawing/2014/main" id="{9EBA1D6E-80FE-4466-BBF1-1181B0E1C0E9}"/>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6" name="Shape 12">
            <a:extLst xmlns:a="http://schemas.openxmlformats.org/drawingml/2006/main">
              <a:ext uri="{FF2B5EF4-FFF2-40B4-BE49-F238E27FC236}">
                <a16:creationId xmlns:a16="http://schemas.microsoft.com/office/drawing/2014/main" id="{B56A58AF-C92B-4F1D-BD53-7C86455381A8}"/>
              </a:ext>
            </a:extLst>
          </p:cNvPr>
          <p:cNvSpPr>
            <a:spLocks xmlns:a="http://schemas.openxmlformats.org/drawingml/2006/main" noGrp="1"/>
          </p:cNvSpPr>
          <p:nvPr/>
        </p:nvSpPr>
        <p:spPr>
          <a:xfrm xmlns:a="http://schemas.openxmlformats.org/drawingml/2006/main">
            <a:off x="6217920" y="1417320"/>
            <a:ext cx="548640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7" name="Shape 13">
            <a:extLst xmlns:a="http://schemas.openxmlformats.org/drawingml/2006/main">
              <a:ext uri="{FF2B5EF4-FFF2-40B4-BE49-F238E27FC236}">
                <a16:creationId xmlns:a16="http://schemas.microsoft.com/office/drawing/2014/main" id="{2E38E46F-F21F-4D1A-AD49-1CD854AB24A9}"/>
              </a:ext>
            </a:extLst>
          </p:cNvPr>
          <p:cNvSpPr>
            <a:spLocks xmlns:a="http://schemas.openxmlformats.org/drawingml/2006/main" noGrp="1"/>
          </p:cNvSpPr>
          <p:nvPr/>
        </p:nvSpPr>
        <p:spPr>
          <a:xfrm xmlns:a="http://schemas.openxmlformats.org/drawingml/2006/main">
            <a:off x="6309360" y="14996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18" name="Shape 14">
            <a:extLst xmlns:a="http://schemas.openxmlformats.org/drawingml/2006/main">
              <a:ext uri="{FF2B5EF4-FFF2-40B4-BE49-F238E27FC236}">
                <a16:creationId xmlns:a16="http://schemas.microsoft.com/office/drawing/2014/main" id="{7B78C48A-F603-4911-B92B-5265EB380CB5}"/>
              </a:ext>
            </a:extLst>
          </p:cNvPr>
          <p:cNvSpPr>
            <a:spLocks xmlns:a="http://schemas.openxmlformats.org/drawingml/2006/main" noGrp="1"/>
          </p:cNvSpPr>
          <p:nvPr/>
        </p:nvSpPr>
        <p:spPr>
          <a:xfrm xmlns:a="http://schemas.openxmlformats.org/drawingml/2006/main">
            <a:off x="6446520" y="14996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9" name="Shape 15">
            <a:extLst xmlns:a="http://schemas.openxmlformats.org/drawingml/2006/main">
              <a:ext uri="{FF2B5EF4-FFF2-40B4-BE49-F238E27FC236}">
                <a16:creationId xmlns:a16="http://schemas.microsoft.com/office/drawing/2014/main" id="{9448688A-E9AA-4929-BE21-20EB9EE49893}"/>
              </a:ext>
            </a:extLst>
          </p:cNvPr>
          <p:cNvSpPr>
            <a:spLocks xmlns:a="http://schemas.openxmlformats.org/drawingml/2006/main" noGrp="1"/>
          </p:cNvSpPr>
          <p:nvPr/>
        </p:nvSpPr>
        <p:spPr>
          <a:xfrm xmlns:a="http://schemas.openxmlformats.org/drawingml/2006/main">
            <a:off x="6583680" y="14996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20" name="Text 16">
            <a:extLst xmlns:a="http://schemas.openxmlformats.org/drawingml/2006/main">
              <a:ext uri="{FF2B5EF4-FFF2-40B4-BE49-F238E27FC236}">
                <a16:creationId xmlns:a16="http://schemas.microsoft.com/office/drawing/2014/main" id="{7A9AF955-60C8-4D27-A6AC-411CAC29EB4B}"/>
              </a:ext>
            </a:extLst>
          </p:cNvPr>
          <p:cNvSpPr>
            <a:spLocks xmlns:a="http://schemas.openxmlformats.org/drawingml/2006/main" noGrp="1"/>
          </p:cNvSpPr>
          <p:nvPr/>
        </p:nvSpPr>
        <p:spPr>
          <a:xfrm xmlns:a="http://schemas.openxmlformats.org/drawingml/2006/main">
            <a:off x="6766560" y="1417320"/>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.dockerignore (Node.js project)</a:t>
            </a:r>
            <a:endParaRPr sz="900"/>
          </a:p>
        </p:txBody>
      </p:sp>
      <p:sp>
        <p:nvSpPr>
          <p:cNvPr id="21" name="Text 17">
            <a:extLst xmlns:a="http://schemas.openxmlformats.org/drawingml/2006/main">
              <a:ext uri="{FF2B5EF4-FFF2-40B4-BE49-F238E27FC236}">
                <a16:creationId xmlns:a16="http://schemas.microsoft.com/office/drawing/2014/main" id="{45B67A61-3A65-411C-970A-CBFE8B793AF3}"/>
              </a:ext>
            </a:extLst>
          </p:cNvPr>
          <p:cNvSpPr>
            <a:spLocks xmlns:a="http://schemas.openxmlformats.org/drawingml/2006/main" noGrp="1"/>
          </p:cNvSpPr>
          <p:nvPr/>
        </p:nvSpPr>
        <p:spPr>
          <a:xfrm xmlns:a="http://schemas.openxmlformats.org/drawingml/2006/main">
            <a:off x="6355080" y="1783080"/>
            <a:ext cx="5212080" cy="42976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Dependency &amp; build</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node_modules/</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npm-debug.log</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dist/</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build/</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.next/</a:t>
            </a:r>
            <a:endParaRPr sz="1100"/>
          </a:p>
          <a:p xmlns:a="http://schemas.openxmlformats.org/drawingml/2006/main">
            <a:pPr marL="0" indent="0">
              <a:spcAft>
                <a:spcPts val="200"/>
              </a:spcAft>
              <a:buNone/>
            </a:pPr>
            <a:r>
              <a:rPr sz="1100">
                <a:solidFill>
                  <a:srgbClr val="E2E8F0"/>
                </a:solidFill>
                <a:latin typeface="Consolas"/>
                <a:ea typeface="Consolas"/>
                <a:cs typeface="Consolas"/>
              </a:rPr>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Git &amp; IDE</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.git/</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.vscode/</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.idea/</a:t>
            </a:r>
            <a:endParaRPr sz="1100"/>
          </a:p>
          <a:p xmlns:a="http://schemas.openxmlformats.org/drawingml/2006/main">
            <a:pPr marL="0" indent="0">
              <a:spcAft>
                <a:spcPts val="200"/>
              </a:spcAft>
              <a:buNone/>
            </a:pPr>
            <a:r>
              <a:rPr sz="1100">
                <a:solidFill>
                  <a:srgbClr val="E2E8F0"/>
                </a:solidFill>
                <a:latin typeface="Consolas"/>
                <a:ea typeface="Consolas"/>
                <a:cs typeface="Consolas"/>
              </a:rPr>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Secret &amp; konfigurasi lokal</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.env*</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*.pem</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b="1">
                <a:solidFill>
                  <a:srgbClr val="E5E7EB"/>
                </a:solidFill>
                <a:latin typeface="Consolas"/>
                <a:ea typeface="Consolas"/>
                <a:cs typeface="Consolas"/>
              </a:rPr>
              <a:t>secrets/</a:t>
            </a:r>
            <a:endParaRPr sz="1100"/>
          </a:p>
          <a:p xmlns:a="http://schemas.openxmlformats.org/drawingml/2006/main">
            <a:pPr marL="0" indent="0">
              <a:spcAft>
                <a:spcPts val="200"/>
              </a:spcAft>
              <a:buNone/>
            </a:pPr>
            <a:r>
              <a:rPr sz="1100" b="1">
                <a:solidFill>
                  <a:srgbClr val="EF4444"/>
                </a:solidFill>
                <a:latin typeface="Consolas"/>
                <a:ea typeface="Consolas"/>
                <a:cs typeface="Consolas"/>
              </a:rPr>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b="1">
                <a:solidFill>
                  <a:srgbClr val="E5E7EB"/>
                </a:solidFill>
                <a:latin typeface="Consolas"/>
                <a:ea typeface="Consolas"/>
                <a:cs typeface="Consolas"/>
              </a:rPr>
              <a:t># Sesuaikan kebutuhan aplikasi</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tests/</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*.md</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Dockerfile*</a:t>
            </a:r>
            <a:endParaRPr sz="1100"/>
          </a:p>
        </p:txBody>
      </p:sp>
    </p:spTree>
    <p:extLst>
      <p:ext uri="{BB962C8B-B14F-4D97-AF65-F5344CB8AC3E}">
        <p14:creationId xmlns:p14="http://schemas.microsoft.com/office/powerpoint/2010/main" val="182738961"/>
      </p:ext>
    </p:extLst>
  </p:cSld>
</p:sld>
</file>

<file path=ppt/slides/slide22.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B66D3F6-6B71-4C07-8FF3-0F7C0DE81D87}"/>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57F7A761-20F7-47BB-93E3-CA16387BEF0F}"/>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F341F022-AFFA-412C-9F6B-C1BFB738B56E}"/>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E62894E1-1A76-4DEE-8732-656EEE12C6EF}"/>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F9165E20-A483-408A-9591-5EC8B94F00DC}"/>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0F72A51A-9D24-42BA-8E16-3F4AC74D02E9}"/>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E8817510-3EF5-4E01-82D7-307B7B14E289}"/>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a:extLst xmlns:a="http://schemas.openxmlformats.org/drawingml/2006/main">
              <a:ext uri="{FF2B5EF4-FFF2-40B4-BE49-F238E27FC236}">
                <a16:creationId xmlns:a16="http://schemas.microsoft.com/office/drawing/2014/main" id="{0D6F38C8-E941-4125-BB9E-F190D475E004}"/>
              </a:ext>
            </a:extLst>
          </p:cNvPr>
          <p:cNvPicPr>
            <a:picLocks xmlns:a="http://schemas.openxmlformats.org/drawingml/2006/main" noChangeAspect="1"/>
          </p:cNvPicPr>
          <p:nvPr/>
        </p:nvPicPr>
        <p:blipFill>
          <a:blip xmlns:r="http://schemas.openxmlformats.org/officeDocument/2006/relationships" xmlns:a="http://schemas.openxmlformats.org/drawingml/2006/main" r:embed="Ra55ddd2e177040a6"/>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a:extLst xmlns:a="http://schemas.openxmlformats.org/drawingml/2006/main">
              <a:ext uri="{FF2B5EF4-FFF2-40B4-BE49-F238E27FC236}">
                <a16:creationId xmlns:a16="http://schemas.microsoft.com/office/drawing/2014/main" id="{0622CD5C-457F-436C-AB99-5767CAC7F785}"/>
              </a:ext>
            </a:extLst>
          </p:cNvPr>
          <p:cNvPicPr>
            <a:picLocks xmlns:a="http://schemas.openxmlformats.org/drawingml/2006/main" noChangeAspect="1"/>
          </p:cNvPicPr>
          <p:nvPr/>
        </p:nvPicPr>
        <p:blipFill>
          <a:blip xmlns:r="http://schemas.openxmlformats.org/officeDocument/2006/relationships" xmlns:a="http://schemas.openxmlformats.org/drawingml/2006/main" r:embed="R3545e1e9e47b4057"/>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C0AC25E9-1A67-47D7-9055-5995C033E2A4}"/>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04</a:t>
            </a:r>
            <a:endParaRPr sz="1600"/>
          </a:p>
        </p:txBody>
      </p:sp>
      <p:sp>
        <p:nvSpPr>
          <p:cNvPr id="12" name="Text 8">
            <a:extLst xmlns:a="http://schemas.openxmlformats.org/drawingml/2006/main">
              <a:ext uri="{FF2B5EF4-FFF2-40B4-BE49-F238E27FC236}">
                <a16:creationId xmlns:a16="http://schemas.microsoft.com/office/drawing/2014/main" id="{320F980F-02A2-407D-813E-840D2EB95CD1}"/>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Image</a:t>
            </a:r>
            <a:endParaRPr sz="5200"/>
          </a:p>
          <a:p xmlns:a="http://schemas.openxmlformats.org/drawingml/2006/main">
            <a:pPr marL="0" indent="0" algn="ctr">
              <a:buNone/>
            </a:pPr>
            <a:r>
              <a:rPr sz="5200" b="1">
                <a:solidFill>
                  <a:srgbClr val="FFFFFF"/>
                </a:solidFill>
                <a:latin typeface="Calibri"/>
                <a:ea typeface="Calibri"/>
                <a:cs typeface="Calibri"/>
              </a:rPr>
              <a:t>Optimization</a:t>
            </a:r>
            <a:endParaRPr sz="5200"/>
          </a:p>
        </p:txBody>
      </p:sp>
      <p:sp>
        <p:nvSpPr>
          <p:cNvPr id="13" name="Shape 9">
            <a:extLst xmlns:a="http://schemas.openxmlformats.org/drawingml/2006/main">
              <a:ext uri="{FF2B5EF4-FFF2-40B4-BE49-F238E27FC236}">
                <a16:creationId xmlns:a16="http://schemas.microsoft.com/office/drawing/2014/main" id="{2539796F-EECA-463C-90AE-79A7D66347A2}"/>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FB60FC53-668E-48DB-AFCB-421693F59685}"/>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Pilih base yang sesuai dan ukur image hasil build.</a:t>
            </a:r>
            <a:endParaRPr sz="1400"/>
          </a:p>
        </p:txBody>
      </p:sp>
      <p:sp>
        <p:nvSpPr>
          <p:cNvPr id="26" name="text_11">
            <a:extLst xmlns:a="http://schemas.openxmlformats.org/drawingml/2006/main">
              <a:ext uri="{FF2B5EF4-FFF2-40B4-BE49-F238E27FC236}">
                <a16:creationId xmlns:a16="http://schemas.microsoft.com/office/drawing/2014/main" id="{07F704AC-C8CB-416F-BBA4-219224527F8E}"/>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22</a:t>
            </a:r>
          </a:p>
        </p:txBody>
      </p:sp>
    </p:spTree>
    <p:extLst>
      <p:ext uri="{BB962C8B-B14F-4D97-AF65-F5344CB8AC3E}">
        <p14:creationId xmlns:p14="http://schemas.microsoft.com/office/powerpoint/2010/main" val="40594893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A3F296B-107E-4B62-B779-EEB88F5C407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5ABDA658-D051-4DEA-B46B-6CF97BFECA49}"/>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23</a:t>
            </a:r>
            <a:endParaRPr sz="900"/>
          </a:p>
        </p:txBody>
      </p:sp>
      <p:sp>
        <p:nvSpPr>
          <p:cNvPr id="4" name="Shape 2">
            <a:extLst xmlns:a="http://schemas.openxmlformats.org/drawingml/2006/main">
              <a:ext uri="{FF2B5EF4-FFF2-40B4-BE49-F238E27FC236}">
                <a16:creationId xmlns:a16="http://schemas.microsoft.com/office/drawing/2014/main" id="{06CF279A-83CA-4F31-BE6B-2A109F1DCF16}"/>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4" name="Image 0">
            <a:extLst xmlns:a="http://schemas.openxmlformats.org/drawingml/2006/main">
              <a:ext uri="{FF2B5EF4-FFF2-40B4-BE49-F238E27FC236}">
                <a16:creationId xmlns:a16="http://schemas.microsoft.com/office/drawing/2014/main" id="{DB19191F-00E5-4424-87A1-21C2B31994B3}"/>
              </a:ext>
            </a:extLst>
          </p:cNvPr>
          <p:cNvPicPr>
            <a:picLocks xmlns:a="http://schemas.openxmlformats.org/drawingml/2006/main" noChangeAspect="1"/>
          </p:cNvPicPr>
          <p:nvPr/>
        </p:nvPicPr>
        <p:blipFill>
          <a:blip xmlns:r="http://schemas.openxmlformats.org/officeDocument/2006/relationships" xmlns:a="http://schemas.openxmlformats.org/drawingml/2006/main" r:embed="Rebd153357965405e"/>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5" name="Image 1">
            <a:extLst xmlns:a="http://schemas.openxmlformats.org/drawingml/2006/main">
              <a:ext uri="{FF2B5EF4-FFF2-40B4-BE49-F238E27FC236}">
                <a16:creationId xmlns:a16="http://schemas.microsoft.com/office/drawing/2014/main" id="{1C4BAFFC-3831-49FF-8402-C223D881F6A7}"/>
              </a:ext>
            </a:extLst>
          </p:cNvPr>
          <p:cNvPicPr>
            <a:picLocks xmlns:a="http://schemas.openxmlformats.org/drawingml/2006/main" noChangeAspect="1"/>
          </p:cNvPicPr>
          <p:nvPr/>
        </p:nvPicPr>
        <p:blipFill>
          <a:blip xmlns:r="http://schemas.openxmlformats.org/officeDocument/2006/relationships" xmlns:a="http://schemas.openxmlformats.org/drawingml/2006/main" r:embed="R2be21e59b0764802"/>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9BB85570-D8A5-4466-B020-4D394300961A}"/>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C552A140-E5C1-4B9C-8ACB-55DCC0489123}"/>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Base Image Comparison - Node.js</a:t>
            </a:r>
            <a:endParaRPr sz="2200"/>
          </a:p>
        </p:txBody>
      </p:sp>
      <p:sp>
        <p:nvSpPr>
          <p:cNvPr id="9" name="Text 5">
            <a:extLst xmlns:a="http://schemas.openxmlformats.org/drawingml/2006/main">
              <a:ext uri="{FF2B5EF4-FFF2-40B4-BE49-F238E27FC236}">
                <a16:creationId xmlns:a16="http://schemas.microsoft.com/office/drawing/2014/main" id="{9B5A723A-01D2-48F0-80A3-CD12F4F12ACD}"/>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Ukuran bergantung tag, arsitektur, dan dependency aplikasi</a:t>
            </a:r>
            <a:endParaRPr sz="1200"/>
          </a:p>
        </p:txBody>
      </p:sp>
      <p:sp>
        <p:nvSpPr>
          <p:cNvPr id="10" name="Shape 6">
            <a:extLst xmlns:a="http://schemas.openxmlformats.org/drawingml/2006/main">
              <a:ext uri="{FF2B5EF4-FFF2-40B4-BE49-F238E27FC236}">
                <a16:creationId xmlns:a16="http://schemas.microsoft.com/office/drawing/2014/main" id="{31FEC755-CE2B-4068-9ABD-B3F6157A56AC}"/>
              </a:ext>
            </a:extLst>
          </p:cNvPr>
          <p:cNvSpPr>
            <a:spLocks xmlns:a="http://schemas.openxmlformats.org/drawingml/2006/main" noGrp="1"/>
          </p:cNvSpPr>
          <p:nvPr/>
        </p:nvSpPr>
        <p:spPr>
          <a:xfrm xmlns:a="http://schemas.openxmlformats.org/drawingml/2006/main">
            <a:off x="457200" y="1417320"/>
            <a:ext cx="11247120" cy="8229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1" name="Text 7">
            <a:extLst xmlns:a="http://schemas.openxmlformats.org/drawingml/2006/main">
              <a:ext uri="{FF2B5EF4-FFF2-40B4-BE49-F238E27FC236}">
                <a16:creationId xmlns:a16="http://schemas.microsoft.com/office/drawing/2014/main" id="{53DFC149-F48C-448D-B085-6C13943359BB}"/>
              </a:ext>
            </a:extLst>
          </p:cNvPr>
          <p:cNvSpPr>
            <a:spLocks xmlns:a="http://schemas.openxmlformats.org/drawingml/2006/main" noGrp="1"/>
          </p:cNvSpPr>
          <p:nvPr/>
        </p:nvSpPr>
        <p:spPr>
          <a:xfrm xmlns:a="http://schemas.openxmlformats.org/drawingml/2006/main">
            <a:off x="685800" y="1508760"/>
            <a:ext cx="1078992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37021"/>
                </a:solidFill>
                <a:latin typeface="Calibri"/>
                <a:ea typeface="Calibri"/>
                <a:cs typeface="Calibri"/>
              </a:rPr>
              <a:t>Image size matters: </a:t>
            </a:r>
            <a:r>
              <a:rPr sz="1200">
                <a:solidFill>
                  <a:srgbClr val="FFFFFF"/>
                </a:solidFill>
                <a:latin typeface="Calibri"/>
                <a:ea typeface="Calibri"/>
                <a:cs typeface="Calibri"/>
              </a:rPr>
              <a:t>hemat bandwidth (pull lebih cepat), hemat storage (registry + host), kurangi attack surface.</a:t>
            </a:r>
            <a:endParaRPr sz="1300"/>
          </a:p>
        </p:txBody>
      </p:sp>
      <p:sp>
        <p:nvSpPr>
          <p:cNvPr id="12" name="Shape 8">
            <a:extLst xmlns:a="http://schemas.openxmlformats.org/drawingml/2006/main">
              <a:ext uri="{FF2B5EF4-FFF2-40B4-BE49-F238E27FC236}">
                <a16:creationId xmlns:a16="http://schemas.microsoft.com/office/drawing/2014/main" id="{21FB7144-7312-4F2F-AEFB-469C8737BFC5}"/>
              </a:ext>
            </a:extLst>
          </p:cNvPr>
          <p:cNvSpPr>
            <a:spLocks xmlns:a="http://schemas.openxmlformats.org/drawingml/2006/main" noGrp="1"/>
          </p:cNvSpPr>
          <p:nvPr/>
        </p:nvSpPr>
        <p:spPr>
          <a:xfrm xmlns:a="http://schemas.openxmlformats.org/drawingml/2006/main">
            <a:off x="457200" y="2423160"/>
            <a:ext cx="2697480" cy="37033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3" name="Shape 9">
            <a:extLst xmlns:a="http://schemas.openxmlformats.org/drawingml/2006/main">
              <a:ext uri="{FF2B5EF4-FFF2-40B4-BE49-F238E27FC236}">
                <a16:creationId xmlns:a16="http://schemas.microsoft.com/office/drawing/2014/main" id="{BA23F6AF-733A-4C67-B84F-563EC0A63253}"/>
              </a:ext>
            </a:extLst>
          </p:cNvPr>
          <p:cNvSpPr>
            <a:spLocks xmlns:a="http://schemas.openxmlformats.org/drawingml/2006/main" noGrp="1"/>
          </p:cNvSpPr>
          <p:nvPr/>
        </p:nvSpPr>
        <p:spPr>
          <a:xfrm xmlns:a="http://schemas.openxmlformats.org/drawingml/2006/main">
            <a:off x="457200" y="2423160"/>
            <a:ext cx="2697480" cy="457200"/>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sp>
        <p:nvSpPr>
          <p:cNvPr id="14" name="Text 10">
            <a:extLst xmlns:a="http://schemas.openxmlformats.org/drawingml/2006/main">
              <a:ext uri="{FF2B5EF4-FFF2-40B4-BE49-F238E27FC236}">
                <a16:creationId xmlns:a16="http://schemas.microsoft.com/office/drawing/2014/main" id="{FA7DF663-1355-4296-B721-97AD9F32BA21}"/>
              </a:ext>
            </a:extLst>
          </p:cNvPr>
          <p:cNvSpPr>
            <a:spLocks xmlns:a="http://schemas.openxmlformats.org/drawingml/2006/main" noGrp="1"/>
          </p:cNvSpPr>
          <p:nvPr/>
        </p:nvSpPr>
        <p:spPr>
          <a:xfrm xmlns:a="http://schemas.openxmlformats.org/drawingml/2006/main">
            <a:off x="457200" y="2423160"/>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onsolas"/>
                <a:ea typeface="Consolas"/>
                <a:cs typeface="Consolas"/>
              </a:rPr>
              <a:t>node:24</a:t>
            </a:r>
            <a:endParaRPr sz="1300"/>
          </a:p>
        </p:txBody>
      </p:sp>
      <p:sp>
        <p:nvSpPr>
          <p:cNvPr id="15" name="Text 11">
            <a:extLst xmlns:a="http://schemas.openxmlformats.org/drawingml/2006/main">
              <a:ext uri="{FF2B5EF4-FFF2-40B4-BE49-F238E27FC236}">
                <a16:creationId xmlns:a16="http://schemas.microsoft.com/office/drawing/2014/main" id="{093BDC77-351A-4635-8F23-82CE5A3B02EE}"/>
              </a:ext>
            </a:extLst>
          </p:cNvPr>
          <p:cNvSpPr>
            <a:spLocks xmlns:a="http://schemas.openxmlformats.org/drawingml/2006/main" noGrp="1"/>
          </p:cNvSpPr>
          <p:nvPr/>
        </p:nvSpPr>
        <p:spPr>
          <a:xfrm xmlns:a="http://schemas.openxmlformats.org/drawingml/2006/main">
            <a:off x="457200" y="297180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000" b="1">
                <a:solidFill>
                  <a:srgbClr val="DC2626"/>
                </a:solidFill>
                <a:latin typeface="Calibri"/>
                <a:ea typeface="Calibri"/>
                <a:cs typeface="Calibri"/>
              </a:rPr>
              <a:t>Full</a:t>
            </a:r>
            <a:endParaRPr sz="3000"/>
          </a:p>
        </p:txBody>
      </p:sp>
      <p:sp>
        <p:nvSpPr>
          <p:cNvPr id="16" name="Text 12">
            <a:extLst xmlns:a="http://schemas.openxmlformats.org/drawingml/2006/main">
              <a:ext uri="{FF2B5EF4-FFF2-40B4-BE49-F238E27FC236}">
                <a16:creationId xmlns:a16="http://schemas.microsoft.com/office/drawing/2014/main" id="{EB755D44-8674-4747-9FE0-491F2F3D5BE5}"/>
              </a:ext>
            </a:extLst>
          </p:cNvPr>
          <p:cNvSpPr>
            <a:spLocks xmlns:a="http://schemas.openxmlformats.org/drawingml/2006/main" noGrp="1"/>
          </p:cNvSpPr>
          <p:nvPr/>
        </p:nvSpPr>
        <p:spPr>
          <a:xfrm xmlns:a="http://schemas.openxmlformats.org/drawingml/2006/main">
            <a:off x="457200" y="3611880"/>
            <a:ext cx="2697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i="1">
                <a:solidFill>
                  <a:srgbClr val="64748B"/>
                </a:solidFill>
                <a:latin typeface="Calibri"/>
                <a:ea typeface="Calibri"/>
                <a:cs typeface="Calibri"/>
              </a:rPr>
              <a:t>Debian (full)</a:t>
            </a:r>
            <a:endParaRPr sz="1000"/>
          </a:p>
        </p:txBody>
      </p:sp>
      <p:sp>
        <p:nvSpPr>
          <p:cNvPr id="17" name="Text 13">
            <a:extLst xmlns:a="http://schemas.openxmlformats.org/drawingml/2006/main">
              <a:ext uri="{FF2B5EF4-FFF2-40B4-BE49-F238E27FC236}">
                <a16:creationId xmlns:a16="http://schemas.microsoft.com/office/drawing/2014/main" id="{B4B3110D-BED8-4821-BAA0-E701FC417EA5}"/>
              </a:ext>
            </a:extLst>
          </p:cNvPr>
          <p:cNvSpPr>
            <a:spLocks xmlns:a="http://schemas.openxmlformats.org/drawingml/2006/main" noGrp="1"/>
          </p:cNvSpPr>
          <p:nvPr/>
        </p:nvSpPr>
        <p:spPr>
          <a:xfrm xmlns:a="http://schemas.openxmlformats.org/drawingml/2006/main">
            <a:off x="594360" y="3977640"/>
            <a:ext cx="2423160" cy="11887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Debian dengan tool tambahan. Tetap uji kompatibilitas dependency.</a:t>
            </a:r>
            <a:endParaRPr sz="1050"/>
          </a:p>
        </p:txBody>
      </p:sp>
      <p:sp>
        <p:nvSpPr>
          <p:cNvPr id="18" name="Shape 14">
            <a:extLst xmlns:a="http://schemas.openxmlformats.org/drawingml/2006/main">
              <a:ext uri="{FF2B5EF4-FFF2-40B4-BE49-F238E27FC236}">
                <a16:creationId xmlns:a16="http://schemas.microsoft.com/office/drawing/2014/main" id="{397695B5-6836-410B-AF7D-DD669AD4CBF9}"/>
              </a:ext>
            </a:extLst>
          </p:cNvPr>
          <p:cNvSpPr>
            <a:spLocks xmlns:a="http://schemas.openxmlformats.org/drawingml/2006/main" noGrp="1"/>
          </p:cNvSpPr>
          <p:nvPr/>
        </p:nvSpPr>
        <p:spPr>
          <a:xfrm xmlns:a="http://schemas.openxmlformats.org/drawingml/2006/main">
            <a:off x="594360" y="5212080"/>
            <a:ext cx="24231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9" name="Text 15">
            <a:extLst xmlns:a="http://schemas.openxmlformats.org/drawingml/2006/main">
              <a:ext uri="{FF2B5EF4-FFF2-40B4-BE49-F238E27FC236}">
                <a16:creationId xmlns:a16="http://schemas.microsoft.com/office/drawing/2014/main" id="{4EEAF4AC-2F68-47DC-BD52-96032CBECC11}"/>
              </a:ext>
            </a:extLst>
          </p:cNvPr>
          <p:cNvSpPr>
            <a:spLocks xmlns:a="http://schemas.openxmlformats.org/drawingml/2006/main" noGrp="1"/>
          </p:cNvSpPr>
          <p:nvPr/>
        </p:nvSpPr>
        <p:spPr>
          <a:xfrm xmlns:a="http://schemas.openxmlformats.org/drawingml/2006/main">
            <a:off x="594360" y="5303520"/>
            <a:ext cx="24231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Pakai untuk:</a:t>
            </a:r>
            <a:endParaRPr sz="900"/>
          </a:p>
        </p:txBody>
      </p:sp>
      <p:sp>
        <p:nvSpPr>
          <p:cNvPr id="20" name="Text 16">
            <a:extLst xmlns:a="http://schemas.openxmlformats.org/drawingml/2006/main">
              <a:ext uri="{FF2B5EF4-FFF2-40B4-BE49-F238E27FC236}">
                <a16:creationId xmlns:a16="http://schemas.microsoft.com/office/drawing/2014/main" id="{6B682C58-C43B-4E6B-AB4A-B5664906CF6D}"/>
              </a:ext>
            </a:extLst>
          </p:cNvPr>
          <p:cNvSpPr>
            <a:spLocks xmlns:a="http://schemas.openxmlformats.org/drawingml/2006/main" noGrp="1"/>
          </p:cNvSpPr>
          <p:nvPr/>
        </p:nvSpPr>
        <p:spPr>
          <a:xfrm xmlns:a="http://schemas.openxmlformats.org/drawingml/2006/main">
            <a:off x="594360" y="5532120"/>
            <a:ext cx="24231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002677"/>
                </a:solidFill>
                <a:latin typeface="Calibri"/>
                <a:ea typeface="Calibri"/>
                <a:cs typeface="Calibri"/>
              </a:rPr>
              <a:t>Build stage</a:t>
            </a:r>
            <a:endParaRPr sz="1100"/>
          </a:p>
        </p:txBody>
      </p:sp>
      <p:sp>
        <p:nvSpPr>
          <p:cNvPr id="21" name="Shape 17">
            <a:extLst xmlns:a="http://schemas.openxmlformats.org/drawingml/2006/main">
              <a:ext uri="{FF2B5EF4-FFF2-40B4-BE49-F238E27FC236}">
                <a16:creationId xmlns:a16="http://schemas.microsoft.com/office/drawing/2014/main" id="{DE25918C-2FBC-403C-AE4C-82185E939C31}"/>
              </a:ext>
            </a:extLst>
          </p:cNvPr>
          <p:cNvSpPr>
            <a:spLocks xmlns:a="http://schemas.openxmlformats.org/drawingml/2006/main" noGrp="1"/>
          </p:cNvSpPr>
          <p:nvPr/>
        </p:nvSpPr>
        <p:spPr>
          <a:xfrm xmlns:a="http://schemas.openxmlformats.org/drawingml/2006/main">
            <a:off x="3319272" y="2423160"/>
            <a:ext cx="2697480" cy="37033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2" name="Shape 18">
            <a:extLst xmlns:a="http://schemas.openxmlformats.org/drawingml/2006/main">
              <a:ext uri="{FF2B5EF4-FFF2-40B4-BE49-F238E27FC236}">
                <a16:creationId xmlns:a16="http://schemas.microsoft.com/office/drawing/2014/main" id="{B5736376-56AF-4BC5-A56F-B8D6C95F14BF}"/>
              </a:ext>
            </a:extLst>
          </p:cNvPr>
          <p:cNvSpPr>
            <a:spLocks xmlns:a="http://schemas.openxmlformats.org/drawingml/2006/main" noGrp="1"/>
          </p:cNvSpPr>
          <p:nvPr/>
        </p:nvSpPr>
        <p:spPr>
          <a:xfrm xmlns:a="http://schemas.openxmlformats.org/drawingml/2006/main">
            <a:off x="3319272" y="2423160"/>
            <a:ext cx="2697480" cy="4572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3" name="Text 19">
            <a:extLst xmlns:a="http://schemas.openxmlformats.org/drawingml/2006/main">
              <a:ext uri="{FF2B5EF4-FFF2-40B4-BE49-F238E27FC236}">
                <a16:creationId xmlns:a16="http://schemas.microsoft.com/office/drawing/2014/main" id="{57D77DB1-4025-42FB-91EA-6D0BF629314B}"/>
              </a:ext>
            </a:extLst>
          </p:cNvPr>
          <p:cNvSpPr>
            <a:spLocks xmlns:a="http://schemas.openxmlformats.org/drawingml/2006/main" noGrp="1"/>
          </p:cNvSpPr>
          <p:nvPr/>
        </p:nvSpPr>
        <p:spPr>
          <a:xfrm xmlns:a="http://schemas.openxmlformats.org/drawingml/2006/main">
            <a:off x="3319272" y="2423160"/>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onsolas"/>
                <a:ea typeface="Consolas"/>
                <a:cs typeface="Consolas"/>
              </a:rPr>
              <a:t>node:24-slim</a:t>
            </a:r>
            <a:endParaRPr sz="1300"/>
          </a:p>
        </p:txBody>
      </p:sp>
      <p:sp>
        <p:nvSpPr>
          <p:cNvPr id="24" name="Text 20">
            <a:extLst xmlns:a="http://schemas.openxmlformats.org/drawingml/2006/main">
              <a:ext uri="{FF2B5EF4-FFF2-40B4-BE49-F238E27FC236}">
                <a16:creationId xmlns:a16="http://schemas.microsoft.com/office/drawing/2014/main" id="{5DCE5066-78CA-4638-8851-3388EAC66F8C}"/>
              </a:ext>
            </a:extLst>
          </p:cNvPr>
          <p:cNvSpPr>
            <a:spLocks xmlns:a="http://schemas.openxmlformats.org/drawingml/2006/main" noGrp="1"/>
          </p:cNvSpPr>
          <p:nvPr/>
        </p:nvSpPr>
        <p:spPr>
          <a:xfrm xmlns:a="http://schemas.openxmlformats.org/drawingml/2006/main">
            <a:off x="3319272" y="297180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000" b="1">
                <a:solidFill>
                  <a:srgbClr val="F37021"/>
                </a:solidFill>
                <a:latin typeface="Calibri"/>
                <a:ea typeface="Calibri"/>
                <a:cs typeface="Calibri"/>
              </a:rPr>
              <a:t>Slim</a:t>
            </a:r>
            <a:endParaRPr sz="3000"/>
          </a:p>
        </p:txBody>
      </p:sp>
      <p:sp>
        <p:nvSpPr>
          <p:cNvPr id="25" name="Text 21">
            <a:extLst xmlns:a="http://schemas.openxmlformats.org/drawingml/2006/main">
              <a:ext uri="{FF2B5EF4-FFF2-40B4-BE49-F238E27FC236}">
                <a16:creationId xmlns:a16="http://schemas.microsoft.com/office/drawing/2014/main" id="{D9B6D3F8-BC27-417F-8578-A6FA4E557223}"/>
              </a:ext>
            </a:extLst>
          </p:cNvPr>
          <p:cNvSpPr>
            <a:spLocks xmlns:a="http://schemas.openxmlformats.org/drawingml/2006/main" noGrp="1"/>
          </p:cNvSpPr>
          <p:nvPr/>
        </p:nvSpPr>
        <p:spPr>
          <a:xfrm xmlns:a="http://schemas.openxmlformats.org/drawingml/2006/main">
            <a:off x="3319272" y="3611880"/>
            <a:ext cx="2697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i="1">
                <a:solidFill>
                  <a:srgbClr val="64748B"/>
                </a:solidFill>
                <a:latin typeface="Calibri"/>
                <a:ea typeface="Calibri"/>
                <a:cs typeface="Calibri"/>
              </a:rPr>
              <a:t>Debian slim</a:t>
            </a:r>
            <a:endParaRPr sz="1000"/>
          </a:p>
        </p:txBody>
      </p:sp>
      <p:sp>
        <p:nvSpPr>
          <p:cNvPr id="26" name="Text 22">
            <a:extLst xmlns:a="http://schemas.openxmlformats.org/drawingml/2006/main">
              <a:ext uri="{FF2B5EF4-FFF2-40B4-BE49-F238E27FC236}">
                <a16:creationId xmlns:a16="http://schemas.microsoft.com/office/drawing/2014/main" id="{EE6C38BA-9437-46E9-B1F4-216B4BA85740}"/>
              </a:ext>
            </a:extLst>
          </p:cNvPr>
          <p:cNvSpPr>
            <a:spLocks xmlns:a="http://schemas.openxmlformats.org/drawingml/2006/main" noGrp="1"/>
          </p:cNvSpPr>
          <p:nvPr/>
        </p:nvSpPr>
        <p:spPr>
          <a:xfrm xmlns:a="http://schemas.openxmlformats.org/drawingml/2006/main">
            <a:off x="3456432" y="3977640"/>
            <a:ext cx="2423160" cy="11887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Debian minimal, no docs/locales. Trade-off bagus.</a:t>
            </a:r>
            <a:endParaRPr sz="1050"/>
          </a:p>
        </p:txBody>
      </p:sp>
      <p:sp>
        <p:nvSpPr>
          <p:cNvPr id="27" name="Shape 23">
            <a:extLst xmlns:a="http://schemas.openxmlformats.org/drawingml/2006/main">
              <a:ext uri="{FF2B5EF4-FFF2-40B4-BE49-F238E27FC236}">
                <a16:creationId xmlns:a16="http://schemas.microsoft.com/office/drawing/2014/main" id="{FEA79BFB-89D8-459D-A890-0D84FEB992B6}"/>
              </a:ext>
            </a:extLst>
          </p:cNvPr>
          <p:cNvSpPr>
            <a:spLocks xmlns:a="http://schemas.openxmlformats.org/drawingml/2006/main" noGrp="1"/>
          </p:cNvSpPr>
          <p:nvPr/>
        </p:nvSpPr>
        <p:spPr>
          <a:xfrm xmlns:a="http://schemas.openxmlformats.org/drawingml/2006/main">
            <a:off x="3456432" y="5212080"/>
            <a:ext cx="24231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28" name="Text 24">
            <a:extLst xmlns:a="http://schemas.openxmlformats.org/drawingml/2006/main">
              <a:ext uri="{FF2B5EF4-FFF2-40B4-BE49-F238E27FC236}">
                <a16:creationId xmlns:a16="http://schemas.microsoft.com/office/drawing/2014/main" id="{2DFAE062-850F-4A5A-BCCE-7B297FE4E9FA}"/>
              </a:ext>
            </a:extLst>
          </p:cNvPr>
          <p:cNvSpPr>
            <a:spLocks xmlns:a="http://schemas.openxmlformats.org/drawingml/2006/main" noGrp="1"/>
          </p:cNvSpPr>
          <p:nvPr/>
        </p:nvSpPr>
        <p:spPr>
          <a:xfrm xmlns:a="http://schemas.openxmlformats.org/drawingml/2006/main">
            <a:off x="3456432" y="5303520"/>
            <a:ext cx="24231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Pakai untuk:</a:t>
            </a:r>
            <a:endParaRPr sz="900"/>
          </a:p>
        </p:txBody>
      </p:sp>
      <p:sp>
        <p:nvSpPr>
          <p:cNvPr id="29" name="Text 25">
            <a:extLst xmlns:a="http://schemas.openxmlformats.org/drawingml/2006/main">
              <a:ext uri="{FF2B5EF4-FFF2-40B4-BE49-F238E27FC236}">
                <a16:creationId xmlns:a16="http://schemas.microsoft.com/office/drawing/2014/main" id="{1B7B3DDE-0C13-4445-B3BC-D713D80C58EC}"/>
              </a:ext>
            </a:extLst>
          </p:cNvPr>
          <p:cNvSpPr>
            <a:spLocks xmlns:a="http://schemas.openxmlformats.org/drawingml/2006/main" noGrp="1"/>
          </p:cNvSpPr>
          <p:nvPr/>
        </p:nvSpPr>
        <p:spPr>
          <a:xfrm xmlns:a="http://schemas.openxmlformats.org/drawingml/2006/main">
            <a:off x="3456432" y="5532120"/>
            <a:ext cx="24231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002677"/>
                </a:solidFill>
                <a:latin typeface="Calibri"/>
                <a:ea typeface="Calibri"/>
                <a:cs typeface="Calibri"/>
              </a:rPr>
              <a:t>Runtime Debian</a:t>
            </a:r>
            <a:endParaRPr sz="1100"/>
          </a:p>
        </p:txBody>
      </p:sp>
      <p:sp>
        <p:nvSpPr>
          <p:cNvPr id="30" name="Shape 26">
            <a:extLst xmlns:a="http://schemas.openxmlformats.org/drawingml/2006/main">
              <a:ext uri="{FF2B5EF4-FFF2-40B4-BE49-F238E27FC236}">
                <a16:creationId xmlns:a16="http://schemas.microsoft.com/office/drawing/2014/main" id="{A0D6192D-BCF6-44C3-BD1E-E2BD1B918313}"/>
              </a:ext>
            </a:extLst>
          </p:cNvPr>
          <p:cNvSpPr>
            <a:spLocks xmlns:a="http://schemas.openxmlformats.org/drawingml/2006/main" noGrp="1"/>
          </p:cNvSpPr>
          <p:nvPr/>
        </p:nvSpPr>
        <p:spPr>
          <a:xfrm xmlns:a="http://schemas.openxmlformats.org/drawingml/2006/main">
            <a:off x="6181344" y="2423160"/>
            <a:ext cx="2697480" cy="37033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Shape 27">
            <a:extLst xmlns:a="http://schemas.openxmlformats.org/drawingml/2006/main">
              <a:ext uri="{FF2B5EF4-FFF2-40B4-BE49-F238E27FC236}">
                <a16:creationId xmlns:a16="http://schemas.microsoft.com/office/drawing/2014/main" id="{7F5FB899-8C68-49F4-97C7-8B4DBAE02DF7}"/>
              </a:ext>
            </a:extLst>
          </p:cNvPr>
          <p:cNvSpPr>
            <a:spLocks xmlns:a="http://schemas.openxmlformats.org/drawingml/2006/main" noGrp="1"/>
          </p:cNvSpPr>
          <p:nvPr/>
        </p:nvSpPr>
        <p:spPr>
          <a:xfrm xmlns:a="http://schemas.openxmlformats.org/drawingml/2006/main">
            <a:off x="6181344" y="2423160"/>
            <a:ext cx="2697480" cy="45720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32" name="Text 28">
            <a:extLst xmlns:a="http://schemas.openxmlformats.org/drawingml/2006/main">
              <a:ext uri="{FF2B5EF4-FFF2-40B4-BE49-F238E27FC236}">
                <a16:creationId xmlns:a16="http://schemas.microsoft.com/office/drawing/2014/main" id="{6F685303-D951-4C56-99FE-3FF29C4437A4}"/>
              </a:ext>
            </a:extLst>
          </p:cNvPr>
          <p:cNvSpPr>
            <a:spLocks xmlns:a="http://schemas.openxmlformats.org/drawingml/2006/main" noGrp="1"/>
          </p:cNvSpPr>
          <p:nvPr/>
        </p:nvSpPr>
        <p:spPr>
          <a:xfrm xmlns:a="http://schemas.openxmlformats.org/drawingml/2006/main">
            <a:off x="6181344" y="2423160"/>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onsolas"/>
                <a:ea typeface="Consolas"/>
                <a:cs typeface="Consolas"/>
              </a:rPr>
              <a:t>node:24-alpine</a:t>
            </a:r>
            <a:endParaRPr sz="1300"/>
          </a:p>
        </p:txBody>
      </p:sp>
      <p:sp>
        <p:nvSpPr>
          <p:cNvPr id="33" name="Text 29">
            <a:extLst xmlns:a="http://schemas.openxmlformats.org/drawingml/2006/main">
              <a:ext uri="{FF2B5EF4-FFF2-40B4-BE49-F238E27FC236}">
                <a16:creationId xmlns:a16="http://schemas.microsoft.com/office/drawing/2014/main" id="{BB267ECA-22F1-4DB9-80F9-A191D5F49BEC}"/>
              </a:ext>
            </a:extLst>
          </p:cNvPr>
          <p:cNvSpPr>
            <a:spLocks xmlns:a="http://schemas.openxmlformats.org/drawingml/2006/main" noGrp="1"/>
          </p:cNvSpPr>
          <p:nvPr/>
        </p:nvSpPr>
        <p:spPr>
          <a:xfrm xmlns:a="http://schemas.openxmlformats.org/drawingml/2006/main">
            <a:off x="6181344" y="297180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000" b="1">
                <a:solidFill>
                  <a:srgbClr val="059669"/>
                </a:solidFill>
                <a:latin typeface="Calibri"/>
                <a:ea typeface="Calibri"/>
                <a:cs typeface="Calibri"/>
              </a:rPr>
              <a:t>Alpine</a:t>
            </a:r>
            <a:endParaRPr sz="3000"/>
          </a:p>
        </p:txBody>
      </p:sp>
      <p:sp>
        <p:nvSpPr>
          <p:cNvPr id="34" name="Text 30">
            <a:extLst xmlns:a="http://schemas.openxmlformats.org/drawingml/2006/main">
              <a:ext uri="{FF2B5EF4-FFF2-40B4-BE49-F238E27FC236}">
                <a16:creationId xmlns:a16="http://schemas.microsoft.com/office/drawing/2014/main" id="{87141910-2122-4380-825B-9E0D263F00D1}"/>
              </a:ext>
            </a:extLst>
          </p:cNvPr>
          <p:cNvSpPr>
            <a:spLocks xmlns:a="http://schemas.openxmlformats.org/drawingml/2006/main" noGrp="1"/>
          </p:cNvSpPr>
          <p:nvPr/>
        </p:nvSpPr>
        <p:spPr>
          <a:xfrm xmlns:a="http://schemas.openxmlformats.org/drawingml/2006/main">
            <a:off x="6181344" y="3611880"/>
            <a:ext cx="2697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i="1">
                <a:solidFill>
                  <a:srgbClr val="64748B"/>
                </a:solidFill>
                <a:latin typeface="Calibri"/>
                <a:ea typeface="Calibri"/>
                <a:cs typeface="Calibri"/>
              </a:rPr>
              <a:t>Alpine Linux</a:t>
            </a:r>
            <a:endParaRPr sz="1000"/>
          </a:p>
        </p:txBody>
      </p:sp>
      <p:sp>
        <p:nvSpPr>
          <p:cNvPr id="35" name="Text 31">
            <a:extLst xmlns:a="http://schemas.openxmlformats.org/drawingml/2006/main">
              <a:ext uri="{FF2B5EF4-FFF2-40B4-BE49-F238E27FC236}">
                <a16:creationId xmlns:a16="http://schemas.microsoft.com/office/drawing/2014/main" id="{DA3B4228-C66F-44C9-99FB-027C37E6D31B}"/>
              </a:ext>
            </a:extLst>
          </p:cNvPr>
          <p:cNvSpPr>
            <a:spLocks xmlns:a="http://schemas.openxmlformats.org/drawingml/2006/main" noGrp="1"/>
          </p:cNvSpPr>
          <p:nvPr/>
        </p:nvSpPr>
        <p:spPr>
          <a:xfrm xmlns:a="http://schemas.openxmlformats.org/drawingml/2006/main">
            <a:off x="6318504" y="3977640"/>
            <a:ext cx="2423160" cy="11887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musl libc. Bisa break native module (e.g. canvas, sharp).</a:t>
            </a:r>
            <a:endParaRPr sz="1050"/>
          </a:p>
        </p:txBody>
      </p:sp>
      <p:sp>
        <p:nvSpPr>
          <p:cNvPr id="36" name="Shape 32">
            <a:extLst xmlns:a="http://schemas.openxmlformats.org/drawingml/2006/main">
              <a:ext uri="{FF2B5EF4-FFF2-40B4-BE49-F238E27FC236}">
                <a16:creationId xmlns:a16="http://schemas.microsoft.com/office/drawing/2014/main" id="{A25312B1-F82B-4F12-9F07-EDEC782DF221}"/>
              </a:ext>
            </a:extLst>
          </p:cNvPr>
          <p:cNvSpPr>
            <a:spLocks xmlns:a="http://schemas.openxmlformats.org/drawingml/2006/main" noGrp="1"/>
          </p:cNvSpPr>
          <p:nvPr/>
        </p:nvSpPr>
        <p:spPr>
          <a:xfrm xmlns:a="http://schemas.openxmlformats.org/drawingml/2006/main">
            <a:off x="6318504" y="5212080"/>
            <a:ext cx="24231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37" name="Text 33">
            <a:extLst xmlns:a="http://schemas.openxmlformats.org/drawingml/2006/main">
              <a:ext uri="{FF2B5EF4-FFF2-40B4-BE49-F238E27FC236}">
                <a16:creationId xmlns:a16="http://schemas.microsoft.com/office/drawing/2014/main" id="{CF56ED47-F85D-4BB3-9F4D-003AF3CF0711}"/>
              </a:ext>
            </a:extLst>
          </p:cNvPr>
          <p:cNvSpPr>
            <a:spLocks xmlns:a="http://schemas.openxmlformats.org/drawingml/2006/main" noGrp="1"/>
          </p:cNvSpPr>
          <p:nvPr/>
        </p:nvSpPr>
        <p:spPr>
          <a:xfrm xmlns:a="http://schemas.openxmlformats.org/drawingml/2006/main">
            <a:off x="6318504" y="5303520"/>
            <a:ext cx="24231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Pakai untuk:</a:t>
            </a:r>
            <a:endParaRPr sz="900"/>
          </a:p>
        </p:txBody>
      </p:sp>
      <p:sp>
        <p:nvSpPr>
          <p:cNvPr id="38" name="Text 34">
            <a:extLst xmlns:a="http://schemas.openxmlformats.org/drawingml/2006/main">
              <a:ext uri="{FF2B5EF4-FFF2-40B4-BE49-F238E27FC236}">
                <a16:creationId xmlns:a16="http://schemas.microsoft.com/office/drawing/2014/main" id="{AACABAC9-CE90-4BF9-936D-4CCDB23F3953}"/>
              </a:ext>
            </a:extLst>
          </p:cNvPr>
          <p:cNvSpPr>
            <a:spLocks xmlns:a="http://schemas.openxmlformats.org/drawingml/2006/main" noGrp="1"/>
          </p:cNvSpPr>
          <p:nvPr/>
        </p:nvSpPr>
        <p:spPr>
          <a:xfrm xmlns:a="http://schemas.openxmlformats.org/drawingml/2006/main">
            <a:off x="6318504" y="5532120"/>
            <a:ext cx="24231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002677"/>
                </a:solidFill>
                <a:latin typeface="Calibri"/>
                <a:ea typeface="Calibri"/>
                <a:cs typeface="Calibri"/>
              </a:rPr>
              <a:t>Production minimal</a:t>
            </a:r>
            <a:endParaRPr sz="1100"/>
          </a:p>
        </p:txBody>
      </p:sp>
      <p:sp>
        <p:nvSpPr>
          <p:cNvPr id="39" name="Shape 35">
            <a:extLst xmlns:a="http://schemas.openxmlformats.org/drawingml/2006/main">
              <a:ext uri="{FF2B5EF4-FFF2-40B4-BE49-F238E27FC236}">
                <a16:creationId xmlns:a16="http://schemas.microsoft.com/office/drawing/2014/main" id="{114AF925-5573-4876-B366-D0993703F495}"/>
              </a:ext>
            </a:extLst>
          </p:cNvPr>
          <p:cNvSpPr>
            <a:spLocks xmlns:a="http://schemas.openxmlformats.org/drawingml/2006/main" noGrp="1"/>
          </p:cNvSpPr>
          <p:nvPr/>
        </p:nvSpPr>
        <p:spPr>
          <a:xfrm xmlns:a="http://schemas.openxmlformats.org/drawingml/2006/main">
            <a:off x="9043416" y="2423160"/>
            <a:ext cx="2697480" cy="37033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0" name="Shape 36">
            <a:extLst xmlns:a="http://schemas.openxmlformats.org/drawingml/2006/main">
              <a:ext uri="{FF2B5EF4-FFF2-40B4-BE49-F238E27FC236}">
                <a16:creationId xmlns:a16="http://schemas.microsoft.com/office/drawing/2014/main" id="{3C017932-EADA-486C-B1AA-E45C47C7530B}"/>
              </a:ext>
            </a:extLst>
          </p:cNvPr>
          <p:cNvSpPr>
            <a:spLocks xmlns:a="http://schemas.openxmlformats.org/drawingml/2006/main" noGrp="1"/>
          </p:cNvSpPr>
          <p:nvPr/>
        </p:nvSpPr>
        <p:spPr>
          <a:xfrm xmlns:a="http://schemas.openxmlformats.org/drawingml/2006/main">
            <a:off x="9043416" y="2423160"/>
            <a:ext cx="2697480" cy="45720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41" name="Text 37">
            <a:extLst xmlns:a="http://schemas.openxmlformats.org/drawingml/2006/main">
              <a:ext uri="{FF2B5EF4-FFF2-40B4-BE49-F238E27FC236}">
                <a16:creationId xmlns:a16="http://schemas.microsoft.com/office/drawing/2014/main" id="{4030AA99-95DE-4045-B836-1438F66E36ED}"/>
              </a:ext>
            </a:extLst>
          </p:cNvPr>
          <p:cNvSpPr>
            <a:spLocks xmlns:a="http://schemas.openxmlformats.org/drawingml/2006/main" noGrp="1"/>
          </p:cNvSpPr>
          <p:nvPr/>
        </p:nvSpPr>
        <p:spPr>
          <a:xfrm xmlns:a="http://schemas.openxmlformats.org/drawingml/2006/main">
            <a:off x="9043416" y="2423160"/>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onsolas"/>
                <a:ea typeface="Consolas"/>
                <a:cs typeface="Consolas"/>
              </a:rPr>
              <a:t>Distroless Node.js</a:t>
            </a:r>
            <a:endParaRPr sz="1300"/>
          </a:p>
        </p:txBody>
      </p:sp>
      <p:sp>
        <p:nvSpPr>
          <p:cNvPr id="42" name="Text 38">
            <a:extLst xmlns:a="http://schemas.openxmlformats.org/drawingml/2006/main">
              <a:ext uri="{FF2B5EF4-FFF2-40B4-BE49-F238E27FC236}">
                <a16:creationId xmlns:a16="http://schemas.microsoft.com/office/drawing/2014/main" id="{EBAD97BE-97CD-45FC-A4D9-B621C4B6B5BA}"/>
              </a:ext>
            </a:extLst>
          </p:cNvPr>
          <p:cNvSpPr>
            <a:spLocks xmlns:a="http://schemas.openxmlformats.org/drawingml/2006/main" noGrp="1"/>
          </p:cNvSpPr>
          <p:nvPr/>
        </p:nvSpPr>
        <p:spPr>
          <a:xfrm xmlns:a="http://schemas.openxmlformats.org/drawingml/2006/main">
            <a:off x="9043416" y="297180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000" b="1">
                <a:solidFill>
                  <a:srgbClr val="1976D2"/>
                </a:solidFill>
                <a:latin typeface="Calibri"/>
                <a:ea typeface="Calibri"/>
                <a:cs typeface="Calibri"/>
              </a:rPr>
              <a:t>Minimal</a:t>
            </a:r>
            <a:endParaRPr sz="3000"/>
          </a:p>
        </p:txBody>
      </p:sp>
      <p:sp>
        <p:nvSpPr>
          <p:cNvPr id="43" name="Text 39">
            <a:extLst xmlns:a="http://schemas.openxmlformats.org/drawingml/2006/main">
              <a:ext uri="{FF2B5EF4-FFF2-40B4-BE49-F238E27FC236}">
                <a16:creationId xmlns:a16="http://schemas.microsoft.com/office/drawing/2014/main" id="{6EDDE5F7-EBED-456E-9E6F-AE636A0A9927}"/>
              </a:ext>
            </a:extLst>
          </p:cNvPr>
          <p:cNvSpPr>
            <a:spLocks xmlns:a="http://schemas.openxmlformats.org/drawingml/2006/main" noGrp="1"/>
          </p:cNvSpPr>
          <p:nvPr/>
        </p:nvSpPr>
        <p:spPr>
          <a:xfrm xmlns:a="http://schemas.openxmlformats.org/drawingml/2006/main">
            <a:off x="9043416" y="3611880"/>
            <a:ext cx="2697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i="1">
                <a:solidFill>
                  <a:srgbClr val="64748B"/>
                </a:solidFill>
                <a:latin typeface="Calibri"/>
                <a:ea typeface="Calibri"/>
                <a:cs typeface="Calibri"/>
              </a:rPr>
              <a:t>Runtime + pustaka OS</a:t>
            </a:r>
            <a:endParaRPr sz="1000"/>
          </a:p>
        </p:txBody>
      </p:sp>
      <p:sp>
        <p:nvSpPr>
          <p:cNvPr id="44" name="Text 40">
            <a:extLst xmlns:a="http://schemas.openxmlformats.org/drawingml/2006/main">
              <a:ext uri="{FF2B5EF4-FFF2-40B4-BE49-F238E27FC236}">
                <a16:creationId xmlns:a16="http://schemas.microsoft.com/office/drawing/2014/main" id="{9047BC6F-4DF2-4C02-83A9-9CAB777F57D7}"/>
              </a:ext>
            </a:extLst>
          </p:cNvPr>
          <p:cNvSpPr>
            <a:spLocks xmlns:a="http://schemas.openxmlformats.org/drawingml/2006/main" noGrp="1"/>
          </p:cNvSpPr>
          <p:nvPr/>
        </p:nvSpPr>
        <p:spPr>
          <a:xfrm xmlns:a="http://schemas.openxmlformats.org/drawingml/2006/main">
            <a:off x="9180576" y="3977640"/>
            <a:ext cx="2423160" cy="11887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Cuma runtime + lib. No shell, no apt, no package manager.</a:t>
            </a:r>
            <a:endParaRPr sz="1050"/>
          </a:p>
        </p:txBody>
      </p:sp>
      <p:sp>
        <p:nvSpPr>
          <p:cNvPr id="45" name="Shape 41">
            <a:extLst xmlns:a="http://schemas.openxmlformats.org/drawingml/2006/main">
              <a:ext uri="{FF2B5EF4-FFF2-40B4-BE49-F238E27FC236}">
                <a16:creationId xmlns:a16="http://schemas.microsoft.com/office/drawing/2014/main" id="{5B1C9432-3A2F-4E7F-B1F7-7AE4E97C016A}"/>
              </a:ext>
            </a:extLst>
          </p:cNvPr>
          <p:cNvSpPr>
            <a:spLocks xmlns:a="http://schemas.openxmlformats.org/drawingml/2006/main" noGrp="1"/>
          </p:cNvSpPr>
          <p:nvPr/>
        </p:nvSpPr>
        <p:spPr>
          <a:xfrm xmlns:a="http://schemas.openxmlformats.org/drawingml/2006/main">
            <a:off x="9180576" y="5212080"/>
            <a:ext cx="24231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46" name="Text 42">
            <a:extLst xmlns:a="http://schemas.openxmlformats.org/drawingml/2006/main">
              <a:ext uri="{FF2B5EF4-FFF2-40B4-BE49-F238E27FC236}">
                <a16:creationId xmlns:a16="http://schemas.microsoft.com/office/drawing/2014/main" id="{F39A6A1F-5393-4DB8-8D0F-2FAC97FDF5C7}"/>
              </a:ext>
            </a:extLst>
          </p:cNvPr>
          <p:cNvSpPr>
            <a:spLocks xmlns:a="http://schemas.openxmlformats.org/drawingml/2006/main" noGrp="1"/>
          </p:cNvSpPr>
          <p:nvPr/>
        </p:nvSpPr>
        <p:spPr>
          <a:xfrm xmlns:a="http://schemas.openxmlformats.org/drawingml/2006/main">
            <a:off x="9180576" y="5303520"/>
            <a:ext cx="24231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Pakai untuk:</a:t>
            </a:r>
            <a:endParaRPr sz="900"/>
          </a:p>
        </p:txBody>
      </p:sp>
      <p:sp>
        <p:nvSpPr>
          <p:cNvPr id="47" name="Text 43">
            <a:extLst xmlns:a="http://schemas.openxmlformats.org/drawingml/2006/main">
              <a:ext uri="{FF2B5EF4-FFF2-40B4-BE49-F238E27FC236}">
                <a16:creationId xmlns:a16="http://schemas.microsoft.com/office/drawing/2014/main" id="{BF6927F4-550E-43DF-B2C4-E1D3ABF03284}"/>
              </a:ext>
            </a:extLst>
          </p:cNvPr>
          <p:cNvSpPr>
            <a:spLocks xmlns:a="http://schemas.openxmlformats.org/drawingml/2006/main" noGrp="1"/>
          </p:cNvSpPr>
          <p:nvPr/>
        </p:nvSpPr>
        <p:spPr>
          <a:xfrm xmlns:a="http://schemas.openxmlformats.org/drawingml/2006/main">
            <a:off x="9180576" y="5532120"/>
            <a:ext cx="24231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002677"/>
                </a:solidFill>
                <a:latin typeface="Calibri"/>
                <a:ea typeface="Calibri"/>
                <a:cs typeface="Calibri"/>
              </a:rPr>
              <a:t>Runtime tanpa shell</a:t>
            </a:r>
            <a:endParaRPr sz="1100"/>
          </a:p>
        </p:txBody>
      </p:sp>
      <p:sp>
        <p:nvSpPr>
          <p:cNvPr id="48" name="Text 44">
            <a:extLst xmlns:a="http://schemas.openxmlformats.org/drawingml/2006/main">
              <a:ext uri="{FF2B5EF4-FFF2-40B4-BE49-F238E27FC236}">
                <a16:creationId xmlns:a16="http://schemas.microsoft.com/office/drawing/2014/main" id="{1BE78CDA-38A1-441B-A349-FFFC8B25C410}"/>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Pilih berdasarkan kebutuhan dependency dan operasi. Image kecil tetap perlu dipelihara, diuji, dan dipindai.</a:t>
            </a:r>
            <a:endParaRPr sz="1100"/>
          </a:p>
        </p:txBody>
      </p:sp>
    </p:spTree>
    <p:extLst>
      <p:ext uri="{BB962C8B-B14F-4D97-AF65-F5344CB8AC3E}">
        <p14:creationId xmlns:p14="http://schemas.microsoft.com/office/powerpoint/2010/main" val="52120527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D469D24-32FB-4B57-BE9E-3A9D5E57F000}"/>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9F562E25-E391-4A90-A1D1-9115C7D15D7E}"/>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24</a:t>
            </a:r>
            <a:endParaRPr sz="900"/>
          </a:p>
        </p:txBody>
      </p:sp>
      <p:sp>
        <p:nvSpPr>
          <p:cNvPr id="4" name="Shape 2">
            <a:extLst xmlns:a="http://schemas.openxmlformats.org/drawingml/2006/main">
              <a:ext uri="{FF2B5EF4-FFF2-40B4-BE49-F238E27FC236}">
                <a16:creationId xmlns:a16="http://schemas.microsoft.com/office/drawing/2014/main" id="{D6B37AE4-3B79-4D33-B4BE-BFC4C60E2390}"/>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8" name="Image 0">
            <a:extLst xmlns:a="http://schemas.openxmlformats.org/drawingml/2006/main">
              <a:ext uri="{FF2B5EF4-FFF2-40B4-BE49-F238E27FC236}">
                <a16:creationId xmlns:a16="http://schemas.microsoft.com/office/drawing/2014/main" id="{70CD5B6C-E309-45D2-8261-089765794491}"/>
              </a:ext>
            </a:extLst>
          </p:cNvPr>
          <p:cNvPicPr>
            <a:picLocks xmlns:a="http://schemas.openxmlformats.org/drawingml/2006/main" noChangeAspect="1"/>
          </p:cNvPicPr>
          <p:nvPr/>
        </p:nvPicPr>
        <p:blipFill>
          <a:blip xmlns:r="http://schemas.openxmlformats.org/officeDocument/2006/relationships" xmlns:a="http://schemas.openxmlformats.org/drawingml/2006/main" r:embed="R54575bc5f26e4594"/>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29" name="Image 1">
            <a:extLst xmlns:a="http://schemas.openxmlformats.org/drawingml/2006/main">
              <a:ext uri="{FF2B5EF4-FFF2-40B4-BE49-F238E27FC236}">
                <a16:creationId xmlns:a16="http://schemas.microsoft.com/office/drawing/2014/main" id="{0957096B-8091-4C43-8579-AFE3A65F80DE}"/>
              </a:ext>
            </a:extLst>
          </p:cNvPr>
          <p:cNvPicPr>
            <a:picLocks xmlns:a="http://schemas.openxmlformats.org/drawingml/2006/main" noChangeAspect="1"/>
          </p:cNvPicPr>
          <p:nvPr/>
        </p:nvPicPr>
        <p:blipFill>
          <a:blip xmlns:r="http://schemas.openxmlformats.org/officeDocument/2006/relationships" xmlns:a="http://schemas.openxmlformats.org/drawingml/2006/main" r:embed="Rc99a4b285ff04d7d"/>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597E8E9D-765F-4E50-9B3B-3A1755DD6BDF}"/>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FFB4D180-98F8-454B-961E-9CFD3ECB49B1}"/>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Multi-Stage Build</a:t>
            </a:r>
            <a:endParaRPr sz="2200"/>
          </a:p>
        </p:txBody>
      </p:sp>
      <p:sp>
        <p:nvSpPr>
          <p:cNvPr id="9" name="Text 5">
            <a:extLst xmlns:a="http://schemas.openxmlformats.org/drawingml/2006/main">
              <a:ext uri="{FF2B5EF4-FFF2-40B4-BE49-F238E27FC236}">
                <a16:creationId xmlns:a16="http://schemas.microsoft.com/office/drawing/2014/main" id="{D50EA0C4-D98A-4825-9DFE-BF056F6C9AB2}"/>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Pisahkan kebutuhan build dari runtime; ukur ukuran hasilnya</a:t>
            </a:r>
            <a:endParaRPr sz="1200"/>
          </a:p>
        </p:txBody>
      </p:sp>
      <p:sp>
        <p:nvSpPr>
          <p:cNvPr id="10" name="Shape 6">
            <a:extLst xmlns:a="http://schemas.openxmlformats.org/drawingml/2006/main">
              <a:ext uri="{FF2B5EF4-FFF2-40B4-BE49-F238E27FC236}">
                <a16:creationId xmlns:a16="http://schemas.microsoft.com/office/drawing/2014/main" id="{5564BB6B-EAFA-4A27-A79F-1F9C52FC3BD1}"/>
              </a:ext>
            </a:extLst>
          </p:cNvPr>
          <p:cNvSpPr>
            <a:spLocks xmlns:a="http://schemas.openxmlformats.org/drawingml/2006/main" noGrp="1"/>
          </p:cNvSpPr>
          <p:nvPr/>
        </p:nvSpPr>
        <p:spPr>
          <a:xfrm xmlns:a="http://schemas.openxmlformats.org/drawingml/2006/main">
            <a:off x="457200" y="1417320"/>
            <a:ext cx="11247120" cy="9144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1" name="Text 7">
            <a:extLst xmlns:a="http://schemas.openxmlformats.org/drawingml/2006/main">
              <a:ext uri="{FF2B5EF4-FFF2-40B4-BE49-F238E27FC236}">
                <a16:creationId xmlns:a16="http://schemas.microsoft.com/office/drawing/2014/main" id="{5C5ADF3F-31BC-41EC-9F28-9259D38AADE5}"/>
              </a:ext>
            </a:extLst>
          </p:cNvPr>
          <p:cNvSpPr>
            <a:spLocks xmlns:a="http://schemas.openxmlformats.org/drawingml/2006/main" noGrp="1"/>
          </p:cNvSpPr>
          <p:nvPr/>
        </p:nvSpPr>
        <p:spPr>
          <a:xfrm xmlns:a="http://schemas.openxmlformats.org/drawingml/2006/main">
            <a:off x="685800" y="1508760"/>
            <a:ext cx="107899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F37021"/>
                </a:solidFill>
                <a:latin typeface="Calibri"/>
                <a:ea typeface="Calibri"/>
                <a:cs typeface="Calibri"/>
              </a:rPr>
              <a:t>Ide: </a:t>
            </a:r>
            <a:r>
              <a:rPr sz="1300">
                <a:solidFill>
                  <a:srgbClr val="FFFFFF"/>
                </a:solidFill>
                <a:latin typeface="Calibri"/>
                <a:ea typeface="Calibri"/>
                <a:cs typeface="Calibri"/>
              </a:rPr>
              <a:t>punya BANYAK FROM di 1 Dockerfile. Stage akhir cuma include yang dibutuhkan runtime.</a:t>
            </a:r>
            <a:endParaRPr sz="1400"/>
          </a:p>
          <a:p xmlns:a="http://schemas.openxmlformats.org/drawingml/2006/main">
            <a:pPr marL="0" indent="0">
              <a:buNone/>
            </a:pPr>
            <a:r>
              <a:rPr sz="1100" i="1">
                <a:solidFill>
                  <a:srgbClr val="FFE0B2"/>
                </a:solidFill>
                <a:latin typeface="Calibri"/>
                <a:ea typeface="Calibri"/>
                <a:cs typeface="Calibri"/>
              </a:rPr>
              <a:t>Compiler, build tools, source code -&gt; stage 1 (builder). Final image -&gt; stage 2 (runner) cuma binary + runtime.</a:t>
            </a:r>
            <a:endParaRPr sz="1400"/>
          </a:p>
        </p:txBody>
      </p:sp>
      <p:sp>
        <p:nvSpPr>
          <p:cNvPr id="12" name="Shape 8">
            <a:extLst xmlns:a="http://schemas.openxmlformats.org/drawingml/2006/main">
              <a:ext uri="{FF2B5EF4-FFF2-40B4-BE49-F238E27FC236}">
                <a16:creationId xmlns:a16="http://schemas.microsoft.com/office/drawing/2014/main" id="{72BB663C-4970-4126-A762-CE6538349F29}"/>
              </a:ext>
            </a:extLst>
          </p:cNvPr>
          <p:cNvSpPr>
            <a:spLocks xmlns:a="http://schemas.openxmlformats.org/drawingml/2006/main" noGrp="1"/>
          </p:cNvSpPr>
          <p:nvPr/>
        </p:nvSpPr>
        <p:spPr>
          <a:xfrm xmlns:a="http://schemas.openxmlformats.org/drawingml/2006/main">
            <a:off x="457200" y="2606040"/>
            <a:ext cx="5212080" cy="3200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3" name="Shape 9">
            <a:extLst xmlns:a="http://schemas.openxmlformats.org/drawingml/2006/main">
              <a:ext uri="{FF2B5EF4-FFF2-40B4-BE49-F238E27FC236}">
                <a16:creationId xmlns:a16="http://schemas.microsoft.com/office/drawing/2014/main" id="{40421B6D-D89A-4697-8D75-2F4EF0E7B6DC}"/>
              </a:ext>
            </a:extLst>
          </p:cNvPr>
          <p:cNvSpPr>
            <a:spLocks xmlns:a="http://schemas.openxmlformats.org/drawingml/2006/main" noGrp="1"/>
          </p:cNvSpPr>
          <p:nvPr/>
        </p:nvSpPr>
        <p:spPr>
          <a:xfrm xmlns:a="http://schemas.openxmlformats.org/drawingml/2006/main">
            <a:off x="457200" y="2606040"/>
            <a:ext cx="5212080" cy="50292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14" name="Text 10">
            <a:extLst xmlns:a="http://schemas.openxmlformats.org/drawingml/2006/main">
              <a:ext uri="{FF2B5EF4-FFF2-40B4-BE49-F238E27FC236}">
                <a16:creationId xmlns:a16="http://schemas.microsoft.com/office/drawing/2014/main" id="{70F5AA24-9BE1-4570-A5EF-97D214F2303D}"/>
              </a:ext>
            </a:extLst>
          </p:cNvPr>
          <p:cNvSpPr>
            <a:spLocks xmlns:a="http://schemas.openxmlformats.org/drawingml/2006/main" noGrp="1"/>
          </p:cNvSpPr>
          <p:nvPr/>
        </p:nvSpPr>
        <p:spPr>
          <a:xfrm xmlns:a="http://schemas.openxmlformats.org/drawingml/2006/main">
            <a:off x="457200" y="2606040"/>
            <a:ext cx="52120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Stage 1: BUILDER</a:t>
            </a:r>
            <a:endParaRPr sz="1300"/>
          </a:p>
        </p:txBody>
      </p:sp>
      <p:sp>
        <p:nvSpPr>
          <p:cNvPr id="15" name="Text 11">
            <a:extLst xmlns:a="http://schemas.openxmlformats.org/drawingml/2006/main">
              <a:ext uri="{FF2B5EF4-FFF2-40B4-BE49-F238E27FC236}">
                <a16:creationId xmlns:a16="http://schemas.microsoft.com/office/drawing/2014/main" id="{97BDA007-DF00-4988-8C7C-31E00168C94E}"/>
              </a:ext>
            </a:extLst>
          </p:cNvPr>
          <p:cNvSpPr>
            <a:spLocks xmlns:a="http://schemas.openxmlformats.org/drawingml/2006/main" noGrp="1"/>
          </p:cNvSpPr>
          <p:nvPr/>
        </p:nvSpPr>
        <p:spPr>
          <a:xfrm xmlns:a="http://schemas.openxmlformats.org/drawingml/2006/main">
            <a:off x="640080" y="3246120"/>
            <a:ext cx="4846320" cy="24688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500"/>
              </a:spcAft>
              <a:buSzPct val="100000"/>
              <a:buChar char="▸"/>
            </a:pPr>
            <a:r>
              <a:rPr sz="1100">
                <a:solidFill>
                  <a:srgbClr val="1E293B"/>
                </a:solidFill>
                <a:latin typeface="Calibri"/>
                <a:ea typeface="Calibri"/>
                <a:cs typeface="Calibri"/>
              </a:rPr>
              <a:t>Full Node.js + npm + tools</a:t>
            </a:r>
            <a:endParaRPr sz="1100"/>
          </a:p>
          <a:p xmlns:a="http://schemas.openxmlformats.org/drawingml/2006/main">
            <a:pPr marL="342900" indent="-342900">
              <a:spcAft>
                <a:spcPts val="500"/>
              </a:spcAft>
              <a:buSzPct val="100000"/>
              <a:buChar char="▸"/>
            </a:pPr>
            <a:r>
              <a:rPr sz="1100">
                <a:solidFill>
                  <a:srgbClr val="1E293B"/>
                </a:solidFill>
                <a:latin typeface="Calibri"/>
                <a:ea typeface="Calibri"/>
                <a:cs typeface="Calibri"/>
              </a:rPr>
              <a:t>Source code lengkap (.ts, .map)</a:t>
            </a:r>
            <a:endParaRPr sz="1100"/>
          </a:p>
          <a:p xmlns:a="http://schemas.openxmlformats.org/drawingml/2006/main">
            <a:pPr marL="342900" indent="-342900">
              <a:spcAft>
                <a:spcPts val="500"/>
              </a:spcAft>
              <a:buSzPct val="100000"/>
              <a:buChar char="▸"/>
            </a:pPr>
            <a:r>
              <a:rPr sz="1100">
                <a:solidFill>
                  <a:srgbClr val="1E293B"/>
                </a:solidFill>
                <a:latin typeface="Calibri"/>
                <a:ea typeface="Calibri"/>
                <a:cs typeface="Calibri"/>
              </a:rPr>
              <a:t>node_modules (dev + prod)</a:t>
            </a:r>
            <a:endParaRPr sz="1100"/>
          </a:p>
          <a:p xmlns:a="http://schemas.openxmlformats.org/drawingml/2006/main">
            <a:pPr marL="342900" indent="-342900">
              <a:spcAft>
                <a:spcPts val="500"/>
              </a:spcAft>
              <a:buSzPct val="100000"/>
              <a:buChar char="▸"/>
            </a:pPr>
            <a:r>
              <a:rPr sz="1100">
                <a:solidFill>
                  <a:srgbClr val="1E293B"/>
                </a:solidFill>
                <a:latin typeface="Calibri"/>
                <a:ea typeface="Calibri"/>
                <a:cs typeface="Calibri"/>
              </a:rPr>
              <a:t>Build tooling (webpack, tsc)</a:t>
            </a:r>
            <a:endParaRPr sz="1100"/>
          </a:p>
          <a:p xmlns:a="http://schemas.openxmlformats.org/drawingml/2006/main">
            <a:pPr marL="342900" indent="-342900">
              <a:spcAft>
                <a:spcPts val="500"/>
              </a:spcAft>
              <a:buSzPct val="100000"/>
              <a:buChar char="▸"/>
            </a:pPr>
            <a:r>
              <a:rPr sz="1100">
                <a:solidFill>
                  <a:srgbClr val="1E293B"/>
                </a:solidFill>
                <a:latin typeface="Calibri"/>
                <a:ea typeface="Calibri"/>
                <a:cs typeface="Calibri"/>
              </a:rPr>
              <a:t>Test fixtures, README, dll</a:t>
            </a:r>
            <a:endParaRPr sz="1100"/>
          </a:p>
        </p:txBody>
      </p:sp>
      <p:sp>
        <p:nvSpPr>
          <p:cNvPr id="16" name="Shape 12">
            <a:extLst xmlns:a="http://schemas.openxmlformats.org/drawingml/2006/main">
              <a:ext uri="{FF2B5EF4-FFF2-40B4-BE49-F238E27FC236}">
                <a16:creationId xmlns:a16="http://schemas.microsoft.com/office/drawing/2014/main" id="{65935083-4911-4D36-94BD-1D8840666340}"/>
              </a:ext>
            </a:extLst>
          </p:cNvPr>
          <p:cNvSpPr>
            <a:spLocks xmlns:a="http://schemas.openxmlformats.org/drawingml/2006/main" noGrp="1"/>
          </p:cNvSpPr>
          <p:nvPr/>
        </p:nvSpPr>
        <p:spPr>
          <a:xfrm xmlns:a="http://schemas.openxmlformats.org/drawingml/2006/main">
            <a:off x="5760720" y="3977640"/>
            <a:ext cx="640080" cy="502920"/>
          </a:xfrm>
          <a:prstGeom xmlns:a="http://schemas.openxmlformats.org/drawingml/2006/main" prst="rightArrow">
            <a:avLst/>
          </a:prstGeom>
          <a:solidFill xmlns:a="http://schemas.openxmlformats.org/drawingml/2006/main">
            <a:srgbClr val="F37021"/>
          </a:solidFill>
          <a:ln xmlns:a="http://schemas.openxmlformats.org/drawingml/2006/main" w="12700">
            <a:solidFill>
              <a:srgbClr val="F37021"/>
            </a:solidFill>
            <a:prstDash val="solid"/>
          </a:ln>
        </p:spPr>
      </p:sp>
      <p:sp>
        <p:nvSpPr>
          <p:cNvPr id="17" name="Text 13">
            <a:extLst xmlns:a="http://schemas.openxmlformats.org/drawingml/2006/main">
              <a:ext uri="{FF2B5EF4-FFF2-40B4-BE49-F238E27FC236}">
                <a16:creationId xmlns:a16="http://schemas.microsoft.com/office/drawing/2014/main" id="{BE3D9684-ADD0-40DE-BE77-803D435A0AD2}"/>
              </a:ext>
            </a:extLst>
          </p:cNvPr>
          <p:cNvSpPr>
            <a:spLocks xmlns:a="http://schemas.openxmlformats.org/drawingml/2006/main" noGrp="1"/>
          </p:cNvSpPr>
          <p:nvPr/>
        </p:nvSpPr>
        <p:spPr>
          <a:xfrm xmlns:a="http://schemas.openxmlformats.org/drawingml/2006/main">
            <a:off x="5760720" y="3657600"/>
            <a:ext cx="64008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b="1">
                <a:solidFill>
                  <a:srgbClr val="F37021"/>
                </a:solidFill>
                <a:latin typeface="Calibri"/>
                <a:ea typeface="Calibri"/>
                <a:cs typeface="Calibri"/>
              </a:rPr>
              <a:t>COPY</a:t>
            </a:r>
            <a:endParaRPr sz="900"/>
          </a:p>
        </p:txBody>
      </p:sp>
      <p:sp>
        <p:nvSpPr>
          <p:cNvPr id="18" name="Shape 14">
            <a:extLst xmlns:a="http://schemas.openxmlformats.org/drawingml/2006/main">
              <a:ext uri="{FF2B5EF4-FFF2-40B4-BE49-F238E27FC236}">
                <a16:creationId xmlns:a16="http://schemas.microsoft.com/office/drawing/2014/main" id="{049B3758-9D71-4498-AF25-48CCB0B576EA}"/>
              </a:ext>
            </a:extLst>
          </p:cNvPr>
          <p:cNvSpPr>
            <a:spLocks xmlns:a="http://schemas.openxmlformats.org/drawingml/2006/main" noGrp="1"/>
          </p:cNvSpPr>
          <p:nvPr/>
        </p:nvSpPr>
        <p:spPr>
          <a:xfrm xmlns:a="http://schemas.openxmlformats.org/drawingml/2006/main">
            <a:off x="6492240" y="2606040"/>
            <a:ext cx="5212080" cy="3200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9" name="Shape 15">
            <a:extLst xmlns:a="http://schemas.openxmlformats.org/drawingml/2006/main">
              <a:ext uri="{FF2B5EF4-FFF2-40B4-BE49-F238E27FC236}">
                <a16:creationId xmlns:a16="http://schemas.microsoft.com/office/drawing/2014/main" id="{A4479A0C-849F-44FE-A339-90487551A6B2}"/>
              </a:ext>
            </a:extLst>
          </p:cNvPr>
          <p:cNvSpPr>
            <a:spLocks xmlns:a="http://schemas.openxmlformats.org/drawingml/2006/main" noGrp="1"/>
          </p:cNvSpPr>
          <p:nvPr/>
        </p:nvSpPr>
        <p:spPr>
          <a:xfrm xmlns:a="http://schemas.openxmlformats.org/drawingml/2006/main">
            <a:off x="6492240" y="2606040"/>
            <a:ext cx="5212080" cy="50292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20" name="Text 16">
            <a:extLst xmlns:a="http://schemas.openxmlformats.org/drawingml/2006/main">
              <a:ext uri="{FF2B5EF4-FFF2-40B4-BE49-F238E27FC236}">
                <a16:creationId xmlns:a16="http://schemas.microsoft.com/office/drawing/2014/main" id="{3C9D4702-D9DC-45E3-A536-AC7194C26FE4}"/>
              </a:ext>
            </a:extLst>
          </p:cNvPr>
          <p:cNvSpPr>
            <a:spLocks xmlns:a="http://schemas.openxmlformats.org/drawingml/2006/main" noGrp="1"/>
          </p:cNvSpPr>
          <p:nvPr/>
        </p:nvSpPr>
        <p:spPr>
          <a:xfrm xmlns:a="http://schemas.openxmlformats.org/drawingml/2006/main">
            <a:off x="6492240" y="2606040"/>
            <a:ext cx="52120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Stage 2: RUNNER</a:t>
            </a:r>
            <a:endParaRPr sz="1300"/>
          </a:p>
        </p:txBody>
      </p:sp>
      <p:sp>
        <p:nvSpPr>
          <p:cNvPr id="21" name="Text 17">
            <a:extLst xmlns:a="http://schemas.openxmlformats.org/drawingml/2006/main">
              <a:ext uri="{FF2B5EF4-FFF2-40B4-BE49-F238E27FC236}">
                <a16:creationId xmlns:a16="http://schemas.microsoft.com/office/drawing/2014/main" id="{22AA179D-F732-4098-9D47-5D693B19176B}"/>
              </a:ext>
            </a:extLst>
          </p:cNvPr>
          <p:cNvSpPr>
            <a:spLocks xmlns:a="http://schemas.openxmlformats.org/drawingml/2006/main" noGrp="1"/>
          </p:cNvSpPr>
          <p:nvPr/>
        </p:nvSpPr>
        <p:spPr>
          <a:xfrm xmlns:a="http://schemas.openxmlformats.org/drawingml/2006/main">
            <a:off x="6675120" y="3246120"/>
            <a:ext cx="4846320" cy="24688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500"/>
              </a:spcAft>
              <a:buSzPct val="100000"/>
              <a:buChar char="▸"/>
            </a:pPr>
            <a:r>
              <a:rPr sz="1100">
                <a:solidFill>
                  <a:srgbClr val="1E293B"/>
                </a:solidFill>
                <a:latin typeface="Calibri"/>
                <a:ea typeface="Calibri"/>
                <a:cs typeface="Calibri"/>
              </a:rPr>
              <a:t>node:24-bookworm-slim</a:t>
            </a:r>
            <a:endParaRPr sz="1100"/>
          </a:p>
          <a:p xmlns:a="http://schemas.openxmlformats.org/drawingml/2006/main">
            <a:pPr marL="342900" indent="-342900">
              <a:spcAft>
                <a:spcPts val="500"/>
              </a:spcAft>
              <a:buSzPct val="100000"/>
              <a:buChar char="▸"/>
            </a:pPr>
            <a:r>
              <a:rPr sz="1100">
                <a:solidFill>
                  <a:srgbClr val="1E293B"/>
                </a:solidFill>
                <a:latin typeface="Calibri"/>
                <a:ea typeface="Calibri"/>
                <a:cs typeface="Calibri"/>
              </a:rPr>
              <a:t>Compiled output (dist/)</a:t>
            </a:r>
            <a:endParaRPr sz="1100"/>
          </a:p>
          <a:p xmlns:a="http://schemas.openxmlformats.org/drawingml/2006/main">
            <a:pPr marL="342900" indent="-342900">
              <a:spcAft>
                <a:spcPts val="500"/>
              </a:spcAft>
              <a:buSzPct val="100000"/>
              <a:buChar char="▸"/>
            </a:pPr>
            <a:r>
              <a:rPr sz="1100">
                <a:solidFill>
                  <a:srgbClr val="1E293B"/>
                </a:solidFill>
                <a:latin typeface="Calibri"/>
                <a:ea typeface="Calibri"/>
                <a:cs typeface="Calibri"/>
              </a:rPr>
              <a:t>node_modules production only</a:t>
            </a:r>
            <a:endParaRPr sz="1100"/>
          </a:p>
          <a:p xmlns:a="http://schemas.openxmlformats.org/drawingml/2006/main">
            <a:pPr marL="342900" indent="-342900">
              <a:spcAft>
                <a:spcPts val="500"/>
              </a:spcAft>
              <a:buSzPct val="100000"/>
              <a:buChar char="▸"/>
            </a:pPr>
            <a:r>
              <a:rPr sz="1100">
                <a:solidFill>
                  <a:srgbClr val="1E293B"/>
                </a:solidFill>
                <a:latin typeface="Calibri"/>
                <a:ea typeface="Calibri"/>
                <a:cs typeface="Calibri"/>
              </a:rPr>
              <a:t>package.json (untuk metadata)</a:t>
            </a:r>
            <a:endParaRPr sz="1100"/>
          </a:p>
          <a:p xmlns:a="http://schemas.openxmlformats.org/drawingml/2006/main">
            <a:pPr marL="342900" indent="-342900">
              <a:spcAft>
                <a:spcPts val="500"/>
              </a:spcAft>
              <a:buSzPct val="100000"/>
              <a:buChar char="▸"/>
            </a:pPr>
            <a:r>
              <a:rPr sz="1100">
                <a:solidFill>
                  <a:srgbClr val="1E293B"/>
                </a:solidFill>
                <a:latin typeface="Calibri"/>
                <a:ea typeface="Calibri"/>
                <a:cs typeface="Calibri"/>
              </a:rPr>
              <a:t>Tidak ada dev dependency</a:t>
            </a:r>
            <a:endParaRPr sz="1100"/>
          </a:p>
        </p:txBody>
      </p:sp>
      <p:sp>
        <p:nvSpPr>
          <p:cNvPr id="22" name="Text 18">
            <a:extLst xmlns:a="http://schemas.openxmlformats.org/drawingml/2006/main">
              <a:ext uri="{FF2B5EF4-FFF2-40B4-BE49-F238E27FC236}">
                <a16:creationId xmlns:a16="http://schemas.microsoft.com/office/drawing/2014/main" id="{27590D1E-002B-4306-B53C-6F4D7B709A9A}"/>
              </a:ext>
            </a:extLst>
          </p:cNvPr>
          <p:cNvSpPr>
            <a:spLocks xmlns:a="http://schemas.openxmlformats.org/drawingml/2006/main" noGrp="1"/>
          </p:cNvSpPr>
          <p:nvPr/>
        </p:nvSpPr>
        <p:spPr>
          <a:xfrm xmlns:a="http://schemas.openxmlformats.org/drawingml/2006/main">
            <a:off x="457200" y="5989320"/>
            <a:ext cx="11247120" cy="4572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Hasil: </a:t>
            </a:r>
            <a:r>
              <a:rPr sz="1100" i="1">
                <a:solidFill>
                  <a:srgbClr val="1E293B"/>
                </a:solidFill>
                <a:latin typeface="Calibri"/>
                <a:ea typeface="Calibri"/>
                <a:cs typeface="Calibri"/>
              </a:rPr>
              <a:t>image final hanya berisi yang DIBUTUHKAN saat run. Build tools tidak ikut deploy.</a:t>
            </a:r>
            <a:endParaRPr sz="1100"/>
          </a:p>
        </p:txBody>
      </p:sp>
    </p:spTree>
    <p:extLst>
      <p:ext uri="{BB962C8B-B14F-4D97-AF65-F5344CB8AC3E}">
        <p14:creationId xmlns:p14="http://schemas.microsoft.com/office/powerpoint/2010/main" val="28549406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1B5B309-DBEA-40C3-9772-C5A3E49CBDC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3957D625-43CB-42EE-B57C-C0BEFCBE3E15}"/>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25</a:t>
            </a:r>
            <a:endParaRPr sz="900"/>
          </a:p>
        </p:txBody>
      </p:sp>
      <p:sp>
        <p:nvSpPr>
          <p:cNvPr id="4" name="Shape 2">
            <a:extLst xmlns:a="http://schemas.openxmlformats.org/drawingml/2006/main">
              <a:ext uri="{FF2B5EF4-FFF2-40B4-BE49-F238E27FC236}">
                <a16:creationId xmlns:a16="http://schemas.microsoft.com/office/drawing/2014/main" id="{2B5E9402-85EF-4EA8-A47D-EACD15EDBFD9}"/>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2" name="Image 0">
            <a:extLst xmlns:a="http://schemas.openxmlformats.org/drawingml/2006/main">
              <a:ext uri="{FF2B5EF4-FFF2-40B4-BE49-F238E27FC236}">
                <a16:creationId xmlns:a16="http://schemas.microsoft.com/office/drawing/2014/main" id="{28FB53C3-E840-46D0-AF20-2FC4588EE7F6}"/>
              </a:ext>
            </a:extLst>
          </p:cNvPr>
          <p:cNvPicPr>
            <a:picLocks xmlns:a="http://schemas.openxmlformats.org/drawingml/2006/main" noChangeAspect="1"/>
          </p:cNvPicPr>
          <p:nvPr/>
        </p:nvPicPr>
        <p:blipFill>
          <a:blip xmlns:r="http://schemas.openxmlformats.org/officeDocument/2006/relationships" xmlns:a="http://schemas.openxmlformats.org/drawingml/2006/main" r:embed="Re2ddf054f8624af7"/>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23" name="Image 1">
            <a:extLst xmlns:a="http://schemas.openxmlformats.org/drawingml/2006/main">
              <a:ext uri="{FF2B5EF4-FFF2-40B4-BE49-F238E27FC236}">
                <a16:creationId xmlns:a16="http://schemas.microsoft.com/office/drawing/2014/main" id="{A7BD12E7-DF20-4A5F-8FB1-7767518F873A}"/>
              </a:ext>
            </a:extLst>
          </p:cNvPr>
          <p:cNvPicPr>
            <a:picLocks xmlns:a="http://schemas.openxmlformats.org/drawingml/2006/main" noChangeAspect="1"/>
          </p:cNvPicPr>
          <p:nvPr/>
        </p:nvPicPr>
        <p:blipFill>
          <a:blip xmlns:r="http://schemas.openxmlformats.org/officeDocument/2006/relationships" xmlns:a="http://schemas.openxmlformats.org/drawingml/2006/main" r:embed="Rd4df2eb0fab54946"/>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41568AC8-E9FF-41D7-B06F-3F97247CCE19}"/>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D32D047E-EECF-4EDD-B8E1-6BBCCA15D432}"/>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Multi-Stage Example - Node.js App</a:t>
            </a:r>
            <a:endParaRPr sz="2200"/>
          </a:p>
        </p:txBody>
      </p:sp>
      <p:sp>
        <p:nvSpPr>
          <p:cNvPr id="9" name="Text 5">
            <a:extLst xmlns:a="http://schemas.openxmlformats.org/drawingml/2006/main">
              <a:ext uri="{FF2B5EF4-FFF2-40B4-BE49-F238E27FC236}">
                <a16:creationId xmlns:a16="http://schemas.microsoft.com/office/drawing/2014/main" id="{10BE0130-5795-4BE9-A284-734F97716C94}"/>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Kode: examples/theory-node/Dockerfile.multistage</a:t>
            </a:r>
            <a:endParaRPr sz="1200"/>
          </a:p>
        </p:txBody>
      </p:sp>
      <p:sp>
        <p:nvSpPr>
          <p:cNvPr id="10" name="Shape 6">
            <a:extLst xmlns:a="http://schemas.openxmlformats.org/drawingml/2006/main">
              <a:ext uri="{FF2B5EF4-FFF2-40B4-BE49-F238E27FC236}">
                <a16:creationId xmlns:a16="http://schemas.microsoft.com/office/drawing/2014/main" id="{64F2B7AD-5F73-4B2A-960E-D2573B1522A7}"/>
              </a:ext>
            </a:extLst>
          </p:cNvPr>
          <p:cNvSpPr>
            <a:spLocks xmlns:a="http://schemas.openxmlformats.org/drawingml/2006/main" noGrp="1"/>
          </p:cNvSpPr>
          <p:nvPr/>
        </p:nvSpPr>
        <p:spPr>
          <a:xfrm xmlns:a="http://schemas.openxmlformats.org/drawingml/2006/main">
            <a:off x="457200" y="1417320"/>
            <a:ext cx="11247120" cy="48463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1" name="Shape 7">
            <a:extLst xmlns:a="http://schemas.openxmlformats.org/drawingml/2006/main">
              <a:ext uri="{FF2B5EF4-FFF2-40B4-BE49-F238E27FC236}">
                <a16:creationId xmlns:a16="http://schemas.microsoft.com/office/drawing/2014/main" id="{EC946A52-4197-489E-8E75-7C2657C8BD3B}"/>
              </a:ext>
            </a:extLst>
          </p:cNvPr>
          <p:cNvSpPr>
            <a:spLocks xmlns:a="http://schemas.openxmlformats.org/drawingml/2006/main" noGrp="1"/>
          </p:cNvSpPr>
          <p:nvPr/>
        </p:nvSpPr>
        <p:spPr>
          <a:xfrm xmlns:a="http://schemas.openxmlformats.org/drawingml/2006/main">
            <a:off x="457200" y="1417320"/>
            <a:ext cx="1124712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2" name="Shape 8">
            <a:extLst xmlns:a="http://schemas.openxmlformats.org/drawingml/2006/main">
              <a:ext uri="{FF2B5EF4-FFF2-40B4-BE49-F238E27FC236}">
                <a16:creationId xmlns:a16="http://schemas.microsoft.com/office/drawing/2014/main" id="{B898123D-08ED-4A79-9741-45138C3E381E}"/>
              </a:ext>
            </a:extLst>
          </p:cNvPr>
          <p:cNvSpPr>
            <a:spLocks xmlns:a="http://schemas.openxmlformats.org/drawingml/2006/main" noGrp="1"/>
          </p:cNvSpPr>
          <p:nvPr/>
        </p:nvSpPr>
        <p:spPr>
          <a:xfrm xmlns:a="http://schemas.openxmlformats.org/drawingml/2006/main">
            <a:off x="548640" y="14996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13" name="Shape 9">
            <a:extLst xmlns:a="http://schemas.openxmlformats.org/drawingml/2006/main">
              <a:ext uri="{FF2B5EF4-FFF2-40B4-BE49-F238E27FC236}">
                <a16:creationId xmlns:a16="http://schemas.microsoft.com/office/drawing/2014/main" id="{DE92A498-38CE-4386-BF24-A3F327597A81}"/>
              </a:ext>
            </a:extLst>
          </p:cNvPr>
          <p:cNvSpPr>
            <a:spLocks xmlns:a="http://schemas.openxmlformats.org/drawingml/2006/main" noGrp="1"/>
          </p:cNvSpPr>
          <p:nvPr/>
        </p:nvSpPr>
        <p:spPr>
          <a:xfrm xmlns:a="http://schemas.openxmlformats.org/drawingml/2006/main">
            <a:off x="685800" y="14996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4" name="Shape 10">
            <a:extLst xmlns:a="http://schemas.openxmlformats.org/drawingml/2006/main">
              <a:ext uri="{FF2B5EF4-FFF2-40B4-BE49-F238E27FC236}">
                <a16:creationId xmlns:a16="http://schemas.microsoft.com/office/drawing/2014/main" id="{CD38715D-8F63-4C75-9B1C-51FC2B7E66B6}"/>
              </a:ext>
            </a:extLst>
          </p:cNvPr>
          <p:cNvSpPr>
            <a:spLocks xmlns:a="http://schemas.openxmlformats.org/drawingml/2006/main" noGrp="1"/>
          </p:cNvSpPr>
          <p:nvPr/>
        </p:nvSpPr>
        <p:spPr>
          <a:xfrm xmlns:a="http://schemas.openxmlformats.org/drawingml/2006/main">
            <a:off x="822960" y="14996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15" name="Text 11">
            <a:extLst xmlns:a="http://schemas.openxmlformats.org/drawingml/2006/main">
              <a:ext uri="{FF2B5EF4-FFF2-40B4-BE49-F238E27FC236}">
                <a16:creationId xmlns:a16="http://schemas.microsoft.com/office/drawing/2014/main" id="{A2A82D74-7DBD-4432-A14D-432A6D794E5B}"/>
              </a:ext>
            </a:extLst>
          </p:cNvPr>
          <p:cNvSpPr>
            <a:spLocks xmlns:a="http://schemas.openxmlformats.org/drawingml/2006/main" noGrp="1"/>
          </p:cNvSpPr>
          <p:nvPr/>
        </p:nvSpPr>
        <p:spPr>
          <a:xfrm xmlns:a="http://schemas.openxmlformats.org/drawingml/2006/main">
            <a:off x="1005840" y="1417320"/>
            <a:ext cx="10515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Dockerfile - multi-stage Node.js</a:t>
            </a:r>
            <a:endParaRPr sz="900"/>
          </a:p>
        </p:txBody>
      </p:sp>
      <p:sp>
        <p:nvSpPr>
          <p:cNvPr id="16" name="Text 12">
            <a:extLst xmlns:a="http://schemas.openxmlformats.org/drawingml/2006/main">
              <a:ext uri="{FF2B5EF4-FFF2-40B4-BE49-F238E27FC236}">
                <a16:creationId xmlns:a16="http://schemas.microsoft.com/office/drawing/2014/main" id="{698D97D9-A77B-4F90-9E8A-2223E7A966EB}"/>
              </a:ext>
            </a:extLst>
          </p:cNvPr>
          <p:cNvSpPr>
            <a:spLocks xmlns:a="http://schemas.openxmlformats.org/drawingml/2006/main" noGrp="1"/>
          </p:cNvSpPr>
          <p:nvPr/>
        </p:nvSpPr>
        <p:spPr>
          <a:xfrm xmlns:a="http://schemas.openxmlformats.org/drawingml/2006/main">
            <a:off x="594360" y="1783080"/>
            <a:ext cx="10972800" cy="43891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spcAft>
                <a:spcPts val="200"/>
              </a:spcAft>
              <a:buNone/>
              <a:defRPr sz="1200">
                <a:solidFill>
                  <a:srgbClr val="E5E7EB"/>
                </a:solidFill>
                <a:latin typeface="Consolas"/>
                <a:ea typeface="Consolas"/>
                <a:cs typeface="Consolas"/>
              </a:defRPr>
            </a:pPr>
            <a:r>
              <a:rPr sz="1200" b="1">
                <a:solidFill>
                  <a:srgbClr val="E5E7EB"/>
                </a:solidFill>
                <a:latin typeface="Consolas"/>
                <a:ea typeface="Consolas"/>
                <a:cs typeface="Consolas"/>
              </a:rPr>
              <a:t># Stage builder: contoh aplikasi Node</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b="1">
                <a:solidFill>
                  <a:srgbClr val="E5E7EB"/>
                </a:solidFill>
                <a:latin typeface="Consolas"/>
                <a:ea typeface="Consolas"/>
                <a:cs typeface="Consolas"/>
              </a:rPr>
              <a:t>FROM node:24-bookworm-slim AS builder</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WORKDIR /app</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COPY package.json package-lock.json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RUN npm ci</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COPY .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RUN npm run build</a:t>
            </a:r>
            <a:endParaRPr sz="1100"/>
          </a:p>
          <a:p xmlns:a="http://schemas.openxmlformats.org/drawingml/2006/main">
            <a:pPr marL="0" indent="0">
              <a:spcAft>
                <a:spcPts val="200"/>
              </a:spcAft>
              <a:buNone/>
            </a:pPr>
            <a:r>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b="1">
                <a:solidFill>
                  <a:srgbClr val="E5E7EB"/>
                </a:solidFill>
                <a:latin typeface="Consolas"/>
                <a:ea typeface="Consolas"/>
                <a:cs typeface="Consolas"/>
              </a:rPr>
              <a:t># Stage runtime memakai keluarga OS yang sama</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b="1">
                <a:solidFill>
                  <a:srgbClr val="E5E7EB"/>
                </a:solidFill>
                <a:latin typeface="Consolas"/>
                <a:ea typeface="Consolas"/>
                <a:cs typeface="Consolas"/>
              </a:rPr>
              <a:t>FROM node:24-bookworm-slim AS runner</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WORKDIR /app</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ENV NODE_ENV=production</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COPY --from=builder /app/package*.json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RUN npm ci --omit=dev &amp;&amp; npm cache clean --force</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b="1">
                <a:solidFill>
                  <a:srgbClr val="E5E7EB"/>
                </a:solidFill>
                <a:latin typeface="Consolas"/>
                <a:ea typeface="Consolas"/>
                <a:cs typeface="Consolas"/>
              </a:rPr>
              <a:t>COPY --from=builder /app/dist ./dist</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USER node</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b="1">
                <a:solidFill>
                  <a:srgbClr val="E5E7EB"/>
                </a:solidFill>
                <a:latin typeface="Consolas"/>
                <a:ea typeface="Consolas"/>
                <a:cs typeface="Consolas"/>
              </a:rPr>
              <a:t>EXPOSE 3000</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CMD ["node", "dist/server.js"]</a:t>
            </a:r>
            <a:endParaRPr sz="1100"/>
          </a:p>
        </p:txBody>
      </p:sp>
    </p:spTree>
    <p:extLst>
      <p:ext uri="{BB962C8B-B14F-4D97-AF65-F5344CB8AC3E}">
        <p14:creationId xmlns:p14="http://schemas.microsoft.com/office/powerpoint/2010/main" val="202346417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0" name="">
            <a:extLst xmlns:a="http://schemas.openxmlformats.org/drawingml/2006/main">
              <a:ext uri="{FF2B5EF4-FFF2-40B4-BE49-F238E27FC236}">
                <a16:creationId xmlns:a16="http://schemas.microsoft.com/office/drawing/2014/main" id="{404A11C5-E9CD-4AB0-9A39-A9AA43FED3F5}"/>
              </a:ext>
            </a:extLst>
          </p:cNvPr>
          <p:cNvPicPr>
            <a:picLocks xmlns:a="http://schemas.openxmlformats.org/drawingml/2006/main" noChangeAspect="1"/>
          </p:cNvPicPr>
          <p:nvPr/>
        </p:nvPicPr>
        <p:blipFill>
          <a:blip xmlns:r="http://schemas.openxmlformats.org/officeDocument/2006/relationships" xmlns:a="http://schemas.openxmlformats.org/drawingml/2006/main" r:embed="R044450f5f98045e6"/>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B6E4C1E8-9639-41C2-974D-FFBC38974AD6}"/>
              </a:ext>
            </a:extLst>
          </p:cNvPr>
          <p:cNvPicPr>
            <a:picLocks xmlns:a="http://schemas.openxmlformats.org/drawingml/2006/main" noChangeAspect="1"/>
          </p:cNvPicPr>
          <p:nvPr/>
        </p:nvPicPr>
        <p:blipFill>
          <a:blip xmlns:r="http://schemas.openxmlformats.org/officeDocument/2006/relationships" xmlns:a="http://schemas.openxmlformats.org/drawingml/2006/main" r:embed="Ra8f6af85cb524cd7"/>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B61C71AC-BCD0-480F-9F72-7429783259CC}"/>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Alat dapur dan isi paket yang dikirim</a:t>
            </a:r>
          </a:p>
        </p:txBody>
      </p:sp>
      <p:sp>
        <p:nvSpPr>
          <p:cNvPr id="4" name="text_1">
            <a:extLst xmlns:a="http://schemas.openxmlformats.org/drawingml/2006/main">
              <a:ext uri="{FF2B5EF4-FFF2-40B4-BE49-F238E27FC236}">
                <a16:creationId xmlns:a16="http://schemas.microsoft.com/office/drawing/2014/main" id="{EA816A23-78CB-4AB5-98DF-BA3352F75B03}"/>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Multi-stage memilih hasil builder yang diperlukan oleh runtime</a:t>
            </a:r>
          </a:p>
        </p:txBody>
      </p:sp>
      <p:sp>
        <p:nvSpPr>
          <p:cNvPr id="5" name="">
            <a:extLst xmlns:a="http://schemas.openxmlformats.org/drawingml/2006/main">
              <a:ext uri="{FF2B5EF4-FFF2-40B4-BE49-F238E27FC236}">
                <a16:creationId xmlns:a16="http://schemas.microsoft.com/office/drawing/2014/main" id="{1D98B28C-CE3A-42E5-9744-AA68F014E9AD}"/>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FB5DB2B-DA33-4A4A-B28F-F5550CEDFF26}"/>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3042616F-5BC1-4DE0-BE38-5AC7600C7768}"/>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F2BB047E-5A38-40FF-9AD8-C0C910D2058F}"/>
              </a:ext>
            </a:extLst>
          </p:cNvPr>
          <p:cNvPicPr>
            <a:picLocks xmlns:a="http://schemas.openxmlformats.org/drawingml/2006/main" noChangeAspect="1"/>
          </p:cNvPicPr>
          <p:nvPr/>
        </p:nvPicPr>
        <p:blipFill>
          <a:blip xmlns:r="http://schemas.openxmlformats.org/officeDocument/2006/relationships" xmlns:a="http://schemas.openxmlformats.org/drawingml/2006/main" r:embed="R4870dcc2995a4e66"/>
          <a:srcRect xmlns:a="http://schemas.openxmlformats.org/drawingml/2006/main" l="2444" t="0" r="2444" b="0"/>
          <a:stretch xmlns:a="http://schemas.openxmlformats.org/drawingml/2006/main">
            <a:fillRect l="0" t="0" r="0" b="0"/>
          </a:stretch>
        </p:blipFill>
        <p:spPr>
          <a:xfrm xmlns:a="http://schemas.openxmlformats.org/drawingml/2006/main">
            <a:off x="6762750" y="1571625"/>
            <a:ext cx="4972050" cy="3486150"/>
          </a:xfrm>
          <a:prstGeom xmlns:a="http://schemas.openxmlformats.org/drawingml/2006/main" prst="rect">
            <a:avLst/>
          </a:prstGeom>
        </p:spPr>
      </p:pic>
      <p:sp>
        <p:nvSpPr>
          <p:cNvPr id="9" name="text_5">
            <a:extLst xmlns:a="http://schemas.openxmlformats.org/drawingml/2006/main">
              <a:ext uri="{FF2B5EF4-FFF2-40B4-BE49-F238E27FC236}">
                <a16:creationId xmlns:a16="http://schemas.microsoft.com/office/drawing/2014/main" id="{C3463725-E6B5-46C4-814B-DA94D5E7504A}"/>
              </a:ext>
            </a:extLst>
          </p:cNvPr>
          <p:cNvSpPr>
            <a:spLocks xmlns:a="http://schemas.openxmlformats.org/drawingml/2006/main" noGrp="1"/>
          </p:cNvSpPr>
          <p:nvPr/>
        </p:nvSpPr>
        <p:spPr>
          <a:xfrm xmlns:a="http://schemas.openxmlformats.org/drawingml/2006/main">
            <a:off x="6762750" y="5133975"/>
            <a:ext cx="4972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00" b="0">
                <a:solidFill>
                  <a:srgbClr val="64748B"/>
                </a:solidFill>
                <a:latin typeface="Calibri"/>
                <a:ea typeface="Calibri"/>
                <a:cs typeface="Calibri"/>
              </a:defRPr>
            </a:defPPr>
          </a:lstStyle>
          <a:p xmlns:a="http://schemas.openxmlformats.org/drawingml/2006/main">
            <a:pPr>
              <a:defRPr sz="900" b="0">
                <a:solidFill>
                  <a:srgbClr val="64748B"/>
                </a:solidFill>
                <a:latin typeface="Calibri"/>
                <a:ea typeface="Calibri"/>
                <a:cs typeface="Calibri"/>
              </a:defRPr>
            </a:pPr>
            <a:r>
              <a:rPr sz="900" b="0">
                <a:solidFill>
                  <a:srgbClr val="64748B"/>
                </a:solidFill>
                <a:latin typeface="Calibri"/>
                <a:ea typeface="Calibri"/>
                <a:cs typeface="Calibri"/>
              </a:rPr>
              <a:t>Foto: FOX / Pexels · ilustrasi perumpamaan</a:t>
            </a:r>
          </a:p>
        </p:txBody>
      </p:sp>
      <p:sp>
        <p:nvSpPr>
          <p:cNvPr id="10" name="text_6">
            <a:extLst xmlns:a="http://schemas.openxmlformats.org/drawingml/2006/main">
              <a:ext uri="{FF2B5EF4-FFF2-40B4-BE49-F238E27FC236}">
                <a16:creationId xmlns:a16="http://schemas.microsoft.com/office/drawing/2014/main" id="{45CF9DF3-4FF4-48FE-A723-F2494232A155}"/>
              </a:ext>
            </a:extLst>
          </p:cNvPr>
          <p:cNvSpPr>
            <a:spLocks xmlns:a="http://schemas.openxmlformats.org/drawingml/2006/main" noGrp="1"/>
          </p:cNvSpPr>
          <p:nvPr/>
        </p:nvSpPr>
        <p:spPr>
          <a:xfrm xmlns:a="http://schemas.openxmlformats.org/drawingml/2006/main">
            <a:off x="457200" y="157162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defRPr sz="1875" b="1">
                <a:solidFill>
                  <a:srgbClr val="052877"/>
                </a:solidFill>
                <a:latin typeface="Calibri"/>
                <a:ea typeface="Calibri"/>
                <a:cs typeface="Calibri"/>
              </a:defRPr>
            </a:pPr>
            <a:r>
              <a:rPr sz="1875" b="1">
                <a:solidFill>
                  <a:srgbClr val="052877"/>
                </a:solidFill>
                <a:latin typeface="Calibri"/>
                <a:ea typeface="Calibri"/>
                <a:cs typeface="Calibri"/>
              </a:rPr>
              <a:t>Builder = area persiapan</a:t>
            </a:r>
          </a:p>
        </p:txBody>
      </p:sp>
      <p:sp>
        <p:nvSpPr>
          <p:cNvPr id="11" name="text_7">
            <a:extLst xmlns:a="http://schemas.openxmlformats.org/drawingml/2006/main">
              <a:ext uri="{FF2B5EF4-FFF2-40B4-BE49-F238E27FC236}">
                <a16:creationId xmlns:a16="http://schemas.microsoft.com/office/drawing/2014/main" id="{6734FF3D-6188-4780-BCB4-4934CFB91CFB}"/>
              </a:ext>
            </a:extLst>
          </p:cNvPr>
          <p:cNvSpPr>
            <a:spLocks xmlns:a="http://schemas.openxmlformats.org/drawingml/2006/main" noGrp="1"/>
          </p:cNvSpPr>
          <p:nvPr/>
        </p:nvSpPr>
        <p:spPr>
          <a:xfrm xmlns:a="http://schemas.openxmlformats.org/drawingml/2006/main">
            <a:off x="457200" y="1971675"/>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Lab 05 memasang dependency ke /opt/venv.</a:t>
            </a:r>
          </a:p>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Di proyek lain: compiler atau bundler di sini.</a:t>
            </a:r>
          </a:p>
        </p:txBody>
      </p:sp>
      <p:sp>
        <p:nvSpPr>
          <p:cNvPr id="12" name="text_8">
            <a:extLst xmlns:a="http://schemas.openxmlformats.org/drawingml/2006/main">
              <a:ext uri="{FF2B5EF4-FFF2-40B4-BE49-F238E27FC236}">
                <a16:creationId xmlns:a16="http://schemas.microsoft.com/office/drawing/2014/main" id="{186DB6B6-86D4-49CD-83CE-6C7FAA2FE333}"/>
              </a:ext>
            </a:extLst>
          </p:cNvPr>
          <p:cNvSpPr>
            <a:spLocks xmlns:a="http://schemas.openxmlformats.org/drawingml/2006/main" noGrp="1"/>
          </p:cNvSpPr>
          <p:nvPr/>
        </p:nvSpPr>
        <p:spPr>
          <a:xfrm xmlns:a="http://schemas.openxmlformats.org/drawingml/2006/main">
            <a:off x="457200" y="27336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defRPr sz="1875" b="1">
                <a:solidFill>
                  <a:srgbClr val="052877"/>
                </a:solidFill>
                <a:latin typeface="Calibri"/>
                <a:ea typeface="Calibri"/>
                <a:cs typeface="Calibri"/>
              </a:defRPr>
            </a:pPr>
            <a:r>
              <a:rPr sz="1875" b="1">
                <a:solidFill>
                  <a:srgbClr val="052877"/>
                </a:solidFill>
                <a:latin typeface="Calibri"/>
                <a:ea typeface="Calibri"/>
                <a:cs typeface="Calibri"/>
              </a:rPr>
              <a:t>Runtime = paket untuk dijalankan</a:t>
            </a:r>
          </a:p>
        </p:txBody>
      </p:sp>
      <p:sp>
        <p:nvSpPr>
          <p:cNvPr id="13" name="text_9">
            <a:extLst xmlns:a="http://schemas.openxmlformats.org/drawingml/2006/main">
              <a:ext uri="{FF2B5EF4-FFF2-40B4-BE49-F238E27FC236}">
                <a16:creationId xmlns:a16="http://schemas.microsoft.com/office/drawing/2014/main" id="{9123FBE3-DA63-4878-ABB4-1941E388C70C}"/>
              </a:ext>
            </a:extLst>
          </p:cNvPr>
          <p:cNvSpPr>
            <a:spLocks xmlns:a="http://schemas.openxmlformats.org/drawingml/2006/main" noGrp="1"/>
          </p:cNvSpPr>
          <p:nvPr/>
        </p:nvSpPr>
        <p:spPr>
          <a:xfrm xmlns:a="http://schemas.openxmlformats.org/drawingml/2006/main">
            <a:off x="457200" y="3133725"/>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Bawa venv dan app, lalu jalankan API.</a:t>
            </a:r>
          </a:p>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Alat build yang tidak dibutuhkan dapat tinggal.</a:t>
            </a:r>
          </a:p>
        </p:txBody>
      </p:sp>
      <p:sp>
        <p:nvSpPr>
          <p:cNvPr id="14" name="text_10">
            <a:extLst xmlns:a="http://schemas.openxmlformats.org/drawingml/2006/main">
              <a:ext uri="{FF2B5EF4-FFF2-40B4-BE49-F238E27FC236}">
                <a16:creationId xmlns:a16="http://schemas.microsoft.com/office/drawing/2014/main" id="{7C99870B-DBE0-4930-91FE-B4D76CB57899}"/>
              </a:ext>
            </a:extLst>
          </p:cNvPr>
          <p:cNvSpPr>
            <a:spLocks xmlns:a="http://schemas.openxmlformats.org/drawingml/2006/main" noGrp="1"/>
          </p:cNvSpPr>
          <p:nvPr/>
        </p:nvSpPr>
        <p:spPr>
          <a:xfrm xmlns:a="http://schemas.openxmlformats.org/drawingml/2006/main">
            <a:off x="457200" y="389572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defRPr sz="1875" b="1">
                <a:solidFill>
                  <a:srgbClr val="052877"/>
                </a:solidFill>
                <a:latin typeface="Calibri"/>
                <a:ea typeface="Calibri"/>
                <a:cs typeface="Calibri"/>
              </a:defRPr>
            </a:pPr>
            <a:r>
              <a:rPr sz="1875" b="1">
                <a:solidFill>
                  <a:srgbClr val="052877"/>
                </a:solidFill>
                <a:latin typeface="Calibri"/>
                <a:ea typeface="Calibri"/>
                <a:cs typeface="Calibri"/>
              </a:rPr>
              <a:t>Pilih artefak yang cocok</a:t>
            </a:r>
          </a:p>
        </p:txBody>
      </p:sp>
      <p:sp>
        <p:nvSpPr>
          <p:cNvPr id="15" name="text_11">
            <a:extLst xmlns:a="http://schemas.openxmlformats.org/drawingml/2006/main">
              <a:ext uri="{FF2B5EF4-FFF2-40B4-BE49-F238E27FC236}">
                <a16:creationId xmlns:a16="http://schemas.microsoft.com/office/drawing/2014/main" id="{FE890AC0-3B23-43FC-AB4F-7B7E084FA768}"/>
              </a:ext>
            </a:extLst>
          </p:cNvPr>
          <p:cNvSpPr>
            <a:spLocks xmlns:a="http://schemas.openxmlformats.org/drawingml/2006/main" noGrp="1"/>
          </p:cNvSpPr>
          <p:nvPr/>
        </p:nvSpPr>
        <p:spPr>
          <a:xfrm xmlns:a="http://schemas.openxmlformats.org/drawingml/2006/main">
            <a:off x="457200" y="4295775"/>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Gunakan interpreter dan library yang sesuai.</a:t>
            </a:r>
          </a:p>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Lab 05 memakai Python slim pada kedua stage.</a:t>
            </a:r>
          </a:p>
        </p:txBody>
      </p:sp>
      <p:sp>
        <p:nvSpPr>
          <p:cNvPr id="16" name="">
            <a:extLst xmlns:a="http://schemas.openxmlformats.org/drawingml/2006/main">
              <a:ext uri="{FF2B5EF4-FFF2-40B4-BE49-F238E27FC236}">
                <a16:creationId xmlns:a16="http://schemas.microsoft.com/office/drawing/2014/main" id="{9777061C-A8E3-4181-BC78-F23C63F849C4}"/>
              </a:ext>
            </a:extLst>
          </p:cNvPr>
          <p:cNvSpPr>
            <a:spLocks xmlns:a="http://schemas.openxmlformats.org/drawingml/2006/main" noGrp="1"/>
          </p:cNvSpPr>
          <p:nvPr/>
        </p:nvSpPr>
        <p:spPr>
          <a:xfrm xmlns:a="http://schemas.openxmlformats.org/drawingml/2006/main">
            <a:off x="457200" y="5391150"/>
            <a:ext cx="11277600" cy="6667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7" name="text_13">
            <a:extLst xmlns:a="http://schemas.openxmlformats.org/drawingml/2006/main">
              <a:ext uri="{FF2B5EF4-FFF2-40B4-BE49-F238E27FC236}">
                <a16:creationId xmlns:a16="http://schemas.microsoft.com/office/drawing/2014/main" id="{566EFB77-57D5-42B1-80C6-3A950C6BF532}"/>
              </a:ext>
            </a:extLst>
          </p:cNvPr>
          <p:cNvSpPr>
            <a:spLocks xmlns:a="http://schemas.openxmlformats.org/drawingml/2006/main" noGrp="1"/>
          </p:cNvSpPr>
          <p:nvPr/>
        </p:nvSpPr>
        <p:spPr>
          <a:xfrm xmlns:a="http://schemas.openxmlformats.org/drawingml/2006/main">
            <a:off x="590550" y="5505450"/>
            <a:ext cx="11010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COPY --from=builder /opt/venv /opt/venv</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COPY app ./app</a:t>
            </a:r>
          </a:p>
        </p:txBody>
      </p:sp>
      <p:sp>
        <p:nvSpPr>
          <p:cNvPr id="18" name="text_14">
            <a:extLst xmlns:a="http://schemas.openxmlformats.org/drawingml/2006/main">
              <a:ext uri="{FF2B5EF4-FFF2-40B4-BE49-F238E27FC236}">
                <a16:creationId xmlns:a16="http://schemas.microsoft.com/office/drawing/2014/main" id="{BEAC5B5B-7CB2-4AF4-B67D-2D1CE0E6B6FF}"/>
              </a:ext>
            </a:extLst>
          </p:cNvPr>
          <p:cNvSpPr>
            <a:spLocks xmlns:a="http://schemas.openxmlformats.org/drawingml/2006/main" noGrp="1"/>
          </p:cNvSpPr>
          <p:nvPr/>
        </p:nvSpPr>
        <p:spPr>
          <a:xfrm xmlns:a="http://schemas.openxmlformats.org/drawingml/2006/main">
            <a:off x="457200" y="6143625"/>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F97316"/>
                </a:solidFill>
                <a:latin typeface="Calibri"/>
                <a:ea typeface="Calibri"/>
                <a:cs typeface="Calibri"/>
              </a:defRPr>
            </a:defPPr>
          </a:lstStyle>
          <a:p xmlns:a="http://schemas.openxmlformats.org/drawingml/2006/main">
            <a:pPr>
              <a:defRPr sz="1500" b="1">
                <a:solidFill>
                  <a:srgbClr val="F97316"/>
                </a:solidFill>
                <a:latin typeface="Calibri"/>
                <a:ea typeface="Calibri"/>
                <a:cs typeface="Calibri"/>
              </a:defRPr>
            </a:pPr>
            <a:r>
              <a:rPr sz="1500" b="1">
                <a:solidFill>
                  <a:srgbClr val="F97316"/>
                </a:solidFill>
                <a:latin typeface="Calibri"/>
                <a:ea typeface="Calibri"/>
                <a:cs typeface="Calibri"/>
              </a:rPr>
              <a:t>Ukur ukuran dan uji aplikasi; multi-stage tidak menjamin hasil tertentu.</a:t>
            </a:r>
          </a:p>
        </p:txBody>
      </p:sp>
      <p:sp>
        <p:nvSpPr>
          <p:cNvPr id="19" name="text_15">
            <a:extLst xmlns:a="http://schemas.openxmlformats.org/drawingml/2006/main">
              <a:ext uri="{FF2B5EF4-FFF2-40B4-BE49-F238E27FC236}">
                <a16:creationId xmlns:a16="http://schemas.microsoft.com/office/drawing/2014/main" id="{DBD4969F-A5CF-43FF-A29B-4F4921B92873}"/>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26</a:t>
            </a:r>
          </a:p>
        </p:txBody>
      </p:sp>
    </p:spTree>
    <p:extLst>
      <p:ext uri="{BB962C8B-B14F-4D97-AF65-F5344CB8AC3E}">
        <p14:creationId xmlns:p14="http://schemas.microsoft.com/office/powerpoint/2010/main" val="201156584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D6454F7-C1D6-49A4-A3E9-6C6CFC5D191F}"/>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68C5BCAF-783F-4ED2-823B-BA9E3A713CA1}"/>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27</a:t>
            </a:r>
            <a:endParaRPr sz="900"/>
          </a:p>
        </p:txBody>
      </p:sp>
      <p:sp>
        <p:nvSpPr>
          <p:cNvPr id="4" name="Shape 2">
            <a:extLst xmlns:a="http://schemas.openxmlformats.org/drawingml/2006/main">
              <a:ext uri="{FF2B5EF4-FFF2-40B4-BE49-F238E27FC236}">
                <a16:creationId xmlns:a16="http://schemas.microsoft.com/office/drawing/2014/main" id="{43E9CA35-8084-43EB-AAFC-DB8CFAE7C833}"/>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65" name="Image 0">
            <a:extLst xmlns:a="http://schemas.openxmlformats.org/drawingml/2006/main">
              <a:ext uri="{FF2B5EF4-FFF2-40B4-BE49-F238E27FC236}">
                <a16:creationId xmlns:a16="http://schemas.microsoft.com/office/drawing/2014/main" id="{511B893C-D5B9-483A-A862-35B4B2415FF8}"/>
              </a:ext>
            </a:extLst>
          </p:cNvPr>
          <p:cNvPicPr>
            <a:picLocks xmlns:a="http://schemas.openxmlformats.org/drawingml/2006/main" noChangeAspect="1"/>
          </p:cNvPicPr>
          <p:nvPr/>
        </p:nvPicPr>
        <p:blipFill>
          <a:blip xmlns:r="http://schemas.openxmlformats.org/officeDocument/2006/relationships" xmlns:a="http://schemas.openxmlformats.org/drawingml/2006/main" r:embed="R24a5fb7e9c3c401d"/>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66" name="Image 1">
            <a:extLst xmlns:a="http://schemas.openxmlformats.org/drawingml/2006/main">
              <a:ext uri="{FF2B5EF4-FFF2-40B4-BE49-F238E27FC236}">
                <a16:creationId xmlns:a16="http://schemas.microsoft.com/office/drawing/2014/main" id="{FAB44F0D-D6FF-4E7C-87D3-9EA4CCADB1BC}"/>
              </a:ext>
            </a:extLst>
          </p:cNvPr>
          <p:cNvPicPr>
            <a:picLocks xmlns:a="http://schemas.openxmlformats.org/drawingml/2006/main" noChangeAspect="1"/>
          </p:cNvPicPr>
          <p:nvPr/>
        </p:nvPicPr>
        <p:blipFill>
          <a:blip xmlns:r="http://schemas.openxmlformats.org/officeDocument/2006/relationships" xmlns:a="http://schemas.openxmlformats.org/drawingml/2006/main" r:embed="R0af7cf40a8cb4136"/>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06519FFE-4EE4-466A-A555-1B5AA5E0E878}"/>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08FA818A-92CE-492A-8BCB-016CA76CEE6E}"/>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Image Optimization - Best Practices Checklist</a:t>
            </a:r>
            <a:endParaRPr sz="2200"/>
          </a:p>
        </p:txBody>
      </p:sp>
      <p:sp>
        <p:nvSpPr>
          <p:cNvPr id="9" name="Text 5">
            <a:extLst xmlns:a="http://schemas.openxmlformats.org/drawingml/2006/main">
              <a:ext uri="{FF2B5EF4-FFF2-40B4-BE49-F238E27FC236}">
                <a16:creationId xmlns:a16="http://schemas.microsoft.com/office/drawing/2014/main" id="{216C4DD4-8B61-4888-B455-A508B8E72E46}"/>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10 aturan untuk Dockerfile produksi</a:t>
            </a:r>
            <a:endParaRPr sz="1200"/>
          </a:p>
        </p:txBody>
      </p:sp>
      <p:sp>
        <p:nvSpPr>
          <p:cNvPr id="10" name="Shape 6">
            <a:extLst xmlns:a="http://schemas.openxmlformats.org/drawingml/2006/main">
              <a:ext uri="{FF2B5EF4-FFF2-40B4-BE49-F238E27FC236}">
                <a16:creationId xmlns:a16="http://schemas.microsoft.com/office/drawing/2014/main" id="{467DD374-0AF3-400F-82F2-7668F063EA4D}"/>
              </a:ext>
            </a:extLst>
          </p:cNvPr>
          <p:cNvSpPr>
            <a:spLocks xmlns:a="http://schemas.openxmlformats.org/drawingml/2006/main" noGrp="1"/>
          </p:cNvSpPr>
          <p:nvPr/>
        </p:nvSpPr>
        <p:spPr>
          <a:xfrm xmlns:a="http://schemas.openxmlformats.org/drawingml/2006/main">
            <a:off x="457200" y="141732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71" name="Image 2">
            <a:extLst xmlns:a="http://schemas.openxmlformats.org/drawingml/2006/main">
              <a:ext uri="{FF2B5EF4-FFF2-40B4-BE49-F238E27FC236}">
                <a16:creationId xmlns:a16="http://schemas.microsoft.com/office/drawing/2014/main" id="{42F25EB9-1553-4059-8623-C932DE8E8267}"/>
              </a:ext>
            </a:extLst>
          </p:cNvPr>
          <p:cNvPicPr>
            <a:picLocks xmlns:a="http://schemas.openxmlformats.org/drawingml/2006/main" noChangeAspect="1"/>
          </p:cNvPicPr>
          <p:nvPr/>
        </p:nvPicPr>
        <p:blipFill>
          <a:blip xmlns:r="http://schemas.openxmlformats.org/officeDocument/2006/relationships" xmlns:a="http://schemas.openxmlformats.org/drawingml/2006/main" r:embed="R30f74e2c41ec4795"/>
          <a:stretch xmlns:a="http://schemas.openxmlformats.org/drawingml/2006/main">
            <a:fillRect l="0" t="0" r="0" b="0"/>
          </a:stretch>
        </p:blipFill>
        <p:spPr>
          <a:xfrm xmlns:a="http://schemas.openxmlformats.org/drawingml/2006/main">
            <a:off x="594360" y="1554480"/>
            <a:ext cx="411480" cy="41148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AF1496D4-4C84-4A6D-B33C-09A060CC0809}"/>
              </a:ext>
            </a:extLst>
          </p:cNvPr>
          <p:cNvSpPr>
            <a:spLocks xmlns:a="http://schemas.openxmlformats.org/drawingml/2006/main" noGrp="1"/>
          </p:cNvSpPr>
          <p:nvPr/>
        </p:nvSpPr>
        <p:spPr>
          <a:xfrm xmlns:a="http://schemas.openxmlformats.org/drawingml/2006/main">
            <a:off x="1097280" y="150876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Pin Version</a:t>
            </a:r>
            <a:endParaRPr sz="1300"/>
          </a:p>
        </p:txBody>
      </p:sp>
      <p:sp>
        <p:nvSpPr>
          <p:cNvPr id="13" name="Text 8">
            <a:extLst xmlns:a="http://schemas.openxmlformats.org/drawingml/2006/main">
              <a:ext uri="{FF2B5EF4-FFF2-40B4-BE49-F238E27FC236}">
                <a16:creationId xmlns:a16="http://schemas.microsoft.com/office/drawing/2014/main" id="{801CE7C7-A6DB-485E-B6D8-2DB5B0DC1FAA}"/>
              </a:ext>
            </a:extLst>
          </p:cNvPr>
          <p:cNvSpPr>
            <a:spLocks xmlns:a="http://schemas.openxmlformats.org/drawingml/2006/main" noGrp="1"/>
          </p:cNvSpPr>
          <p:nvPr/>
        </p:nvSpPr>
        <p:spPr>
          <a:xfrm xmlns:a="http://schemas.openxmlformats.org/drawingml/2006/main">
            <a:off x="594360" y="196596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Pilih versi yang didukung. Digest mengunci konten base image.</a:t>
            </a:r>
            <a:endParaRPr sz="1000"/>
          </a:p>
        </p:txBody>
      </p:sp>
      <p:sp>
        <p:nvSpPr>
          <p:cNvPr id="14" name="Shape 9">
            <a:extLst xmlns:a="http://schemas.openxmlformats.org/drawingml/2006/main">
              <a:ext uri="{FF2B5EF4-FFF2-40B4-BE49-F238E27FC236}">
                <a16:creationId xmlns:a16="http://schemas.microsoft.com/office/drawing/2014/main" id="{11B9681F-186E-4E50-984E-406D1CD4E093}"/>
              </a:ext>
            </a:extLst>
          </p:cNvPr>
          <p:cNvSpPr>
            <a:spLocks xmlns:a="http://schemas.openxmlformats.org/drawingml/2006/main" noGrp="1"/>
          </p:cNvSpPr>
          <p:nvPr/>
        </p:nvSpPr>
        <p:spPr>
          <a:xfrm xmlns:a="http://schemas.openxmlformats.org/drawingml/2006/main">
            <a:off x="4297680" y="141732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75" name="Image 3">
            <a:extLst xmlns:a="http://schemas.openxmlformats.org/drawingml/2006/main">
              <a:ext uri="{FF2B5EF4-FFF2-40B4-BE49-F238E27FC236}">
                <a16:creationId xmlns:a16="http://schemas.microsoft.com/office/drawing/2014/main" id="{3C3E4FAB-B24F-4CA5-B5E9-3271E6CA4711}"/>
              </a:ext>
            </a:extLst>
          </p:cNvPr>
          <p:cNvPicPr>
            <a:picLocks xmlns:a="http://schemas.openxmlformats.org/drawingml/2006/main" noChangeAspect="1"/>
          </p:cNvPicPr>
          <p:nvPr/>
        </p:nvPicPr>
        <p:blipFill>
          <a:blip xmlns:r="http://schemas.openxmlformats.org/officeDocument/2006/relationships" xmlns:a="http://schemas.openxmlformats.org/drawingml/2006/main" r:embed="R30f74e2c41ec4795"/>
          <a:stretch xmlns:a="http://schemas.openxmlformats.org/drawingml/2006/main">
            <a:fillRect l="0" t="0" r="0" b="0"/>
          </a:stretch>
        </p:blipFill>
        <p:spPr>
          <a:xfrm xmlns:a="http://schemas.openxmlformats.org/drawingml/2006/main">
            <a:off x="4434840" y="1554480"/>
            <a:ext cx="411480" cy="411480"/>
          </a:xfrm>
          <a:prstGeom xmlns:a="http://schemas.openxmlformats.org/drawingml/2006/main" prst="rect">
            <a:avLst/>
          </a:prstGeom>
        </p:spPr>
      </p:pic>
      <p:sp>
        <p:nvSpPr>
          <p:cNvPr id="16" name="Text 10">
            <a:extLst xmlns:a="http://schemas.openxmlformats.org/drawingml/2006/main">
              <a:ext uri="{FF2B5EF4-FFF2-40B4-BE49-F238E27FC236}">
                <a16:creationId xmlns:a16="http://schemas.microsoft.com/office/drawing/2014/main" id="{4BC6415B-81D3-40EB-AFED-54FE0DC88692}"/>
              </a:ext>
            </a:extLst>
          </p:cNvPr>
          <p:cNvSpPr>
            <a:spLocks xmlns:a="http://schemas.openxmlformats.org/drawingml/2006/main" noGrp="1"/>
          </p:cNvSpPr>
          <p:nvPr/>
        </p:nvSpPr>
        <p:spPr>
          <a:xfrm xmlns:a="http://schemas.openxmlformats.org/drawingml/2006/main">
            <a:off x="4937760" y="150876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Alpine / Distroless</a:t>
            </a:r>
            <a:endParaRPr sz="1300"/>
          </a:p>
        </p:txBody>
      </p:sp>
      <p:sp>
        <p:nvSpPr>
          <p:cNvPr id="17" name="Text 11">
            <a:extLst xmlns:a="http://schemas.openxmlformats.org/drawingml/2006/main">
              <a:ext uri="{FF2B5EF4-FFF2-40B4-BE49-F238E27FC236}">
                <a16:creationId xmlns:a16="http://schemas.microsoft.com/office/drawing/2014/main" id="{5F62EE57-12C6-4F06-8D18-47B5DC23BB9E}"/>
              </a:ext>
            </a:extLst>
          </p:cNvPr>
          <p:cNvSpPr>
            <a:spLocks xmlns:a="http://schemas.openxmlformats.org/drawingml/2006/main" noGrp="1"/>
          </p:cNvSpPr>
          <p:nvPr/>
        </p:nvSpPr>
        <p:spPr>
          <a:xfrm xmlns:a="http://schemas.openxmlformats.org/drawingml/2006/main">
            <a:off x="4434840" y="196596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Base minimal untuk reduce size + attack surface.</a:t>
            </a:r>
            <a:endParaRPr sz="1000"/>
          </a:p>
        </p:txBody>
      </p:sp>
      <p:sp>
        <p:nvSpPr>
          <p:cNvPr id="18" name="Shape 12">
            <a:extLst xmlns:a="http://schemas.openxmlformats.org/drawingml/2006/main">
              <a:ext uri="{FF2B5EF4-FFF2-40B4-BE49-F238E27FC236}">
                <a16:creationId xmlns:a16="http://schemas.microsoft.com/office/drawing/2014/main" id="{7495D47C-4F6A-4A62-8A5D-4F13BEF86553}"/>
              </a:ext>
            </a:extLst>
          </p:cNvPr>
          <p:cNvSpPr>
            <a:spLocks xmlns:a="http://schemas.openxmlformats.org/drawingml/2006/main" noGrp="1"/>
          </p:cNvSpPr>
          <p:nvPr/>
        </p:nvSpPr>
        <p:spPr>
          <a:xfrm xmlns:a="http://schemas.openxmlformats.org/drawingml/2006/main">
            <a:off x="8138160" y="141732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79" name="Image 4">
            <a:extLst xmlns:a="http://schemas.openxmlformats.org/drawingml/2006/main">
              <a:ext uri="{FF2B5EF4-FFF2-40B4-BE49-F238E27FC236}">
                <a16:creationId xmlns:a16="http://schemas.microsoft.com/office/drawing/2014/main" id="{37949748-F9DB-4B13-9D25-42AD99984A14}"/>
              </a:ext>
            </a:extLst>
          </p:cNvPr>
          <p:cNvPicPr>
            <a:picLocks xmlns:a="http://schemas.openxmlformats.org/drawingml/2006/main" noChangeAspect="1"/>
          </p:cNvPicPr>
          <p:nvPr/>
        </p:nvPicPr>
        <p:blipFill>
          <a:blip xmlns:r="http://schemas.openxmlformats.org/officeDocument/2006/relationships" xmlns:a="http://schemas.openxmlformats.org/drawingml/2006/main" r:embed="R30f74e2c41ec4795"/>
          <a:stretch xmlns:a="http://schemas.openxmlformats.org/drawingml/2006/main">
            <a:fillRect l="0" t="0" r="0" b="0"/>
          </a:stretch>
        </p:blipFill>
        <p:spPr>
          <a:xfrm xmlns:a="http://schemas.openxmlformats.org/drawingml/2006/main">
            <a:off x="8275320" y="1554480"/>
            <a:ext cx="411480" cy="411480"/>
          </a:xfrm>
          <a:prstGeom xmlns:a="http://schemas.openxmlformats.org/drawingml/2006/main" prst="rect">
            <a:avLst/>
          </a:prstGeom>
        </p:spPr>
      </p:pic>
      <p:sp>
        <p:nvSpPr>
          <p:cNvPr id="20" name="Text 13">
            <a:extLst xmlns:a="http://schemas.openxmlformats.org/drawingml/2006/main">
              <a:ext uri="{FF2B5EF4-FFF2-40B4-BE49-F238E27FC236}">
                <a16:creationId xmlns:a16="http://schemas.microsoft.com/office/drawing/2014/main" id="{0B2D4738-FC0C-480A-ADDF-441A8A1FE5F5}"/>
              </a:ext>
            </a:extLst>
          </p:cNvPr>
          <p:cNvSpPr>
            <a:spLocks xmlns:a="http://schemas.openxmlformats.org/drawingml/2006/main" noGrp="1"/>
          </p:cNvSpPr>
          <p:nvPr/>
        </p:nvSpPr>
        <p:spPr>
          <a:xfrm xmlns:a="http://schemas.openxmlformats.org/drawingml/2006/main">
            <a:off x="8778240" y="150876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Multi-Stage Build</a:t>
            </a:r>
            <a:endParaRPr sz="1300"/>
          </a:p>
        </p:txBody>
      </p:sp>
      <p:sp>
        <p:nvSpPr>
          <p:cNvPr id="21" name="Text 14">
            <a:extLst xmlns:a="http://schemas.openxmlformats.org/drawingml/2006/main">
              <a:ext uri="{FF2B5EF4-FFF2-40B4-BE49-F238E27FC236}">
                <a16:creationId xmlns:a16="http://schemas.microsoft.com/office/drawing/2014/main" id="{87B74AF5-4E1B-4051-ABFE-EBEB496D5160}"/>
              </a:ext>
            </a:extLst>
          </p:cNvPr>
          <p:cNvSpPr>
            <a:spLocks xmlns:a="http://schemas.openxmlformats.org/drawingml/2006/main" noGrp="1"/>
          </p:cNvSpPr>
          <p:nvPr/>
        </p:nvSpPr>
        <p:spPr>
          <a:xfrm xmlns:a="http://schemas.openxmlformats.org/drawingml/2006/main">
            <a:off x="8275320" y="196596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Pisahkan kebutuhan build dan runtime. Ukur hasilnya.</a:t>
            </a:r>
            <a:endParaRPr sz="1000"/>
          </a:p>
        </p:txBody>
      </p:sp>
      <p:sp>
        <p:nvSpPr>
          <p:cNvPr id="22" name="Shape 15">
            <a:extLst xmlns:a="http://schemas.openxmlformats.org/drawingml/2006/main">
              <a:ext uri="{FF2B5EF4-FFF2-40B4-BE49-F238E27FC236}">
                <a16:creationId xmlns:a16="http://schemas.microsoft.com/office/drawing/2014/main" id="{9FDD2993-4DC5-4169-B9E5-4880DA4ADDC5}"/>
              </a:ext>
            </a:extLst>
          </p:cNvPr>
          <p:cNvSpPr>
            <a:spLocks xmlns:a="http://schemas.openxmlformats.org/drawingml/2006/main" noGrp="1"/>
          </p:cNvSpPr>
          <p:nvPr/>
        </p:nvSpPr>
        <p:spPr>
          <a:xfrm xmlns:a="http://schemas.openxmlformats.org/drawingml/2006/main">
            <a:off x="457200" y="260604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83" name="Image 5">
            <a:extLst xmlns:a="http://schemas.openxmlformats.org/drawingml/2006/main">
              <a:ext uri="{FF2B5EF4-FFF2-40B4-BE49-F238E27FC236}">
                <a16:creationId xmlns:a16="http://schemas.microsoft.com/office/drawing/2014/main" id="{E1878DC9-FBD5-4448-8F5A-D77B25313BEB}"/>
              </a:ext>
            </a:extLst>
          </p:cNvPr>
          <p:cNvPicPr>
            <a:picLocks xmlns:a="http://schemas.openxmlformats.org/drawingml/2006/main" noChangeAspect="1"/>
          </p:cNvPicPr>
          <p:nvPr/>
        </p:nvPicPr>
        <p:blipFill>
          <a:blip xmlns:r="http://schemas.openxmlformats.org/officeDocument/2006/relationships" xmlns:a="http://schemas.openxmlformats.org/drawingml/2006/main" r:embed="R30f74e2c41ec4795"/>
          <a:stretch xmlns:a="http://schemas.openxmlformats.org/drawingml/2006/main">
            <a:fillRect l="0" t="0" r="0" b="0"/>
          </a:stretch>
        </p:blipFill>
        <p:spPr>
          <a:xfrm xmlns:a="http://schemas.openxmlformats.org/drawingml/2006/main">
            <a:off x="594360" y="2743200"/>
            <a:ext cx="411480" cy="411480"/>
          </a:xfrm>
          <a:prstGeom xmlns:a="http://schemas.openxmlformats.org/drawingml/2006/main" prst="rect">
            <a:avLst/>
          </a:prstGeom>
        </p:spPr>
      </p:pic>
      <p:sp>
        <p:nvSpPr>
          <p:cNvPr id="24" name="Text 16">
            <a:extLst xmlns:a="http://schemas.openxmlformats.org/drawingml/2006/main">
              <a:ext uri="{FF2B5EF4-FFF2-40B4-BE49-F238E27FC236}">
                <a16:creationId xmlns:a16="http://schemas.microsoft.com/office/drawing/2014/main" id="{8411879D-72AA-4031-9046-AC798D1B4E06}"/>
              </a:ext>
            </a:extLst>
          </p:cNvPr>
          <p:cNvSpPr>
            <a:spLocks xmlns:a="http://schemas.openxmlformats.org/drawingml/2006/main" noGrp="1"/>
          </p:cNvSpPr>
          <p:nvPr/>
        </p:nvSpPr>
        <p:spPr>
          <a:xfrm xmlns:a="http://schemas.openxmlformats.org/drawingml/2006/main">
            <a:off x="1097280" y="269748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Layer Ordering</a:t>
            </a:r>
            <a:endParaRPr sz="1300"/>
          </a:p>
        </p:txBody>
      </p:sp>
      <p:sp>
        <p:nvSpPr>
          <p:cNvPr id="25" name="Text 17">
            <a:extLst xmlns:a="http://schemas.openxmlformats.org/drawingml/2006/main">
              <a:ext uri="{FF2B5EF4-FFF2-40B4-BE49-F238E27FC236}">
                <a16:creationId xmlns:a16="http://schemas.microsoft.com/office/drawing/2014/main" id="{E1BA5763-9A9C-4768-8A5C-9DF1581E39DC}"/>
              </a:ext>
            </a:extLst>
          </p:cNvPr>
          <p:cNvSpPr>
            <a:spLocks xmlns:a="http://schemas.openxmlformats.org/drawingml/2006/main" noGrp="1"/>
          </p:cNvSpPr>
          <p:nvPr/>
        </p:nvSpPr>
        <p:spPr>
          <a:xfrm xmlns:a="http://schemas.openxmlformats.org/drawingml/2006/main">
            <a:off x="594360" y="315468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Dependency dulu (jarang berubah), code belakangan.</a:t>
            </a:r>
            <a:endParaRPr sz="1000"/>
          </a:p>
        </p:txBody>
      </p:sp>
      <p:sp>
        <p:nvSpPr>
          <p:cNvPr id="26" name="Shape 18">
            <a:extLst xmlns:a="http://schemas.openxmlformats.org/drawingml/2006/main">
              <a:ext uri="{FF2B5EF4-FFF2-40B4-BE49-F238E27FC236}">
                <a16:creationId xmlns:a16="http://schemas.microsoft.com/office/drawing/2014/main" id="{C5FE04D3-CED6-450D-B909-3A13C8DE0BDB}"/>
              </a:ext>
            </a:extLst>
          </p:cNvPr>
          <p:cNvSpPr>
            <a:spLocks xmlns:a="http://schemas.openxmlformats.org/drawingml/2006/main" noGrp="1"/>
          </p:cNvSpPr>
          <p:nvPr/>
        </p:nvSpPr>
        <p:spPr>
          <a:xfrm xmlns:a="http://schemas.openxmlformats.org/drawingml/2006/main">
            <a:off x="4297680" y="260604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87" name="Image 6">
            <a:extLst xmlns:a="http://schemas.openxmlformats.org/drawingml/2006/main">
              <a:ext uri="{FF2B5EF4-FFF2-40B4-BE49-F238E27FC236}">
                <a16:creationId xmlns:a16="http://schemas.microsoft.com/office/drawing/2014/main" id="{A952C607-B95D-46E9-9B6C-E4E5E2DA8A53}"/>
              </a:ext>
            </a:extLst>
          </p:cNvPr>
          <p:cNvPicPr>
            <a:picLocks xmlns:a="http://schemas.openxmlformats.org/drawingml/2006/main" noChangeAspect="1"/>
          </p:cNvPicPr>
          <p:nvPr/>
        </p:nvPicPr>
        <p:blipFill>
          <a:blip xmlns:r="http://schemas.openxmlformats.org/officeDocument/2006/relationships" xmlns:a="http://schemas.openxmlformats.org/drawingml/2006/main" r:embed="R30f74e2c41ec4795"/>
          <a:stretch xmlns:a="http://schemas.openxmlformats.org/drawingml/2006/main">
            <a:fillRect l="0" t="0" r="0" b="0"/>
          </a:stretch>
        </p:blipFill>
        <p:spPr>
          <a:xfrm xmlns:a="http://schemas.openxmlformats.org/drawingml/2006/main">
            <a:off x="4434840" y="2743200"/>
            <a:ext cx="411480" cy="411480"/>
          </a:xfrm>
          <a:prstGeom xmlns:a="http://schemas.openxmlformats.org/drawingml/2006/main" prst="rect">
            <a:avLst/>
          </a:prstGeom>
        </p:spPr>
      </p:pic>
      <p:sp>
        <p:nvSpPr>
          <p:cNvPr id="28" name="Text 19">
            <a:extLst xmlns:a="http://schemas.openxmlformats.org/drawingml/2006/main">
              <a:ext uri="{FF2B5EF4-FFF2-40B4-BE49-F238E27FC236}">
                <a16:creationId xmlns:a16="http://schemas.microsoft.com/office/drawing/2014/main" id="{710089FC-20A7-4149-8CAC-8418CE596A18}"/>
              </a:ext>
            </a:extLst>
          </p:cNvPr>
          <p:cNvSpPr>
            <a:spLocks xmlns:a="http://schemas.openxmlformats.org/drawingml/2006/main" noGrp="1"/>
          </p:cNvSpPr>
          <p:nvPr/>
        </p:nvSpPr>
        <p:spPr>
          <a:xfrm xmlns:a="http://schemas.openxmlformats.org/drawingml/2006/main">
            <a:off x="4937760" y="269748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Combine RUN</a:t>
            </a:r>
            <a:endParaRPr sz="1300"/>
          </a:p>
        </p:txBody>
      </p:sp>
      <p:sp>
        <p:nvSpPr>
          <p:cNvPr id="29" name="Text 20">
            <a:extLst xmlns:a="http://schemas.openxmlformats.org/drawingml/2006/main">
              <a:ext uri="{FF2B5EF4-FFF2-40B4-BE49-F238E27FC236}">
                <a16:creationId xmlns:a16="http://schemas.microsoft.com/office/drawing/2014/main" id="{8B08AB48-D18C-479A-BF89-1702BFE4C1C7}"/>
              </a:ext>
            </a:extLst>
          </p:cNvPr>
          <p:cNvSpPr>
            <a:spLocks xmlns:a="http://schemas.openxmlformats.org/drawingml/2006/main" noGrp="1"/>
          </p:cNvSpPr>
          <p:nvPr/>
        </p:nvSpPr>
        <p:spPr>
          <a:xfrm xmlns:a="http://schemas.openxmlformats.org/drawingml/2006/main">
            <a:off x="4434840" y="315468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Gabungkan apt-get update, install, dan cleanup dalam satu RUN.</a:t>
            </a:r>
            <a:endParaRPr sz="1000"/>
          </a:p>
        </p:txBody>
      </p:sp>
      <p:sp>
        <p:nvSpPr>
          <p:cNvPr id="30" name="Shape 21">
            <a:extLst xmlns:a="http://schemas.openxmlformats.org/drawingml/2006/main">
              <a:ext uri="{FF2B5EF4-FFF2-40B4-BE49-F238E27FC236}">
                <a16:creationId xmlns:a16="http://schemas.microsoft.com/office/drawing/2014/main" id="{BE2B2B33-BAFE-4F46-94AE-BEA5A567ABC6}"/>
              </a:ext>
            </a:extLst>
          </p:cNvPr>
          <p:cNvSpPr>
            <a:spLocks xmlns:a="http://schemas.openxmlformats.org/drawingml/2006/main" noGrp="1"/>
          </p:cNvSpPr>
          <p:nvPr/>
        </p:nvSpPr>
        <p:spPr>
          <a:xfrm xmlns:a="http://schemas.openxmlformats.org/drawingml/2006/main">
            <a:off x="8138160" y="260604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91" name="Image 7">
            <a:extLst xmlns:a="http://schemas.openxmlformats.org/drawingml/2006/main">
              <a:ext uri="{FF2B5EF4-FFF2-40B4-BE49-F238E27FC236}">
                <a16:creationId xmlns:a16="http://schemas.microsoft.com/office/drawing/2014/main" id="{74C28195-DFC7-4ECE-A492-CBCB0848217D}"/>
              </a:ext>
            </a:extLst>
          </p:cNvPr>
          <p:cNvPicPr>
            <a:picLocks xmlns:a="http://schemas.openxmlformats.org/drawingml/2006/main" noChangeAspect="1"/>
          </p:cNvPicPr>
          <p:nvPr/>
        </p:nvPicPr>
        <p:blipFill>
          <a:blip xmlns:r="http://schemas.openxmlformats.org/officeDocument/2006/relationships" xmlns:a="http://schemas.openxmlformats.org/drawingml/2006/main" r:embed="R30f74e2c41ec4795"/>
          <a:stretch xmlns:a="http://schemas.openxmlformats.org/drawingml/2006/main">
            <a:fillRect l="0" t="0" r="0" b="0"/>
          </a:stretch>
        </p:blipFill>
        <p:spPr>
          <a:xfrm xmlns:a="http://schemas.openxmlformats.org/drawingml/2006/main">
            <a:off x="8275320" y="2743200"/>
            <a:ext cx="411480" cy="411480"/>
          </a:xfrm>
          <a:prstGeom xmlns:a="http://schemas.openxmlformats.org/drawingml/2006/main" prst="rect">
            <a:avLst/>
          </a:prstGeom>
        </p:spPr>
      </p:pic>
      <p:sp>
        <p:nvSpPr>
          <p:cNvPr id="32" name="Text 22">
            <a:extLst xmlns:a="http://schemas.openxmlformats.org/drawingml/2006/main">
              <a:ext uri="{FF2B5EF4-FFF2-40B4-BE49-F238E27FC236}">
                <a16:creationId xmlns:a16="http://schemas.microsoft.com/office/drawing/2014/main" id="{A923D675-E47D-40FF-B3C1-34B2BB9B9D95}"/>
              </a:ext>
            </a:extLst>
          </p:cNvPr>
          <p:cNvSpPr>
            <a:spLocks xmlns:a="http://schemas.openxmlformats.org/drawingml/2006/main" noGrp="1"/>
          </p:cNvSpPr>
          <p:nvPr/>
        </p:nvSpPr>
        <p:spPr>
          <a:xfrm xmlns:a="http://schemas.openxmlformats.org/drawingml/2006/main">
            <a:off x="8778240" y="269748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.dockerignore</a:t>
            </a:r>
            <a:endParaRPr sz="1300"/>
          </a:p>
        </p:txBody>
      </p:sp>
      <p:sp>
        <p:nvSpPr>
          <p:cNvPr id="33" name="Text 23">
            <a:extLst xmlns:a="http://schemas.openxmlformats.org/drawingml/2006/main">
              <a:ext uri="{FF2B5EF4-FFF2-40B4-BE49-F238E27FC236}">
                <a16:creationId xmlns:a16="http://schemas.microsoft.com/office/drawing/2014/main" id="{6EFB50F7-695B-4865-8624-BADAC2AFA869}"/>
              </a:ext>
            </a:extLst>
          </p:cNvPr>
          <p:cNvSpPr>
            <a:spLocks xmlns:a="http://schemas.openxmlformats.org/drawingml/2006/main" noGrp="1"/>
          </p:cNvSpPr>
          <p:nvPr/>
        </p:nvSpPr>
        <p:spPr>
          <a:xfrm xmlns:a="http://schemas.openxmlformats.org/drawingml/2006/main">
            <a:off x="8275320" y="315468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Exclude node_modules, .git, .env, build artifacts.</a:t>
            </a:r>
            <a:endParaRPr sz="1000"/>
          </a:p>
        </p:txBody>
      </p:sp>
      <p:sp>
        <p:nvSpPr>
          <p:cNvPr id="34" name="Shape 24">
            <a:extLst xmlns:a="http://schemas.openxmlformats.org/drawingml/2006/main">
              <a:ext uri="{FF2B5EF4-FFF2-40B4-BE49-F238E27FC236}">
                <a16:creationId xmlns:a16="http://schemas.microsoft.com/office/drawing/2014/main" id="{A82CE825-419F-49C5-BD3B-18227D281516}"/>
              </a:ext>
            </a:extLst>
          </p:cNvPr>
          <p:cNvSpPr>
            <a:spLocks xmlns:a="http://schemas.openxmlformats.org/drawingml/2006/main" noGrp="1"/>
          </p:cNvSpPr>
          <p:nvPr/>
        </p:nvSpPr>
        <p:spPr>
          <a:xfrm xmlns:a="http://schemas.openxmlformats.org/drawingml/2006/main">
            <a:off x="457200" y="379476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95" name="Image 8">
            <a:extLst xmlns:a="http://schemas.openxmlformats.org/drawingml/2006/main">
              <a:ext uri="{FF2B5EF4-FFF2-40B4-BE49-F238E27FC236}">
                <a16:creationId xmlns:a16="http://schemas.microsoft.com/office/drawing/2014/main" id="{B2853C1A-C536-4181-AC3F-06F4D1DD2A00}"/>
              </a:ext>
            </a:extLst>
          </p:cNvPr>
          <p:cNvPicPr>
            <a:picLocks xmlns:a="http://schemas.openxmlformats.org/drawingml/2006/main" noChangeAspect="1"/>
          </p:cNvPicPr>
          <p:nvPr/>
        </p:nvPicPr>
        <p:blipFill>
          <a:blip xmlns:r="http://schemas.openxmlformats.org/officeDocument/2006/relationships" xmlns:a="http://schemas.openxmlformats.org/drawingml/2006/main" r:embed="R30f74e2c41ec4795"/>
          <a:stretch xmlns:a="http://schemas.openxmlformats.org/drawingml/2006/main">
            <a:fillRect l="0" t="0" r="0" b="0"/>
          </a:stretch>
        </p:blipFill>
        <p:spPr>
          <a:xfrm xmlns:a="http://schemas.openxmlformats.org/drawingml/2006/main">
            <a:off x="594360" y="3931920"/>
            <a:ext cx="411480" cy="411480"/>
          </a:xfrm>
          <a:prstGeom xmlns:a="http://schemas.openxmlformats.org/drawingml/2006/main" prst="rect">
            <a:avLst/>
          </a:prstGeom>
        </p:spPr>
      </p:pic>
      <p:sp>
        <p:nvSpPr>
          <p:cNvPr id="36" name="Text 25">
            <a:extLst xmlns:a="http://schemas.openxmlformats.org/drawingml/2006/main">
              <a:ext uri="{FF2B5EF4-FFF2-40B4-BE49-F238E27FC236}">
                <a16:creationId xmlns:a16="http://schemas.microsoft.com/office/drawing/2014/main" id="{43928BDC-8BBB-4701-A36C-828CD05D1C96}"/>
              </a:ext>
            </a:extLst>
          </p:cNvPr>
          <p:cNvSpPr>
            <a:spLocks xmlns:a="http://schemas.openxmlformats.org/drawingml/2006/main" noGrp="1"/>
          </p:cNvSpPr>
          <p:nvPr/>
        </p:nvSpPr>
        <p:spPr>
          <a:xfrm xmlns:a="http://schemas.openxmlformats.org/drawingml/2006/main">
            <a:off x="1097280" y="388620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Non-root USER</a:t>
            </a:r>
            <a:endParaRPr sz="1300"/>
          </a:p>
        </p:txBody>
      </p:sp>
      <p:sp>
        <p:nvSpPr>
          <p:cNvPr id="37" name="Text 26">
            <a:extLst xmlns:a="http://schemas.openxmlformats.org/drawingml/2006/main">
              <a:ext uri="{FF2B5EF4-FFF2-40B4-BE49-F238E27FC236}">
                <a16:creationId xmlns:a16="http://schemas.microsoft.com/office/drawing/2014/main" id="{5DFD171D-0A3B-4DE9-A728-32CC01CBC07C}"/>
              </a:ext>
            </a:extLst>
          </p:cNvPr>
          <p:cNvSpPr>
            <a:spLocks xmlns:a="http://schemas.openxmlformats.org/drawingml/2006/main" noGrp="1"/>
          </p:cNvSpPr>
          <p:nvPr/>
        </p:nvSpPr>
        <p:spPr>
          <a:xfrm xmlns:a="http://schemas.openxmlformats.org/drawingml/2006/main">
            <a:off x="594360" y="434340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USER node atau USER appuser. Tidak run sebagai root.</a:t>
            </a:r>
            <a:endParaRPr sz="1000"/>
          </a:p>
        </p:txBody>
      </p:sp>
      <p:sp>
        <p:nvSpPr>
          <p:cNvPr id="38" name="Shape 27">
            <a:extLst xmlns:a="http://schemas.openxmlformats.org/drawingml/2006/main">
              <a:ext uri="{FF2B5EF4-FFF2-40B4-BE49-F238E27FC236}">
                <a16:creationId xmlns:a16="http://schemas.microsoft.com/office/drawing/2014/main" id="{3F0117AE-CB4C-42DE-87E2-CD3AAD7E7CEE}"/>
              </a:ext>
            </a:extLst>
          </p:cNvPr>
          <p:cNvSpPr>
            <a:spLocks xmlns:a="http://schemas.openxmlformats.org/drawingml/2006/main" noGrp="1"/>
          </p:cNvSpPr>
          <p:nvPr/>
        </p:nvSpPr>
        <p:spPr>
          <a:xfrm xmlns:a="http://schemas.openxmlformats.org/drawingml/2006/main">
            <a:off x="4297680" y="379476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99" name="Image 9">
            <a:extLst xmlns:a="http://schemas.openxmlformats.org/drawingml/2006/main">
              <a:ext uri="{FF2B5EF4-FFF2-40B4-BE49-F238E27FC236}">
                <a16:creationId xmlns:a16="http://schemas.microsoft.com/office/drawing/2014/main" id="{EDC828FA-37F6-45F2-83F6-2600503EFAF4}"/>
              </a:ext>
            </a:extLst>
          </p:cNvPr>
          <p:cNvPicPr>
            <a:picLocks xmlns:a="http://schemas.openxmlformats.org/drawingml/2006/main" noChangeAspect="1"/>
          </p:cNvPicPr>
          <p:nvPr/>
        </p:nvPicPr>
        <p:blipFill>
          <a:blip xmlns:r="http://schemas.openxmlformats.org/officeDocument/2006/relationships" xmlns:a="http://schemas.openxmlformats.org/drawingml/2006/main" r:embed="R30f74e2c41ec4795"/>
          <a:stretch xmlns:a="http://schemas.openxmlformats.org/drawingml/2006/main">
            <a:fillRect l="0" t="0" r="0" b="0"/>
          </a:stretch>
        </p:blipFill>
        <p:spPr>
          <a:xfrm xmlns:a="http://schemas.openxmlformats.org/drawingml/2006/main">
            <a:off x="4434840" y="3931920"/>
            <a:ext cx="411480" cy="411480"/>
          </a:xfrm>
          <a:prstGeom xmlns:a="http://schemas.openxmlformats.org/drawingml/2006/main" prst="rect">
            <a:avLst/>
          </a:prstGeom>
        </p:spPr>
      </p:pic>
      <p:sp>
        <p:nvSpPr>
          <p:cNvPr id="40" name="Text 28">
            <a:extLst xmlns:a="http://schemas.openxmlformats.org/drawingml/2006/main">
              <a:ext uri="{FF2B5EF4-FFF2-40B4-BE49-F238E27FC236}">
                <a16:creationId xmlns:a16="http://schemas.microsoft.com/office/drawing/2014/main" id="{64C66E12-3503-4A61-8D68-EB7FEC3151BE}"/>
              </a:ext>
            </a:extLst>
          </p:cNvPr>
          <p:cNvSpPr>
            <a:spLocks xmlns:a="http://schemas.openxmlformats.org/drawingml/2006/main" noGrp="1"/>
          </p:cNvSpPr>
          <p:nvPr/>
        </p:nvSpPr>
        <p:spPr>
          <a:xfrm xmlns:a="http://schemas.openxmlformats.org/drawingml/2006/main">
            <a:off x="4937760" y="388620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No Secrets in Image</a:t>
            </a:r>
            <a:endParaRPr sz="1300"/>
          </a:p>
        </p:txBody>
      </p:sp>
      <p:sp>
        <p:nvSpPr>
          <p:cNvPr id="41" name="Text 29">
            <a:extLst xmlns:a="http://schemas.openxmlformats.org/drawingml/2006/main">
              <a:ext uri="{FF2B5EF4-FFF2-40B4-BE49-F238E27FC236}">
                <a16:creationId xmlns:a16="http://schemas.microsoft.com/office/drawing/2014/main" id="{1760B321-BB54-48F3-A9E6-8F919D94F6A2}"/>
              </a:ext>
            </a:extLst>
          </p:cNvPr>
          <p:cNvSpPr>
            <a:spLocks xmlns:a="http://schemas.openxmlformats.org/drawingml/2006/main" noGrp="1"/>
          </p:cNvSpPr>
          <p:nvPr/>
        </p:nvSpPr>
        <p:spPr>
          <a:xfrm xmlns:a="http://schemas.openxmlformats.org/drawingml/2006/main">
            <a:off x="4434840" y="434340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Build: BuildKit secret mount. Runtime: secret file/manager sesuai kebutuhan.</a:t>
            </a:r>
            <a:endParaRPr sz="1000"/>
          </a:p>
        </p:txBody>
      </p:sp>
      <p:sp>
        <p:nvSpPr>
          <p:cNvPr id="42" name="Shape 30">
            <a:extLst xmlns:a="http://schemas.openxmlformats.org/drawingml/2006/main">
              <a:ext uri="{FF2B5EF4-FFF2-40B4-BE49-F238E27FC236}">
                <a16:creationId xmlns:a16="http://schemas.microsoft.com/office/drawing/2014/main" id="{DD42BFC5-8B7E-45F6-8C51-99598BC78932}"/>
              </a:ext>
            </a:extLst>
          </p:cNvPr>
          <p:cNvSpPr>
            <a:spLocks xmlns:a="http://schemas.openxmlformats.org/drawingml/2006/main" noGrp="1"/>
          </p:cNvSpPr>
          <p:nvPr/>
        </p:nvSpPr>
        <p:spPr>
          <a:xfrm xmlns:a="http://schemas.openxmlformats.org/drawingml/2006/main">
            <a:off x="8138160" y="379476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103" name="Image 10">
            <a:extLst xmlns:a="http://schemas.openxmlformats.org/drawingml/2006/main">
              <a:ext uri="{FF2B5EF4-FFF2-40B4-BE49-F238E27FC236}">
                <a16:creationId xmlns:a16="http://schemas.microsoft.com/office/drawing/2014/main" id="{3F6DBAF4-DB7D-4A65-A279-4C8E9BEAB4B4}"/>
              </a:ext>
            </a:extLst>
          </p:cNvPr>
          <p:cNvPicPr>
            <a:picLocks xmlns:a="http://schemas.openxmlformats.org/drawingml/2006/main" noChangeAspect="1"/>
          </p:cNvPicPr>
          <p:nvPr/>
        </p:nvPicPr>
        <p:blipFill>
          <a:blip xmlns:r="http://schemas.openxmlformats.org/officeDocument/2006/relationships" xmlns:a="http://schemas.openxmlformats.org/drawingml/2006/main" r:embed="R30f74e2c41ec4795"/>
          <a:stretch xmlns:a="http://schemas.openxmlformats.org/drawingml/2006/main">
            <a:fillRect l="0" t="0" r="0" b="0"/>
          </a:stretch>
        </p:blipFill>
        <p:spPr>
          <a:xfrm xmlns:a="http://schemas.openxmlformats.org/drawingml/2006/main">
            <a:off x="8275320" y="3931920"/>
            <a:ext cx="411480" cy="411480"/>
          </a:xfrm>
          <a:prstGeom xmlns:a="http://schemas.openxmlformats.org/drawingml/2006/main" prst="rect">
            <a:avLst/>
          </a:prstGeom>
        </p:spPr>
      </p:pic>
      <p:sp>
        <p:nvSpPr>
          <p:cNvPr id="44" name="Text 31">
            <a:extLst xmlns:a="http://schemas.openxmlformats.org/drawingml/2006/main">
              <a:ext uri="{FF2B5EF4-FFF2-40B4-BE49-F238E27FC236}">
                <a16:creationId xmlns:a16="http://schemas.microsoft.com/office/drawing/2014/main" id="{9709C649-5708-45A3-95BC-D3D3EB22CB3B}"/>
              </a:ext>
            </a:extLst>
          </p:cNvPr>
          <p:cNvSpPr>
            <a:spLocks xmlns:a="http://schemas.openxmlformats.org/drawingml/2006/main" noGrp="1"/>
          </p:cNvSpPr>
          <p:nvPr/>
        </p:nvSpPr>
        <p:spPr>
          <a:xfrm xmlns:a="http://schemas.openxmlformats.org/drawingml/2006/main">
            <a:off x="8778240" y="388620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HEALTHCHECK</a:t>
            </a:r>
            <a:endParaRPr sz="1300"/>
          </a:p>
        </p:txBody>
      </p:sp>
      <p:sp>
        <p:nvSpPr>
          <p:cNvPr id="45" name="Text 32">
            <a:extLst xmlns:a="http://schemas.openxmlformats.org/drawingml/2006/main">
              <a:ext uri="{FF2B5EF4-FFF2-40B4-BE49-F238E27FC236}">
                <a16:creationId xmlns:a16="http://schemas.microsoft.com/office/drawing/2014/main" id="{89822081-8E24-4965-B7B3-E066441F5650}"/>
              </a:ext>
            </a:extLst>
          </p:cNvPr>
          <p:cNvSpPr>
            <a:spLocks xmlns:a="http://schemas.openxmlformats.org/drawingml/2006/main" noGrp="1"/>
          </p:cNvSpPr>
          <p:nvPr/>
        </p:nvSpPr>
        <p:spPr>
          <a:xfrm xmlns:a="http://schemas.openxmlformats.org/drawingml/2006/main">
            <a:off x="8275320" y="434340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Probe status aplikasi. Unhealthy tidak otomatis memicu restart Docker standalone.</a:t>
            </a:r>
            <a:endParaRPr sz="1000"/>
          </a:p>
        </p:txBody>
      </p:sp>
      <p:sp>
        <p:nvSpPr>
          <p:cNvPr id="46" name="Shape 33">
            <a:extLst xmlns:a="http://schemas.openxmlformats.org/drawingml/2006/main">
              <a:ext uri="{FF2B5EF4-FFF2-40B4-BE49-F238E27FC236}">
                <a16:creationId xmlns:a16="http://schemas.microsoft.com/office/drawing/2014/main" id="{0CCA5D85-BCEC-4CEA-8146-C6B9980ED16F}"/>
              </a:ext>
            </a:extLst>
          </p:cNvPr>
          <p:cNvSpPr>
            <a:spLocks xmlns:a="http://schemas.openxmlformats.org/drawingml/2006/main" noGrp="1"/>
          </p:cNvSpPr>
          <p:nvPr/>
        </p:nvSpPr>
        <p:spPr>
          <a:xfrm xmlns:a="http://schemas.openxmlformats.org/drawingml/2006/main">
            <a:off x="457200" y="498348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107" name="Image 11">
            <a:extLst xmlns:a="http://schemas.openxmlformats.org/drawingml/2006/main">
              <a:ext uri="{FF2B5EF4-FFF2-40B4-BE49-F238E27FC236}">
                <a16:creationId xmlns:a16="http://schemas.microsoft.com/office/drawing/2014/main" id="{6E87332A-2DA3-461A-A356-B6F7DB275E83}"/>
              </a:ext>
            </a:extLst>
          </p:cNvPr>
          <p:cNvPicPr>
            <a:picLocks xmlns:a="http://schemas.openxmlformats.org/drawingml/2006/main" noChangeAspect="1"/>
          </p:cNvPicPr>
          <p:nvPr/>
        </p:nvPicPr>
        <p:blipFill>
          <a:blip xmlns:r="http://schemas.openxmlformats.org/officeDocument/2006/relationships" xmlns:a="http://schemas.openxmlformats.org/drawingml/2006/main" r:embed="R30f74e2c41ec4795"/>
          <a:stretch xmlns:a="http://schemas.openxmlformats.org/drawingml/2006/main">
            <a:fillRect l="0" t="0" r="0" b="0"/>
          </a:stretch>
        </p:blipFill>
        <p:spPr>
          <a:xfrm xmlns:a="http://schemas.openxmlformats.org/drawingml/2006/main">
            <a:off x="594360" y="5120640"/>
            <a:ext cx="411480" cy="411480"/>
          </a:xfrm>
          <a:prstGeom xmlns:a="http://schemas.openxmlformats.org/drawingml/2006/main" prst="rect">
            <a:avLst/>
          </a:prstGeom>
        </p:spPr>
      </p:pic>
      <p:sp>
        <p:nvSpPr>
          <p:cNvPr id="48" name="Text 34">
            <a:extLst xmlns:a="http://schemas.openxmlformats.org/drawingml/2006/main">
              <a:ext uri="{FF2B5EF4-FFF2-40B4-BE49-F238E27FC236}">
                <a16:creationId xmlns:a16="http://schemas.microsoft.com/office/drawing/2014/main" id="{9152379C-D56B-40E5-ACCA-7D9ECF72F9D9}"/>
              </a:ext>
            </a:extLst>
          </p:cNvPr>
          <p:cNvSpPr>
            <a:spLocks xmlns:a="http://schemas.openxmlformats.org/drawingml/2006/main" noGrp="1"/>
          </p:cNvSpPr>
          <p:nvPr/>
        </p:nvSpPr>
        <p:spPr>
          <a:xfrm xmlns:a="http://schemas.openxmlformats.org/drawingml/2006/main">
            <a:off x="1097280" y="507492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Scan dengan Trivy</a:t>
            </a:r>
            <a:endParaRPr sz="1300"/>
          </a:p>
        </p:txBody>
      </p:sp>
      <p:sp>
        <p:nvSpPr>
          <p:cNvPr id="49" name="Text 35">
            <a:extLst xmlns:a="http://schemas.openxmlformats.org/drawingml/2006/main">
              <a:ext uri="{FF2B5EF4-FFF2-40B4-BE49-F238E27FC236}">
                <a16:creationId xmlns:a16="http://schemas.microsoft.com/office/drawing/2014/main" id="{582D96C6-A8B1-4A12-B87D-D238BA320072}"/>
              </a:ext>
            </a:extLst>
          </p:cNvPr>
          <p:cNvSpPr>
            <a:spLocks xmlns:a="http://schemas.openxmlformats.org/drawingml/2006/main" noGrp="1"/>
          </p:cNvSpPr>
          <p:nvPr/>
        </p:nvSpPr>
        <p:spPr>
          <a:xfrm xmlns:a="http://schemas.openxmlformats.org/drawingml/2006/main">
            <a:off x="594360" y="553212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Cek CVE di base image sebelum push ke registry.</a:t>
            </a:r>
            <a:endParaRPr sz="1000"/>
          </a:p>
        </p:txBody>
      </p:sp>
    </p:spTree>
    <p:extLst>
      <p:ext uri="{BB962C8B-B14F-4D97-AF65-F5344CB8AC3E}">
        <p14:creationId xmlns:p14="http://schemas.microsoft.com/office/powerpoint/2010/main" val="118818525"/>
      </p:ext>
    </p:extLst>
  </p:cSld>
</p:sld>
</file>

<file path=ppt/slides/slide28.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EAE37C71-E4CB-4FD0-B25A-E0D96589D98D}"/>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15A78C53-D5A3-4E7D-AB3C-90298E5200BD}"/>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AA1040BF-E47A-4C40-92D5-6A9B8D841EF7}"/>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881B233F-D971-4A6A-8092-370A6AF3489E}"/>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6B8C5EC5-266E-4201-8000-AA3A43BEF8E0}"/>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087148B9-9DD6-4C60-B187-F4373A759EA7}"/>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25EFB563-BE18-4A3A-BEA0-638747DBD3E9}"/>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a:extLst xmlns:a="http://schemas.openxmlformats.org/drawingml/2006/main">
              <a:ext uri="{FF2B5EF4-FFF2-40B4-BE49-F238E27FC236}">
                <a16:creationId xmlns:a16="http://schemas.microsoft.com/office/drawing/2014/main" id="{F06A65CA-A32C-4B6A-9DDD-33653A616233}"/>
              </a:ext>
            </a:extLst>
          </p:cNvPr>
          <p:cNvPicPr>
            <a:picLocks xmlns:a="http://schemas.openxmlformats.org/drawingml/2006/main" noChangeAspect="1"/>
          </p:cNvPicPr>
          <p:nvPr/>
        </p:nvPicPr>
        <p:blipFill>
          <a:blip xmlns:r="http://schemas.openxmlformats.org/officeDocument/2006/relationships" xmlns:a="http://schemas.openxmlformats.org/drawingml/2006/main" r:embed="Rdae619aa48e64ff4"/>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a:extLst xmlns:a="http://schemas.openxmlformats.org/drawingml/2006/main">
              <a:ext uri="{FF2B5EF4-FFF2-40B4-BE49-F238E27FC236}">
                <a16:creationId xmlns:a16="http://schemas.microsoft.com/office/drawing/2014/main" id="{B6C6BF12-0218-40AB-AB5C-49E0691DAB1D}"/>
              </a:ext>
            </a:extLst>
          </p:cNvPr>
          <p:cNvPicPr>
            <a:picLocks xmlns:a="http://schemas.openxmlformats.org/drawingml/2006/main" noChangeAspect="1"/>
          </p:cNvPicPr>
          <p:nvPr/>
        </p:nvPicPr>
        <p:blipFill>
          <a:blip xmlns:r="http://schemas.openxmlformats.org/officeDocument/2006/relationships" xmlns:a="http://schemas.openxmlformats.org/drawingml/2006/main" r:embed="R7bf761cfa400433d"/>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325AF763-037F-4619-8C7F-E96CF075BF35}"/>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05</a:t>
            </a:r>
            <a:endParaRPr sz="1600"/>
          </a:p>
        </p:txBody>
      </p:sp>
      <p:sp>
        <p:nvSpPr>
          <p:cNvPr id="12" name="Text 8">
            <a:extLst xmlns:a="http://schemas.openxmlformats.org/drawingml/2006/main">
              <a:ext uri="{FF2B5EF4-FFF2-40B4-BE49-F238E27FC236}">
                <a16:creationId xmlns:a16="http://schemas.microsoft.com/office/drawing/2014/main" id="{0E8569E5-6BBC-4FE5-8BD7-F28C54C5B1F8}"/>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Tagging</a:t>
            </a:r>
            <a:endParaRPr sz="5200"/>
          </a:p>
          <a:p xmlns:a="http://schemas.openxmlformats.org/drawingml/2006/main">
            <a:pPr marL="0" indent="0" algn="ctr">
              <a:buNone/>
            </a:pPr>
            <a:r>
              <a:rPr sz="5200" b="1">
                <a:solidFill>
                  <a:srgbClr val="FFFFFF"/>
                </a:solidFill>
                <a:latin typeface="Calibri"/>
                <a:ea typeface="Calibri"/>
                <a:cs typeface="Calibri"/>
              </a:rPr>
              <a:t>&amp; Registry</a:t>
            </a:r>
            <a:endParaRPr sz="5200"/>
          </a:p>
        </p:txBody>
      </p:sp>
      <p:sp>
        <p:nvSpPr>
          <p:cNvPr id="13" name="Shape 9">
            <a:extLst xmlns:a="http://schemas.openxmlformats.org/drawingml/2006/main">
              <a:ext uri="{FF2B5EF4-FFF2-40B4-BE49-F238E27FC236}">
                <a16:creationId xmlns:a16="http://schemas.microsoft.com/office/drawing/2014/main" id="{3DEB683E-E87B-4128-83D1-BACFC7A11D42}"/>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0E35345A-68AC-4650-A0DE-F25736FE9C54}"/>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Bagaimana nama image, dan publish ke registry untuk di-share.</a:t>
            </a:r>
            <a:endParaRPr sz="1400"/>
          </a:p>
        </p:txBody>
      </p:sp>
      <p:sp>
        <p:nvSpPr>
          <p:cNvPr id="26" name="text_11">
            <a:extLst xmlns:a="http://schemas.openxmlformats.org/drawingml/2006/main">
              <a:ext uri="{FF2B5EF4-FFF2-40B4-BE49-F238E27FC236}">
                <a16:creationId xmlns:a16="http://schemas.microsoft.com/office/drawing/2014/main" id="{5F9C80F5-7537-4889-A03B-3160971582D9}"/>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28</a:t>
            </a:r>
          </a:p>
        </p:txBody>
      </p:sp>
    </p:spTree>
    <p:extLst>
      <p:ext uri="{BB962C8B-B14F-4D97-AF65-F5344CB8AC3E}">
        <p14:creationId xmlns:p14="http://schemas.microsoft.com/office/powerpoint/2010/main" val="91016283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9AC44F1-96D7-4C90-8828-821755B9437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8BB3D4F0-251F-4B7B-B1EF-CF8F9E40718F}"/>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29</a:t>
            </a:r>
            <a:endParaRPr sz="900"/>
          </a:p>
        </p:txBody>
      </p:sp>
      <p:sp>
        <p:nvSpPr>
          <p:cNvPr id="4" name="Shape 2">
            <a:extLst xmlns:a="http://schemas.openxmlformats.org/drawingml/2006/main">
              <a:ext uri="{FF2B5EF4-FFF2-40B4-BE49-F238E27FC236}">
                <a16:creationId xmlns:a16="http://schemas.microsoft.com/office/drawing/2014/main" id="{F36348B9-05BB-4A7B-99AF-0B70588C4406}"/>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6" name="Image 0">
            <a:extLst xmlns:a="http://schemas.openxmlformats.org/drawingml/2006/main">
              <a:ext uri="{FF2B5EF4-FFF2-40B4-BE49-F238E27FC236}">
                <a16:creationId xmlns:a16="http://schemas.microsoft.com/office/drawing/2014/main" id="{2C44D3C4-4633-4EA6-AED1-CF8C82AD9471}"/>
              </a:ext>
            </a:extLst>
          </p:cNvPr>
          <p:cNvPicPr>
            <a:picLocks xmlns:a="http://schemas.openxmlformats.org/drawingml/2006/main" noChangeAspect="1"/>
          </p:cNvPicPr>
          <p:nvPr/>
        </p:nvPicPr>
        <p:blipFill>
          <a:blip xmlns:r="http://schemas.openxmlformats.org/officeDocument/2006/relationships" xmlns:a="http://schemas.openxmlformats.org/drawingml/2006/main" r:embed="R9b1a07468fc3456d"/>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7" name="Image 1">
            <a:extLst xmlns:a="http://schemas.openxmlformats.org/drawingml/2006/main">
              <a:ext uri="{FF2B5EF4-FFF2-40B4-BE49-F238E27FC236}">
                <a16:creationId xmlns:a16="http://schemas.microsoft.com/office/drawing/2014/main" id="{62A6238C-BEA8-4302-AAF2-E47D6598A9C5}"/>
              </a:ext>
            </a:extLst>
          </p:cNvPr>
          <p:cNvPicPr>
            <a:picLocks xmlns:a="http://schemas.openxmlformats.org/drawingml/2006/main" noChangeAspect="1"/>
          </p:cNvPicPr>
          <p:nvPr/>
        </p:nvPicPr>
        <p:blipFill>
          <a:blip xmlns:r="http://schemas.openxmlformats.org/officeDocument/2006/relationships" xmlns:a="http://schemas.openxmlformats.org/drawingml/2006/main" r:embed="R0d702c1ae0574b44"/>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B60D091C-5612-4A7D-A390-DF840753EC2F}"/>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75C469E3-3CF8-4EF3-B73C-9929039BE5F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Image Tagging Strategy</a:t>
            </a:r>
            <a:endParaRPr sz="2200"/>
          </a:p>
        </p:txBody>
      </p:sp>
      <p:sp>
        <p:nvSpPr>
          <p:cNvPr id="9" name="Text 5">
            <a:extLst xmlns:a="http://schemas.openxmlformats.org/drawingml/2006/main">
              <a:ext uri="{FF2B5EF4-FFF2-40B4-BE49-F238E27FC236}">
                <a16:creationId xmlns:a16="http://schemas.microsoft.com/office/drawing/2014/main" id="{1CDE60DA-AA33-44D5-A68F-17FA41B1627B}"/>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Nama image yang baik = mudah deploy, mudah rollback</a:t>
            </a:r>
            <a:endParaRPr sz="1200"/>
          </a:p>
        </p:txBody>
      </p:sp>
      <p:sp>
        <p:nvSpPr>
          <p:cNvPr id="10" name="Shape 6">
            <a:extLst xmlns:a="http://schemas.openxmlformats.org/drawingml/2006/main">
              <a:ext uri="{FF2B5EF4-FFF2-40B4-BE49-F238E27FC236}">
                <a16:creationId xmlns:a16="http://schemas.microsoft.com/office/drawing/2014/main" id="{DDED4CFF-2B0F-4BF4-AA7F-9A0DBF007F49}"/>
              </a:ext>
            </a:extLst>
          </p:cNvPr>
          <p:cNvSpPr>
            <a:spLocks xmlns:a="http://schemas.openxmlformats.org/drawingml/2006/main" noGrp="1"/>
          </p:cNvSpPr>
          <p:nvPr/>
        </p:nvSpPr>
        <p:spPr>
          <a:xfrm xmlns:a="http://schemas.openxmlformats.org/drawingml/2006/main">
            <a:off x="457200" y="1417320"/>
            <a:ext cx="11247120" cy="8686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1" name="Text 7">
            <a:extLst xmlns:a="http://schemas.openxmlformats.org/drawingml/2006/main">
              <a:ext uri="{FF2B5EF4-FFF2-40B4-BE49-F238E27FC236}">
                <a16:creationId xmlns:a16="http://schemas.microsoft.com/office/drawing/2014/main" id="{71195EBD-D4B4-4D2D-B80B-067F872A1851}"/>
              </a:ext>
            </a:extLst>
          </p:cNvPr>
          <p:cNvSpPr>
            <a:spLocks xmlns:a="http://schemas.openxmlformats.org/drawingml/2006/main" noGrp="1"/>
          </p:cNvSpPr>
          <p:nvPr/>
        </p:nvSpPr>
        <p:spPr>
          <a:xfrm xmlns:a="http://schemas.openxmlformats.org/drawingml/2006/main">
            <a:off x="685800" y="1508760"/>
            <a:ext cx="107899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37021"/>
                </a:solidFill>
                <a:latin typeface="Calibri"/>
                <a:ea typeface="Calibri"/>
                <a:cs typeface="Calibri"/>
              </a:rPr>
              <a:t>Format: </a:t>
            </a:r>
            <a:r>
              <a:rPr sz="1300" b="1">
                <a:solidFill>
                  <a:srgbClr val="FFFFFF"/>
                </a:solidFill>
                <a:latin typeface="Consolas"/>
                <a:ea typeface="Consolas"/>
                <a:cs typeface="Consolas"/>
              </a:rPr>
              <a:t>[registry/]&lt;namespace&gt;/&lt;image&gt;:&lt;tag&gt;</a:t>
            </a:r>
            <a:endParaRPr sz="1300"/>
          </a:p>
          <a:p xmlns:a="http://schemas.openxmlformats.org/drawingml/2006/main">
            <a:pPr marL="0" indent="0">
              <a:buNone/>
            </a:pPr>
            <a:r>
              <a:rPr sz="1100" i="1">
                <a:solidFill>
                  <a:srgbClr val="F37021"/>
                </a:solidFill>
                <a:latin typeface="Calibri"/>
                <a:ea typeface="Calibri"/>
                <a:cs typeface="Calibri"/>
              </a:rPr>
              <a:t>Contoh: </a:t>
            </a:r>
            <a:r>
              <a:rPr sz="1100">
                <a:solidFill>
                  <a:srgbClr val="FFE0B2"/>
                </a:solidFill>
                <a:latin typeface="Consolas"/>
                <a:ea typeface="Consolas"/>
                <a:cs typeface="Consolas"/>
              </a:rPr>
              <a:t>ghcr.io/seedflora/myapp:1.2.0</a:t>
            </a:r>
            <a:endParaRPr sz="1300"/>
          </a:p>
        </p:txBody>
      </p:sp>
      <p:sp>
        <p:nvSpPr>
          <p:cNvPr id="12" name="Shape 8">
            <a:extLst xmlns:a="http://schemas.openxmlformats.org/drawingml/2006/main">
              <a:ext uri="{FF2B5EF4-FFF2-40B4-BE49-F238E27FC236}">
                <a16:creationId xmlns:a16="http://schemas.microsoft.com/office/drawing/2014/main" id="{17DB769F-CADC-45BF-862D-FAC9B9EBF147}"/>
              </a:ext>
            </a:extLst>
          </p:cNvPr>
          <p:cNvSpPr>
            <a:spLocks xmlns:a="http://schemas.openxmlformats.org/drawingml/2006/main" noGrp="1"/>
          </p:cNvSpPr>
          <p:nvPr/>
        </p:nvSpPr>
        <p:spPr>
          <a:xfrm xmlns:a="http://schemas.openxmlformats.org/drawingml/2006/main">
            <a:off x="457200" y="2468880"/>
            <a:ext cx="5577840" cy="16916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3" name="Shape 9">
            <a:extLst xmlns:a="http://schemas.openxmlformats.org/drawingml/2006/main">
              <a:ext uri="{FF2B5EF4-FFF2-40B4-BE49-F238E27FC236}">
                <a16:creationId xmlns:a16="http://schemas.microsoft.com/office/drawing/2014/main" id="{56B69B0B-6910-4A1E-8614-1097A8DC6C7A}"/>
              </a:ext>
            </a:extLst>
          </p:cNvPr>
          <p:cNvSpPr>
            <a:spLocks xmlns:a="http://schemas.openxmlformats.org/drawingml/2006/main" noGrp="1"/>
          </p:cNvSpPr>
          <p:nvPr/>
        </p:nvSpPr>
        <p:spPr>
          <a:xfrm xmlns:a="http://schemas.openxmlformats.org/drawingml/2006/main">
            <a:off x="457200" y="2468880"/>
            <a:ext cx="5577840" cy="45720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14" name="Text 10">
            <a:extLst xmlns:a="http://schemas.openxmlformats.org/drawingml/2006/main">
              <a:ext uri="{FF2B5EF4-FFF2-40B4-BE49-F238E27FC236}">
                <a16:creationId xmlns:a16="http://schemas.microsoft.com/office/drawing/2014/main" id="{13EF1FC2-F2E2-4547-B4A1-69FFBF3D8771}"/>
              </a:ext>
            </a:extLst>
          </p:cNvPr>
          <p:cNvSpPr>
            <a:spLocks xmlns:a="http://schemas.openxmlformats.org/drawingml/2006/main" noGrp="1"/>
          </p:cNvSpPr>
          <p:nvPr/>
        </p:nvSpPr>
        <p:spPr>
          <a:xfrm xmlns:a="http://schemas.openxmlformats.org/drawingml/2006/main">
            <a:off x="594360" y="2468880"/>
            <a:ext cx="3657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Semantic Version</a:t>
            </a:r>
            <a:endParaRPr sz="1300"/>
          </a:p>
        </p:txBody>
      </p:sp>
      <p:sp>
        <p:nvSpPr>
          <p:cNvPr id="15" name="Text 11">
            <a:extLst xmlns:a="http://schemas.openxmlformats.org/drawingml/2006/main">
              <a:ext uri="{FF2B5EF4-FFF2-40B4-BE49-F238E27FC236}">
                <a16:creationId xmlns:a16="http://schemas.microsoft.com/office/drawing/2014/main" id="{1D80D28D-A666-412C-B29D-556C46493DE7}"/>
              </a:ext>
            </a:extLst>
          </p:cNvPr>
          <p:cNvSpPr>
            <a:spLocks xmlns:a="http://schemas.openxmlformats.org/drawingml/2006/main" noGrp="1"/>
          </p:cNvSpPr>
          <p:nvPr/>
        </p:nvSpPr>
        <p:spPr>
          <a:xfrm xmlns:a="http://schemas.openxmlformats.org/drawingml/2006/main">
            <a:off x="4572000" y="2468880"/>
            <a:ext cx="1371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b="1" i="1">
                <a:solidFill>
                  <a:srgbClr val="FFFFFF"/>
                </a:solidFill>
                <a:latin typeface="Calibri"/>
                <a:ea typeface="Calibri"/>
                <a:cs typeface="Calibri"/>
              </a:rPr>
              <a:t>RECOMMENDED</a:t>
            </a:r>
            <a:endParaRPr sz="1000"/>
          </a:p>
        </p:txBody>
      </p:sp>
      <p:sp>
        <p:nvSpPr>
          <p:cNvPr id="16" name="Shape 12">
            <a:extLst xmlns:a="http://schemas.openxmlformats.org/drawingml/2006/main">
              <a:ext uri="{FF2B5EF4-FFF2-40B4-BE49-F238E27FC236}">
                <a16:creationId xmlns:a16="http://schemas.microsoft.com/office/drawing/2014/main" id="{712F7288-061B-4A80-8E6D-2C799223D960}"/>
              </a:ext>
            </a:extLst>
          </p:cNvPr>
          <p:cNvSpPr>
            <a:spLocks xmlns:a="http://schemas.openxmlformats.org/drawingml/2006/main" noGrp="1"/>
          </p:cNvSpPr>
          <p:nvPr/>
        </p:nvSpPr>
        <p:spPr>
          <a:xfrm xmlns:a="http://schemas.openxmlformats.org/drawingml/2006/main">
            <a:off x="594360" y="3017520"/>
            <a:ext cx="5303520" cy="41148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7" name="Text 13">
            <a:extLst xmlns:a="http://schemas.openxmlformats.org/drawingml/2006/main">
              <a:ext uri="{FF2B5EF4-FFF2-40B4-BE49-F238E27FC236}">
                <a16:creationId xmlns:a16="http://schemas.microsoft.com/office/drawing/2014/main" id="{6411756C-A482-4A0C-B601-E14B5C518DB4}"/>
              </a:ext>
            </a:extLst>
          </p:cNvPr>
          <p:cNvSpPr>
            <a:spLocks xmlns:a="http://schemas.openxmlformats.org/drawingml/2006/main" noGrp="1"/>
          </p:cNvSpPr>
          <p:nvPr/>
        </p:nvSpPr>
        <p:spPr>
          <a:xfrm xmlns:a="http://schemas.openxmlformats.org/drawingml/2006/main">
            <a:off x="685800" y="3017520"/>
            <a:ext cx="51206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0B981"/>
                </a:solidFill>
                <a:latin typeface="Consolas"/>
                <a:ea typeface="Consolas"/>
                <a:cs typeface="Consolas"/>
              </a:rPr>
              <a:t>myapp:1.2.3</a:t>
            </a:r>
            <a:endParaRPr sz="1200"/>
          </a:p>
        </p:txBody>
      </p:sp>
      <p:sp>
        <p:nvSpPr>
          <p:cNvPr id="18" name="Text 14">
            <a:extLst xmlns:a="http://schemas.openxmlformats.org/drawingml/2006/main">
              <a:ext uri="{FF2B5EF4-FFF2-40B4-BE49-F238E27FC236}">
                <a16:creationId xmlns:a16="http://schemas.microsoft.com/office/drawing/2014/main" id="{7FE1494F-DE08-4E0D-B1DD-784C0162B766}"/>
              </a:ext>
            </a:extLst>
          </p:cNvPr>
          <p:cNvSpPr>
            <a:spLocks xmlns:a="http://schemas.openxmlformats.org/drawingml/2006/main" noGrp="1"/>
          </p:cNvSpPr>
          <p:nvPr/>
        </p:nvSpPr>
        <p:spPr>
          <a:xfrm xmlns:a="http://schemas.openxmlformats.org/drawingml/2006/main">
            <a:off x="594360" y="3520440"/>
            <a:ext cx="5303520" cy="594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MAJOR.MINOR.PATCH. Format paling jelas + cocok untuk release.</a:t>
            </a:r>
            <a:endParaRPr sz="1100"/>
          </a:p>
        </p:txBody>
      </p:sp>
      <p:sp>
        <p:nvSpPr>
          <p:cNvPr id="19" name="Shape 15">
            <a:extLst xmlns:a="http://schemas.openxmlformats.org/drawingml/2006/main">
              <a:ext uri="{FF2B5EF4-FFF2-40B4-BE49-F238E27FC236}">
                <a16:creationId xmlns:a16="http://schemas.microsoft.com/office/drawing/2014/main" id="{291B8B10-DED9-4B8D-B1F3-C54E0671D3FF}"/>
              </a:ext>
            </a:extLst>
          </p:cNvPr>
          <p:cNvSpPr>
            <a:spLocks xmlns:a="http://schemas.openxmlformats.org/drawingml/2006/main" noGrp="1"/>
          </p:cNvSpPr>
          <p:nvPr/>
        </p:nvSpPr>
        <p:spPr>
          <a:xfrm xmlns:a="http://schemas.openxmlformats.org/drawingml/2006/main">
            <a:off x="6309360" y="2468880"/>
            <a:ext cx="5577840" cy="16916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0" name="Shape 16">
            <a:extLst xmlns:a="http://schemas.openxmlformats.org/drawingml/2006/main">
              <a:ext uri="{FF2B5EF4-FFF2-40B4-BE49-F238E27FC236}">
                <a16:creationId xmlns:a16="http://schemas.microsoft.com/office/drawing/2014/main" id="{0CCA4C87-6F46-40E5-9CB0-FA4F5C28D3D9}"/>
              </a:ext>
            </a:extLst>
          </p:cNvPr>
          <p:cNvSpPr>
            <a:spLocks xmlns:a="http://schemas.openxmlformats.org/drawingml/2006/main" noGrp="1"/>
          </p:cNvSpPr>
          <p:nvPr/>
        </p:nvSpPr>
        <p:spPr>
          <a:xfrm xmlns:a="http://schemas.openxmlformats.org/drawingml/2006/main">
            <a:off x="6309360" y="2468880"/>
            <a:ext cx="5577840" cy="45720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21" name="Text 17">
            <a:extLst xmlns:a="http://schemas.openxmlformats.org/drawingml/2006/main">
              <a:ext uri="{FF2B5EF4-FFF2-40B4-BE49-F238E27FC236}">
                <a16:creationId xmlns:a16="http://schemas.microsoft.com/office/drawing/2014/main" id="{DFC5AA79-57EF-4D0C-95DA-431603DEBB2C}"/>
              </a:ext>
            </a:extLst>
          </p:cNvPr>
          <p:cNvSpPr>
            <a:spLocks xmlns:a="http://schemas.openxmlformats.org/drawingml/2006/main" noGrp="1"/>
          </p:cNvSpPr>
          <p:nvPr/>
        </p:nvSpPr>
        <p:spPr>
          <a:xfrm xmlns:a="http://schemas.openxmlformats.org/drawingml/2006/main">
            <a:off x="6446520" y="2468880"/>
            <a:ext cx="3657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Git SHA</a:t>
            </a:r>
            <a:endParaRPr sz="1300"/>
          </a:p>
        </p:txBody>
      </p:sp>
      <p:sp>
        <p:nvSpPr>
          <p:cNvPr id="22" name="Text 18">
            <a:extLst xmlns:a="http://schemas.openxmlformats.org/drawingml/2006/main">
              <a:ext uri="{FF2B5EF4-FFF2-40B4-BE49-F238E27FC236}">
                <a16:creationId xmlns:a16="http://schemas.microsoft.com/office/drawing/2014/main" id="{E46851ED-D88F-49D0-BD55-F7F3551457A4}"/>
              </a:ext>
            </a:extLst>
          </p:cNvPr>
          <p:cNvSpPr>
            <a:spLocks xmlns:a="http://schemas.openxmlformats.org/drawingml/2006/main" noGrp="1"/>
          </p:cNvSpPr>
          <p:nvPr/>
        </p:nvSpPr>
        <p:spPr>
          <a:xfrm xmlns:a="http://schemas.openxmlformats.org/drawingml/2006/main">
            <a:off x="10424160" y="2468880"/>
            <a:ext cx="1371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b="1" i="1">
                <a:solidFill>
                  <a:srgbClr val="FFFFFF"/>
                </a:solidFill>
                <a:latin typeface="Calibri"/>
                <a:ea typeface="Calibri"/>
                <a:cs typeface="Calibri"/>
              </a:rPr>
              <a:t>RECOMMENDED</a:t>
            </a:r>
            <a:endParaRPr sz="1000"/>
          </a:p>
        </p:txBody>
      </p:sp>
      <p:sp>
        <p:nvSpPr>
          <p:cNvPr id="23" name="Shape 19">
            <a:extLst xmlns:a="http://schemas.openxmlformats.org/drawingml/2006/main">
              <a:ext uri="{FF2B5EF4-FFF2-40B4-BE49-F238E27FC236}">
                <a16:creationId xmlns:a16="http://schemas.microsoft.com/office/drawing/2014/main" id="{5C9F362A-E5EF-4B7C-B538-D54055AA731E}"/>
              </a:ext>
            </a:extLst>
          </p:cNvPr>
          <p:cNvSpPr>
            <a:spLocks xmlns:a="http://schemas.openxmlformats.org/drawingml/2006/main" noGrp="1"/>
          </p:cNvSpPr>
          <p:nvPr/>
        </p:nvSpPr>
        <p:spPr>
          <a:xfrm xmlns:a="http://schemas.openxmlformats.org/drawingml/2006/main">
            <a:off x="6446520" y="3017520"/>
            <a:ext cx="5303520" cy="41148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4" name="Text 20">
            <a:extLst xmlns:a="http://schemas.openxmlformats.org/drawingml/2006/main">
              <a:ext uri="{FF2B5EF4-FFF2-40B4-BE49-F238E27FC236}">
                <a16:creationId xmlns:a16="http://schemas.microsoft.com/office/drawing/2014/main" id="{A20C170F-F607-417B-ADB4-5A3BA078DB2F}"/>
              </a:ext>
            </a:extLst>
          </p:cNvPr>
          <p:cNvSpPr>
            <a:spLocks xmlns:a="http://schemas.openxmlformats.org/drawingml/2006/main" noGrp="1"/>
          </p:cNvSpPr>
          <p:nvPr/>
        </p:nvSpPr>
        <p:spPr>
          <a:xfrm xmlns:a="http://schemas.openxmlformats.org/drawingml/2006/main">
            <a:off x="6537960" y="3017520"/>
            <a:ext cx="51206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0B981"/>
                </a:solidFill>
                <a:latin typeface="Consolas"/>
                <a:ea typeface="Consolas"/>
                <a:cs typeface="Consolas"/>
              </a:rPr>
              <a:t>myapp:a3f8b1c</a:t>
            </a:r>
            <a:endParaRPr sz="1200"/>
          </a:p>
        </p:txBody>
      </p:sp>
      <p:sp>
        <p:nvSpPr>
          <p:cNvPr id="25" name="Text 21">
            <a:extLst xmlns:a="http://schemas.openxmlformats.org/drawingml/2006/main">
              <a:ext uri="{FF2B5EF4-FFF2-40B4-BE49-F238E27FC236}">
                <a16:creationId xmlns:a16="http://schemas.microsoft.com/office/drawing/2014/main" id="{DAE0B4E6-251C-4504-9F17-02DB84E70C6D}"/>
              </a:ext>
            </a:extLst>
          </p:cNvPr>
          <p:cNvSpPr>
            <a:spLocks xmlns:a="http://schemas.openxmlformats.org/drawingml/2006/main" noGrp="1"/>
          </p:cNvSpPr>
          <p:nvPr/>
        </p:nvSpPr>
        <p:spPr>
          <a:xfrm xmlns:a="http://schemas.openxmlformats.org/drawingml/2006/main">
            <a:off x="6446520" y="3520440"/>
            <a:ext cx="5303520" cy="594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Tag commit memudahkan penelusuran, tetapi tetap dapat ditimpa.</a:t>
            </a:r>
            <a:endParaRPr sz="1100"/>
          </a:p>
        </p:txBody>
      </p:sp>
      <p:sp>
        <p:nvSpPr>
          <p:cNvPr id="26" name="Shape 22">
            <a:extLst xmlns:a="http://schemas.openxmlformats.org/drawingml/2006/main">
              <a:ext uri="{FF2B5EF4-FFF2-40B4-BE49-F238E27FC236}">
                <a16:creationId xmlns:a16="http://schemas.microsoft.com/office/drawing/2014/main" id="{6F28A7C7-4A96-41F7-B6A5-5A1ADDEC9D50}"/>
              </a:ext>
            </a:extLst>
          </p:cNvPr>
          <p:cNvSpPr>
            <a:spLocks xmlns:a="http://schemas.openxmlformats.org/drawingml/2006/main" noGrp="1"/>
          </p:cNvSpPr>
          <p:nvPr/>
        </p:nvSpPr>
        <p:spPr>
          <a:xfrm xmlns:a="http://schemas.openxmlformats.org/drawingml/2006/main">
            <a:off x="457200" y="4297680"/>
            <a:ext cx="5577840" cy="16916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7" name="Shape 23">
            <a:extLst xmlns:a="http://schemas.openxmlformats.org/drawingml/2006/main">
              <a:ext uri="{FF2B5EF4-FFF2-40B4-BE49-F238E27FC236}">
                <a16:creationId xmlns:a16="http://schemas.microsoft.com/office/drawing/2014/main" id="{EE94750D-1836-48EA-B1EB-918EB0B79A07}"/>
              </a:ext>
            </a:extLst>
          </p:cNvPr>
          <p:cNvSpPr>
            <a:spLocks xmlns:a="http://schemas.openxmlformats.org/drawingml/2006/main" noGrp="1"/>
          </p:cNvSpPr>
          <p:nvPr/>
        </p:nvSpPr>
        <p:spPr>
          <a:xfrm xmlns:a="http://schemas.openxmlformats.org/drawingml/2006/main">
            <a:off x="457200" y="4297680"/>
            <a:ext cx="5577840" cy="4572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8" name="Text 24">
            <a:extLst xmlns:a="http://schemas.openxmlformats.org/drawingml/2006/main">
              <a:ext uri="{FF2B5EF4-FFF2-40B4-BE49-F238E27FC236}">
                <a16:creationId xmlns:a16="http://schemas.microsoft.com/office/drawing/2014/main" id="{EFE2E7C2-CECE-4CCB-BDDD-A22B33A3763A}"/>
              </a:ext>
            </a:extLst>
          </p:cNvPr>
          <p:cNvSpPr>
            <a:spLocks xmlns:a="http://schemas.openxmlformats.org/drawingml/2006/main" noGrp="1"/>
          </p:cNvSpPr>
          <p:nvPr/>
        </p:nvSpPr>
        <p:spPr>
          <a:xfrm xmlns:a="http://schemas.openxmlformats.org/drawingml/2006/main">
            <a:off x="594360" y="4297680"/>
            <a:ext cx="3657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Date-based</a:t>
            </a:r>
            <a:endParaRPr sz="1300"/>
          </a:p>
        </p:txBody>
      </p:sp>
      <p:sp>
        <p:nvSpPr>
          <p:cNvPr id="29" name="Text 25">
            <a:extLst xmlns:a="http://schemas.openxmlformats.org/drawingml/2006/main">
              <a:ext uri="{FF2B5EF4-FFF2-40B4-BE49-F238E27FC236}">
                <a16:creationId xmlns:a16="http://schemas.microsoft.com/office/drawing/2014/main" id="{C5CFC158-FEEE-43EF-965E-543123C1EEE6}"/>
              </a:ext>
            </a:extLst>
          </p:cNvPr>
          <p:cNvSpPr>
            <a:spLocks xmlns:a="http://schemas.openxmlformats.org/drawingml/2006/main" noGrp="1"/>
          </p:cNvSpPr>
          <p:nvPr/>
        </p:nvSpPr>
        <p:spPr>
          <a:xfrm xmlns:a="http://schemas.openxmlformats.org/drawingml/2006/main">
            <a:off x="4572000" y="4297680"/>
            <a:ext cx="1371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b="1" i="1">
                <a:solidFill>
                  <a:srgbClr val="FFFFFF"/>
                </a:solidFill>
                <a:latin typeface="Calibri"/>
                <a:ea typeface="Calibri"/>
                <a:cs typeface="Calibri"/>
              </a:rPr>
              <a:t>RECOMMENDED</a:t>
            </a:r>
            <a:endParaRPr sz="1000"/>
          </a:p>
        </p:txBody>
      </p:sp>
      <p:sp>
        <p:nvSpPr>
          <p:cNvPr id="30" name="Shape 26">
            <a:extLst xmlns:a="http://schemas.openxmlformats.org/drawingml/2006/main">
              <a:ext uri="{FF2B5EF4-FFF2-40B4-BE49-F238E27FC236}">
                <a16:creationId xmlns:a16="http://schemas.microsoft.com/office/drawing/2014/main" id="{BACD4568-F495-45E2-9101-75E6F11A69C1}"/>
              </a:ext>
            </a:extLst>
          </p:cNvPr>
          <p:cNvSpPr>
            <a:spLocks xmlns:a="http://schemas.openxmlformats.org/drawingml/2006/main" noGrp="1"/>
          </p:cNvSpPr>
          <p:nvPr/>
        </p:nvSpPr>
        <p:spPr>
          <a:xfrm xmlns:a="http://schemas.openxmlformats.org/drawingml/2006/main">
            <a:off x="594360" y="4846320"/>
            <a:ext cx="5303520" cy="41148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1" name="Text 27">
            <a:extLst xmlns:a="http://schemas.openxmlformats.org/drawingml/2006/main">
              <a:ext uri="{FF2B5EF4-FFF2-40B4-BE49-F238E27FC236}">
                <a16:creationId xmlns:a16="http://schemas.microsoft.com/office/drawing/2014/main" id="{08B5D2A8-3A13-4CD5-A868-C12C38524AED}"/>
              </a:ext>
            </a:extLst>
          </p:cNvPr>
          <p:cNvSpPr>
            <a:spLocks xmlns:a="http://schemas.openxmlformats.org/drawingml/2006/main" noGrp="1"/>
          </p:cNvSpPr>
          <p:nvPr/>
        </p:nvSpPr>
        <p:spPr>
          <a:xfrm xmlns:a="http://schemas.openxmlformats.org/drawingml/2006/main">
            <a:off x="685800" y="4846320"/>
            <a:ext cx="51206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0B981"/>
                </a:solidFill>
                <a:latin typeface="Consolas"/>
                <a:ea typeface="Consolas"/>
                <a:cs typeface="Consolas"/>
              </a:rPr>
              <a:t>myapp:2026-05-15</a:t>
            </a:r>
            <a:endParaRPr sz="1200"/>
          </a:p>
        </p:txBody>
      </p:sp>
      <p:sp>
        <p:nvSpPr>
          <p:cNvPr id="32" name="Text 28">
            <a:extLst xmlns:a="http://schemas.openxmlformats.org/drawingml/2006/main">
              <a:ext uri="{FF2B5EF4-FFF2-40B4-BE49-F238E27FC236}">
                <a16:creationId xmlns:a16="http://schemas.microsoft.com/office/drawing/2014/main" id="{DFE209BD-26C8-4A50-B370-865955F9FA10}"/>
              </a:ext>
            </a:extLst>
          </p:cNvPr>
          <p:cNvSpPr>
            <a:spLocks xmlns:a="http://schemas.openxmlformats.org/drawingml/2006/main" noGrp="1"/>
          </p:cNvSpPr>
          <p:nvPr/>
        </p:nvSpPr>
        <p:spPr>
          <a:xfrm xmlns:a="http://schemas.openxmlformats.org/drawingml/2006/main">
            <a:off x="594360" y="5349240"/>
            <a:ext cx="5303520" cy="594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Cocok untuk nightly build / daily release. Mudah diurutkan.</a:t>
            </a:r>
            <a:endParaRPr sz="1100"/>
          </a:p>
        </p:txBody>
      </p:sp>
      <p:sp>
        <p:nvSpPr>
          <p:cNvPr id="33" name="Shape 29">
            <a:extLst xmlns:a="http://schemas.openxmlformats.org/drawingml/2006/main">
              <a:ext uri="{FF2B5EF4-FFF2-40B4-BE49-F238E27FC236}">
                <a16:creationId xmlns:a16="http://schemas.microsoft.com/office/drawing/2014/main" id="{D2477B13-996D-4CA0-8F94-798643E7ABE5}"/>
              </a:ext>
            </a:extLst>
          </p:cNvPr>
          <p:cNvSpPr>
            <a:spLocks xmlns:a="http://schemas.openxmlformats.org/drawingml/2006/main" noGrp="1"/>
          </p:cNvSpPr>
          <p:nvPr/>
        </p:nvSpPr>
        <p:spPr>
          <a:xfrm xmlns:a="http://schemas.openxmlformats.org/drawingml/2006/main">
            <a:off x="6309360" y="4297680"/>
            <a:ext cx="5577840" cy="16916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4" name="Shape 30">
            <a:extLst xmlns:a="http://schemas.openxmlformats.org/drawingml/2006/main">
              <a:ext uri="{FF2B5EF4-FFF2-40B4-BE49-F238E27FC236}">
                <a16:creationId xmlns:a16="http://schemas.microsoft.com/office/drawing/2014/main" id="{25A74B2A-587E-4AED-B56F-3027E4DC5E32}"/>
              </a:ext>
            </a:extLst>
          </p:cNvPr>
          <p:cNvSpPr>
            <a:spLocks xmlns:a="http://schemas.openxmlformats.org/drawingml/2006/main" noGrp="1"/>
          </p:cNvSpPr>
          <p:nvPr/>
        </p:nvSpPr>
        <p:spPr>
          <a:xfrm xmlns:a="http://schemas.openxmlformats.org/drawingml/2006/main">
            <a:off x="6309360" y="4297680"/>
            <a:ext cx="5577840" cy="457200"/>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sp>
        <p:nvSpPr>
          <p:cNvPr id="35" name="Text 31">
            <a:extLst xmlns:a="http://schemas.openxmlformats.org/drawingml/2006/main">
              <a:ext uri="{FF2B5EF4-FFF2-40B4-BE49-F238E27FC236}">
                <a16:creationId xmlns:a16="http://schemas.microsoft.com/office/drawing/2014/main" id="{907F5B4C-6FCA-4565-9C6B-3CD9F314F1CD}"/>
              </a:ext>
            </a:extLst>
          </p:cNvPr>
          <p:cNvSpPr>
            <a:spLocks xmlns:a="http://schemas.openxmlformats.org/drawingml/2006/main" noGrp="1"/>
          </p:cNvSpPr>
          <p:nvPr/>
        </p:nvSpPr>
        <p:spPr>
          <a:xfrm xmlns:a="http://schemas.openxmlformats.org/drawingml/2006/main">
            <a:off x="6446520" y="4297680"/>
            <a:ext cx="3657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:latest</a:t>
            </a:r>
            <a:endParaRPr sz="1300"/>
          </a:p>
        </p:txBody>
      </p:sp>
      <p:sp>
        <p:nvSpPr>
          <p:cNvPr id="36" name="Text 32">
            <a:extLst xmlns:a="http://schemas.openxmlformats.org/drawingml/2006/main">
              <a:ext uri="{FF2B5EF4-FFF2-40B4-BE49-F238E27FC236}">
                <a16:creationId xmlns:a16="http://schemas.microsoft.com/office/drawing/2014/main" id="{B2EBF83F-8E4B-498E-8781-71EDA5A5C954}"/>
              </a:ext>
            </a:extLst>
          </p:cNvPr>
          <p:cNvSpPr>
            <a:spLocks xmlns:a="http://schemas.openxmlformats.org/drawingml/2006/main" noGrp="1"/>
          </p:cNvSpPr>
          <p:nvPr/>
        </p:nvSpPr>
        <p:spPr>
          <a:xfrm xmlns:a="http://schemas.openxmlformats.org/drawingml/2006/main">
            <a:off x="10424160" y="4297680"/>
            <a:ext cx="1371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b="1" i="1">
                <a:solidFill>
                  <a:srgbClr val="FFFFFF"/>
                </a:solidFill>
                <a:latin typeface="Calibri"/>
                <a:ea typeface="Calibri"/>
                <a:cs typeface="Calibri"/>
              </a:rPr>
              <a:t>AVOID</a:t>
            </a:r>
            <a:endParaRPr sz="1000"/>
          </a:p>
        </p:txBody>
      </p:sp>
      <p:sp>
        <p:nvSpPr>
          <p:cNvPr id="37" name="Shape 33">
            <a:extLst xmlns:a="http://schemas.openxmlformats.org/drawingml/2006/main">
              <a:ext uri="{FF2B5EF4-FFF2-40B4-BE49-F238E27FC236}">
                <a16:creationId xmlns:a16="http://schemas.microsoft.com/office/drawing/2014/main" id="{023CA291-C492-465C-A06A-4F51FCE7FA43}"/>
              </a:ext>
            </a:extLst>
          </p:cNvPr>
          <p:cNvSpPr>
            <a:spLocks xmlns:a="http://schemas.openxmlformats.org/drawingml/2006/main" noGrp="1"/>
          </p:cNvSpPr>
          <p:nvPr/>
        </p:nvSpPr>
        <p:spPr>
          <a:xfrm xmlns:a="http://schemas.openxmlformats.org/drawingml/2006/main">
            <a:off x="6446520" y="4846320"/>
            <a:ext cx="5303520" cy="41148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8" name="Text 34">
            <a:extLst xmlns:a="http://schemas.openxmlformats.org/drawingml/2006/main">
              <a:ext uri="{FF2B5EF4-FFF2-40B4-BE49-F238E27FC236}">
                <a16:creationId xmlns:a16="http://schemas.microsoft.com/office/drawing/2014/main" id="{2161C421-205B-43AE-A9DA-3DB527015E7C}"/>
              </a:ext>
            </a:extLst>
          </p:cNvPr>
          <p:cNvSpPr>
            <a:spLocks xmlns:a="http://schemas.openxmlformats.org/drawingml/2006/main" noGrp="1"/>
          </p:cNvSpPr>
          <p:nvPr/>
        </p:nvSpPr>
        <p:spPr>
          <a:xfrm xmlns:a="http://schemas.openxmlformats.org/drawingml/2006/main">
            <a:off x="6537960" y="4846320"/>
            <a:ext cx="51206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0B981"/>
                </a:solidFill>
                <a:latin typeface="Consolas"/>
                <a:ea typeface="Consolas"/>
                <a:cs typeface="Consolas"/>
              </a:rPr>
              <a:t>myapp:latest</a:t>
            </a:r>
            <a:endParaRPr sz="1200"/>
          </a:p>
        </p:txBody>
      </p:sp>
      <p:sp>
        <p:nvSpPr>
          <p:cNvPr id="39" name="Text 35">
            <a:extLst xmlns:a="http://schemas.openxmlformats.org/drawingml/2006/main">
              <a:ext uri="{FF2B5EF4-FFF2-40B4-BE49-F238E27FC236}">
                <a16:creationId xmlns:a16="http://schemas.microsoft.com/office/drawing/2014/main" id="{4D5EED5C-B97D-4E6D-8A77-FCCF80F1BFA9}"/>
              </a:ext>
            </a:extLst>
          </p:cNvPr>
          <p:cNvSpPr>
            <a:spLocks xmlns:a="http://schemas.openxmlformats.org/drawingml/2006/main" noGrp="1"/>
          </p:cNvSpPr>
          <p:nvPr/>
        </p:nvSpPr>
        <p:spPr>
          <a:xfrm xmlns:a="http://schemas.openxmlformats.org/drawingml/2006/main">
            <a:off x="6446520" y="5349240"/>
            <a:ext cx="5303520" cy="594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PITFALL! Floating tag - tidak reproducible. Production = pin version.</a:t>
            </a:r>
            <a:endParaRPr sz="1100"/>
          </a:p>
        </p:txBody>
      </p:sp>
      <p:sp>
        <p:nvSpPr>
          <p:cNvPr id="40" name="Text 36">
            <a:extLst xmlns:a="http://schemas.openxmlformats.org/drawingml/2006/main">
              <a:ext uri="{FF2B5EF4-FFF2-40B4-BE49-F238E27FC236}">
                <a16:creationId xmlns:a16="http://schemas.microsoft.com/office/drawing/2014/main" id="{2A39D5D3-7607-4819-8B90-E2610D831222}"/>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Semua tag dapat berpindah. Gunakan image@sha256:&lt;digest&gt; untuk identitas konten saat deploy/rollback.</a:t>
            </a:r>
            <a:endParaRPr sz="1100"/>
          </a:p>
        </p:txBody>
      </p:sp>
    </p:spTree>
    <p:extLst>
      <p:ext uri="{BB962C8B-B14F-4D97-AF65-F5344CB8AC3E}">
        <p14:creationId xmlns:p14="http://schemas.microsoft.com/office/powerpoint/2010/main" val="171353412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D2B4915-A508-49E1-8CC8-38C3953396A3}"/>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16A6AA03-E428-45E9-A7E6-44F095755C4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30</a:t>
            </a:r>
            <a:endParaRPr sz="900"/>
          </a:p>
        </p:txBody>
      </p:sp>
      <p:sp>
        <p:nvSpPr>
          <p:cNvPr id="4" name="Shape 2">
            <a:extLst xmlns:a="http://schemas.openxmlformats.org/drawingml/2006/main">
              <a:ext uri="{FF2B5EF4-FFF2-40B4-BE49-F238E27FC236}">
                <a16:creationId xmlns:a16="http://schemas.microsoft.com/office/drawing/2014/main" id="{84BD93B1-54C8-420F-870A-D7C9BE86CD44}"/>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4" name="Image 0">
            <a:extLst xmlns:a="http://schemas.openxmlformats.org/drawingml/2006/main">
              <a:ext uri="{FF2B5EF4-FFF2-40B4-BE49-F238E27FC236}">
                <a16:creationId xmlns:a16="http://schemas.microsoft.com/office/drawing/2014/main" id="{C24E146D-132C-45CB-B72C-FF7D7DB4D08E}"/>
              </a:ext>
            </a:extLst>
          </p:cNvPr>
          <p:cNvPicPr>
            <a:picLocks xmlns:a="http://schemas.openxmlformats.org/drawingml/2006/main" noChangeAspect="1"/>
          </p:cNvPicPr>
          <p:nvPr/>
        </p:nvPicPr>
        <p:blipFill>
          <a:blip xmlns:r="http://schemas.openxmlformats.org/officeDocument/2006/relationships" xmlns:a="http://schemas.openxmlformats.org/drawingml/2006/main" r:embed="Rc34fdbffdd814308"/>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5" name="Image 1">
            <a:extLst xmlns:a="http://schemas.openxmlformats.org/drawingml/2006/main">
              <a:ext uri="{FF2B5EF4-FFF2-40B4-BE49-F238E27FC236}">
                <a16:creationId xmlns:a16="http://schemas.microsoft.com/office/drawing/2014/main" id="{CEC9271F-60E0-4945-AD89-B005F88DE8F6}"/>
              </a:ext>
            </a:extLst>
          </p:cNvPr>
          <p:cNvPicPr>
            <a:picLocks xmlns:a="http://schemas.openxmlformats.org/drawingml/2006/main" noChangeAspect="1"/>
          </p:cNvPicPr>
          <p:nvPr/>
        </p:nvPicPr>
        <p:blipFill>
          <a:blip xmlns:r="http://schemas.openxmlformats.org/officeDocument/2006/relationships" xmlns:a="http://schemas.openxmlformats.org/drawingml/2006/main" r:embed="Rd1b691fe7ad74fba"/>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77436C6D-A78B-4FC4-8FB3-F13D6F88394A}"/>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6DC3BCF4-4732-44D4-800A-D0F49287C063}"/>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Push ke Registry - Docker Hub vs ghcr.io</a:t>
            </a:r>
            <a:endParaRPr sz="2200"/>
          </a:p>
        </p:txBody>
      </p:sp>
      <p:sp>
        <p:nvSpPr>
          <p:cNvPr id="9" name="Text 5">
            <a:extLst xmlns:a="http://schemas.openxmlformats.org/drawingml/2006/main">
              <a:ext uri="{FF2B5EF4-FFF2-40B4-BE49-F238E27FC236}">
                <a16:creationId xmlns:a16="http://schemas.microsoft.com/office/drawing/2014/main" id="{F756B104-07EA-494C-BBF1-7C5AAABC5504}"/>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Registry practice opsional untuk berbagi image proyek</a:t>
            </a:r>
            <a:endParaRPr sz="1200"/>
          </a:p>
        </p:txBody>
      </p:sp>
      <p:sp>
        <p:nvSpPr>
          <p:cNvPr id="10" name="Shape 6">
            <a:extLst xmlns:a="http://schemas.openxmlformats.org/drawingml/2006/main">
              <a:ext uri="{FF2B5EF4-FFF2-40B4-BE49-F238E27FC236}">
                <a16:creationId xmlns:a16="http://schemas.microsoft.com/office/drawing/2014/main" id="{73A7FEC3-99E2-4AA1-836D-372BB49E774D}"/>
              </a:ext>
            </a:extLst>
          </p:cNvPr>
          <p:cNvSpPr>
            <a:spLocks xmlns:a="http://schemas.openxmlformats.org/drawingml/2006/main" noGrp="1"/>
          </p:cNvSpPr>
          <p:nvPr/>
        </p:nvSpPr>
        <p:spPr>
          <a:xfrm xmlns:a="http://schemas.openxmlformats.org/drawingml/2006/main">
            <a:off x="457200" y="1417320"/>
            <a:ext cx="557784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8C3919A5-F305-432D-A4B1-AE1E06760814}"/>
              </a:ext>
            </a:extLst>
          </p:cNvPr>
          <p:cNvSpPr>
            <a:spLocks xmlns:a="http://schemas.openxmlformats.org/drawingml/2006/main" noGrp="1"/>
          </p:cNvSpPr>
          <p:nvPr/>
        </p:nvSpPr>
        <p:spPr>
          <a:xfrm xmlns:a="http://schemas.openxmlformats.org/drawingml/2006/main">
            <a:off x="457200" y="1417320"/>
            <a:ext cx="5577840" cy="64008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pic>
        <p:nvPicPr>
          <p:cNvPr id="41" name="Image 2">
            <a:extLst xmlns:a="http://schemas.openxmlformats.org/drawingml/2006/main">
              <a:ext uri="{FF2B5EF4-FFF2-40B4-BE49-F238E27FC236}">
                <a16:creationId xmlns:a16="http://schemas.microsoft.com/office/drawing/2014/main" id="{5D7A893D-A03F-4E35-9FAC-C4457ECF392F}"/>
              </a:ext>
            </a:extLst>
          </p:cNvPr>
          <p:cNvPicPr>
            <a:picLocks xmlns:a="http://schemas.openxmlformats.org/drawingml/2006/main" noChangeAspect="1"/>
          </p:cNvPicPr>
          <p:nvPr/>
        </p:nvPicPr>
        <p:blipFill>
          <a:blip xmlns:r="http://schemas.openxmlformats.org/officeDocument/2006/relationships" xmlns:a="http://schemas.openxmlformats.org/drawingml/2006/main" r:embed="Ra01fd05bd6d141b1"/>
          <a:stretch xmlns:a="http://schemas.openxmlformats.org/drawingml/2006/main">
            <a:fillRect l="0" t="0" r="0" b="0"/>
          </a:stretch>
        </p:blipFill>
        <p:spPr>
          <a:xfrm xmlns:a="http://schemas.openxmlformats.org/drawingml/2006/main">
            <a:off x="640080" y="1554480"/>
            <a:ext cx="365760" cy="36576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D31CB780-99A9-4CA6-AA36-3615DE9FFD24}"/>
              </a:ext>
            </a:extLst>
          </p:cNvPr>
          <p:cNvSpPr>
            <a:spLocks xmlns:a="http://schemas.openxmlformats.org/drawingml/2006/main" noGrp="1"/>
          </p:cNvSpPr>
          <p:nvPr/>
        </p:nvSpPr>
        <p:spPr>
          <a:xfrm xmlns:a="http://schemas.openxmlformats.org/drawingml/2006/main">
            <a:off x="1143000" y="1417320"/>
            <a:ext cx="48463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FFFFFF"/>
                </a:solidFill>
                <a:latin typeface="Calibri"/>
                <a:ea typeface="Calibri"/>
                <a:cs typeface="Calibri"/>
              </a:rPr>
              <a:t>Docker Hub  -  docker.io</a:t>
            </a:r>
            <a:endParaRPr sz="1500"/>
          </a:p>
        </p:txBody>
      </p:sp>
      <p:sp>
        <p:nvSpPr>
          <p:cNvPr id="14" name="Text 9">
            <a:extLst xmlns:a="http://schemas.openxmlformats.org/drawingml/2006/main">
              <a:ext uri="{FF2B5EF4-FFF2-40B4-BE49-F238E27FC236}">
                <a16:creationId xmlns:a16="http://schemas.microsoft.com/office/drawing/2014/main" id="{46464A4E-A113-495E-921D-956243889851}"/>
              </a:ext>
            </a:extLst>
          </p:cNvPr>
          <p:cNvSpPr>
            <a:spLocks xmlns:a="http://schemas.openxmlformats.org/drawingml/2006/main" noGrp="1"/>
          </p:cNvSpPr>
          <p:nvPr/>
        </p:nvSpPr>
        <p:spPr>
          <a:xfrm xmlns:a="http://schemas.openxmlformats.org/drawingml/2006/main">
            <a:off x="640080" y="2194560"/>
            <a:ext cx="5212080" cy="1554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400"/>
              </a:spcAft>
              <a:buSzPct val="100000"/>
              <a:buChar char="▸"/>
            </a:pPr>
            <a:r>
              <a:rPr sz="1100">
                <a:solidFill>
                  <a:srgbClr val="1E293B"/>
                </a:solidFill>
                <a:latin typeface="Calibri"/>
                <a:ea typeface="Calibri"/>
                <a:cs typeface="Calibri"/>
              </a:rPr>
              <a:t>Default registry - tidak perlu prefix di image name</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Kebijakan repo gratis berubah; cek Docker Hub</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Batas pull berbeda menurut jenis akun; cek docs</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Username jadi namespace: docker.io/seedflora/myapp</a:t>
            </a:r>
            <a:endParaRPr sz="1100"/>
          </a:p>
        </p:txBody>
      </p:sp>
      <p:sp>
        <p:nvSpPr>
          <p:cNvPr id="15" name="Shape 10">
            <a:extLst xmlns:a="http://schemas.openxmlformats.org/drawingml/2006/main">
              <a:ext uri="{FF2B5EF4-FFF2-40B4-BE49-F238E27FC236}">
                <a16:creationId xmlns:a16="http://schemas.microsoft.com/office/drawing/2014/main" id="{B80804A0-1DD5-4FE6-B9FD-14875141EC73}"/>
              </a:ext>
            </a:extLst>
          </p:cNvPr>
          <p:cNvSpPr>
            <a:spLocks xmlns:a="http://schemas.openxmlformats.org/drawingml/2006/main" noGrp="1"/>
          </p:cNvSpPr>
          <p:nvPr/>
        </p:nvSpPr>
        <p:spPr>
          <a:xfrm xmlns:a="http://schemas.openxmlformats.org/drawingml/2006/main">
            <a:off x="6217920" y="1417320"/>
            <a:ext cx="548640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Shape 11">
            <a:extLst xmlns:a="http://schemas.openxmlformats.org/drawingml/2006/main">
              <a:ext uri="{FF2B5EF4-FFF2-40B4-BE49-F238E27FC236}">
                <a16:creationId xmlns:a16="http://schemas.microsoft.com/office/drawing/2014/main" id="{0B41DF95-991C-47BD-8F03-5D8227A66F1C}"/>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46" name="Image 3">
            <a:extLst xmlns:a="http://schemas.openxmlformats.org/drawingml/2006/main">
              <a:ext uri="{FF2B5EF4-FFF2-40B4-BE49-F238E27FC236}">
                <a16:creationId xmlns:a16="http://schemas.microsoft.com/office/drawing/2014/main" id="{AE3C3387-8826-49E9-9898-49C2364E6D59}"/>
              </a:ext>
            </a:extLst>
          </p:cNvPr>
          <p:cNvPicPr>
            <a:picLocks xmlns:a="http://schemas.openxmlformats.org/drawingml/2006/main" noChangeAspect="1"/>
          </p:cNvPicPr>
          <p:nvPr/>
        </p:nvPicPr>
        <p:blipFill>
          <a:blip xmlns:r="http://schemas.openxmlformats.org/officeDocument/2006/relationships" xmlns:a="http://schemas.openxmlformats.org/drawingml/2006/main" r:embed="R35f8e6dc1b734681"/>
          <a:stretch xmlns:a="http://schemas.openxmlformats.org/drawingml/2006/main">
            <a:fillRect l="0" t="0" r="0" b="0"/>
          </a:stretch>
        </p:blipFill>
        <p:spPr>
          <a:xfrm xmlns:a="http://schemas.openxmlformats.org/drawingml/2006/main">
            <a:off x="6400800" y="1554480"/>
            <a:ext cx="365760" cy="36576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33E744FB-C0C1-440E-82FF-D4874E4D20C4}"/>
              </a:ext>
            </a:extLst>
          </p:cNvPr>
          <p:cNvSpPr>
            <a:spLocks xmlns:a="http://schemas.openxmlformats.org/drawingml/2006/main" noGrp="1"/>
          </p:cNvSpPr>
          <p:nvPr/>
        </p:nvSpPr>
        <p:spPr>
          <a:xfrm xmlns:a="http://schemas.openxmlformats.org/drawingml/2006/main">
            <a:off x="6903720" y="1417320"/>
            <a:ext cx="4663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FFFFFF"/>
                </a:solidFill>
                <a:latin typeface="Calibri"/>
                <a:ea typeface="Calibri"/>
                <a:cs typeface="Calibri"/>
              </a:rPr>
              <a:t>GitHub Container Registry  -  ghcr.io</a:t>
            </a:r>
            <a:endParaRPr sz="1400"/>
          </a:p>
        </p:txBody>
      </p:sp>
      <p:sp>
        <p:nvSpPr>
          <p:cNvPr id="19" name="Text 13">
            <a:extLst xmlns:a="http://schemas.openxmlformats.org/drawingml/2006/main">
              <a:ext uri="{FF2B5EF4-FFF2-40B4-BE49-F238E27FC236}">
                <a16:creationId xmlns:a16="http://schemas.microsoft.com/office/drawing/2014/main" id="{6E6799A8-3332-4A85-AA21-517C1A9AA051}"/>
              </a:ext>
            </a:extLst>
          </p:cNvPr>
          <p:cNvSpPr>
            <a:spLocks xmlns:a="http://schemas.openxmlformats.org/drawingml/2006/main" noGrp="1"/>
          </p:cNvSpPr>
          <p:nvPr/>
        </p:nvSpPr>
        <p:spPr>
          <a:xfrm xmlns:a="http://schemas.openxmlformats.org/drawingml/2006/main">
            <a:off x="6400800" y="2194560"/>
            <a:ext cx="5120640" cy="1554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400"/>
              </a:spcAft>
              <a:buSzPct val="100000"/>
              <a:buChar char="▸"/>
            </a:pPr>
            <a:r>
              <a:rPr sz="1100">
                <a:solidFill>
                  <a:srgbClr val="1E293B"/>
                </a:solidFill>
                <a:latin typeface="Calibri"/>
                <a:ea typeface="Calibri"/>
                <a:cs typeface="Calibri"/>
              </a:rPr>
              <a:t>GitHub Actions dapat membangun/push jika workflow disiapkan</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Akses dan biaya mengikuti paket GitHub Packages</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Package awal private. Atur visibilitas dan akses sesuai kebutuhan</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Namespace/name image dapat berbeda dari nama repo Git</a:t>
            </a:r>
            <a:endParaRPr sz="1100"/>
          </a:p>
        </p:txBody>
      </p:sp>
      <p:sp>
        <p:nvSpPr>
          <p:cNvPr id="20" name="Shape 14">
            <a:extLst xmlns:a="http://schemas.openxmlformats.org/drawingml/2006/main">
              <a:ext uri="{FF2B5EF4-FFF2-40B4-BE49-F238E27FC236}">
                <a16:creationId xmlns:a16="http://schemas.microsoft.com/office/drawing/2014/main" id="{827FFC2C-A6BF-49BB-9CAB-9A3F236CD5CF}"/>
              </a:ext>
            </a:extLst>
          </p:cNvPr>
          <p:cNvSpPr>
            <a:spLocks xmlns:a="http://schemas.openxmlformats.org/drawingml/2006/main" noGrp="1"/>
          </p:cNvSpPr>
          <p:nvPr/>
        </p:nvSpPr>
        <p:spPr>
          <a:xfrm xmlns:a="http://schemas.openxmlformats.org/drawingml/2006/main">
            <a:off x="457200" y="4023360"/>
            <a:ext cx="11247120" cy="219456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21" name="Shape 15">
            <a:extLst xmlns:a="http://schemas.openxmlformats.org/drawingml/2006/main">
              <a:ext uri="{FF2B5EF4-FFF2-40B4-BE49-F238E27FC236}">
                <a16:creationId xmlns:a16="http://schemas.microsoft.com/office/drawing/2014/main" id="{5CA02D0E-69E4-401A-80F2-8008AF7DC4DF}"/>
              </a:ext>
            </a:extLst>
          </p:cNvPr>
          <p:cNvSpPr>
            <a:spLocks xmlns:a="http://schemas.openxmlformats.org/drawingml/2006/main" noGrp="1"/>
          </p:cNvSpPr>
          <p:nvPr/>
        </p:nvSpPr>
        <p:spPr>
          <a:xfrm xmlns:a="http://schemas.openxmlformats.org/drawingml/2006/main">
            <a:off x="457200" y="4023360"/>
            <a:ext cx="1124712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22" name="Shape 16">
            <a:extLst xmlns:a="http://schemas.openxmlformats.org/drawingml/2006/main">
              <a:ext uri="{FF2B5EF4-FFF2-40B4-BE49-F238E27FC236}">
                <a16:creationId xmlns:a16="http://schemas.microsoft.com/office/drawing/2014/main" id="{0EB80DAD-91A2-4CE3-AFE9-8BB2CE86FF66}"/>
              </a:ext>
            </a:extLst>
          </p:cNvPr>
          <p:cNvSpPr>
            <a:spLocks xmlns:a="http://schemas.openxmlformats.org/drawingml/2006/main" noGrp="1"/>
          </p:cNvSpPr>
          <p:nvPr/>
        </p:nvSpPr>
        <p:spPr>
          <a:xfrm xmlns:a="http://schemas.openxmlformats.org/drawingml/2006/main">
            <a:off x="548640" y="410565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23" name="Shape 17">
            <a:extLst xmlns:a="http://schemas.openxmlformats.org/drawingml/2006/main">
              <a:ext uri="{FF2B5EF4-FFF2-40B4-BE49-F238E27FC236}">
                <a16:creationId xmlns:a16="http://schemas.microsoft.com/office/drawing/2014/main" id="{6662E4B2-186B-40D5-8BB6-D71385A42694}"/>
              </a:ext>
            </a:extLst>
          </p:cNvPr>
          <p:cNvSpPr>
            <a:spLocks xmlns:a="http://schemas.openxmlformats.org/drawingml/2006/main" noGrp="1"/>
          </p:cNvSpPr>
          <p:nvPr/>
        </p:nvSpPr>
        <p:spPr>
          <a:xfrm xmlns:a="http://schemas.openxmlformats.org/drawingml/2006/main">
            <a:off x="685800" y="410565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4" name="Shape 18">
            <a:extLst xmlns:a="http://schemas.openxmlformats.org/drawingml/2006/main">
              <a:ext uri="{FF2B5EF4-FFF2-40B4-BE49-F238E27FC236}">
                <a16:creationId xmlns:a16="http://schemas.microsoft.com/office/drawing/2014/main" id="{A5272AA8-C867-4379-BFBE-CE557A7DEFBC}"/>
              </a:ext>
            </a:extLst>
          </p:cNvPr>
          <p:cNvSpPr>
            <a:spLocks xmlns:a="http://schemas.openxmlformats.org/drawingml/2006/main" noGrp="1"/>
          </p:cNvSpPr>
          <p:nvPr/>
        </p:nvSpPr>
        <p:spPr>
          <a:xfrm xmlns:a="http://schemas.openxmlformats.org/drawingml/2006/main">
            <a:off x="822960" y="410565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25" name="Text 19">
            <a:extLst xmlns:a="http://schemas.openxmlformats.org/drawingml/2006/main">
              <a:ext uri="{FF2B5EF4-FFF2-40B4-BE49-F238E27FC236}">
                <a16:creationId xmlns:a16="http://schemas.microsoft.com/office/drawing/2014/main" id="{3C253266-49B8-49B0-A069-E23C8C15EDFC}"/>
              </a:ext>
            </a:extLst>
          </p:cNvPr>
          <p:cNvSpPr>
            <a:spLocks xmlns:a="http://schemas.openxmlformats.org/drawingml/2006/main" noGrp="1"/>
          </p:cNvSpPr>
          <p:nvPr/>
        </p:nvSpPr>
        <p:spPr>
          <a:xfrm xmlns:a="http://schemas.openxmlformats.org/drawingml/2006/main">
            <a:off x="1005840" y="4023360"/>
            <a:ext cx="10515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Docker Hub: tag + login + push + pull</a:t>
            </a:r>
            <a:endParaRPr sz="900"/>
          </a:p>
        </p:txBody>
      </p:sp>
      <p:sp>
        <p:nvSpPr>
          <p:cNvPr id="26" name="Text 20">
            <a:extLst xmlns:a="http://schemas.openxmlformats.org/drawingml/2006/main">
              <a:ext uri="{FF2B5EF4-FFF2-40B4-BE49-F238E27FC236}">
                <a16:creationId xmlns:a16="http://schemas.microsoft.com/office/drawing/2014/main" id="{B0B98095-2F80-4360-B19D-A3A9AEC85E2F}"/>
              </a:ext>
            </a:extLst>
          </p:cNvPr>
          <p:cNvSpPr>
            <a:spLocks xmlns:a="http://schemas.openxmlformats.org/drawingml/2006/main" noGrp="1"/>
          </p:cNvSpPr>
          <p:nvPr/>
        </p:nvSpPr>
        <p:spPr>
          <a:xfrm xmlns:a="http://schemas.openxmlformats.org/drawingml/2006/main">
            <a:off x="594360" y="4389120"/>
            <a:ext cx="109728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Ganti NAMA_AKUN dengan akun Docker Hub sendiri</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docker tag cloud-notes-api:lab05 NAMA_AKUN/cloud-notes-api:lab05</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docker login</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docker push NAMA_AKUN/cloud-notes-api:lab05</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docker pull NAMA_AKUN/cloud-notes-api:lab05</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Registry menyimpan image. GitHub repository menyimpan kode.</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Jangan memasukkan password/token ke slide atau commit.</a:t>
            </a:r>
            <a:endParaRPr sz="1100"/>
          </a:p>
        </p:txBody>
      </p:sp>
    </p:spTree>
    <p:extLst>
      <p:ext uri="{BB962C8B-B14F-4D97-AF65-F5344CB8AC3E}">
        <p14:creationId xmlns:p14="http://schemas.microsoft.com/office/powerpoint/2010/main" val="1145621544"/>
      </p:ext>
    </p:extLst>
  </p:cSld>
</p:sld>
</file>

<file path=ppt/slides/slide31.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50DE6B6-DC5F-47B7-A4CD-866D966453D5}"/>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BAD6C5A6-D8FE-4121-B7DB-A996600FE555}"/>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B9B65EA0-3231-4243-BC69-04BFC4B3A410}"/>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B63D583B-EF80-4542-93F4-79F1D401F055}"/>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2B943060-2648-41F3-9EA4-5753F3254341}"/>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C10BFDC4-E5B7-4B3B-ACD1-E1D788813400}"/>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B6630740-18F0-4247-908A-DA942B6D7918}"/>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a:extLst xmlns:a="http://schemas.openxmlformats.org/drawingml/2006/main">
              <a:ext uri="{FF2B5EF4-FFF2-40B4-BE49-F238E27FC236}">
                <a16:creationId xmlns:a16="http://schemas.microsoft.com/office/drawing/2014/main" id="{6A8BB8FA-F9C1-4C48-B9CD-6FEFA5965BEB}"/>
              </a:ext>
            </a:extLst>
          </p:cNvPr>
          <p:cNvPicPr>
            <a:picLocks xmlns:a="http://schemas.openxmlformats.org/drawingml/2006/main" noChangeAspect="1"/>
          </p:cNvPicPr>
          <p:nvPr/>
        </p:nvPicPr>
        <p:blipFill>
          <a:blip xmlns:r="http://schemas.openxmlformats.org/officeDocument/2006/relationships" xmlns:a="http://schemas.openxmlformats.org/drawingml/2006/main" r:embed="R204465e91fa24c7c"/>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a:extLst xmlns:a="http://schemas.openxmlformats.org/drawingml/2006/main">
              <a:ext uri="{FF2B5EF4-FFF2-40B4-BE49-F238E27FC236}">
                <a16:creationId xmlns:a16="http://schemas.microsoft.com/office/drawing/2014/main" id="{9725B284-F373-474B-8A51-683C26752B24}"/>
              </a:ext>
            </a:extLst>
          </p:cNvPr>
          <p:cNvPicPr>
            <a:picLocks xmlns:a="http://schemas.openxmlformats.org/drawingml/2006/main" noChangeAspect="1"/>
          </p:cNvPicPr>
          <p:nvPr/>
        </p:nvPicPr>
        <p:blipFill>
          <a:blip xmlns:r="http://schemas.openxmlformats.org/officeDocument/2006/relationships" xmlns:a="http://schemas.openxmlformats.org/drawingml/2006/main" r:embed="R7af105ffb678430b"/>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ABD6CF7E-C05A-449F-9CF5-A057B9C48A5F}"/>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06</a:t>
            </a:r>
            <a:endParaRPr sz="1600"/>
          </a:p>
        </p:txBody>
      </p:sp>
      <p:sp>
        <p:nvSpPr>
          <p:cNvPr id="12" name="Text 8">
            <a:extLst xmlns:a="http://schemas.openxmlformats.org/drawingml/2006/main">
              <a:ext uri="{FF2B5EF4-FFF2-40B4-BE49-F238E27FC236}">
                <a16:creationId xmlns:a16="http://schemas.microsoft.com/office/drawing/2014/main" id="{219D8C44-15ED-43F7-A01E-4DCE99004C8C}"/>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Security</a:t>
            </a:r>
            <a:endParaRPr sz="5200"/>
          </a:p>
          <a:p xmlns:a="http://schemas.openxmlformats.org/drawingml/2006/main">
            <a:pPr marL="0" indent="0" algn="ctr">
              <a:buNone/>
            </a:pPr>
            <a:r>
              <a:rPr sz="5200" b="1">
                <a:solidFill>
                  <a:srgbClr val="FFFFFF"/>
                </a:solidFill>
                <a:latin typeface="Calibri"/>
                <a:ea typeface="Calibri"/>
                <a:cs typeface="Calibri"/>
              </a:rPr>
              <a:t>Best Practices</a:t>
            </a:r>
            <a:endParaRPr sz="5200"/>
          </a:p>
        </p:txBody>
      </p:sp>
      <p:sp>
        <p:nvSpPr>
          <p:cNvPr id="13" name="Shape 9">
            <a:extLst xmlns:a="http://schemas.openxmlformats.org/drawingml/2006/main">
              <a:ext uri="{FF2B5EF4-FFF2-40B4-BE49-F238E27FC236}">
                <a16:creationId xmlns:a16="http://schemas.microsoft.com/office/drawing/2014/main" id="{E417885B-B065-4E7A-9C5B-E4D3635C946E}"/>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9B3800A6-FB4F-4483-9D2A-B6B5ED51EF15}"/>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Image yang aman - non-root, no secrets, scanned.</a:t>
            </a:r>
            <a:endParaRPr sz="1400"/>
          </a:p>
        </p:txBody>
      </p:sp>
      <p:sp>
        <p:nvSpPr>
          <p:cNvPr id="26" name="text_11">
            <a:extLst xmlns:a="http://schemas.openxmlformats.org/drawingml/2006/main">
              <a:ext uri="{FF2B5EF4-FFF2-40B4-BE49-F238E27FC236}">
                <a16:creationId xmlns:a16="http://schemas.microsoft.com/office/drawing/2014/main" id="{1ACE0F8A-5295-4FB8-9F1D-E04A09008CEA}"/>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31</a:t>
            </a:r>
          </a:p>
        </p:txBody>
      </p:sp>
    </p:spTree>
    <p:extLst>
      <p:ext uri="{BB962C8B-B14F-4D97-AF65-F5344CB8AC3E}">
        <p14:creationId xmlns:p14="http://schemas.microsoft.com/office/powerpoint/2010/main" val="139570454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4128B4A-BCA0-4836-AAB1-7F3F715034B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3BB14929-4ECE-431D-8890-971AB175C927}"/>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32</a:t>
            </a:r>
            <a:endParaRPr sz="900"/>
          </a:p>
        </p:txBody>
      </p:sp>
      <p:sp>
        <p:nvSpPr>
          <p:cNvPr id="4" name="Shape 2">
            <a:extLst xmlns:a="http://schemas.openxmlformats.org/drawingml/2006/main">
              <a:ext uri="{FF2B5EF4-FFF2-40B4-BE49-F238E27FC236}">
                <a16:creationId xmlns:a16="http://schemas.microsoft.com/office/drawing/2014/main" id="{1E610C17-CE64-4B0F-8DC3-FB354B1930E0}"/>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61" name="Image 0">
            <a:extLst xmlns:a="http://schemas.openxmlformats.org/drawingml/2006/main">
              <a:ext uri="{FF2B5EF4-FFF2-40B4-BE49-F238E27FC236}">
                <a16:creationId xmlns:a16="http://schemas.microsoft.com/office/drawing/2014/main" id="{BB18F5D0-BBFE-4634-BA39-91E550215081}"/>
              </a:ext>
            </a:extLst>
          </p:cNvPr>
          <p:cNvPicPr>
            <a:picLocks xmlns:a="http://schemas.openxmlformats.org/drawingml/2006/main" noChangeAspect="1"/>
          </p:cNvPicPr>
          <p:nvPr/>
        </p:nvPicPr>
        <p:blipFill>
          <a:blip xmlns:r="http://schemas.openxmlformats.org/officeDocument/2006/relationships" xmlns:a="http://schemas.openxmlformats.org/drawingml/2006/main" r:embed="R8141d33814c94e77"/>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62" name="Image 1">
            <a:extLst xmlns:a="http://schemas.openxmlformats.org/drawingml/2006/main">
              <a:ext uri="{FF2B5EF4-FFF2-40B4-BE49-F238E27FC236}">
                <a16:creationId xmlns:a16="http://schemas.microsoft.com/office/drawing/2014/main" id="{FB4EBDE1-9E68-4041-A5CE-E2DBAF898926}"/>
              </a:ext>
            </a:extLst>
          </p:cNvPr>
          <p:cNvPicPr>
            <a:picLocks xmlns:a="http://schemas.openxmlformats.org/drawingml/2006/main" noChangeAspect="1"/>
          </p:cNvPicPr>
          <p:nvPr/>
        </p:nvPicPr>
        <p:blipFill>
          <a:blip xmlns:r="http://schemas.openxmlformats.org/officeDocument/2006/relationships" xmlns:a="http://schemas.openxmlformats.org/drawingml/2006/main" r:embed="R3f5d115b8caf4afe"/>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1E0FE429-A20B-49E3-A5D7-2DE23D27850B}"/>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66C46C74-6FA1-4E38-94EA-F84EB7B26562}"/>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Common Vulnerabilities di Docker Image</a:t>
            </a:r>
            <a:endParaRPr sz="2200"/>
          </a:p>
        </p:txBody>
      </p:sp>
      <p:sp>
        <p:nvSpPr>
          <p:cNvPr id="9" name="Text 5">
            <a:extLst xmlns:a="http://schemas.openxmlformats.org/drawingml/2006/main">
              <a:ext uri="{FF2B5EF4-FFF2-40B4-BE49-F238E27FC236}">
                <a16:creationId xmlns:a16="http://schemas.microsoft.com/office/drawing/2014/main" id="{01B22CBE-B3E6-4F31-8B5F-9CAAC73FC80A}"/>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Kesalahan keamanan yang sering muncul - dan cara hindari</a:t>
            </a:r>
            <a:endParaRPr sz="1200"/>
          </a:p>
        </p:txBody>
      </p:sp>
      <p:sp>
        <p:nvSpPr>
          <p:cNvPr id="10" name="Shape 6">
            <a:extLst xmlns:a="http://schemas.openxmlformats.org/drawingml/2006/main">
              <a:ext uri="{FF2B5EF4-FFF2-40B4-BE49-F238E27FC236}">
                <a16:creationId xmlns:a16="http://schemas.microsoft.com/office/drawing/2014/main" id="{28E5CFFD-B97D-4DF8-9799-BE4AA0805818}"/>
              </a:ext>
            </a:extLst>
          </p:cNvPr>
          <p:cNvSpPr>
            <a:spLocks xmlns:a="http://schemas.openxmlformats.org/drawingml/2006/main" noGrp="1"/>
          </p:cNvSpPr>
          <p:nvPr/>
        </p:nvSpPr>
        <p:spPr>
          <a:xfrm xmlns:a="http://schemas.openxmlformats.org/drawingml/2006/main">
            <a:off x="457200" y="1417320"/>
            <a:ext cx="3703320" cy="22402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F8E8FC9E-0524-4BC2-BACB-6CE7286AE46D}"/>
              </a:ext>
            </a:extLst>
          </p:cNvPr>
          <p:cNvSpPr>
            <a:spLocks xmlns:a="http://schemas.openxmlformats.org/drawingml/2006/main" noGrp="1"/>
          </p:cNvSpPr>
          <p:nvPr/>
        </p:nvSpPr>
        <p:spPr>
          <a:xfrm xmlns:a="http://schemas.openxmlformats.org/drawingml/2006/main">
            <a:off x="457200" y="1417320"/>
            <a:ext cx="3703320" cy="457200"/>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sp>
        <p:nvSpPr>
          <p:cNvPr id="12" name="Text 8">
            <a:extLst xmlns:a="http://schemas.openxmlformats.org/drawingml/2006/main">
              <a:ext uri="{FF2B5EF4-FFF2-40B4-BE49-F238E27FC236}">
                <a16:creationId xmlns:a16="http://schemas.microsoft.com/office/drawing/2014/main" id="{6A9E6FDD-D94F-4111-8A62-91D1CA1C5841}"/>
              </a:ext>
            </a:extLst>
          </p:cNvPr>
          <p:cNvSpPr>
            <a:spLocks xmlns:a="http://schemas.openxmlformats.org/drawingml/2006/main" noGrp="1"/>
          </p:cNvSpPr>
          <p:nvPr/>
        </p:nvSpPr>
        <p:spPr>
          <a:xfrm xmlns:a="http://schemas.openxmlformats.org/drawingml/2006/main">
            <a:off x="1051560" y="1417320"/>
            <a:ext cx="2971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Calibri"/>
                <a:ea typeface="Calibri"/>
                <a:cs typeface="Calibri"/>
              </a:rPr>
              <a:t>Running as Root</a:t>
            </a:r>
            <a:endParaRPr sz="1300"/>
          </a:p>
        </p:txBody>
      </p:sp>
      <p:sp>
        <p:nvSpPr>
          <p:cNvPr id="13" name="Text 9">
            <a:extLst xmlns:a="http://schemas.openxmlformats.org/drawingml/2006/main">
              <a:ext uri="{FF2B5EF4-FFF2-40B4-BE49-F238E27FC236}">
                <a16:creationId xmlns:a16="http://schemas.microsoft.com/office/drawing/2014/main" id="{EE44912B-0ADD-427A-8864-1637057CE84A}"/>
              </a:ext>
            </a:extLst>
          </p:cNvPr>
          <p:cNvSpPr>
            <a:spLocks xmlns:a="http://schemas.openxmlformats.org/drawingml/2006/main" noGrp="1"/>
          </p:cNvSpPr>
          <p:nvPr/>
        </p:nvSpPr>
        <p:spPr>
          <a:xfrm xmlns:a="http://schemas.openxmlformats.org/drawingml/2006/main">
            <a:off x="640080" y="1965960"/>
            <a:ext cx="333756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UID 0 dapat memperbesar dampak celah kernel/konfigurasi. Root host tidak otomatis diperoleh.</a:t>
            </a:r>
            <a:endParaRPr sz="1050"/>
          </a:p>
        </p:txBody>
      </p:sp>
      <p:sp>
        <p:nvSpPr>
          <p:cNvPr id="14" name="Shape 10">
            <a:extLst xmlns:a="http://schemas.openxmlformats.org/drawingml/2006/main">
              <a:ext uri="{FF2B5EF4-FFF2-40B4-BE49-F238E27FC236}">
                <a16:creationId xmlns:a16="http://schemas.microsoft.com/office/drawing/2014/main" id="{95A1A47C-E475-4570-B517-A2CCCD8D189F}"/>
              </a:ext>
            </a:extLst>
          </p:cNvPr>
          <p:cNvSpPr>
            <a:spLocks xmlns:a="http://schemas.openxmlformats.org/drawingml/2006/main" noGrp="1"/>
          </p:cNvSpPr>
          <p:nvPr/>
        </p:nvSpPr>
        <p:spPr>
          <a:xfrm xmlns:a="http://schemas.openxmlformats.org/drawingml/2006/main">
            <a:off x="640080" y="3017520"/>
            <a:ext cx="3337560" cy="548640"/>
          </a:xfrm>
          <a:prstGeom xmlns:a="http://schemas.openxmlformats.org/drawingml/2006/main" prst="rect">
            <a:avLst/>
          </a:prstGeom>
          <a:solidFill xmlns:a="http://schemas.openxmlformats.org/drawingml/2006/main">
            <a:srgbClr val="DCFCE7"/>
          </a:solidFill>
          <a:ln xmlns:a="http://schemas.openxmlformats.org/drawingml/2006/main" w="12700">
            <a:solidFill>
              <a:srgbClr val="059669"/>
            </a:solidFill>
            <a:prstDash val="solid"/>
          </a:ln>
        </p:spPr>
      </p:sp>
      <p:sp>
        <p:nvSpPr>
          <p:cNvPr id="15" name="Text 11">
            <a:extLst xmlns:a="http://schemas.openxmlformats.org/drawingml/2006/main">
              <a:ext uri="{FF2B5EF4-FFF2-40B4-BE49-F238E27FC236}">
                <a16:creationId xmlns:a16="http://schemas.microsoft.com/office/drawing/2014/main" id="{8CF4AF4A-ABB4-4DFA-AC6A-0416EE45547B}"/>
              </a:ext>
            </a:extLst>
          </p:cNvPr>
          <p:cNvSpPr>
            <a:spLocks xmlns:a="http://schemas.openxmlformats.org/drawingml/2006/main" noGrp="1"/>
          </p:cNvSpPr>
          <p:nvPr/>
        </p:nvSpPr>
        <p:spPr>
          <a:xfrm xmlns:a="http://schemas.openxmlformats.org/drawingml/2006/main">
            <a:off x="731520" y="3044952"/>
            <a:ext cx="315468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a:solidFill>
                  <a:srgbClr val="059669"/>
                </a:solidFill>
                <a:latin typeface="Calibri"/>
                <a:ea typeface="Calibri"/>
                <a:cs typeface="Calibri"/>
              </a:rPr>
              <a:t>FIX: </a:t>
            </a:r>
            <a:r>
              <a:rPr sz="1000">
                <a:solidFill>
                  <a:srgbClr val="1E293B"/>
                </a:solidFill>
                <a:latin typeface="Calibri"/>
                <a:ea typeface="Calibri"/>
                <a:cs typeface="Calibri"/>
              </a:rPr>
              <a:t>Pakai USER non-root di Dockerfile</a:t>
            </a:r>
            <a:endParaRPr sz="1000"/>
          </a:p>
        </p:txBody>
      </p:sp>
      <p:sp>
        <p:nvSpPr>
          <p:cNvPr id="16" name="Shape 12">
            <a:extLst xmlns:a="http://schemas.openxmlformats.org/drawingml/2006/main">
              <a:ext uri="{FF2B5EF4-FFF2-40B4-BE49-F238E27FC236}">
                <a16:creationId xmlns:a16="http://schemas.microsoft.com/office/drawing/2014/main" id="{2717BE9E-D2F5-4B4D-B345-A40714CA6203}"/>
              </a:ext>
            </a:extLst>
          </p:cNvPr>
          <p:cNvSpPr>
            <a:spLocks xmlns:a="http://schemas.openxmlformats.org/drawingml/2006/main" noGrp="1"/>
          </p:cNvSpPr>
          <p:nvPr/>
        </p:nvSpPr>
        <p:spPr>
          <a:xfrm xmlns:a="http://schemas.openxmlformats.org/drawingml/2006/main">
            <a:off x="4297680" y="1417320"/>
            <a:ext cx="3703320" cy="22402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7" name="Shape 13">
            <a:extLst xmlns:a="http://schemas.openxmlformats.org/drawingml/2006/main">
              <a:ext uri="{FF2B5EF4-FFF2-40B4-BE49-F238E27FC236}">
                <a16:creationId xmlns:a16="http://schemas.microsoft.com/office/drawing/2014/main" id="{40ECD1AD-84E3-4158-BABF-950587E8593B}"/>
              </a:ext>
            </a:extLst>
          </p:cNvPr>
          <p:cNvSpPr>
            <a:spLocks xmlns:a="http://schemas.openxmlformats.org/drawingml/2006/main" noGrp="1"/>
          </p:cNvSpPr>
          <p:nvPr/>
        </p:nvSpPr>
        <p:spPr>
          <a:xfrm xmlns:a="http://schemas.openxmlformats.org/drawingml/2006/main">
            <a:off x="4297680" y="1417320"/>
            <a:ext cx="3703320" cy="457200"/>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pic>
        <p:nvPicPr>
          <p:cNvPr id="74" name="Image 2">
            <a:extLst xmlns:a="http://schemas.openxmlformats.org/drawingml/2006/main">
              <a:ext uri="{FF2B5EF4-FFF2-40B4-BE49-F238E27FC236}">
                <a16:creationId xmlns:a16="http://schemas.microsoft.com/office/drawing/2014/main" id="{BDC42368-9AF8-4CA7-BFE7-5B2AC1AE6C40}"/>
              </a:ext>
            </a:extLst>
          </p:cNvPr>
          <p:cNvPicPr>
            <a:picLocks xmlns:a="http://schemas.openxmlformats.org/drawingml/2006/main" noChangeAspect="1"/>
          </p:cNvPicPr>
          <p:nvPr/>
        </p:nvPicPr>
        <p:blipFill>
          <a:blip xmlns:r="http://schemas.openxmlformats.org/officeDocument/2006/relationships" xmlns:a="http://schemas.openxmlformats.org/drawingml/2006/main" r:embed="R5b23dfc651394068"/>
          <a:stretch xmlns:a="http://schemas.openxmlformats.org/drawingml/2006/main">
            <a:fillRect l="0" t="0" r="0" b="0"/>
          </a:stretch>
        </p:blipFill>
        <p:spPr>
          <a:xfrm xmlns:a="http://schemas.openxmlformats.org/drawingml/2006/main">
            <a:off x="4434840" y="1463040"/>
            <a:ext cx="365760" cy="365760"/>
          </a:xfrm>
          <a:prstGeom xmlns:a="http://schemas.openxmlformats.org/drawingml/2006/main" prst="rect">
            <a:avLst/>
          </a:prstGeom>
        </p:spPr>
      </p:pic>
      <p:sp>
        <p:nvSpPr>
          <p:cNvPr id="19" name="Text 14">
            <a:extLst xmlns:a="http://schemas.openxmlformats.org/drawingml/2006/main">
              <a:ext uri="{FF2B5EF4-FFF2-40B4-BE49-F238E27FC236}">
                <a16:creationId xmlns:a16="http://schemas.microsoft.com/office/drawing/2014/main" id="{3D857F97-CA86-44B2-8185-3353A34BF5F6}"/>
              </a:ext>
            </a:extLst>
          </p:cNvPr>
          <p:cNvSpPr>
            <a:spLocks xmlns:a="http://schemas.openxmlformats.org/drawingml/2006/main" noGrp="1"/>
          </p:cNvSpPr>
          <p:nvPr/>
        </p:nvSpPr>
        <p:spPr>
          <a:xfrm xmlns:a="http://schemas.openxmlformats.org/drawingml/2006/main">
            <a:off x="4892040" y="1417320"/>
            <a:ext cx="2971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Calibri"/>
                <a:ea typeface="Calibri"/>
                <a:cs typeface="Calibri"/>
              </a:rPr>
              <a:t>Secrets in Image</a:t>
            </a:r>
            <a:endParaRPr sz="1300"/>
          </a:p>
        </p:txBody>
      </p:sp>
      <p:sp>
        <p:nvSpPr>
          <p:cNvPr id="20" name="Text 15">
            <a:extLst xmlns:a="http://schemas.openxmlformats.org/drawingml/2006/main">
              <a:ext uri="{FF2B5EF4-FFF2-40B4-BE49-F238E27FC236}">
                <a16:creationId xmlns:a16="http://schemas.microsoft.com/office/drawing/2014/main" id="{EFB5EED5-EC84-4439-B459-0BE92E9CFC1E}"/>
              </a:ext>
            </a:extLst>
          </p:cNvPr>
          <p:cNvSpPr>
            <a:spLocks xmlns:a="http://schemas.openxmlformats.org/drawingml/2006/main" noGrp="1"/>
          </p:cNvSpPr>
          <p:nvPr/>
        </p:nvSpPr>
        <p:spPr>
          <a:xfrm xmlns:a="http://schemas.openxmlformats.org/drawingml/2006/main">
            <a:off x="4480560" y="1965960"/>
            <a:ext cx="333756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API key / password hardcoded di Dockerfile, COPY .env, atau ENV password=...</a:t>
            </a:r>
            <a:endParaRPr sz="1050"/>
          </a:p>
        </p:txBody>
      </p:sp>
      <p:sp>
        <p:nvSpPr>
          <p:cNvPr id="21" name="Shape 16">
            <a:extLst xmlns:a="http://schemas.openxmlformats.org/drawingml/2006/main">
              <a:ext uri="{FF2B5EF4-FFF2-40B4-BE49-F238E27FC236}">
                <a16:creationId xmlns:a16="http://schemas.microsoft.com/office/drawing/2014/main" id="{6716D0B9-040B-4482-B921-C8D31BCB6439}"/>
              </a:ext>
            </a:extLst>
          </p:cNvPr>
          <p:cNvSpPr>
            <a:spLocks xmlns:a="http://schemas.openxmlformats.org/drawingml/2006/main" noGrp="1"/>
          </p:cNvSpPr>
          <p:nvPr/>
        </p:nvSpPr>
        <p:spPr>
          <a:xfrm xmlns:a="http://schemas.openxmlformats.org/drawingml/2006/main">
            <a:off x="4480560" y="3017520"/>
            <a:ext cx="3337560" cy="548640"/>
          </a:xfrm>
          <a:prstGeom xmlns:a="http://schemas.openxmlformats.org/drawingml/2006/main" prst="rect">
            <a:avLst/>
          </a:prstGeom>
          <a:solidFill xmlns:a="http://schemas.openxmlformats.org/drawingml/2006/main">
            <a:srgbClr val="DCFCE7"/>
          </a:solidFill>
          <a:ln xmlns:a="http://schemas.openxmlformats.org/drawingml/2006/main" w="12700">
            <a:solidFill>
              <a:srgbClr val="059669"/>
            </a:solidFill>
            <a:prstDash val="solid"/>
          </a:ln>
        </p:spPr>
      </p:sp>
      <p:sp>
        <p:nvSpPr>
          <p:cNvPr id="22" name="Text 17">
            <a:extLst xmlns:a="http://schemas.openxmlformats.org/drawingml/2006/main">
              <a:ext uri="{FF2B5EF4-FFF2-40B4-BE49-F238E27FC236}">
                <a16:creationId xmlns:a16="http://schemas.microsoft.com/office/drawing/2014/main" id="{7D6EAEDE-3C1D-474E-8F8B-A96CE198BE43}"/>
              </a:ext>
            </a:extLst>
          </p:cNvPr>
          <p:cNvSpPr>
            <a:spLocks xmlns:a="http://schemas.openxmlformats.org/drawingml/2006/main" noGrp="1"/>
          </p:cNvSpPr>
          <p:nvPr/>
        </p:nvSpPr>
        <p:spPr>
          <a:xfrm xmlns:a="http://schemas.openxmlformats.org/drawingml/2006/main">
            <a:off x="4572000" y="3044952"/>
            <a:ext cx="315468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a:solidFill>
                  <a:srgbClr val="059669"/>
                </a:solidFill>
                <a:latin typeface="Calibri"/>
                <a:ea typeface="Calibri"/>
                <a:cs typeface="Calibri"/>
              </a:rPr>
              <a:t>FIX: BuildKit secret mount / runtime secret manager</a:t>
            </a:r>
            <a:endParaRPr sz="1000"/>
          </a:p>
        </p:txBody>
      </p:sp>
      <p:sp>
        <p:nvSpPr>
          <p:cNvPr id="23" name="Shape 18">
            <a:extLst xmlns:a="http://schemas.openxmlformats.org/drawingml/2006/main">
              <a:ext uri="{FF2B5EF4-FFF2-40B4-BE49-F238E27FC236}">
                <a16:creationId xmlns:a16="http://schemas.microsoft.com/office/drawing/2014/main" id="{B4287873-A178-4C8F-8904-5A359BA9A280}"/>
              </a:ext>
            </a:extLst>
          </p:cNvPr>
          <p:cNvSpPr>
            <a:spLocks xmlns:a="http://schemas.openxmlformats.org/drawingml/2006/main" noGrp="1"/>
          </p:cNvSpPr>
          <p:nvPr/>
        </p:nvSpPr>
        <p:spPr>
          <a:xfrm xmlns:a="http://schemas.openxmlformats.org/drawingml/2006/main">
            <a:off x="8138160" y="1417320"/>
            <a:ext cx="3703320" cy="22402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4" name="Shape 19">
            <a:extLst xmlns:a="http://schemas.openxmlformats.org/drawingml/2006/main">
              <a:ext uri="{FF2B5EF4-FFF2-40B4-BE49-F238E27FC236}">
                <a16:creationId xmlns:a16="http://schemas.microsoft.com/office/drawing/2014/main" id="{E4D8B893-12B8-4AC6-BA56-31F29E72F775}"/>
              </a:ext>
            </a:extLst>
          </p:cNvPr>
          <p:cNvSpPr>
            <a:spLocks xmlns:a="http://schemas.openxmlformats.org/drawingml/2006/main" noGrp="1"/>
          </p:cNvSpPr>
          <p:nvPr/>
        </p:nvSpPr>
        <p:spPr>
          <a:xfrm xmlns:a="http://schemas.openxmlformats.org/drawingml/2006/main">
            <a:off x="8138160" y="1417320"/>
            <a:ext cx="3703320" cy="457200"/>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pic>
        <p:nvPicPr>
          <p:cNvPr id="81" name="Image 3">
            <a:extLst xmlns:a="http://schemas.openxmlformats.org/drawingml/2006/main">
              <a:ext uri="{FF2B5EF4-FFF2-40B4-BE49-F238E27FC236}">
                <a16:creationId xmlns:a16="http://schemas.microsoft.com/office/drawing/2014/main" id="{9DE9BC4E-492F-4D66-A991-9FF26A7C378F}"/>
              </a:ext>
            </a:extLst>
          </p:cNvPr>
          <p:cNvPicPr>
            <a:picLocks xmlns:a="http://schemas.openxmlformats.org/drawingml/2006/main" noChangeAspect="1"/>
          </p:cNvPicPr>
          <p:nvPr/>
        </p:nvPicPr>
        <p:blipFill>
          <a:blip xmlns:r="http://schemas.openxmlformats.org/officeDocument/2006/relationships" xmlns:a="http://schemas.openxmlformats.org/drawingml/2006/main" r:embed="Rde6bc05b0eba4f84"/>
          <a:stretch xmlns:a="http://schemas.openxmlformats.org/drawingml/2006/main">
            <a:fillRect l="0" t="0" r="0" b="0"/>
          </a:stretch>
        </p:blipFill>
        <p:spPr>
          <a:xfrm xmlns:a="http://schemas.openxmlformats.org/drawingml/2006/main">
            <a:off x="8275320" y="1463040"/>
            <a:ext cx="365760" cy="365760"/>
          </a:xfrm>
          <a:prstGeom xmlns:a="http://schemas.openxmlformats.org/drawingml/2006/main" prst="rect">
            <a:avLst/>
          </a:prstGeom>
        </p:spPr>
      </p:pic>
      <p:sp>
        <p:nvSpPr>
          <p:cNvPr id="26" name="Text 20">
            <a:extLst xmlns:a="http://schemas.openxmlformats.org/drawingml/2006/main">
              <a:ext uri="{FF2B5EF4-FFF2-40B4-BE49-F238E27FC236}">
                <a16:creationId xmlns:a16="http://schemas.microsoft.com/office/drawing/2014/main" id="{B0FFB2B0-0D14-41BE-B47A-35750FAE5553}"/>
              </a:ext>
            </a:extLst>
          </p:cNvPr>
          <p:cNvSpPr>
            <a:spLocks xmlns:a="http://schemas.openxmlformats.org/drawingml/2006/main" noGrp="1"/>
          </p:cNvSpPr>
          <p:nvPr/>
        </p:nvSpPr>
        <p:spPr>
          <a:xfrm xmlns:a="http://schemas.openxmlformats.org/drawingml/2006/main">
            <a:off x="8732520" y="1417320"/>
            <a:ext cx="2971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Calibri"/>
                <a:ea typeface="Calibri"/>
                <a:cs typeface="Calibri"/>
              </a:rPr>
              <a:t>Outdated Base Image</a:t>
            </a:r>
            <a:endParaRPr sz="1300"/>
          </a:p>
        </p:txBody>
      </p:sp>
      <p:sp>
        <p:nvSpPr>
          <p:cNvPr id="27" name="Text 21">
            <a:extLst xmlns:a="http://schemas.openxmlformats.org/drawingml/2006/main">
              <a:ext uri="{FF2B5EF4-FFF2-40B4-BE49-F238E27FC236}">
                <a16:creationId xmlns:a16="http://schemas.microsoft.com/office/drawing/2014/main" id="{8E9B987B-26CB-47DD-88F1-635E07C3B054}"/>
              </a:ext>
            </a:extLst>
          </p:cNvPr>
          <p:cNvSpPr>
            <a:spLocks xmlns:a="http://schemas.openxmlformats.org/drawingml/2006/main" noGrp="1"/>
          </p:cNvSpPr>
          <p:nvPr/>
        </p:nvSpPr>
        <p:spPr>
          <a:xfrm xmlns:a="http://schemas.openxmlformats.org/drawingml/2006/main">
            <a:off x="8321040" y="1965960"/>
            <a:ext cx="333756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Base lama tanpa pembaruan keamanan meningkatkan risiko CVE.</a:t>
            </a:r>
            <a:endParaRPr sz="1050"/>
          </a:p>
        </p:txBody>
      </p:sp>
      <p:sp>
        <p:nvSpPr>
          <p:cNvPr id="28" name="Shape 22">
            <a:extLst xmlns:a="http://schemas.openxmlformats.org/drawingml/2006/main">
              <a:ext uri="{FF2B5EF4-FFF2-40B4-BE49-F238E27FC236}">
                <a16:creationId xmlns:a16="http://schemas.microsoft.com/office/drawing/2014/main" id="{12A6EB7D-95B5-4E74-B30B-750DF9510424}"/>
              </a:ext>
            </a:extLst>
          </p:cNvPr>
          <p:cNvSpPr>
            <a:spLocks xmlns:a="http://schemas.openxmlformats.org/drawingml/2006/main" noGrp="1"/>
          </p:cNvSpPr>
          <p:nvPr/>
        </p:nvSpPr>
        <p:spPr>
          <a:xfrm xmlns:a="http://schemas.openxmlformats.org/drawingml/2006/main">
            <a:off x="8321040" y="3017520"/>
            <a:ext cx="3337560" cy="548640"/>
          </a:xfrm>
          <a:prstGeom xmlns:a="http://schemas.openxmlformats.org/drawingml/2006/main" prst="rect">
            <a:avLst/>
          </a:prstGeom>
          <a:solidFill xmlns:a="http://schemas.openxmlformats.org/drawingml/2006/main">
            <a:srgbClr val="DCFCE7"/>
          </a:solidFill>
          <a:ln xmlns:a="http://schemas.openxmlformats.org/drawingml/2006/main" w="12700">
            <a:solidFill>
              <a:srgbClr val="059669"/>
            </a:solidFill>
            <a:prstDash val="solid"/>
          </a:ln>
        </p:spPr>
      </p:sp>
      <p:sp>
        <p:nvSpPr>
          <p:cNvPr id="29" name="Text 23">
            <a:extLst xmlns:a="http://schemas.openxmlformats.org/drawingml/2006/main">
              <a:ext uri="{FF2B5EF4-FFF2-40B4-BE49-F238E27FC236}">
                <a16:creationId xmlns:a16="http://schemas.microsoft.com/office/drawing/2014/main" id="{EC0A80B8-9169-4C0A-8C1E-46B862BE8F97}"/>
              </a:ext>
            </a:extLst>
          </p:cNvPr>
          <p:cNvSpPr>
            <a:spLocks xmlns:a="http://schemas.openxmlformats.org/drawingml/2006/main" noGrp="1"/>
          </p:cNvSpPr>
          <p:nvPr/>
        </p:nvSpPr>
        <p:spPr>
          <a:xfrm xmlns:a="http://schemas.openxmlformats.org/drawingml/2006/main">
            <a:off x="8412480" y="3044952"/>
            <a:ext cx="315468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a:solidFill>
                  <a:srgbClr val="059669"/>
                </a:solidFill>
                <a:latin typeface="Calibri"/>
                <a:ea typeface="Calibri"/>
                <a:cs typeface="Calibri"/>
              </a:rPr>
              <a:t>FIX: Base yang didukung, pembaruan rutin, dan scan</a:t>
            </a:r>
            <a:endParaRPr sz="1000"/>
          </a:p>
        </p:txBody>
      </p:sp>
      <p:sp>
        <p:nvSpPr>
          <p:cNvPr id="30" name="Shape 24">
            <a:extLst xmlns:a="http://schemas.openxmlformats.org/drawingml/2006/main">
              <a:ext uri="{FF2B5EF4-FFF2-40B4-BE49-F238E27FC236}">
                <a16:creationId xmlns:a16="http://schemas.microsoft.com/office/drawing/2014/main" id="{4717098A-9A1F-42C2-95E5-5E58B195B288}"/>
              </a:ext>
            </a:extLst>
          </p:cNvPr>
          <p:cNvSpPr>
            <a:spLocks xmlns:a="http://schemas.openxmlformats.org/drawingml/2006/main" noGrp="1"/>
          </p:cNvSpPr>
          <p:nvPr/>
        </p:nvSpPr>
        <p:spPr>
          <a:xfrm xmlns:a="http://schemas.openxmlformats.org/drawingml/2006/main">
            <a:off x="457200" y="3794760"/>
            <a:ext cx="3703320" cy="22402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Shape 25">
            <a:extLst xmlns:a="http://schemas.openxmlformats.org/drawingml/2006/main">
              <a:ext uri="{FF2B5EF4-FFF2-40B4-BE49-F238E27FC236}">
                <a16:creationId xmlns:a16="http://schemas.microsoft.com/office/drawing/2014/main" id="{96BB99FC-FD92-4F5D-8DB1-85BEC4931D86}"/>
              </a:ext>
            </a:extLst>
          </p:cNvPr>
          <p:cNvSpPr>
            <a:spLocks xmlns:a="http://schemas.openxmlformats.org/drawingml/2006/main" noGrp="1"/>
          </p:cNvSpPr>
          <p:nvPr/>
        </p:nvSpPr>
        <p:spPr>
          <a:xfrm xmlns:a="http://schemas.openxmlformats.org/drawingml/2006/main">
            <a:off x="457200" y="3794760"/>
            <a:ext cx="3703320" cy="457200"/>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pic>
        <p:nvPicPr>
          <p:cNvPr id="88" name="Image 4">
            <a:extLst xmlns:a="http://schemas.openxmlformats.org/drawingml/2006/main">
              <a:ext uri="{FF2B5EF4-FFF2-40B4-BE49-F238E27FC236}">
                <a16:creationId xmlns:a16="http://schemas.microsoft.com/office/drawing/2014/main" id="{2FE06324-AE00-4572-96F0-557AB679ADFE}"/>
              </a:ext>
            </a:extLst>
          </p:cNvPr>
          <p:cNvPicPr>
            <a:picLocks xmlns:a="http://schemas.openxmlformats.org/drawingml/2006/main" noChangeAspect="1"/>
          </p:cNvPicPr>
          <p:nvPr/>
        </p:nvPicPr>
        <p:blipFill>
          <a:blip xmlns:r="http://schemas.openxmlformats.org/officeDocument/2006/relationships" xmlns:a="http://schemas.openxmlformats.org/drawingml/2006/main" r:embed="R66f10ec964f74211"/>
          <a:stretch xmlns:a="http://schemas.openxmlformats.org/drawingml/2006/main">
            <a:fillRect l="0" t="0" r="0" b="0"/>
          </a:stretch>
        </p:blipFill>
        <p:spPr>
          <a:xfrm xmlns:a="http://schemas.openxmlformats.org/drawingml/2006/main">
            <a:off x="594360" y="3840480"/>
            <a:ext cx="365760" cy="365760"/>
          </a:xfrm>
          <a:prstGeom xmlns:a="http://schemas.openxmlformats.org/drawingml/2006/main" prst="rect">
            <a:avLst/>
          </a:prstGeom>
        </p:spPr>
      </p:pic>
      <p:sp>
        <p:nvSpPr>
          <p:cNvPr id="33" name="Text 26">
            <a:extLst xmlns:a="http://schemas.openxmlformats.org/drawingml/2006/main">
              <a:ext uri="{FF2B5EF4-FFF2-40B4-BE49-F238E27FC236}">
                <a16:creationId xmlns:a16="http://schemas.microsoft.com/office/drawing/2014/main" id="{BB3928F8-A365-4547-A5A6-D86A0E1FFE85}"/>
              </a:ext>
            </a:extLst>
          </p:cNvPr>
          <p:cNvSpPr>
            <a:spLocks xmlns:a="http://schemas.openxmlformats.org/drawingml/2006/main" noGrp="1"/>
          </p:cNvSpPr>
          <p:nvPr/>
        </p:nvSpPr>
        <p:spPr>
          <a:xfrm xmlns:a="http://schemas.openxmlformats.org/drawingml/2006/main">
            <a:off x="1051560" y="3794760"/>
            <a:ext cx="2971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Calibri"/>
                <a:ea typeface="Calibri"/>
                <a:cs typeface="Calibri"/>
              </a:rPr>
              <a:t>Bloated Image</a:t>
            </a:r>
            <a:endParaRPr sz="1300"/>
          </a:p>
        </p:txBody>
      </p:sp>
      <p:sp>
        <p:nvSpPr>
          <p:cNvPr id="34" name="Text 27">
            <a:extLst xmlns:a="http://schemas.openxmlformats.org/drawingml/2006/main">
              <a:ext uri="{FF2B5EF4-FFF2-40B4-BE49-F238E27FC236}">
                <a16:creationId xmlns:a16="http://schemas.microsoft.com/office/drawing/2014/main" id="{E1EEC0D5-B7B2-4209-A398-1E16B1AFF44A}"/>
              </a:ext>
            </a:extLst>
          </p:cNvPr>
          <p:cNvSpPr>
            <a:spLocks xmlns:a="http://schemas.openxmlformats.org/drawingml/2006/main" noGrp="1"/>
          </p:cNvSpPr>
          <p:nvPr/>
        </p:nvSpPr>
        <p:spPr>
          <a:xfrm xmlns:a="http://schemas.openxmlformats.org/drawingml/2006/main">
            <a:off x="640080" y="4343400"/>
            <a:ext cx="333756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Tool yang tidak diperlukan menambah komponen yang perlu dipelihara.</a:t>
            </a:r>
            <a:endParaRPr sz="1050"/>
          </a:p>
        </p:txBody>
      </p:sp>
      <p:sp>
        <p:nvSpPr>
          <p:cNvPr id="35" name="Shape 28">
            <a:extLst xmlns:a="http://schemas.openxmlformats.org/drawingml/2006/main">
              <a:ext uri="{FF2B5EF4-FFF2-40B4-BE49-F238E27FC236}">
                <a16:creationId xmlns:a16="http://schemas.microsoft.com/office/drawing/2014/main" id="{7CB5069D-955B-4612-B35A-78532F9673B4}"/>
              </a:ext>
            </a:extLst>
          </p:cNvPr>
          <p:cNvSpPr>
            <a:spLocks xmlns:a="http://schemas.openxmlformats.org/drawingml/2006/main" noGrp="1"/>
          </p:cNvSpPr>
          <p:nvPr/>
        </p:nvSpPr>
        <p:spPr>
          <a:xfrm xmlns:a="http://schemas.openxmlformats.org/drawingml/2006/main">
            <a:off x="640080" y="5394960"/>
            <a:ext cx="3337560" cy="548640"/>
          </a:xfrm>
          <a:prstGeom xmlns:a="http://schemas.openxmlformats.org/drawingml/2006/main" prst="rect">
            <a:avLst/>
          </a:prstGeom>
          <a:solidFill xmlns:a="http://schemas.openxmlformats.org/drawingml/2006/main">
            <a:srgbClr val="DCFCE7"/>
          </a:solidFill>
          <a:ln xmlns:a="http://schemas.openxmlformats.org/drawingml/2006/main" w="12700">
            <a:solidFill>
              <a:srgbClr val="059669"/>
            </a:solidFill>
            <a:prstDash val="solid"/>
          </a:ln>
        </p:spPr>
      </p:sp>
      <p:sp>
        <p:nvSpPr>
          <p:cNvPr id="36" name="Text 29">
            <a:extLst xmlns:a="http://schemas.openxmlformats.org/drawingml/2006/main">
              <a:ext uri="{FF2B5EF4-FFF2-40B4-BE49-F238E27FC236}">
                <a16:creationId xmlns:a16="http://schemas.microsoft.com/office/drawing/2014/main" id="{F7E42640-B13B-48C1-BA64-E06A70213DC2}"/>
              </a:ext>
            </a:extLst>
          </p:cNvPr>
          <p:cNvSpPr>
            <a:spLocks xmlns:a="http://schemas.openxmlformats.org/drawingml/2006/main" noGrp="1"/>
          </p:cNvSpPr>
          <p:nvPr/>
        </p:nvSpPr>
        <p:spPr>
          <a:xfrm xmlns:a="http://schemas.openxmlformats.org/drawingml/2006/main">
            <a:off x="731520" y="5422392"/>
            <a:ext cx="315468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a:solidFill>
                  <a:srgbClr val="059669"/>
                </a:solidFill>
                <a:latin typeface="Calibri"/>
                <a:ea typeface="Calibri"/>
                <a:cs typeface="Calibri"/>
              </a:rPr>
              <a:t>FIX: </a:t>
            </a:r>
            <a:r>
              <a:rPr sz="1000">
                <a:solidFill>
                  <a:srgbClr val="1E293B"/>
                </a:solidFill>
                <a:latin typeface="Calibri"/>
                <a:ea typeface="Calibri"/>
                <a:cs typeface="Calibri"/>
              </a:rPr>
              <a:t>Multi-stage + alpine/distroless</a:t>
            </a:r>
            <a:endParaRPr sz="1000"/>
          </a:p>
        </p:txBody>
      </p:sp>
      <p:sp>
        <p:nvSpPr>
          <p:cNvPr id="37" name="Shape 30">
            <a:extLst xmlns:a="http://schemas.openxmlformats.org/drawingml/2006/main">
              <a:ext uri="{FF2B5EF4-FFF2-40B4-BE49-F238E27FC236}">
                <a16:creationId xmlns:a16="http://schemas.microsoft.com/office/drawing/2014/main" id="{3AC08404-D627-4B1D-9C01-18D88453B2F0}"/>
              </a:ext>
            </a:extLst>
          </p:cNvPr>
          <p:cNvSpPr>
            <a:spLocks xmlns:a="http://schemas.openxmlformats.org/drawingml/2006/main" noGrp="1"/>
          </p:cNvSpPr>
          <p:nvPr/>
        </p:nvSpPr>
        <p:spPr>
          <a:xfrm xmlns:a="http://schemas.openxmlformats.org/drawingml/2006/main">
            <a:off x="4297680" y="3794760"/>
            <a:ext cx="3703320" cy="22402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8" name="Shape 31">
            <a:extLst xmlns:a="http://schemas.openxmlformats.org/drawingml/2006/main">
              <a:ext uri="{FF2B5EF4-FFF2-40B4-BE49-F238E27FC236}">
                <a16:creationId xmlns:a16="http://schemas.microsoft.com/office/drawing/2014/main" id="{FBD05FE6-78E0-4E1C-9932-C962A4AD86F7}"/>
              </a:ext>
            </a:extLst>
          </p:cNvPr>
          <p:cNvSpPr>
            <a:spLocks xmlns:a="http://schemas.openxmlformats.org/drawingml/2006/main" noGrp="1"/>
          </p:cNvSpPr>
          <p:nvPr/>
        </p:nvSpPr>
        <p:spPr>
          <a:xfrm xmlns:a="http://schemas.openxmlformats.org/drawingml/2006/main">
            <a:off x="4297680" y="3794760"/>
            <a:ext cx="3703320" cy="457200"/>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pic>
        <p:nvPicPr>
          <p:cNvPr id="95" name="Image 5">
            <a:extLst xmlns:a="http://schemas.openxmlformats.org/drawingml/2006/main">
              <a:ext uri="{FF2B5EF4-FFF2-40B4-BE49-F238E27FC236}">
                <a16:creationId xmlns:a16="http://schemas.microsoft.com/office/drawing/2014/main" id="{B2E289EA-1547-47AE-B3CF-70FBC3D769B7}"/>
              </a:ext>
            </a:extLst>
          </p:cNvPr>
          <p:cNvPicPr>
            <a:picLocks xmlns:a="http://schemas.openxmlformats.org/drawingml/2006/main" noChangeAspect="1"/>
          </p:cNvPicPr>
          <p:nvPr/>
        </p:nvPicPr>
        <p:blipFill>
          <a:blip xmlns:r="http://schemas.openxmlformats.org/officeDocument/2006/relationships" xmlns:a="http://schemas.openxmlformats.org/drawingml/2006/main" r:embed="Rf4a7ec82e68c4d35"/>
          <a:stretch xmlns:a="http://schemas.openxmlformats.org/drawingml/2006/main">
            <a:fillRect l="0" t="0" r="0" b="0"/>
          </a:stretch>
        </p:blipFill>
        <p:spPr>
          <a:xfrm xmlns:a="http://schemas.openxmlformats.org/drawingml/2006/main">
            <a:off x="4434840" y="3840480"/>
            <a:ext cx="365760" cy="365760"/>
          </a:xfrm>
          <a:prstGeom xmlns:a="http://schemas.openxmlformats.org/drawingml/2006/main" prst="rect">
            <a:avLst/>
          </a:prstGeom>
        </p:spPr>
      </p:pic>
      <p:sp>
        <p:nvSpPr>
          <p:cNvPr id="40" name="Text 32">
            <a:extLst xmlns:a="http://schemas.openxmlformats.org/drawingml/2006/main">
              <a:ext uri="{FF2B5EF4-FFF2-40B4-BE49-F238E27FC236}">
                <a16:creationId xmlns:a16="http://schemas.microsoft.com/office/drawing/2014/main" id="{5E0EAD3B-ADFD-4830-81BF-0B6DCA30131E}"/>
              </a:ext>
            </a:extLst>
          </p:cNvPr>
          <p:cNvSpPr>
            <a:spLocks xmlns:a="http://schemas.openxmlformats.org/drawingml/2006/main" noGrp="1"/>
          </p:cNvSpPr>
          <p:nvPr/>
        </p:nvSpPr>
        <p:spPr>
          <a:xfrm xmlns:a="http://schemas.openxmlformats.org/drawingml/2006/main">
            <a:off x="4892040" y="3794760"/>
            <a:ext cx="2971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Calibri"/>
                <a:ea typeface="Calibri"/>
                <a:cs typeface="Calibri"/>
              </a:rPr>
              <a:t>Vulnerable Dependencies</a:t>
            </a:r>
            <a:endParaRPr sz="1300"/>
          </a:p>
        </p:txBody>
      </p:sp>
      <p:sp>
        <p:nvSpPr>
          <p:cNvPr id="41" name="Text 33">
            <a:extLst xmlns:a="http://schemas.openxmlformats.org/drawingml/2006/main">
              <a:ext uri="{FF2B5EF4-FFF2-40B4-BE49-F238E27FC236}">
                <a16:creationId xmlns:a16="http://schemas.microsoft.com/office/drawing/2014/main" id="{780E93F2-4367-4DC1-AAEE-2A7D49BEDD7C}"/>
              </a:ext>
            </a:extLst>
          </p:cNvPr>
          <p:cNvSpPr>
            <a:spLocks xmlns:a="http://schemas.openxmlformats.org/drawingml/2006/main" noGrp="1"/>
          </p:cNvSpPr>
          <p:nvPr/>
        </p:nvSpPr>
        <p:spPr>
          <a:xfrm xmlns:a="http://schemas.openxmlformats.org/drawingml/2006/main">
            <a:off x="4480560" y="4343400"/>
            <a:ext cx="333756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npm package dengan CVE dibiarkan di prod. Auto-update jarang dilakukan.</a:t>
            </a:r>
            <a:endParaRPr sz="1050"/>
          </a:p>
        </p:txBody>
      </p:sp>
      <p:sp>
        <p:nvSpPr>
          <p:cNvPr id="42" name="Shape 34">
            <a:extLst xmlns:a="http://schemas.openxmlformats.org/drawingml/2006/main">
              <a:ext uri="{FF2B5EF4-FFF2-40B4-BE49-F238E27FC236}">
                <a16:creationId xmlns:a16="http://schemas.microsoft.com/office/drawing/2014/main" id="{22AEA65C-7227-4533-9D14-DA651A1D8A39}"/>
              </a:ext>
            </a:extLst>
          </p:cNvPr>
          <p:cNvSpPr>
            <a:spLocks xmlns:a="http://schemas.openxmlformats.org/drawingml/2006/main" noGrp="1"/>
          </p:cNvSpPr>
          <p:nvPr/>
        </p:nvSpPr>
        <p:spPr>
          <a:xfrm xmlns:a="http://schemas.openxmlformats.org/drawingml/2006/main">
            <a:off x="4480560" y="5394960"/>
            <a:ext cx="3337560" cy="548640"/>
          </a:xfrm>
          <a:prstGeom xmlns:a="http://schemas.openxmlformats.org/drawingml/2006/main" prst="rect">
            <a:avLst/>
          </a:prstGeom>
          <a:solidFill xmlns:a="http://schemas.openxmlformats.org/drawingml/2006/main">
            <a:srgbClr val="DCFCE7"/>
          </a:solidFill>
          <a:ln xmlns:a="http://schemas.openxmlformats.org/drawingml/2006/main" w="12700">
            <a:solidFill>
              <a:srgbClr val="059669"/>
            </a:solidFill>
            <a:prstDash val="solid"/>
          </a:ln>
        </p:spPr>
      </p:sp>
      <p:sp>
        <p:nvSpPr>
          <p:cNvPr id="43" name="Text 35">
            <a:extLst xmlns:a="http://schemas.openxmlformats.org/drawingml/2006/main">
              <a:ext uri="{FF2B5EF4-FFF2-40B4-BE49-F238E27FC236}">
                <a16:creationId xmlns:a16="http://schemas.microsoft.com/office/drawing/2014/main" id="{F17B0957-5FAD-4387-A372-186A037E50B3}"/>
              </a:ext>
            </a:extLst>
          </p:cNvPr>
          <p:cNvSpPr>
            <a:spLocks xmlns:a="http://schemas.openxmlformats.org/drawingml/2006/main" noGrp="1"/>
          </p:cNvSpPr>
          <p:nvPr/>
        </p:nvSpPr>
        <p:spPr>
          <a:xfrm xmlns:a="http://schemas.openxmlformats.org/drawingml/2006/main">
            <a:off x="4572000" y="5422392"/>
            <a:ext cx="315468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a:solidFill>
                  <a:srgbClr val="059669"/>
                </a:solidFill>
                <a:latin typeface="Calibri"/>
                <a:ea typeface="Calibri"/>
                <a:cs typeface="Calibri"/>
              </a:rPr>
              <a:t>FIX: </a:t>
            </a:r>
            <a:r>
              <a:rPr sz="1000">
                <a:solidFill>
                  <a:srgbClr val="1E293B"/>
                </a:solidFill>
                <a:latin typeface="Calibri"/>
                <a:ea typeface="Calibri"/>
                <a:cs typeface="Calibri"/>
              </a:rPr>
              <a:t>npm audit + Dependabot + scanner CI</a:t>
            </a:r>
            <a:endParaRPr sz="1000"/>
          </a:p>
        </p:txBody>
      </p:sp>
      <p:sp>
        <p:nvSpPr>
          <p:cNvPr id="44" name="Shape 36">
            <a:extLst xmlns:a="http://schemas.openxmlformats.org/drawingml/2006/main">
              <a:ext uri="{FF2B5EF4-FFF2-40B4-BE49-F238E27FC236}">
                <a16:creationId xmlns:a16="http://schemas.microsoft.com/office/drawing/2014/main" id="{44C59E40-6A85-4A68-B5F5-BC9CFE23623F}"/>
              </a:ext>
            </a:extLst>
          </p:cNvPr>
          <p:cNvSpPr>
            <a:spLocks xmlns:a="http://schemas.openxmlformats.org/drawingml/2006/main" noGrp="1"/>
          </p:cNvSpPr>
          <p:nvPr/>
        </p:nvSpPr>
        <p:spPr>
          <a:xfrm xmlns:a="http://schemas.openxmlformats.org/drawingml/2006/main">
            <a:off x="8138160" y="3794760"/>
            <a:ext cx="3703320" cy="22402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5" name="Shape 37">
            <a:extLst xmlns:a="http://schemas.openxmlformats.org/drawingml/2006/main">
              <a:ext uri="{FF2B5EF4-FFF2-40B4-BE49-F238E27FC236}">
                <a16:creationId xmlns:a16="http://schemas.microsoft.com/office/drawing/2014/main" id="{88D7E07E-20A9-4B0A-888D-7470902D1FF2}"/>
              </a:ext>
            </a:extLst>
          </p:cNvPr>
          <p:cNvSpPr>
            <a:spLocks xmlns:a="http://schemas.openxmlformats.org/drawingml/2006/main" noGrp="1"/>
          </p:cNvSpPr>
          <p:nvPr/>
        </p:nvSpPr>
        <p:spPr>
          <a:xfrm xmlns:a="http://schemas.openxmlformats.org/drawingml/2006/main">
            <a:off x="8138160" y="3794760"/>
            <a:ext cx="3703320" cy="457200"/>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pic>
        <p:nvPicPr>
          <p:cNvPr id="102" name="Image 6">
            <a:extLst xmlns:a="http://schemas.openxmlformats.org/drawingml/2006/main">
              <a:ext uri="{FF2B5EF4-FFF2-40B4-BE49-F238E27FC236}">
                <a16:creationId xmlns:a16="http://schemas.microsoft.com/office/drawing/2014/main" id="{63B27FE0-A6D5-4454-8B5E-27FCEA773B9A}"/>
              </a:ext>
            </a:extLst>
          </p:cNvPr>
          <p:cNvPicPr>
            <a:picLocks xmlns:a="http://schemas.openxmlformats.org/drawingml/2006/main" noChangeAspect="1"/>
          </p:cNvPicPr>
          <p:nvPr/>
        </p:nvPicPr>
        <p:blipFill>
          <a:blip xmlns:r="http://schemas.openxmlformats.org/officeDocument/2006/relationships" xmlns:a="http://schemas.openxmlformats.org/drawingml/2006/main" r:embed="Rab4b416a2ce440a6"/>
          <a:stretch xmlns:a="http://schemas.openxmlformats.org/drawingml/2006/main">
            <a:fillRect l="0" t="0" r="0" b="0"/>
          </a:stretch>
        </p:blipFill>
        <p:spPr>
          <a:xfrm xmlns:a="http://schemas.openxmlformats.org/drawingml/2006/main">
            <a:off x="8275320" y="3840480"/>
            <a:ext cx="365760" cy="365760"/>
          </a:xfrm>
          <a:prstGeom xmlns:a="http://schemas.openxmlformats.org/drawingml/2006/main" prst="rect">
            <a:avLst/>
          </a:prstGeom>
        </p:spPr>
      </p:pic>
      <p:sp>
        <p:nvSpPr>
          <p:cNvPr id="47" name="Text 38">
            <a:extLst xmlns:a="http://schemas.openxmlformats.org/drawingml/2006/main">
              <a:ext uri="{FF2B5EF4-FFF2-40B4-BE49-F238E27FC236}">
                <a16:creationId xmlns:a16="http://schemas.microsoft.com/office/drawing/2014/main" id="{E617974E-4CCE-4EB7-BDB6-07D10FA944FC}"/>
              </a:ext>
            </a:extLst>
          </p:cNvPr>
          <p:cNvSpPr>
            <a:spLocks xmlns:a="http://schemas.openxmlformats.org/drawingml/2006/main" noGrp="1"/>
          </p:cNvSpPr>
          <p:nvPr/>
        </p:nvSpPr>
        <p:spPr>
          <a:xfrm xmlns:a="http://schemas.openxmlformats.org/drawingml/2006/main">
            <a:off x="8732520" y="3794760"/>
            <a:ext cx="2971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Calibri"/>
                <a:ea typeface="Calibri"/>
                <a:cs typeface="Calibri"/>
              </a:rPr>
              <a:t>Layanan tidak sehat</a:t>
            </a:r>
            <a:endParaRPr sz="1300"/>
          </a:p>
        </p:txBody>
      </p:sp>
      <p:sp>
        <p:nvSpPr>
          <p:cNvPr id="48" name="Text 39">
            <a:extLst xmlns:a="http://schemas.openxmlformats.org/drawingml/2006/main">
              <a:ext uri="{FF2B5EF4-FFF2-40B4-BE49-F238E27FC236}">
                <a16:creationId xmlns:a16="http://schemas.microsoft.com/office/drawing/2014/main" id="{54FD2DD1-E23F-4E34-B5AC-723D5B7540D7}"/>
              </a:ext>
            </a:extLst>
          </p:cNvPr>
          <p:cNvSpPr>
            <a:spLocks xmlns:a="http://schemas.openxmlformats.org/drawingml/2006/main" noGrp="1"/>
          </p:cNvSpPr>
          <p:nvPr/>
        </p:nvSpPr>
        <p:spPr>
          <a:xfrm xmlns:a="http://schemas.openxmlformats.org/drawingml/2006/main">
            <a:off x="8321040" y="4343400"/>
            <a:ext cx="333756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Proses dapat tetap jalan saat HTTP gagal. Docker tetap mendeteksi proses yang exit.</a:t>
            </a:r>
            <a:endParaRPr sz="1050"/>
          </a:p>
        </p:txBody>
      </p:sp>
      <p:sp>
        <p:nvSpPr>
          <p:cNvPr id="49" name="Shape 40">
            <a:extLst xmlns:a="http://schemas.openxmlformats.org/drawingml/2006/main">
              <a:ext uri="{FF2B5EF4-FFF2-40B4-BE49-F238E27FC236}">
                <a16:creationId xmlns:a16="http://schemas.microsoft.com/office/drawing/2014/main" id="{30749656-D087-418A-A7A2-E983DF15AE1A}"/>
              </a:ext>
            </a:extLst>
          </p:cNvPr>
          <p:cNvSpPr>
            <a:spLocks xmlns:a="http://schemas.openxmlformats.org/drawingml/2006/main" noGrp="1"/>
          </p:cNvSpPr>
          <p:nvPr/>
        </p:nvSpPr>
        <p:spPr>
          <a:xfrm xmlns:a="http://schemas.openxmlformats.org/drawingml/2006/main">
            <a:off x="8321040" y="5394960"/>
            <a:ext cx="3337560" cy="548640"/>
          </a:xfrm>
          <a:prstGeom xmlns:a="http://schemas.openxmlformats.org/drawingml/2006/main" prst="rect">
            <a:avLst/>
          </a:prstGeom>
          <a:solidFill xmlns:a="http://schemas.openxmlformats.org/drawingml/2006/main">
            <a:srgbClr val="DCFCE7"/>
          </a:solidFill>
          <a:ln xmlns:a="http://schemas.openxmlformats.org/drawingml/2006/main" w="12700">
            <a:solidFill>
              <a:srgbClr val="059669"/>
            </a:solidFill>
            <a:prstDash val="solid"/>
          </a:ln>
        </p:spPr>
      </p:sp>
      <p:sp>
        <p:nvSpPr>
          <p:cNvPr id="50" name="Text 41">
            <a:extLst xmlns:a="http://schemas.openxmlformats.org/drawingml/2006/main">
              <a:ext uri="{FF2B5EF4-FFF2-40B4-BE49-F238E27FC236}">
                <a16:creationId xmlns:a16="http://schemas.microsoft.com/office/drawing/2014/main" id="{31B4A814-4AE7-4FB5-BE9F-4BEEBECB2B44}"/>
              </a:ext>
            </a:extLst>
          </p:cNvPr>
          <p:cNvSpPr>
            <a:spLocks xmlns:a="http://schemas.openxmlformats.org/drawingml/2006/main" noGrp="1"/>
          </p:cNvSpPr>
          <p:nvPr/>
        </p:nvSpPr>
        <p:spPr>
          <a:xfrm xmlns:a="http://schemas.openxmlformats.org/drawingml/2006/main">
            <a:off x="8412480" y="5422392"/>
            <a:ext cx="315468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a:solidFill>
                  <a:srgbClr val="059669"/>
                </a:solidFill>
                <a:latin typeface="Calibri"/>
                <a:ea typeface="Calibri"/>
                <a:cs typeface="Calibri"/>
              </a:rPr>
              <a:t>FIX: Probe yang sesuai dan kebijakan pemulihan eksplisit</a:t>
            </a:r>
            <a:endParaRPr sz="1000"/>
          </a:p>
        </p:txBody>
      </p:sp>
    </p:spTree>
    <p:extLst>
      <p:ext uri="{BB962C8B-B14F-4D97-AF65-F5344CB8AC3E}">
        <p14:creationId xmlns:p14="http://schemas.microsoft.com/office/powerpoint/2010/main" val="193455047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353CFE1-6DC1-449E-B742-6BC8A331D327}"/>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0798A130-E8F1-4510-8100-D71B864272DE}"/>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33</a:t>
            </a:r>
            <a:endParaRPr sz="900"/>
          </a:p>
        </p:txBody>
      </p:sp>
      <p:sp>
        <p:nvSpPr>
          <p:cNvPr id="4" name="Shape 2">
            <a:extLst xmlns:a="http://schemas.openxmlformats.org/drawingml/2006/main">
              <a:ext uri="{FF2B5EF4-FFF2-40B4-BE49-F238E27FC236}">
                <a16:creationId xmlns:a16="http://schemas.microsoft.com/office/drawing/2014/main" id="{0F236F89-C946-4E9E-BCBD-4F901F686B4C}"/>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2" name="Image 0">
            <a:extLst xmlns:a="http://schemas.openxmlformats.org/drawingml/2006/main">
              <a:ext uri="{FF2B5EF4-FFF2-40B4-BE49-F238E27FC236}">
                <a16:creationId xmlns:a16="http://schemas.microsoft.com/office/drawing/2014/main" id="{0494317E-7351-4B46-A43E-A464E9C2B48C}"/>
              </a:ext>
            </a:extLst>
          </p:cNvPr>
          <p:cNvPicPr>
            <a:picLocks xmlns:a="http://schemas.openxmlformats.org/drawingml/2006/main" noChangeAspect="1"/>
          </p:cNvPicPr>
          <p:nvPr/>
        </p:nvPicPr>
        <p:blipFill>
          <a:blip xmlns:r="http://schemas.openxmlformats.org/officeDocument/2006/relationships" xmlns:a="http://schemas.openxmlformats.org/drawingml/2006/main" r:embed="R289c9be473c643d8"/>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23" name="Image 1">
            <a:extLst xmlns:a="http://schemas.openxmlformats.org/drawingml/2006/main">
              <a:ext uri="{FF2B5EF4-FFF2-40B4-BE49-F238E27FC236}">
                <a16:creationId xmlns:a16="http://schemas.microsoft.com/office/drawing/2014/main" id="{BD47A51A-38E0-4A3A-9D14-810DCB2DB6B4}"/>
              </a:ext>
            </a:extLst>
          </p:cNvPr>
          <p:cNvPicPr>
            <a:picLocks xmlns:a="http://schemas.openxmlformats.org/drawingml/2006/main" noChangeAspect="1"/>
          </p:cNvPicPr>
          <p:nvPr/>
        </p:nvPicPr>
        <p:blipFill>
          <a:blip xmlns:r="http://schemas.openxmlformats.org/officeDocument/2006/relationships" xmlns:a="http://schemas.openxmlformats.org/drawingml/2006/main" r:embed="Rb1541b1984b848b0"/>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149B3599-27F5-4244-958D-6AEC5768AC41}"/>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0303F282-C923-4B3C-88F5-9D50B1906B52}"/>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Security Best Practices - Dockerfile Edition</a:t>
            </a:r>
            <a:endParaRPr sz="2200"/>
          </a:p>
        </p:txBody>
      </p:sp>
      <p:sp>
        <p:nvSpPr>
          <p:cNvPr id="9" name="Text 5">
            <a:extLst xmlns:a="http://schemas.openxmlformats.org/drawingml/2006/main">
              <a:ext uri="{FF2B5EF4-FFF2-40B4-BE49-F238E27FC236}">
                <a16:creationId xmlns:a16="http://schemas.microsoft.com/office/drawing/2014/main" id="{50046F59-8640-4885-911F-C7A6D7126D05}"/>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Pattern Dockerfile yang aman secara default</a:t>
            </a:r>
            <a:endParaRPr sz="1200"/>
          </a:p>
        </p:txBody>
      </p:sp>
      <p:sp>
        <p:nvSpPr>
          <p:cNvPr id="10" name="Shape 6">
            <a:extLst xmlns:a="http://schemas.openxmlformats.org/drawingml/2006/main">
              <a:ext uri="{FF2B5EF4-FFF2-40B4-BE49-F238E27FC236}">
                <a16:creationId xmlns:a16="http://schemas.microsoft.com/office/drawing/2014/main" id="{8F8B3CC6-3183-40C4-A222-9CBF12773A99}"/>
              </a:ext>
            </a:extLst>
          </p:cNvPr>
          <p:cNvSpPr>
            <a:spLocks xmlns:a="http://schemas.openxmlformats.org/drawingml/2006/main" noGrp="1"/>
          </p:cNvSpPr>
          <p:nvPr/>
        </p:nvSpPr>
        <p:spPr>
          <a:xfrm xmlns:a="http://schemas.openxmlformats.org/drawingml/2006/main">
            <a:off x="457200" y="1417320"/>
            <a:ext cx="11247120" cy="48463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1" name="Shape 7">
            <a:extLst xmlns:a="http://schemas.openxmlformats.org/drawingml/2006/main">
              <a:ext uri="{FF2B5EF4-FFF2-40B4-BE49-F238E27FC236}">
                <a16:creationId xmlns:a16="http://schemas.microsoft.com/office/drawing/2014/main" id="{E8E05E4C-F6DB-46D1-A412-FA60A869FB94}"/>
              </a:ext>
            </a:extLst>
          </p:cNvPr>
          <p:cNvSpPr>
            <a:spLocks xmlns:a="http://schemas.openxmlformats.org/drawingml/2006/main" noGrp="1"/>
          </p:cNvSpPr>
          <p:nvPr/>
        </p:nvSpPr>
        <p:spPr>
          <a:xfrm xmlns:a="http://schemas.openxmlformats.org/drawingml/2006/main">
            <a:off x="457200" y="1417320"/>
            <a:ext cx="1124712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2" name="Shape 8">
            <a:extLst xmlns:a="http://schemas.openxmlformats.org/drawingml/2006/main">
              <a:ext uri="{FF2B5EF4-FFF2-40B4-BE49-F238E27FC236}">
                <a16:creationId xmlns:a16="http://schemas.microsoft.com/office/drawing/2014/main" id="{C5EF5D92-E321-4BF9-BF00-40959D8F317C}"/>
              </a:ext>
            </a:extLst>
          </p:cNvPr>
          <p:cNvSpPr>
            <a:spLocks xmlns:a="http://schemas.openxmlformats.org/drawingml/2006/main" noGrp="1"/>
          </p:cNvSpPr>
          <p:nvPr/>
        </p:nvSpPr>
        <p:spPr>
          <a:xfrm xmlns:a="http://schemas.openxmlformats.org/drawingml/2006/main">
            <a:off x="548640" y="14996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13" name="Shape 9">
            <a:extLst xmlns:a="http://schemas.openxmlformats.org/drawingml/2006/main">
              <a:ext uri="{FF2B5EF4-FFF2-40B4-BE49-F238E27FC236}">
                <a16:creationId xmlns:a16="http://schemas.microsoft.com/office/drawing/2014/main" id="{CAE46DFA-36BA-4C9D-B120-50955687A65E}"/>
              </a:ext>
            </a:extLst>
          </p:cNvPr>
          <p:cNvSpPr>
            <a:spLocks xmlns:a="http://schemas.openxmlformats.org/drawingml/2006/main" noGrp="1"/>
          </p:cNvSpPr>
          <p:nvPr/>
        </p:nvSpPr>
        <p:spPr>
          <a:xfrm xmlns:a="http://schemas.openxmlformats.org/drawingml/2006/main">
            <a:off x="685800" y="14996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4" name="Shape 10">
            <a:extLst xmlns:a="http://schemas.openxmlformats.org/drawingml/2006/main">
              <a:ext uri="{FF2B5EF4-FFF2-40B4-BE49-F238E27FC236}">
                <a16:creationId xmlns:a16="http://schemas.microsoft.com/office/drawing/2014/main" id="{FC1A1D42-AE91-49EB-AC2D-6A24D04D86C4}"/>
              </a:ext>
            </a:extLst>
          </p:cNvPr>
          <p:cNvSpPr>
            <a:spLocks xmlns:a="http://schemas.openxmlformats.org/drawingml/2006/main" noGrp="1"/>
          </p:cNvSpPr>
          <p:nvPr/>
        </p:nvSpPr>
        <p:spPr>
          <a:xfrm xmlns:a="http://schemas.openxmlformats.org/drawingml/2006/main">
            <a:off x="822960" y="14996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15" name="Text 11">
            <a:extLst xmlns:a="http://schemas.openxmlformats.org/drawingml/2006/main">
              <a:ext uri="{FF2B5EF4-FFF2-40B4-BE49-F238E27FC236}">
                <a16:creationId xmlns:a16="http://schemas.microsoft.com/office/drawing/2014/main" id="{465290DC-736F-4C25-B409-2274C795BADA}"/>
              </a:ext>
            </a:extLst>
          </p:cNvPr>
          <p:cNvSpPr>
            <a:spLocks xmlns:a="http://schemas.openxmlformats.org/drawingml/2006/main" noGrp="1"/>
          </p:cNvSpPr>
          <p:nvPr/>
        </p:nvSpPr>
        <p:spPr>
          <a:xfrm xmlns:a="http://schemas.openxmlformats.org/drawingml/2006/main">
            <a:off x="1005840" y="1417320"/>
            <a:ext cx="10515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Dockerfile - secure by default</a:t>
            </a:r>
            <a:endParaRPr sz="900"/>
          </a:p>
        </p:txBody>
      </p:sp>
      <p:sp>
        <p:nvSpPr>
          <p:cNvPr id="16" name="Text 12">
            <a:extLst xmlns:a="http://schemas.openxmlformats.org/drawingml/2006/main">
              <a:ext uri="{FF2B5EF4-FFF2-40B4-BE49-F238E27FC236}">
                <a16:creationId xmlns:a16="http://schemas.microsoft.com/office/drawing/2014/main" id="{5DE0778A-3528-4C2C-9F8B-E9A72B13E819}"/>
              </a:ext>
            </a:extLst>
          </p:cNvPr>
          <p:cNvSpPr>
            <a:spLocks xmlns:a="http://schemas.openxmlformats.org/drawingml/2006/main" noGrp="1"/>
          </p:cNvSpPr>
          <p:nvPr/>
        </p:nvSpPr>
        <p:spPr>
          <a:xfrm xmlns:a="http://schemas.openxmlformats.org/drawingml/2006/main">
            <a:off x="594360" y="1783080"/>
            <a:ext cx="10972800" cy="4389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94A3B8"/>
                </a:solidFill>
                <a:latin typeface="Consolas"/>
                <a:ea typeface="Consolas"/>
                <a:cs typeface="Consolas"/>
              </a:rPr>
              <a:t># 1. Pilih base yang masih didukung</a:t>
            </a:r>
            <a:endParaRPr sz="1100"/>
          </a:p>
          <a:p xmlns:a="http://schemas.openxmlformats.org/drawingml/2006/main">
            <a:pPr marL="0" indent="0">
              <a:spcAft>
                <a:spcPts val="200"/>
              </a:spcAft>
              <a:buNone/>
            </a:pPr>
            <a:r>
              <a:rPr sz="1100" b="1">
                <a:solidFill>
                  <a:srgbClr val="10B981"/>
                </a:solidFill>
                <a:latin typeface="Consolas"/>
                <a:ea typeface="Consolas"/>
                <a:cs typeface="Consolas"/>
              </a:rPr>
              <a:t>FROM </a:t>
            </a:r>
            <a:r>
              <a:rPr sz="1100" b="1">
                <a:solidFill>
                  <a:srgbClr val="10B981"/>
                </a:solidFill>
                <a:latin typeface="Consolas"/>
                <a:ea typeface="Consolas"/>
                <a:cs typeface="Consolas"/>
              </a:rPr>
              <a:t>node:24-alpine</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2. Buat user non-root khusus</a:t>
            </a:r>
            <a:endParaRPr sz="1100"/>
          </a:p>
          <a:p xmlns:a="http://schemas.openxmlformats.org/drawingml/2006/main">
            <a:pPr marL="0" indent="0">
              <a:spcAft>
                <a:spcPts val="200"/>
              </a:spcAft>
              <a:buNone/>
            </a:pPr>
            <a:r>
              <a:rPr sz="1100" b="1">
                <a:solidFill>
                  <a:srgbClr val="10B981"/>
                </a:solidFill>
                <a:latin typeface="Consolas"/>
                <a:ea typeface="Consolas"/>
                <a:cs typeface="Consolas"/>
              </a:rPr>
              <a:t>RUN addgroup -S app &amp;&amp; adduser -S app -G app</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E2E8F0"/>
                </a:solidFill>
                <a:latin typeface="Consolas"/>
                <a:ea typeface="Consolas"/>
                <a:cs typeface="Consolas"/>
              </a:rPr>
              <a:t>WORKDIR /app</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3. Copy file dgn ownership eksplisit</a:t>
            </a:r>
            <a:endParaRPr sz="1100"/>
          </a:p>
          <a:p xmlns:a="http://schemas.openxmlformats.org/drawingml/2006/main">
            <a:pPr marL="0" indent="0">
              <a:spcAft>
                <a:spcPts val="200"/>
              </a:spcAft>
              <a:buNone/>
            </a:pPr>
            <a:r>
              <a:rPr sz="1100" b="1">
                <a:solidFill>
                  <a:srgbClr val="10B981"/>
                </a:solidFill>
                <a:latin typeface="Consolas"/>
                <a:ea typeface="Consolas"/>
                <a:cs typeface="Consolas"/>
              </a:rPr>
              <a:t>COPY --chown=app:app package.json package-lock.json ./</a:t>
            </a:r>
            <a:endParaRPr sz="1100"/>
          </a:p>
          <a:p xmlns:a="http://schemas.openxmlformats.org/drawingml/2006/main">
            <a:pPr marL="0" indent="0">
              <a:spcAft>
                <a:spcPts val="200"/>
              </a:spcAft>
              <a:buNone/>
            </a:pPr>
            <a:r>
              <a:rPr sz="1100">
                <a:solidFill>
                  <a:srgbClr val="E2E8F0"/>
                </a:solidFill>
                <a:latin typeface="Consolas"/>
                <a:ea typeface="Consolas"/>
                <a:cs typeface="Consolas"/>
              </a:rPr>
              <a:t>RUN </a:t>
            </a:r>
            <a:r>
              <a:rPr sz="1100">
                <a:solidFill>
                  <a:srgbClr val="E2E8F0"/>
                </a:solidFill>
                <a:latin typeface="Consolas"/>
                <a:ea typeface="Consolas"/>
                <a:cs typeface="Consolas"/>
              </a:rPr>
              <a:t>npm ci --omit=dev</a:t>
            </a:r>
            <a:r>
              <a:rPr sz="1100">
                <a:solidFill>
                  <a:srgbClr val="E2E8F0"/>
                </a:solidFill>
                <a:latin typeface="Consolas"/>
                <a:ea typeface="Consolas"/>
                <a:cs typeface="Consolas"/>
              </a:rPr>
              <a:t> &amp;&amp; npm cache clean --force</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E2E8F0"/>
                </a:solidFill>
                <a:latin typeface="Consolas"/>
                <a:ea typeface="Consolas"/>
                <a:cs typeface="Consolas"/>
              </a:rPr>
              <a:t>COPY --chown=app:app . .</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4. Switch ke user app SEBELUM CMD</a:t>
            </a:r>
            <a:endParaRPr sz="1100"/>
          </a:p>
          <a:p xmlns:a="http://schemas.openxmlformats.org/drawingml/2006/main">
            <a:pPr marL="0" indent="0">
              <a:spcAft>
                <a:spcPts val="200"/>
              </a:spcAft>
              <a:buNone/>
            </a:pPr>
            <a:r>
              <a:rPr sz="1100" b="1">
                <a:solidFill>
                  <a:srgbClr val="10B981"/>
                </a:solidFill>
                <a:latin typeface="Consolas"/>
                <a:ea typeface="Consolas"/>
                <a:cs typeface="Consolas"/>
              </a:rPr>
              <a:t>USER app</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5. Probe aplikasi; wget tersedia pada base Alpine ini</a:t>
            </a:r>
            <a:endParaRPr sz="1100"/>
          </a:p>
          <a:p xmlns:a="http://schemas.openxmlformats.org/drawingml/2006/main">
            <a:pPr marL="0" indent="0">
              <a:spcAft>
                <a:spcPts val="200"/>
              </a:spcAft>
              <a:buNone/>
            </a:pPr>
            <a:r>
              <a:rPr sz="1100" b="1">
                <a:solidFill>
                  <a:srgbClr val="10B981"/>
                </a:solidFill>
                <a:latin typeface="Consolas"/>
                <a:ea typeface="Consolas"/>
                <a:cs typeface="Consolas"/>
              </a:rPr>
              <a:t>HEALTHCHECK --interval=30s --timeout=3s --retries=3 \</a:t>
            </a:r>
            <a:endParaRPr sz="1100"/>
          </a:p>
          <a:p xmlns:a="http://schemas.openxmlformats.org/drawingml/2006/main">
            <a:pPr marL="0" indent="0">
              <a:spcAft>
                <a:spcPts val="200"/>
              </a:spcAft>
              <a:buNone/>
            </a:pPr>
            <a:r>
              <a:rPr sz="1100">
                <a:solidFill>
                  <a:srgbClr val="10B981"/>
                </a:solidFill>
                <a:latin typeface="Consolas"/>
                <a:ea typeface="Consolas"/>
                <a:cs typeface="Consolas"/>
              </a:rPr>
              <a:t>  CMD wget --quiet --tries=1 --spider http://localhost:3000/health || exit 1</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E2E8F0"/>
                </a:solidFill>
                <a:latin typeface="Consolas"/>
                <a:ea typeface="Consolas"/>
                <a:cs typeface="Consolas"/>
              </a:rPr>
              <a:t>EXPOSE 3000</a:t>
            </a:r>
            <a:endParaRPr sz="1100"/>
          </a:p>
          <a:p xmlns:a="http://schemas.openxmlformats.org/drawingml/2006/main">
            <a:pPr marL="0" indent="0">
              <a:spcAft>
                <a:spcPts val="200"/>
              </a:spcAft>
              <a:buNone/>
            </a:pPr>
            <a:r>
              <a:rPr sz="1100">
                <a:solidFill>
                  <a:srgbClr val="E2E8F0"/>
                </a:solidFill>
                <a:latin typeface="Consolas"/>
                <a:ea typeface="Consolas"/>
                <a:cs typeface="Consolas"/>
              </a:rPr>
              <a:t>CMD ["node", "server.js"]</a:t>
            </a:r>
            <a:endParaRPr sz="1100"/>
          </a:p>
        </p:txBody>
      </p:sp>
    </p:spTree>
    <p:extLst>
      <p:ext uri="{BB962C8B-B14F-4D97-AF65-F5344CB8AC3E}">
        <p14:creationId xmlns:p14="http://schemas.microsoft.com/office/powerpoint/2010/main" val="79163446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DCB4762-6E1C-4ABA-BA02-9C81CCA4CCAA}"/>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B26C7534-B22F-44F6-9029-959F0595DF74}"/>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34</a:t>
            </a:r>
            <a:endParaRPr sz="900"/>
          </a:p>
        </p:txBody>
      </p:sp>
      <p:sp>
        <p:nvSpPr>
          <p:cNvPr id="4" name="Shape 2">
            <a:extLst xmlns:a="http://schemas.openxmlformats.org/drawingml/2006/main">
              <a:ext uri="{FF2B5EF4-FFF2-40B4-BE49-F238E27FC236}">
                <a16:creationId xmlns:a16="http://schemas.microsoft.com/office/drawing/2014/main" id="{D8D875FE-35A1-4FBA-BC71-623A41363187}"/>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8" name="Image 0">
            <a:extLst xmlns:a="http://schemas.openxmlformats.org/drawingml/2006/main">
              <a:ext uri="{FF2B5EF4-FFF2-40B4-BE49-F238E27FC236}">
                <a16:creationId xmlns:a16="http://schemas.microsoft.com/office/drawing/2014/main" id="{9F5C8C3B-3C11-491F-BF72-57BA70186A89}"/>
              </a:ext>
            </a:extLst>
          </p:cNvPr>
          <p:cNvPicPr>
            <a:picLocks xmlns:a="http://schemas.openxmlformats.org/drawingml/2006/main" noChangeAspect="1"/>
          </p:cNvPicPr>
          <p:nvPr/>
        </p:nvPicPr>
        <p:blipFill>
          <a:blip xmlns:r="http://schemas.openxmlformats.org/officeDocument/2006/relationships" xmlns:a="http://schemas.openxmlformats.org/drawingml/2006/main" r:embed="R5bef1a6c67ec4bd0"/>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9" name="Image 1">
            <a:extLst xmlns:a="http://schemas.openxmlformats.org/drawingml/2006/main">
              <a:ext uri="{FF2B5EF4-FFF2-40B4-BE49-F238E27FC236}">
                <a16:creationId xmlns:a16="http://schemas.microsoft.com/office/drawing/2014/main" id="{D86B74EB-9CFC-4AA2-A1D8-59B41DBAF3EF}"/>
              </a:ext>
            </a:extLst>
          </p:cNvPr>
          <p:cNvPicPr>
            <a:picLocks xmlns:a="http://schemas.openxmlformats.org/drawingml/2006/main" noChangeAspect="1"/>
          </p:cNvPicPr>
          <p:nvPr/>
        </p:nvPicPr>
        <p:blipFill>
          <a:blip xmlns:r="http://schemas.openxmlformats.org/officeDocument/2006/relationships" xmlns:a="http://schemas.openxmlformats.org/drawingml/2006/main" r:embed="R1236ab95bbcd43a9"/>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BC6D3E5F-3D68-445D-A129-816885385F07}"/>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86B8FA41-398B-46FD-8FCB-D515BAE2A42F}"/>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Image Scanning Tools</a:t>
            </a:r>
            <a:endParaRPr sz="2200"/>
          </a:p>
        </p:txBody>
      </p:sp>
      <p:sp>
        <p:nvSpPr>
          <p:cNvPr id="9" name="Text 5">
            <a:extLst xmlns:a="http://schemas.openxmlformats.org/drawingml/2006/main">
              <a:ext uri="{FF2B5EF4-FFF2-40B4-BE49-F238E27FC236}">
                <a16:creationId xmlns:a16="http://schemas.microsoft.com/office/drawing/2014/main" id="{37CC404D-B56D-4C5F-A22C-C225B7D50AE9}"/>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Cek CVE di image SEBELUM push ke production</a:t>
            </a:r>
            <a:endParaRPr sz="1200"/>
          </a:p>
        </p:txBody>
      </p:sp>
      <p:sp>
        <p:nvSpPr>
          <p:cNvPr id="10" name="Shape 6">
            <a:extLst xmlns:a="http://schemas.openxmlformats.org/drawingml/2006/main">
              <a:ext uri="{FF2B5EF4-FFF2-40B4-BE49-F238E27FC236}">
                <a16:creationId xmlns:a16="http://schemas.microsoft.com/office/drawing/2014/main" id="{496BA2DB-E0B0-49CC-9E50-641E87C5B2FE}"/>
              </a:ext>
            </a:extLst>
          </p:cNvPr>
          <p:cNvSpPr>
            <a:spLocks xmlns:a="http://schemas.openxmlformats.org/drawingml/2006/main" noGrp="1"/>
          </p:cNvSpPr>
          <p:nvPr/>
        </p:nvSpPr>
        <p:spPr>
          <a:xfrm xmlns:a="http://schemas.openxmlformats.org/drawingml/2006/main">
            <a:off x="457200" y="1417320"/>
            <a:ext cx="2697480" cy="36576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14EAADBC-7266-45F3-8538-367BFEC4ACAF}"/>
              </a:ext>
            </a:extLst>
          </p:cNvPr>
          <p:cNvSpPr>
            <a:spLocks xmlns:a="http://schemas.openxmlformats.org/drawingml/2006/main" noGrp="1"/>
          </p:cNvSpPr>
          <p:nvPr/>
        </p:nvSpPr>
        <p:spPr>
          <a:xfrm xmlns:a="http://schemas.openxmlformats.org/drawingml/2006/main">
            <a:off x="457200" y="1417320"/>
            <a:ext cx="2697480" cy="640080"/>
          </a:xfrm>
          <a:prstGeom xmlns:a="http://schemas.openxmlformats.org/drawingml/2006/main" prst="rect">
            <a:avLst/>
          </a:prstGeom>
          <a:solidFill xmlns:a="http://schemas.openxmlformats.org/drawingml/2006/main">
            <a:srgbClr val="1904DA"/>
          </a:solidFill>
          <a:ln xmlns:a="http://schemas.openxmlformats.org/drawingml/2006/main" w="12700">
            <a:solidFill>
              <a:srgbClr val="1904DA"/>
            </a:solidFill>
            <a:prstDash val="solid"/>
          </a:ln>
        </p:spPr>
      </p:sp>
      <p:sp>
        <p:nvSpPr>
          <p:cNvPr id="12" name="Text 8">
            <a:extLst xmlns:a="http://schemas.openxmlformats.org/drawingml/2006/main">
              <a:ext uri="{FF2B5EF4-FFF2-40B4-BE49-F238E27FC236}">
                <a16:creationId xmlns:a16="http://schemas.microsoft.com/office/drawing/2014/main" id="{65203E86-5E4A-4BD7-94EC-668B300847FB}"/>
              </a:ext>
            </a:extLst>
          </p:cNvPr>
          <p:cNvSpPr>
            <a:spLocks xmlns:a="http://schemas.openxmlformats.org/drawingml/2006/main" noGrp="1"/>
          </p:cNvSpPr>
          <p:nvPr/>
        </p:nvSpPr>
        <p:spPr>
          <a:xfrm xmlns:a="http://schemas.openxmlformats.org/drawingml/2006/main">
            <a:off x="457200" y="14173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Trivy</a:t>
            </a:r>
            <a:endParaRPr sz="1800"/>
          </a:p>
        </p:txBody>
      </p:sp>
      <p:sp>
        <p:nvSpPr>
          <p:cNvPr id="13" name="Text 9">
            <a:extLst xmlns:a="http://schemas.openxmlformats.org/drawingml/2006/main">
              <a:ext uri="{FF2B5EF4-FFF2-40B4-BE49-F238E27FC236}">
                <a16:creationId xmlns:a16="http://schemas.microsoft.com/office/drawing/2014/main" id="{A3481BE4-12FA-475E-8C81-5BDE4E00BB19}"/>
              </a:ext>
            </a:extLst>
          </p:cNvPr>
          <p:cNvSpPr>
            <a:spLocks xmlns:a="http://schemas.openxmlformats.org/drawingml/2006/main" noGrp="1"/>
          </p:cNvSpPr>
          <p:nvPr/>
        </p:nvSpPr>
        <p:spPr>
          <a:xfrm xmlns:a="http://schemas.openxmlformats.org/drawingml/2006/main">
            <a:off x="594360" y="2194560"/>
            <a:ext cx="242316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Open source dari Aqua Security. Cepat, comprehensive. CVE + secret + IaC.</a:t>
            </a:r>
            <a:endParaRPr sz="1100"/>
          </a:p>
        </p:txBody>
      </p:sp>
      <p:sp>
        <p:nvSpPr>
          <p:cNvPr id="14" name="Shape 10">
            <a:extLst xmlns:a="http://schemas.openxmlformats.org/drawingml/2006/main">
              <a:ext uri="{FF2B5EF4-FFF2-40B4-BE49-F238E27FC236}">
                <a16:creationId xmlns:a16="http://schemas.microsoft.com/office/drawing/2014/main" id="{6633473A-F1ED-4F69-8B33-02F10F05299B}"/>
              </a:ext>
            </a:extLst>
          </p:cNvPr>
          <p:cNvSpPr>
            <a:spLocks xmlns:a="http://schemas.openxmlformats.org/drawingml/2006/main" noGrp="1"/>
          </p:cNvSpPr>
          <p:nvPr/>
        </p:nvSpPr>
        <p:spPr>
          <a:xfrm xmlns:a="http://schemas.openxmlformats.org/drawingml/2006/main">
            <a:off x="594360" y="3703320"/>
            <a:ext cx="24231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5" name="Text 11">
            <a:extLst xmlns:a="http://schemas.openxmlformats.org/drawingml/2006/main">
              <a:ext uri="{FF2B5EF4-FFF2-40B4-BE49-F238E27FC236}">
                <a16:creationId xmlns:a16="http://schemas.microsoft.com/office/drawing/2014/main" id="{6C679EBB-4637-4E6A-8F12-4F36BF22809C}"/>
              </a:ext>
            </a:extLst>
          </p:cNvPr>
          <p:cNvSpPr>
            <a:spLocks xmlns:a="http://schemas.openxmlformats.org/drawingml/2006/main" noGrp="1"/>
          </p:cNvSpPr>
          <p:nvPr/>
        </p:nvSpPr>
        <p:spPr>
          <a:xfrm xmlns:a="http://schemas.openxmlformats.org/drawingml/2006/main">
            <a:off x="640080" y="370332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10B981"/>
                </a:solidFill>
                <a:latin typeface="Consolas"/>
                <a:ea typeface="Consolas"/>
                <a:cs typeface="Consolas"/>
              </a:rPr>
              <a:t>$ trivy image myapp:1.0</a:t>
            </a:r>
            <a:endParaRPr sz="900"/>
          </a:p>
        </p:txBody>
      </p:sp>
      <p:sp>
        <p:nvSpPr>
          <p:cNvPr id="16" name="Shape 12">
            <a:extLst xmlns:a="http://schemas.openxmlformats.org/drawingml/2006/main">
              <a:ext uri="{FF2B5EF4-FFF2-40B4-BE49-F238E27FC236}">
                <a16:creationId xmlns:a16="http://schemas.microsoft.com/office/drawing/2014/main" id="{324B9808-D36F-4202-AC8B-742245EE335F}"/>
              </a:ext>
            </a:extLst>
          </p:cNvPr>
          <p:cNvSpPr>
            <a:spLocks xmlns:a="http://schemas.openxmlformats.org/drawingml/2006/main" noGrp="1"/>
          </p:cNvSpPr>
          <p:nvPr/>
        </p:nvSpPr>
        <p:spPr>
          <a:xfrm xmlns:a="http://schemas.openxmlformats.org/drawingml/2006/main">
            <a:off x="594360" y="4297680"/>
            <a:ext cx="24231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7" name="Text 13">
            <a:extLst xmlns:a="http://schemas.openxmlformats.org/drawingml/2006/main">
              <a:ext uri="{FF2B5EF4-FFF2-40B4-BE49-F238E27FC236}">
                <a16:creationId xmlns:a16="http://schemas.microsoft.com/office/drawing/2014/main" id="{59859479-D285-4D5D-94DE-7A41F179EF16}"/>
              </a:ext>
            </a:extLst>
          </p:cNvPr>
          <p:cNvSpPr>
            <a:spLocks xmlns:a="http://schemas.openxmlformats.org/drawingml/2006/main" noGrp="1"/>
          </p:cNvSpPr>
          <p:nvPr/>
        </p:nvSpPr>
        <p:spPr>
          <a:xfrm xmlns:a="http://schemas.openxmlformats.org/drawingml/2006/main">
            <a:off x="594360" y="4389120"/>
            <a:ext cx="24231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Pakai untuk:</a:t>
            </a:r>
            <a:endParaRPr sz="900"/>
          </a:p>
        </p:txBody>
      </p:sp>
      <p:sp>
        <p:nvSpPr>
          <p:cNvPr id="18" name="Text 14">
            <a:extLst xmlns:a="http://schemas.openxmlformats.org/drawingml/2006/main">
              <a:ext uri="{FF2B5EF4-FFF2-40B4-BE49-F238E27FC236}">
                <a16:creationId xmlns:a16="http://schemas.microsoft.com/office/drawing/2014/main" id="{CC3AA36A-97A0-4FBD-AA40-DFC4BEB585E1}"/>
              </a:ext>
            </a:extLst>
          </p:cNvPr>
          <p:cNvSpPr>
            <a:spLocks xmlns:a="http://schemas.openxmlformats.org/drawingml/2006/main" noGrp="1"/>
          </p:cNvSpPr>
          <p:nvPr/>
        </p:nvSpPr>
        <p:spPr>
          <a:xfrm xmlns:a="http://schemas.openxmlformats.org/drawingml/2006/main">
            <a:off x="594360" y="4617720"/>
            <a:ext cx="24231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002677"/>
                </a:solidFill>
                <a:latin typeface="Calibri"/>
                <a:ea typeface="Calibri"/>
                <a:cs typeface="Calibri"/>
              </a:rPr>
              <a:t>Default scanner CI/CD</a:t>
            </a:r>
            <a:endParaRPr sz="1100"/>
          </a:p>
        </p:txBody>
      </p:sp>
      <p:sp>
        <p:nvSpPr>
          <p:cNvPr id="19" name="Shape 15">
            <a:extLst xmlns:a="http://schemas.openxmlformats.org/drawingml/2006/main">
              <a:ext uri="{FF2B5EF4-FFF2-40B4-BE49-F238E27FC236}">
                <a16:creationId xmlns:a16="http://schemas.microsoft.com/office/drawing/2014/main" id="{E3BB0413-02C4-4146-8347-27C2E15B04EA}"/>
              </a:ext>
            </a:extLst>
          </p:cNvPr>
          <p:cNvSpPr>
            <a:spLocks xmlns:a="http://schemas.openxmlformats.org/drawingml/2006/main" noGrp="1"/>
          </p:cNvSpPr>
          <p:nvPr/>
        </p:nvSpPr>
        <p:spPr>
          <a:xfrm xmlns:a="http://schemas.openxmlformats.org/drawingml/2006/main">
            <a:off x="3319272" y="1417320"/>
            <a:ext cx="2697480" cy="36576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0" name="Shape 16">
            <a:extLst xmlns:a="http://schemas.openxmlformats.org/drawingml/2006/main">
              <a:ext uri="{FF2B5EF4-FFF2-40B4-BE49-F238E27FC236}">
                <a16:creationId xmlns:a16="http://schemas.microsoft.com/office/drawing/2014/main" id="{094B7CDC-3D26-4173-9F30-E49146E7328E}"/>
              </a:ext>
            </a:extLst>
          </p:cNvPr>
          <p:cNvSpPr>
            <a:spLocks xmlns:a="http://schemas.openxmlformats.org/drawingml/2006/main" noGrp="1"/>
          </p:cNvSpPr>
          <p:nvPr/>
        </p:nvSpPr>
        <p:spPr>
          <a:xfrm xmlns:a="http://schemas.openxmlformats.org/drawingml/2006/main">
            <a:off x="3319272" y="1417320"/>
            <a:ext cx="2697480" cy="640080"/>
          </a:xfrm>
          <a:prstGeom xmlns:a="http://schemas.openxmlformats.org/drawingml/2006/main" prst="rect">
            <a:avLst/>
          </a:prstGeom>
          <a:solidFill xmlns:a="http://schemas.openxmlformats.org/drawingml/2006/main">
            <a:srgbClr val="2496ED"/>
          </a:solidFill>
          <a:ln xmlns:a="http://schemas.openxmlformats.org/drawingml/2006/main" w="12700">
            <a:solidFill>
              <a:srgbClr val="2496ED"/>
            </a:solidFill>
            <a:prstDash val="solid"/>
          </a:ln>
        </p:spPr>
      </p:sp>
      <p:sp>
        <p:nvSpPr>
          <p:cNvPr id="21" name="Text 17">
            <a:extLst xmlns:a="http://schemas.openxmlformats.org/drawingml/2006/main">
              <a:ext uri="{FF2B5EF4-FFF2-40B4-BE49-F238E27FC236}">
                <a16:creationId xmlns:a16="http://schemas.microsoft.com/office/drawing/2014/main" id="{E7A68D28-AF5F-47FC-B8FF-93E2DF8C4F36}"/>
              </a:ext>
            </a:extLst>
          </p:cNvPr>
          <p:cNvSpPr>
            <a:spLocks xmlns:a="http://schemas.openxmlformats.org/drawingml/2006/main" noGrp="1"/>
          </p:cNvSpPr>
          <p:nvPr/>
        </p:nvSpPr>
        <p:spPr>
          <a:xfrm xmlns:a="http://schemas.openxmlformats.org/drawingml/2006/main">
            <a:off x="3319272" y="14173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Docker Scout</a:t>
            </a:r>
            <a:endParaRPr sz="1800"/>
          </a:p>
        </p:txBody>
      </p:sp>
      <p:sp>
        <p:nvSpPr>
          <p:cNvPr id="22" name="Text 18">
            <a:extLst xmlns:a="http://schemas.openxmlformats.org/drawingml/2006/main">
              <a:ext uri="{FF2B5EF4-FFF2-40B4-BE49-F238E27FC236}">
                <a16:creationId xmlns:a16="http://schemas.microsoft.com/office/drawing/2014/main" id="{305ADCF4-C620-44D8-B0FA-42CBBDD96CFD}"/>
              </a:ext>
            </a:extLst>
          </p:cNvPr>
          <p:cNvSpPr>
            <a:spLocks xmlns:a="http://schemas.openxmlformats.org/drawingml/2006/main" noGrp="1"/>
          </p:cNvSpPr>
          <p:nvPr/>
        </p:nvSpPr>
        <p:spPr>
          <a:xfrm xmlns:a="http://schemas.openxmlformats.org/drawingml/2006/main">
            <a:off x="3456432" y="2194560"/>
            <a:ext cx="242316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Built-in di Docker Desktop. Real-time monitoring + remediation suggestions.</a:t>
            </a:r>
            <a:endParaRPr sz="1100"/>
          </a:p>
        </p:txBody>
      </p:sp>
      <p:sp>
        <p:nvSpPr>
          <p:cNvPr id="23" name="Shape 19">
            <a:extLst xmlns:a="http://schemas.openxmlformats.org/drawingml/2006/main">
              <a:ext uri="{FF2B5EF4-FFF2-40B4-BE49-F238E27FC236}">
                <a16:creationId xmlns:a16="http://schemas.microsoft.com/office/drawing/2014/main" id="{3C140A36-2BFE-4672-90F8-EF99FC7060D1}"/>
              </a:ext>
            </a:extLst>
          </p:cNvPr>
          <p:cNvSpPr>
            <a:spLocks xmlns:a="http://schemas.openxmlformats.org/drawingml/2006/main" noGrp="1"/>
          </p:cNvSpPr>
          <p:nvPr/>
        </p:nvSpPr>
        <p:spPr>
          <a:xfrm xmlns:a="http://schemas.openxmlformats.org/drawingml/2006/main">
            <a:off x="3456432" y="3703320"/>
            <a:ext cx="24231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4" name="Text 20">
            <a:extLst xmlns:a="http://schemas.openxmlformats.org/drawingml/2006/main">
              <a:ext uri="{FF2B5EF4-FFF2-40B4-BE49-F238E27FC236}">
                <a16:creationId xmlns:a16="http://schemas.microsoft.com/office/drawing/2014/main" id="{F383FB02-AE81-4970-A98D-ABB451653ECC}"/>
              </a:ext>
            </a:extLst>
          </p:cNvPr>
          <p:cNvSpPr>
            <a:spLocks xmlns:a="http://schemas.openxmlformats.org/drawingml/2006/main" noGrp="1"/>
          </p:cNvSpPr>
          <p:nvPr/>
        </p:nvSpPr>
        <p:spPr>
          <a:xfrm xmlns:a="http://schemas.openxmlformats.org/drawingml/2006/main">
            <a:off x="3502152" y="370332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10B981"/>
                </a:solidFill>
                <a:latin typeface="Consolas"/>
                <a:ea typeface="Consolas"/>
                <a:cs typeface="Consolas"/>
              </a:rPr>
              <a:t>$ docker scout cves myapp:1.0</a:t>
            </a:r>
            <a:endParaRPr sz="900"/>
          </a:p>
        </p:txBody>
      </p:sp>
      <p:sp>
        <p:nvSpPr>
          <p:cNvPr id="25" name="Shape 21">
            <a:extLst xmlns:a="http://schemas.openxmlformats.org/drawingml/2006/main">
              <a:ext uri="{FF2B5EF4-FFF2-40B4-BE49-F238E27FC236}">
                <a16:creationId xmlns:a16="http://schemas.microsoft.com/office/drawing/2014/main" id="{938DD11D-1B90-4770-8C60-A02253638D5F}"/>
              </a:ext>
            </a:extLst>
          </p:cNvPr>
          <p:cNvSpPr>
            <a:spLocks xmlns:a="http://schemas.openxmlformats.org/drawingml/2006/main" noGrp="1"/>
          </p:cNvSpPr>
          <p:nvPr/>
        </p:nvSpPr>
        <p:spPr>
          <a:xfrm xmlns:a="http://schemas.openxmlformats.org/drawingml/2006/main">
            <a:off x="3456432" y="4297680"/>
            <a:ext cx="24231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26" name="Text 22">
            <a:extLst xmlns:a="http://schemas.openxmlformats.org/drawingml/2006/main">
              <a:ext uri="{FF2B5EF4-FFF2-40B4-BE49-F238E27FC236}">
                <a16:creationId xmlns:a16="http://schemas.microsoft.com/office/drawing/2014/main" id="{C3ECED19-5CF5-4C89-9F53-DCEF63FFBD07}"/>
              </a:ext>
            </a:extLst>
          </p:cNvPr>
          <p:cNvSpPr>
            <a:spLocks xmlns:a="http://schemas.openxmlformats.org/drawingml/2006/main" noGrp="1"/>
          </p:cNvSpPr>
          <p:nvPr/>
        </p:nvSpPr>
        <p:spPr>
          <a:xfrm xmlns:a="http://schemas.openxmlformats.org/drawingml/2006/main">
            <a:off x="3456432" y="4389120"/>
            <a:ext cx="24231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Pakai untuk:</a:t>
            </a:r>
            <a:endParaRPr sz="900"/>
          </a:p>
        </p:txBody>
      </p:sp>
      <p:sp>
        <p:nvSpPr>
          <p:cNvPr id="27" name="Text 23">
            <a:extLst xmlns:a="http://schemas.openxmlformats.org/drawingml/2006/main">
              <a:ext uri="{FF2B5EF4-FFF2-40B4-BE49-F238E27FC236}">
                <a16:creationId xmlns:a16="http://schemas.microsoft.com/office/drawing/2014/main" id="{6CDE29D9-1F42-4624-9FBF-1A0BE76DC722}"/>
              </a:ext>
            </a:extLst>
          </p:cNvPr>
          <p:cNvSpPr>
            <a:spLocks xmlns:a="http://schemas.openxmlformats.org/drawingml/2006/main" noGrp="1"/>
          </p:cNvSpPr>
          <p:nvPr/>
        </p:nvSpPr>
        <p:spPr>
          <a:xfrm xmlns:a="http://schemas.openxmlformats.org/drawingml/2006/main">
            <a:off x="3456432" y="4617720"/>
            <a:ext cx="24231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002677"/>
                </a:solidFill>
                <a:latin typeface="Calibri"/>
                <a:ea typeface="Calibri"/>
                <a:cs typeface="Calibri"/>
              </a:rPr>
              <a:t>Local dev workflow</a:t>
            </a:r>
            <a:endParaRPr sz="1100"/>
          </a:p>
        </p:txBody>
      </p:sp>
      <p:sp>
        <p:nvSpPr>
          <p:cNvPr id="28" name="Shape 24">
            <a:extLst xmlns:a="http://schemas.openxmlformats.org/drawingml/2006/main">
              <a:ext uri="{FF2B5EF4-FFF2-40B4-BE49-F238E27FC236}">
                <a16:creationId xmlns:a16="http://schemas.microsoft.com/office/drawing/2014/main" id="{F3DCF360-3DAB-4D3E-902E-1967DE7D7F0F}"/>
              </a:ext>
            </a:extLst>
          </p:cNvPr>
          <p:cNvSpPr>
            <a:spLocks xmlns:a="http://schemas.openxmlformats.org/drawingml/2006/main" noGrp="1"/>
          </p:cNvSpPr>
          <p:nvPr/>
        </p:nvSpPr>
        <p:spPr>
          <a:xfrm xmlns:a="http://schemas.openxmlformats.org/drawingml/2006/main">
            <a:off x="6181344" y="1417320"/>
            <a:ext cx="2697480" cy="36576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9" name="Shape 25">
            <a:extLst xmlns:a="http://schemas.openxmlformats.org/drawingml/2006/main">
              <a:ext uri="{FF2B5EF4-FFF2-40B4-BE49-F238E27FC236}">
                <a16:creationId xmlns:a16="http://schemas.microsoft.com/office/drawing/2014/main" id="{4A0EFD2F-3998-4E9E-9AE6-73E4192740FC}"/>
              </a:ext>
            </a:extLst>
          </p:cNvPr>
          <p:cNvSpPr>
            <a:spLocks xmlns:a="http://schemas.openxmlformats.org/drawingml/2006/main" noGrp="1"/>
          </p:cNvSpPr>
          <p:nvPr/>
        </p:nvSpPr>
        <p:spPr>
          <a:xfrm xmlns:a="http://schemas.openxmlformats.org/drawingml/2006/main">
            <a:off x="6181344" y="1417320"/>
            <a:ext cx="2697480" cy="640080"/>
          </a:xfrm>
          <a:prstGeom xmlns:a="http://schemas.openxmlformats.org/drawingml/2006/main" prst="rect">
            <a:avLst/>
          </a:prstGeom>
          <a:solidFill xmlns:a="http://schemas.openxmlformats.org/drawingml/2006/main">
            <a:srgbClr val="4C4A73"/>
          </a:solidFill>
          <a:ln xmlns:a="http://schemas.openxmlformats.org/drawingml/2006/main" w="12700">
            <a:solidFill>
              <a:srgbClr val="4C4A73"/>
            </a:solidFill>
            <a:prstDash val="solid"/>
          </a:ln>
        </p:spPr>
      </p:sp>
      <p:sp>
        <p:nvSpPr>
          <p:cNvPr id="30" name="Text 26">
            <a:extLst xmlns:a="http://schemas.openxmlformats.org/drawingml/2006/main">
              <a:ext uri="{FF2B5EF4-FFF2-40B4-BE49-F238E27FC236}">
                <a16:creationId xmlns:a16="http://schemas.microsoft.com/office/drawing/2014/main" id="{355FCEF3-FEA3-405E-9553-2CD3764F939C}"/>
              </a:ext>
            </a:extLst>
          </p:cNvPr>
          <p:cNvSpPr>
            <a:spLocks xmlns:a="http://schemas.openxmlformats.org/drawingml/2006/main" noGrp="1"/>
          </p:cNvSpPr>
          <p:nvPr/>
        </p:nvSpPr>
        <p:spPr>
          <a:xfrm xmlns:a="http://schemas.openxmlformats.org/drawingml/2006/main">
            <a:off x="6181344" y="14173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Snyk</a:t>
            </a:r>
            <a:endParaRPr sz="1800"/>
          </a:p>
        </p:txBody>
      </p:sp>
      <p:sp>
        <p:nvSpPr>
          <p:cNvPr id="31" name="Text 27">
            <a:extLst xmlns:a="http://schemas.openxmlformats.org/drawingml/2006/main">
              <a:ext uri="{FF2B5EF4-FFF2-40B4-BE49-F238E27FC236}">
                <a16:creationId xmlns:a16="http://schemas.microsoft.com/office/drawing/2014/main" id="{CCD8227D-3C76-4090-9FD0-ABD9E18F4505}"/>
              </a:ext>
            </a:extLst>
          </p:cNvPr>
          <p:cNvSpPr>
            <a:spLocks xmlns:a="http://schemas.openxmlformats.org/drawingml/2006/main" noGrp="1"/>
          </p:cNvSpPr>
          <p:nvPr/>
        </p:nvSpPr>
        <p:spPr>
          <a:xfrm xmlns:a="http://schemas.openxmlformats.org/drawingml/2006/main">
            <a:off x="6318504" y="2194560"/>
            <a:ext cx="242316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Integrasi scanner dan GitHub PR. Periksa paket serta kuota resmi.</a:t>
            </a:r>
            <a:endParaRPr sz="1100"/>
          </a:p>
        </p:txBody>
      </p:sp>
      <p:sp>
        <p:nvSpPr>
          <p:cNvPr id="32" name="Shape 28">
            <a:extLst xmlns:a="http://schemas.openxmlformats.org/drawingml/2006/main">
              <a:ext uri="{FF2B5EF4-FFF2-40B4-BE49-F238E27FC236}">
                <a16:creationId xmlns:a16="http://schemas.microsoft.com/office/drawing/2014/main" id="{CD89AC40-44FB-4F07-86FF-3B079133594C}"/>
              </a:ext>
            </a:extLst>
          </p:cNvPr>
          <p:cNvSpPr>
            <a:spLocks xmlns:a="http://schemas.openxmlformats.org/drawingml/2006/main" noGrp="1"/>
          </p:cNvSpPr>
          <p:nvPr/>
        </p:nvSpPr>
        <p:spPr>
          <a:xfrm xmlns:a="http://schemas.openxmlformats.org/drawingml/2006/main">
            <a:off x="6318504" y="3703320"/>
            <a:ext cx="24231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3" name="Text 29">
            <a:extLst xmlns:a="http://schemas.openxmlformats.org/drawingml/2006/main">
              <a:ext uri="{FF2B5EF4-FFF2-40B4-BE49-F238E27FC236}">
                <a16:creationId xmlns:a16="http://schemas.microsoft.com/office/drawing/2014/main" id="{48FC467C-1146-4759-B506-96EBC5DA2524}"/>
              </a:ext>
            </a:extLst>
          </p:cNvPr>
          <p:cNvSpPr>
            <a:spLocks xmlns:a="http://schemas.openxmlformats.org/drawingml/2006/main" noGrp="1"/>
          </p:cNvSpPr>
          <p:nvPr/>
        </p:nvSpPr>
        <p:spPr>
          <a:xfrm xmlns:a="http://schemas.openxmlformats.org/drawingml/2006/main">
            <a:off x="6364224" y="370332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10B981"/>
                </a:solidFill>
                <a:latin typeface="Consolas"/>
                <a:ea typeface="Consolas"/>
                <a:cs typeface="Consolas"/>
              </a:rPr>
              <a:t>$ snyk container test myapp:1.0</a:t>
            </a:r>
            <a:endParaRPr sz="900"/>
          </a:p>
        </p:txBody>
      </p:sp>
      <p:sp>
        <p:nvSpPr>
          <p:cNvPr id="34" name="Shape 30">
            <a:extLst xmlns:a="http://schemas.openxmlformats.org/drawingml/2006/main">
              <a:ext uri="{FF2B5EF4-FFF2-40B4-BE49-F238E27FC236}">
                <a16:creationId xmlns:a16="http://schemas.microsoft.com/office/drawing/2014/main" id="{61474627-874F-4090-B0F8-B3E6B3FD667D}"/>
              </a:ext>
            </a:extLst>
          </p:cNvPr>
          <p:cNvSpPr>
            <a:spLocks xmlns:a="http://schemas.openxmlformats.org/drawingml/2006/main" noGrp="1"/>
          </p:cNvSpPr>
          <p:nvPr/>
        </p:nvSpPr>
        <p:spPr>
          <a:xfrm xmlns:a="http://schemas.openxmlformats.org/drawingml/2006/main">
            <a:off x="6318504" y="4297680"/>
            <a:ext cx="24231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35" name="Text 31">
            <a:extLst xmlns:a="http://schemas.openxmlformats.org/drawingml/2006/main">
              <a:ext uri="{FF2B5EF4-FFF2-40B4-BE49-F238E27FC236}">
                <a16:creationId xmlns:a16="http://schemas.microsoft.com/office/drawing/2014/main" id="{AA9D2098-51B9-4FAE-A1DA-D03827122D1A}"/>
              </a:ext>
            </a:extLst>
          </p:cNvPr>
          <p:cNvSpPr>
            <a:spLocks xmlns:a="http://schemas.openxmlformats.org/drawingml/2006/main" noGrp="1"/>
          </p:cNvSpPr>
          <p:nvPr/>
        </p:nvSpPr>
        <p:spPr>
          <a:xfrm xmlns:a="http://schemas.openxmlformats.org/drawingml/2006/main">
            <a:off x="6318504" y="4389120"/>
            <a:ext cx="24231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Pakai untuk:</a:t>
            </a:r>
            <a:endParaRPr sz="900"/>
          </a:p>
        </p:txBody>
      </p:sp>
      <p:sp>
        <p:nvSpPr>
          <p:cNvPr id="36" name="Text 32">
            <a:extLst xmlns:a="http://schemas.openxmlformats.org/drawingml/2006/main">
              <a:ext uri="{FF2B5EF4-FFF2-40B4-BE49-F238E27FC236}">
                <a16:creationId xmlns:a16="http://schemas.microsoft.com/office/drawing/2014/main" id="{C18357DF-EB3F-4763-B5F0-E03F76F0F98A}"/>
              </a:ext>
            </a:extLst>
          </p:cNvPr>
          <p:cNvSpPr>
            <a:spLocks xmlns:a="http://schemas.openxmlformats.org/drawingml/2006/main" noGrp="1"/>
          </p:cNvSpPr>
          <p:nvPr/>
        </p:nvSpPr>
        <p:spPr>
          <a:xfrm xmlns:a="http://schemas.openxmlformats.org/drawingml/2006/main">
            <a:off x="6318504" y="4617720"/>
            <a:ext cx="24231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002677"/>
                </a:solidFill>
                <a:latin typeface="Calibri"/>
                <a:ea typeface="Calibri"/>
                <a:cs typeface="Calibri"/>
              </a:rPr>
              <a:t>Enterprise CI</a:t>
            </a:r>
            <a:endParaRPr sz="1100"/>
          </a:p>
        </p:txBody>
      </p:sp>
      <p:sp>
        <p:nvSpPr>
          <p:cNvPr id="37" name="Shape 33">
            <a:extLst xmlns:a="http://schemas.openxmlformats.org/drawingml/2006/main">
              <a:ext uri="{FF2B5EF4-FFF2-40B4-BE49-F238E27FC236}">
                <a16:creationId xmlns:a16="http://schemas.microsoft.com/office/drawing/2014/main" id="{4C8576E6-BAF8-4FCD-8B46-0AD4723B3E38}"/>
              </a:ext>
            </a:extLst>
          </p:cNvPr>
          <p:cNvSpPr>
            <a:spLocks xmlns:a="http://schemas.openxmlformats.org/drawingml/2006/main" noGrp="1"/>
          </p:cNvSpPr>
          <p:nvPr/>
        </p:nvSpPr>
        <p:spPr>
          <a:xfrm xmlns:a="http://schemas.openxmlformats.org/drawingml/2006/main">
            <a:off x="9043416" y="1417320"/>
            <a:ext cx="2697480" cy="36576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8" name="Shape 34">
            <a:extLst xmlns:a="http://schemas.openxmlformats.org/drawingml/2006/main">
              <a:ext uri="{FF2B5EF4-FFF2-40B4-BE49-F238E27FC236}">
                <a16:creationId xmlns:a16="http://schemas.microsoft.com/office/drawing/2014/main" id="{7D4E0245-DC72-412D-854B-6D6C249E1143}"/>
              </a:ext>
            </a:extLst>
          </p:cNvPr>
          <p:cNvSpPr>
            <a:spLocks xmlns:a="http://schemas.openxmlformats.org/drawingml/2006/main" noGrp="1"/>
          </p:cNvSpPr>
          <p:nvPr/>
        </p:nvSpPr>
        <p:spPr>
          <a:xfrm xmlns:a="http://schemas.openxmlformats.org/drawingml/2006/main">
            <a:off x="9043416" y="1417320"/>
            <a:ext cx="2697480" cy="640080"/>
          </a:xfrm>
          <a:prstGeom xmlns:a="http://schemas.openxmlformats.org/drawingml/2006/main" prst="rect">
            <a:avLst/>
          </a:prstGeom>
          <a:solidFill xmlns:a="http://schemas.openxmlformats.org/drawingml/2006/main">
            <a:srgbClr val="00B16A"/>
          </a:solidFill>
          <a:ln xmlns:a="http://schemas.openxmlformats.org/drawingml/2006/main" w="12700">
            <a:solidFill>
              <a:srgbClr val="00B16A"/>
            </a:solidFill>
            <a:prstDash val="solid"/>
          </a:ln>
        </p:spPr>
      </p:sp>
      <p:sp>
        <p:nvSpPr>
          <p:cNvPr id="39" name="Text 35">
            <a:extLst xmlns:a="http://schemas.openxmlformats.org/drawingml/2006/main">
              <a:ext uri="{FF2B5EF4-FFF2-40B4-BE49-F238E27FC236}">
                <a16:creationId xmlns:a16="http://schemas.microsoft.com/office/drawing/2014/main" id="{1C848D3E-F3FE-4B47-8FE8-C55362A30835}"/>
              </a:ext>
            </a:extLst>
          </p:cNvPr>
          <p:cNvSpPr>
            <a:spLocks xmlns:a="http://schemas.openxmlformats.org/drawingml/2006/main" noGrp="1"/>
          </p:cNvSpPr>
          <p:nvPr/>
        </p:nvSpPr>
        <p:spPr>
          <a:xfrm xmlns:a="http://schemas.openxmlformats.org/drawingml/2006/main">
            <a:off x="9043416" y="14173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Grype</a:t>
            </a:r>
            <a:endParaRPr sz="1800"/>
          </a:p>
        </p:txBody>
      </p:sp>
      <p:sp>
        <p:nvSpPr>
          <p:cNvPr id="40" name="Text 36">
            <a:extLst xmlns:a="http://schemas.openxmlformats.org/drawingml/2006/main">
              <a:ext uri="{FF2B5EF4-FFF2-40B4-BE49-F238E27FC236}">
                <a16:creationId xmlns:a16="http://schemas.microsoft.com/office/drawing/2014/main" id="{6E024E51-9195-4D54-8713-E1B0D595E4FC}"/>
              </a:ext>
            </a:extLst>
          </p:cNvPr>
          <p:cNvSpPr>
            <a:spLocks xmlns:a="http://schemas.openxmlformats.org/drawingml/2006/main" noGrp="1"/>
          </p:cNvSpPr>
          <p:nvPr/>
        </p:nvSpPr>
        <p:spPr>
          <a:xfrm xmlns:a="http://schemas.openxmlformats.org/drawingml/2006/main">
            <a:off x="9180576" y="2194560"/>
            <a:ext cx="242316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Open source dari Anchore. Mirip Trivy, output beda format.</a:t>
            </a:r>
            <a:endParaRPr sz="1100"/>
          </a:p>
        </p:txBody>
      </p:sp>
      <p:sp>
        <p:nvSpPr>
          <p:cNvPr id="41" name="Shape 37">
            <a:extLst xmlns:a="http://schemas.openxmlformats.org/drawingml/2006/main">
              <a:ext uri="{FF2B5EF4-FFF2-40B4-BE49-F238E27FC236}">
                <a16:creationId xmlns:a16="http://schemas.microsoft.com/office/drawing/2014/main" id="{B581490F-01B4-4F25-925E-DE31DBC7CBC7}"/>
              </a:ext>
            </a:extLst>
          </p:cNvPr>
          <p:cNvSpPr>
            <a:spLocks xmlns:a="http://schemas.openxmlformats.org/drawingml/2006/main" noGrp="1"/>
          </p:cNvSpPr>
          <p:nvPr/>
        </p:nvSpPr>
        <p:spPr>
          <a:xfrm xmlns:a="http://schemas.openxmlformats.org/drawingml/2006/main">
            <a:off x="9180576" y="3703320"/>
            <a:ext cx="24231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42" name="Text 38">
            <a:extLst xmlns:a="http://schemas.openxmlformats.org/drawingml/2006/main">
              <a:ext uri="{FF2B5EF4-FFF2-40B4-BE49-F238E27FC236}">
                <a16:creationId xmlns:a16="http://schemas.microsoft.com/office/drawing/2014/main" id="{570289AA-C67F-4070-B1C2-D8DC5FDFA5D8}"/>
              </a:ext>
            </a:extLst>
          </p:cNvPr>
          <p:cNvSpPr>
            <a:spLocks xmlns:a="http://schemas.openxmlformats.org/drawingml/2006/main" noGrp="1"/>
          </p:cNvSpPr>
          <p:nvPr/>
        </p:nvSpPr>
        <p:spPr>
          <a:xfrm xmlns:a="http://schemas.openxmlformats.org/drawingml/2006/main">
            <a:off x="9226296" y="370332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10B981"/>
                </a:solidFill>
                <a:latin typeface="Consolas"/>
                <a:ea typeface="Consolas"/>
                <a:cs typeface="Consolas"/>
              </a:rPr>
              <a:t>$ grype myapp:1.0</a:t>
            </a:r>
            <a:endParaRPr sz="900"/>
          </a:p>
        </p:txBody>
      </p:sp>
      <p:sp>
        <p:nvSpPr>
          <p:cNvPr id="43" name="Shape 39">
            <a:extLst xmlns:a="http://schemas.openxmlformats.org/drawingml/2006/main">
              <a:ext uri="{FF2B5EF4-FFF2-40B4-BE49-F238E27FC236}">
                <a16:creationId xmlns:a16="http://schemas.microsoft.com/office/drawing/2014/main" id="{F4897977-45F8-471F-9BFD-1116345CA733}"/>
              </a:ext>
            </a:extLst>
          </p:cNvPr>
          <p:cNvSpPr>
            <a:spLocks xmlns:a="http://schemas.openxmlformats.org/drawingml/2006/main" noGrp="1"/>
          </p:cNvSpPr>
          <p:nvPr/>
        </p:nvSpPr>
        <p:spPr>
          <a:xfrm xmlns:a="http://schemas.openxmlformats.org/drawingml/2006/main">
            <a:off x="9180576" y="4297680"/>
            <a:ext cx="24231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44" name="Text 40">
            <a:extLst xmlns:a="http://schemas.openxmlformats.org/drawingml/2006/main">
              <a:ext uri="{FF2B5EF4-FFF2-40B4-BE49-F238E27FC236}">
                <a16:creationId xmlns:a16="http://schemas.microsoft.com/office/drawing/2014/main" id="{93A9F852-3496-4B4C-ADAC-23E2BE615B42}"/>
              </a:ext>
            </a:extLst>
          </p:cNvPr>
          <p:cNvSpPr>
            <a:spLocks xmlns:a="http://schemas.openxmlformats.org/drawingml/2006/main" noGrp="1"/>
          </p:cNvSpPr>
          <p:nvPr/>
        </p:nvSpPr>
        <p:spPr>
          <a:xfrm xmlns:a="http://schemas.openxmlformats.org/drawingml/2006/main">
            <a:off x="9180576" y="4389120"/>
            <a:ext cx="24231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Pakai untuk:</a:t>
            </a:r>
            <a:endParaRPr sz="900"/>
          </a:p>
        </p:txBody>
      </p:sp>
      <p:sp>
        <p:nvSpPr>
          <p:cNvPr id="45" name="Text 41">
            <a:extLst xmlns:a="http://schemas.openxmlformats.org/drawingml/2006/main">
              <a:ext uri="{FF2B5EF4-FFF2-40B4-BE49-F238E27FC236}">
                <a16:creationId xmlns:a16="http://schemas.microsoft.com/office/drawing/2014/main" id="{9C5E368C-5CF0-4C4E-9DD1-0CC4364F2D58}"/>
              </a:ext>
            </a:extLst>
          </p:cNvPr>
          <p:cNvSpPr>
            <a:spLocks xmlns:a="http://schemas.openxmlformats.org/drawingml/2006/main" noGrp="1"/>
          </p:cNvSpPr>
          <p:nvPr/>
        </p:nvSpPr>
        <p:spPr>
          <a:xfrm xmlns:a="http://schemas.openxmlformats.org/drawingml/2006/main">
            <a:off x="9180576" y="4617720"/>
            <a:ext cx="24231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002677"/>
                </a:solidFill>
                <a:latin typeface="Calibri"/>
                <a:ea typeface="Calibri"/>
                <a:cs typeface="Calibri"/>
              </a:rPr>
              <a:t>Alternatif Trivy</a:t>
            </a:r>
            <a:endParaRPr sz="1100"/>
          </a:p>
        </p:txBody>
      </p:sp>
      <p:sp>
        <p:nvSpPr>
          <p:cNvPr id="46" name="Shape 42">
            <a:extLst xmlns:a="http://schemas.openxmlformats.org/drawingml/2006/main">
              <a:ext uri="{FF2B5EF4-FFF2-40B4-BE49-F238E27FC236}">
                <a16:creationId xmlns:a16="http://schemas.microsoft.com/office/drawing/2014/main" id="{CF6C46E1-5ECC-4E06-A3FF-48BA110D4121}"/>
              </a:ext>
            </a:extLst>
          </p:cNvPr>
          <p:cNvSpPr>
            <a:spLocks xmlns:a="http://schemas.openxmlformats.org/drawingml/2006/main" noGrp="1"/>
          </p:cNvSpPr>
          <p:nvPr/>
        </p:nvSpPr>
        <p:spPr>
          <a:xfrm xmlns:a="http://schemas.openxmlformats.org/drawingml/2006/main">
            <a:off x="457200" y="5257800"/>
            <a:ext cx="11247120" cy="100584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47" name="Shape 43">
            <a:extLst xmlns:a="http://schemas.openxmlformats.org/drawingml/2006/main">
              <a:ext uri="{FF2B5EF4-FFF2-40B4-BE49-F238E27FC236}">
                <a16:creationId xmlns:a16="http://schemas.microsoft.com/office/drawing/2014/main" id="{C0308401-F54B-4F64-A9AB-32A7E202B2A3}"/>
              </a:ext>
            </a:extLst>
          </p:cNvPr>
          <p:cNvSpPr>
            <a:spLocks xmlns:a="http://schemas.openxmlformats.org/drawingml/2006/main" noGrp="1"/>
          </p:cNvSpPr>
          <p:nvPr/>
        </p:nvSpPr>
        <p:spPr>
          <a:xfrm xmlns:a="http://schemas.openxmlformats.org/drawingml/2006/main">
            <a:off x="457200" y="5257800"/>
            <a:ext cx="1124712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48" name="Shape 44">
            <a:extLst xmlns:a="http://schemas.openxmlformats.org/drawingml/2006/main">
              <a:ext uri="{FF2B5EF4-FFF2-40B4-BE49-F238E27FC236}">
                <a16:creationId xmlns:a16="http://schemas.microsoft.com/office/drawing/2014/main" id="{D09E8F1E-DC8F-4337-8A64-C62F343FD27D}"/>
              </a:ext>
            </a:extLst>
          </p:cNvPr>
          <p:cNvSpPr>
            <a:spLocks xmlns:a="http://schemas.openxmlformats.org/drawingml/2006/main" noGrp="1"/>
          </p:cNvSpPr>
          <p:nvPr/>
        </p:nvSpPr>
        <p:spPr>
          <a:xfrm xmlns:a="http://schemas.openxmlformats.org/drawingml/2006/main">
            <a:off x="548640" y="534009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49" name="Shape 45">
            <a:extLst xmlns:a="http://schemas.openxmlformats.org/drawingml/2006/main">
              <a:ext uri="{FF2B5EF4-FFF2-40B4-BE49-F238E27FC236}">
                <a16:creationId xmlns:a16="http://schemas.microsoft.com/office/drawing/2014/main" id="{DFFF31A0-65EA-4FB3-A49E-3EE36CA1E8C8}"/>
              </a:ext>
            </a:extLst>
          </p:cNvPr>
          <p:cNvSpPr>
            <a:spLocks xmlns:a="http://schemas.openxmlformats.org/drawingml/2006/main" noGrp="1"/>
          </p:cNvSpPr>
          <p:nvPr/>
        </p:nvSpPr>
        <p:spPr>
          <a:xfrm xmlns:a="http://schemas.openxmlformats.org/drawingml/2006/main">
            <a:off x="685800" y="534009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50" name="Shape 46">
            <a:extLst xmlns:a="http://schemas.openxmlformats.org/drawingml/2006/main">
              <a:ext uri="{FF2B5EF4-FFF2-40B4-BE49-F238E27FC236}">
                <a16:creationId xmlns:a16="http://schemas.microsoft.com/office/drawing/2014/main" id="{53A2614F-88B1-45D3-A9F8-DD55BB14A61B}"/>
              </a:ext>
            </a:extLst>
          </p:cNvPr>
          <p:cNvSpPr>
            <a:spLocks xmlns:a="http://schemas.openxmlformats.org/drawingml/2006/main" noGrp="1"/>
          </p:cNvSpPr>
          <p:nvPr/>
        </p:nvSpPr>
        <p:spPr>
          <a:xfrm xmlns:a="http://schemas.openxmlformats.org/drawingml/2006/main">
            <a:off x="822960" y="534009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51" name="Text 47">
            <a:extLst xmlns:a="http://schemas.openxmlformats.org/drawingml/2006/main">
              <a:ext uri="{FF2B5EF4-FFF2-40B4-BE49-F238E27FC236}">
                <a16:creationId xmlns:a16="http://schemas.microsoft.com/office/drawing/2014/main" id="{FC0E4CF2-45DF-4D7D-939C-79F4D81D5896}"/>
              </a:ext>
            </a:extLst>
          </p:cNvPr>
          <p:cNvSpPr>
            <a:spLocks xmlns:a="http://schemas.openxmlformats.org/drawingml/2006/main" noGrp="1"/>
          </p:cNvSpPr>
          <p:nvPr/>
        </p:nvSpPr>
        <p:spPr>
          <a:xfrm xmlns:a="http://schemas.openxmlformats.org/drawingml/2006/main">
            <a:off x="1005840" y="5257800"/>
            <a:ext cx="10515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Trivy in action</a:t>
            </a:r>
            <a:endParaRPr sz="900"/>
          </a:p>
        </p:txBody>
      </p:sp>
      <p:sp>
        <p:nvSpPr>
          <p:cNvPr id="52" name="Text 48">
            <a:extLst xmlns:a="http://schemas.openxmlformats.org/drawingml/2006/main">
              <a:ext uri="{FF2B5EF4-FFF2-40B4-BE49-F238E27FC236}">
                <a16:creationId xmlns:a16="http://schemas.microsoft.com/office/drawing/2014/main" id="{01B32ACB-0752-4AA4-A42E-B052211BD692}"/>
              </a:ext>
            </a:extLst>
          </p:cNvPr>
          <p:cNvSpPr>
            <a:spLocks xmlns:a="http://schemas.openxmlformats.org/drawingml/2006/main" noGrp="1"/>
          </p:cNvSpPr>
          <p:nvPr/>
        </p:nvSpPr>
        <p:spPr>
          <a:xfrm xmlns:a="http://schemas.openxmlformats.org/drawingml/2006/main">
            <a:off x="594360" y="5623560"/>
            <a:ext cx="109728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10B981"/>
                </a:solidFill>
                <a:latin typeface="Consolas"/>
                <a:ea typeface="Consolas"/>
                <a:cs typeface="Consolas"/>
              </a:rPr>
              <a:t>Jumlah CVE berubah menurut image dan database scanner.</a:t>
            </a:r>
            <a:endParaRPr sz="1100"/>
          </a:p>
          <a:p xmlns:a="http://schemas.openxmlformats.org/drawingml/2006/main">
            <a:pPr marL="0" indent="0">
              <a:spcAft>
                <a:spcPts val="200"/>
              </a:spcAft>
              <a:buNone/>
            </a:pPr>
            <a:r>
              <a:rPr sz="1100">
                <a:solidFill>
                  <a:srgbClr val="EF4444"/>
                </a:solidFill>
                <a:latin typeface="Consolas"/>
                <a:ea typeface="Consolas"/>
                <a:cs typeface="Consolas"/>
              </a:rPr>
              <a:t>Tinjau severity, paket, versi perbaikan, dan relevansi risiko.</a:t>
            </a:r>
            <a:endParaRPr sz="1100"/>
          </a:p>
        </p:txBody>
      </p:sp>
    </p:spTree>
    <p:extLst>
      <p:ext uri="{BB962C8B-B14F-4D97-AF65-F5344CB8AC3E}">
        <p14:creationId xmlns:p14="http://schemas.microsoft.com/office/powerpoint/2010/main" val="187776496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5290D52-0A7F-4CF2-8737-8F9E1B72D8F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47C300C3-82BC-4DDB-BD0E-98F20B747EA1}"/>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35</a:t>
            </a:r>
            <a:endParaRPr sz="900"/>
          </a:p>
        </p:txBody>
      </p:sp>
      <p:sp>
        <p:nvSpPr>
          <p:cNvPr id="4" name="Shape 2">
            <a:extLst xmlns:a="http://schemas.openxmlformats.org/drawingml/2006/main">
              <a:ext uri="{FF2B5EF4-FFF2-40B4-BE49-F238E27FC236}">
                <a16:creationId xmlns:a16="http://schemas.microsoft.com/office/drawing/2014/main" id="{AB9839D8-BEDD-4E0F-8E94-BE67CDBC15C9}"/>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7" name="Image 0">
            <a:extLst xmlns:a="http://schemas.openxmlformats.org/drawingml/2006/main">
              <a:ext uri="{FF2B5EF4-FFF2-40B4-BE49-F238E27FC236}">
                <a16:creationId xmlns:a16="http://schemas.microsoft.com/office/drawing/2014/main" id="{584C80C7-76BD-4BF5-A83A-4F08D4D2B216}"/>
              </a:ext>
            </a:extLst>
          </p:cNvPr>
          <p:cNvPicPr>
            <a:picLocks xmlns:a="http://schemas.openxmlformats.org/drawingml/2006/main" noChangeAspect="1"/>
          </p:cNvPicPr>
          <p:nvPr/>
        </p:nvPicPr>
        <p:blipFill>
          <a:blip xmlns:r="http://schemas.openxmlformats.org/officeDocument/2006/relationships" xmlns:a="http://schemas.openxmlformats.org/drawingml/2006/main" r:embed="Rb6355846f1b54b9c"/>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8" name="Image 1">
            <a:extLst xmlns:a="http://schemas.openxmlformats.org/drawingml/2006/main">
              <a:ext uri="{FF2B5EF4-FFF2-40B4-BE49-F238E27FC236}">
                <a16:creationId xmlns:a16="http://schemas.microsoft.com/office/drawing/2014/main" id="{1AACA9C7-DB98-4696-910D-99C0306AAF41}"/>
              </a:ext>
            </a:extLst>
          </p:cNvPr>
          <p:cNvPicPr>
            <a:picLocks xmlns:a="http://schemas.openxmlformats.org/drawingml/2006/main" noChangeAspect="1"/>
          </p:cNvPicPr>
          <p:nvPr/>
        </p:nvPicPr>
        <p:blipFill>
          <a:blip xmlns:r="http://schemas.openxmlformats.org/officeDocument/2006/relationships" xmlns:a="http://schemas.openxmlformats.org/drawingml/2006/main" r:embed="R29bf338bad6d4e8f"/>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56B9D7DA-B0DE-48AE-8224-A0718BD4AA57}"/>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AD2F0FFF-D6C1-402F-AB9F-812DD211A8EA}"/>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Cheat Sheet - Docker Core</a:t>
            </a:r>
            <a:endParaRPr sz="2200"/>
          </a:p>
        </p:txBody>
      </p:sp>
      <p:sp>
        <p:nvSpPr>
          <p:cNvPr id="9" name="Text 5">
            <a:extLst xmlns:a="http://schemas.openxmlformats.org/drawingml/2006/main">
              <a:ext uri="{FF2B5EF4-FFF2-40B4-BE49-F238E27FC236}">
                <a16:creationId xmlns:a16="http://schemas.microsoft.com/office/drawing/2014/main" id="{9F0DD4C3-95BD-4804-92B7-92599BA0F809}"/>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Ringkasan Bash/Dockerfile; placeholder &lt;...&gt; harus diganti</a:t>
            </a:r>
            <a:endParaRPr sz="1200"/>
          </a:p>
        </p:txBody>
      </p:sp>
      <p:sp>
        <p:nvSpPr>
          <p:cNvPr id="10" name="Shape 6">
            <a:extLst xmlns:a="http://schemas.openxmlformats.org/drawingml/2006/main">
              <a:ext uri="{FF2B5EF4-FFF2-40B4-BE49-F238E27FC236}">
                <a16:creationId xmlns:a16="http://schemas.microsoft.com/office/drawing/2014/main" id="{859E9EE8-540D-4B9D-A9E1-D899167928A6}"/>
              </a:ext>
            </a:extLst>
          </p:cNvPr>
          <p:cNvSpPr>
            <a:spLocks xmlns:a="http://schemas.openxmlformats.org/drawingml/2006/main" noGrp="1"/>
          </p:cNvSpPr>
          <p:nvPr/>
        </p:nvSpPr>
        <p:spPr>
          <a:xfrm xmlns:a="http://schemas.openxmlformats.org/drawingml/2006/main">
            <a:off x="457200" y="141732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548AE409-4924-45A7-898A-B1AB8B77635F}"/>
              </a:ext>
            </a:extLst>
          </p:cNvPr>
          <p:cNvSpPr>
            <a:spLocks xmlns:a="http://schemas.openxmlformats.org/drawingml/2006/main" noGrp="1"/>
          </p:cNvSpPr>
          <p:nvPr/>
        </p:nvSpPr>
        <p:spPr>
          <a:xfrm xmlns:a="http://schemas.openxmlformats.org/drawingml/2006/main">
            <a:off x="457200" y="1417320"/>
            <a:ext cx="2788920" cy="3657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2" name="Text 8">
            <a:extLst xmlns:a="http://schemas.openxmlformats.org/drawingml/2006/main">
              <a:ext uri="{FF2B5EF4-FFF2-40B4-BE49-F238E27FC236}">
                <a16:creationId xmlns:a16="http://schemas.microsoft.com/office/drawing/2014/main" id="{87FD4F13-289D-44E8-9287-A9BBE49F172B}"/>
              </a:ext>
            </a:extLst>
          </p:cNvPr>
          <p:cNvSpPr>
            <a:spLocks xmlns:a="http://schemas.openxmlformats.org/drawingml/2006/main" noGrp="1"/>
          </p:cNvSpPr>
          <p:nvPr/>
        </p:nvSpPr>
        <p:spPr>
          <a:xfrm xmlns:a="http://schemas.openxmlformats.org/drawingml/2006/main">
            <a:off x="457200" y="141732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Instructions</a:t>
            </a:r>
            <a:endParaRPr sz="1300"/>
          </a:p>
        </p:txBody>
      </p:sp>
      <p:sp>
        <p:nvSpPr>
          <p:cNvPr id="13" name="Text 9">
            <a:extLst xmlns:a="http://schemas.openxmlformats.org/drawingml/2006/main">
              <a:ext uri="{FF2B5EF4-FFF2-40B4-BE49-F238E27FC236}">
                <a16:creationId xmlns:a16="http://schemas.microsoft.com/office/drawing/2014/main" id="{073B5EAB-256B-4EE8-A4C1-E14B48D90589}"/>
              </a:ext>
            </a:extLst>
          </p:cNvPr>
          <p:cNvSpPr>
            <a:spLocks xmlns:a="http://schemas.openxmlformats.org/drawingml/2006/main" noGrp="1"/>
          </p:cNvSpPr>
          <p:nvPr/>
        </p:nvSpPr>
        <p:spPr>
          <a:xfrm xmlns:a="http://schemas.openxmlformats.org/drawingml/2006/main">
            <a:off x="640080" y="187452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FROM &lt;img&gt;:&lt;tag&gt;</a:t>
            </a:r>
            <a:endParaRPr sz="1100"/>
          </a:p>
          <a:p xmlns:a="http://schemas.openxmlformats.org/drawingml/2006/main">
            <a:pPr marL="0" indent="0">
              <a:spcAft>
                <a:spcPts val="300"/>
              </a:spcAft>
              <a:buNone/>
            </a:pPr>
            <a:r>
              <a:rPr sz="1100">
                <a:solidFill>
                  <a:srgbClr val="1E293B"/>
                </a:solidFill>
                <a:latin typeface="Consolas"/>
                <a:ea typeface="Consolas"/>
                <a:cs typeface="Consolas"/>
              </a:rPr>
              <a:t>WORKDIR /path</a:t>
            </a:r>
            <a:endParaRPr sz="1100"/>
          </a:p>
          <a:p xmlns:a="http://schemas.openxmlformats.org/drawingml/2006/main">
            <a:pPr marL="0" indent="0">
              <a:spcAft>
                <a:spcPts val="300"/>
              </a:spcAft>
              <a:buNone/>
            </a:pPr>
            <a:r>
              <a:rPr sz="1100">
                <a:solidFill>
                  <a:srgbClr val="1E293B"/>
                </a:solidFill>
                <a:latin typeface="Consolas"/>
                <a:ea typeface="Consolas"/>
                <a:cs typeface="Consolas"/>
              </a:rPr>
              <a:t>COPY src dst</a:t>
            </a:r>
            <a:endParaRPr sz="1100"/>
          </a:p>
          <a:p xmlns:a="http://schemas.openxmlformats.org/drawingml/2006/main">
            <a:pPr marL="0" indent="0">
              <a:spcAft>
                <a:spcPts val="300"/>
              </a:spcAft>
              <a:buNone/>
            </a:pPr>
            <a:r>
              <a:rPr sz="1100">
                <a:solidFill>
                  <a:srgbClr val="1E293B"/>
                </a:solidFill>
                <a:latin typeface="Consolas"/>
                <a:ea typeface="Consolas"/>
                <a:cs typeface="Consolas"/>
              </a:rPr>
              <a:t>RUN command</a:t>
            </a:r>
            <a:endParaRPr sz="1100"/>
          </a:p>
          <a:p xmlns:a="http://schemas.openxmlformats.org/drawingml/2006/main">
            <a:pPr marL="0" indent="0">
              <a:spcAft>
                <a:spcPts val="300"/>
              </a:spcAft>
              <a:buNone/>
            </a:pPr>
            <a:r>
              <a:rPr sz="1100">
                <a:solidFill>
                  <a:srgbClr val="1E293B"/>
                </a:solidFill>
                <a:latin typeface="Consolas"/>
                <a:ea typeface="Consolas"/>
                <a:cs typeface="Consolas"/>
              </a:rPr>
              <a:t>EXPOSE 3000</a:t>
            </a:r>
            <a:endParaRPr sz="1100"/>
          </a:p>
          <a:p xmlns:a="http://schemas.openxmlformats.org/drawingml/2006/main">
            <a:pPr marL="0" indent="0">
              <a:spcAft>
                <a:spcPts val="300"/>
              </a:spcAft>
              <a:buNone/>
            </a:pPr>
            <a:r>
              <a:rPr sz="1100">
                <a:solidFill>
                  <a:srgbClr val="1E293B"/>
                </a:solidFill>
                <a:latin typeface="Consolas"/>
                <a:ea typeface="Consolas"/>
                <a:cs typeface="Consolas"/>
              </a:rPr>
              <a:t>CMD ["a", "b"]</a:t>
            </a:r>
            <a:endParaRPr sz="1100"/>
          </a:p>
        </p:txBody>
      </p:sp>
      <p:sp>
        <p:nvSpPr>
          <p:cNvPr id="14" name="Shape 10">
            <a:extLst xmlns:a="http://schemas.openxmlformats.org/drawingml/2006/main">
              <a:ext uri="{FF2B5EF4-FFF2-40B4-BE49-F238E27FC236}">
                <a16:creationId xmlns:a16="http://schemas.microsoft.com/office/drawing/2014/main" id="{14ADF4F7-7812-4318-AE77-6F03C1D88F3A}"/>
              </a:ext>
            </a:extLst>
          </p:cNvPr>
          <p:cNvSpPr>
            <a:spLocks xmlns:a="http://schemas.openxmlformats.org/drawingml/2006/main" noGrp="1"/>
          </p:cNvSpPr>
          <p:nvPr/>
        </p:nvSpPr>
        <p:spPr>
          <a:xfrm xmlns:a="http://schemas.openxmlformats.org/drawingml/2006/main">
            <a:off x="3364992" y="141732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5" name="Shape 11">
            <a:extLst xmlns:a="http://schemas.openxmlformats.org/drawingml/2006/main">
              <a:ext uri="{FF2B5EF4-FFF2-40B4-BE49-F238E27FC236}">
                <a16:creationId xmlns:a16="http://schemas.microsoft.com/office/drawing/2014/main" id="{8378CF81-0FCE-48F7-A287-89B4BCEC144A}"/>
              </a:ext>
            </a:extLst>
          </p:cNvPr>
          <p:cNvSpPr>
            <a:spLocks xmlns:a="http://schemas.openxmlformats.org/drawingml/2006/main" noGrp="1"/>
          </p:cNvSpPr>
          <p:nvPr/>
        </p:nvSpPr>
        <p:spPr>
          <a:xfrm xmlns:a="http://schemas.openxmlformats.org/drawingml/2006/main">
            <a:off x="3364992" y="1417320"/>
            <a:ext cx="2788920" cy="3657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6" name="Text 12">
            <a:extLst xmlns:a="http://schemas.openxmlformats.org/drawingml/2006/main">
              <a:ext uri="{FF2B5EF4-FFF2-40B4-BE49-F238E27FC236}">
                <a16:creationId xmlns:a16="http://schemas.microsoft.com/office/drawing/2014/main" id="{12CAE3C4-8490-4456-80AE-FE21D56B8EE0}"/>
              </a:ext>
            </a:extLst>
          </p:cNvPr>
          <p:cNvSpPr>
            <a:spLocks xmlns:a="http://schemas.openxmlformats.org/drawingml/2006/main" noGrp="1"/>
          </p:cNvSpPr>
          <p:nvPr/>
        </p:nvSpPr>
        <p:spPr>
          <a:xfrm xmlns:a="http://schemas.openxmlformats.org/drawingml/2006/main">
            <a:off x="3364992" y="141732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Build</a:t>
            </a:r>
            <a:endParaRPr sz="1300"/>
          </a:p>
        </p:txBody>
      </p:sp>
      <p:sp>
        <p:nvSpPr>
          <p:cNvPr id="17" name="Text 13">
            <a:extLst xmlns:a="http://schemas.openxmlformats.org/drawingml/2006/main">
              <a:ext uri="{FF2B5EF4-FFF2-40B4-BE49-F238E27FC236}">
                <a16:creationId xmlns:a16="http://schemas.microsoft.com/office/drawing/2014/main" id="{6FB38AC4-937F-4B95-8C1D-52C1E243581F}"/>
              </a:ext>
            </a:extLst>
          </p:cNvPr>
          <p:cNvSpPr>
            <a:spLocks xmlns:a="http://schemas.openxmlformats.org/drawingml/2006/main" noGrp="1"/>
          </p:cNvSpPr>
          <p:nvPr/>
        </p:nvSpPr>
        <p:spPr>
          <a:xfrm xmlns:a="http://schemas.openxmlformats.org/drawingml/2006/main">
            <a:off x="3547872" y="187452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docker build -t app:1 .</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 build --pull \</a:t>
            </a:r>
            <a:endParaRPr sz="1100"/>
          </a:p>
          <a:p xmlns:a="http://schemas.openxmlformats.org/drawingml/2006/main">
            <a:pPr marL="0" indent="0">
              <a:spcAft>
                <a:spcPts val="300"/>
              </a:spcAft>
              <a:buNone/>
            </a:pPr>
            <a:r>
              <a:rPr sz="1100">
                <a:solidFill>
                  <a:srgbClr val="1E293B"/>
                </a:solidFill>
                <a:latin typeface="Consolas"/>
                <a:ea typeface="Consolas"/>
                <a:cs typeface="Consolas"/>
              </a:rPr>
              <a:t>  --no-cache .</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 build \</a:t>
            </a:r>
            <a:endParaRPr sz="1100"/>
          </a:p>
          <a:p xmlns:a="http://schemas.openxmlformats.org/drawingml/2006/main">
            <a:pPr marL="0" indent="0">
              <a:spcAft>
                <a:spcPts val="300"/>
              </a:spcAft>
              <a:buNone/>
            </a:pPr>
            <a:r>
              <a:rPr sz="1100">
                <a:solidFill>
                  <a:srgbClr val="1E293B"/>
                </a:solidFill>
                <a:latin typeface="Consolas"/>
                <a:ea typeface="Consolas"/>
                <a:cs typeface="Consolas"/>
              </a:rPr>
              <a:t>  --build-arg K=V .</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 history &lt;img&gt;</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 image ls</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 image prune</a:t>
            </a:r>
            <a:endParaRPr sz="1100"/>
          </a:p>
        </p:txBody>
      </p:sp>
      <p:sp>
        <p:nvSpPr>
          <p:cNvPr id="18" name="Shape 14">
            <a:extLst xmlns:a="http://schemas.openxmlformats.org/drawingml/2006/main">
              <a:ext uri="{FF2B5EF4-FFF2-40B4-BE49-F238E27FC236}">
                <a16:creationId xmlns:a16="http://schemas.microsoft.com/office/drawing/2014/main" id="{4DA78015-DB3A-4DCC-8502-7E80F650672D}"/>
              </a:ext>
            </a:extLst>
          </p:cNvPr>
          <p:cNvSpPr>
            <a:spLocks xmlns:a="http://schemas.openxmlformats.org/drawingml/2006/main" noGrp="1"/>
          </p:cNvSpPr>
          <p:nvPr/>
        </p:nvSpPr>
        <p:spPr>
          <a:xfrm xmlns:a="http://schemas.openxmlformats.org/drawingml/2006/main">
            <a:off x="6272784" y="141732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9" name="Shape 15">
            <a:extLst xmlns:a="http://schemas.openxmlformats.org/drawingml/2006/main">
              <a:ext uri="{FF2B5EF4-FFF2-40B4-BE49-F238E27FC236}">
                <a16:creationId xmlns:a16="http://schemas.microsoft.com/office/drawing/2014/main" id="{D1649298-4364-4AFB-BEA6-68F931468390}"/>
              </a:ext>
            </a:extLst>
          </p:cNvPr>
          <p:cNvSpPr>
            <a:spLocks xmlns:a="http://schemas.openxmlformats.org/drawingml/2006/main" noGrp="1"/>
          </p:cNvSpPr>
          <p:nvPr/>
        </p:nvSpPr>
        <p:spPr>
          <a:xfrm xmlns:a="http://schemas.openxmlformats.org/drawingml/2006/main">
            <a:off x="6272784" y="1417320"/>
            <a:ext cx="2788920" cy="3657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20" name="Text 16">
            <a:extLst xmlns:a="http://schemas.openxmlformats.org/drawingml/2006/main">
              <a:ext uri="{FF2B5EF4-FFF2-40B4-BE49-F238E27FC236}">
                <a16:creationId xmlns:a16="http://schemas.microsoft.com/office/drawing/2014/main" id="{6D5A053D-B237-4903-9FFB-CD4306661000}"/>
              </a:ext>
            </a:extLst>
          </p:cNvPr>
          <p:cNvSpPr>
            <a:spLocks xmlns:a="http://schemas.openxmlformats.org/drawingml/2006/main" noGrp="1"/>
          </p:cNvSpPr>
          <p:nvPr/>
        </p:nvSpPr>
        <p:spPr>
          <a:xfrm xmlns:a="http://schemas.openxmlformats.org/drawingml/2006/main">
            <a:off x="6272784" y="141732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Multi-Stage</a:t>
            </a:r>
            <a:endParaRPr sz="1300"/>
          </a:p>
        </p:txBody>
      </p:sp>
      <p:sp>
        <p:nvSpPr>
          <p:cNvPr id="21" name="Text 17">
            <a:extLst xmlns:a="http://schemas.openxmlformats.org/drawingml/2006/main">
              <a:ext uri="{FF2B5EF4-FFF2-40B4-BE49-F238E27FC236}">
                <a16:creationId xmlns:a16="http://schemas.microsoft.com/office/drawing/2014/main" id="{7FBCA3B9-3F93-4DAF-9369-F506EBF06D01}"/>
              </a:ext>
            </a:extLst>
          </p:cNvPr>
          <p:cNvSpPr>
            <a:spLocks xmlns:a="http://schemas.openxmlformats.org/drawingml/2006/main" noGrp="1"/>
          </p:cNvSpPr>
          <p:nvPr/>
        </p:nvSpPr>
        <p:spPr>
          <a:xfrm xmlns:a="http://schemas.openxmlformats.org/drawingml/2006/main">
            <a:off x="6455664" y="187452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FROM x AS builder</a:t>
            </a:r>
            <a:endParaRPr sz="1100"/>
          </a:p>
          <a:p xmlns:a="http://schemas.openxmlformats.org/drawingml/2006/main">
            <a:pPr marL="0" indent="0">
              <a:spcAft>
                <a:spcPts val="300"/>
              </a:spcAft>
              <a:buNone/>
            </a:pPr>
            <a:r>
              <a:rPr sz="1100">
                <a:solidFill>
                  <a:srgbClr val="1E293B"/>
                </a:solidFill>
                <a:latin typeface="Consolas"/>
                <a:ea typeface="Consolas"/>
                <a:cs typeface="Consolas"/>
              </a:rPr>
              <a:t>FROM y AS runner</a:t>
            </a:r>
            <a:endParaRPr sz="1100"/>
          </a:p>
          <a:p xmlns:a="http://schemas.openxmlformats.org/drawingml/2006/main">
            <a:pPr marL="0" indent="0">
              <a:spcAft>
                <a:spcPts val="300"/>
              </a:spcAft>
              <a:buNone/>
            </a:pPr>
            <a:r>
              <a:rPr sz="1100">
                <a:solidFill>
                  <a:srgbClr val="1E293B"/>
                </a:solidFill>
                <a:latin typeface="Consolas"/>
                <a:ea typeface="Consolas"/>
                <a:cs typeface="Consolas"/>
              </a:rPr>
              <a:t>COPY --from=builder \</a:t>
            </a:r>
            <a:endParaRPr sz="1100"/>
          </a:p>
          <a:p xmlns:a="http://schemas.openxmlformats.org/drawingml/2006/main">
            <a:pPr marL="0" indent="0">
              <a:spcAft>
                <a:spcPts val="300"/>
              </a:spcAft>
              <a:buNone/>
            </a:pPr>
            <a:r>
              <a:rPr sz="1100">
                <a:solidFill>
                  <a:srgbClr val="1E293B"/>
                </a:solidFill>
                <a:latin typeface="Consolas"/>
                <a:ea typeface="Consolas"/>
                <a:cs typeface="Consolas"/>
              </a:rPr>
              <a:t>  /app/dist ./dist</a:t>
            </a:r>
            <a:endParaRPr sz="1100"/>
          </a:p>
          <a:p xmlns:a="http://schemas.openxmlformats.org/drawingml/2006/main">
            <a:pPr marL="0" indent="0">
              <a:spcAft>
                <a:spcPts val="300"/>
              </a:spcAft>
              <a:buNone/>
            </a:pPr>
            <a:r>
              <a:rPr sz="1100">
                <a:solidFill>
                  <a:srgbClr val="1E293B"/>
                </a:solidFill>
                <a:latin typeface="Consolas"/>
                <a:ea typeface="Consolas"/>
                <a:cs typeface="Consolas"/>
              </a:rPr>
              <a:t>Build -&gt; runtime</a:t>
            </a:r>
            <a:endParaRPr sz="1100"/>
          </a:p>
          <a:p xmlns:a="http://schemas.openxmlformats.org/drawingml/2006/main">
            <a:pPr marL="0" indent="0">
              <a:spcAft>
                <a:spcPts val="300"/>
              </a:spcAft>
              <a:buNone/>
            </a:pPr>
            <a:r>
              <a:rPr sz="1100">
                <a:solidFill>
                  <a:srgbClr val="1E293B"/>
                </a:solidFill>
                <a:latin typeface="Consolas"/>
                <a:ea typeface="Consolas"/>
                <a:cs typeface="Consolas"/>
              </a:rPr>
              <a:t>Ukur image hasilnya</a:t>
            </a:r>
            <a:endParaRPr sz="1100"/>
          </a:p>
        </p:txBody>
      </p:sp>
      <p:sp>
        <p:nvSpPr>
          <p:cNvPr id="22" name="Shape 18">
            <a:extLst xmlns:a="http://schemas.openxmlformats.org/drawingml/2006/main">
              <a:ext uri="{FF2B5EF4-FFF2-40B4-BE49-F238E27FC236}">
                <a16:creationId xmlns:a16="http://schemas.microsoft.com/office/drawing/2014/main" id="{08E69940-7DDD-4D18-A1ED-47D753EDE25D}"/>
              </a:ext>
            </a:extLst>
          </p:cNvPr>
          <p:cNvSpPr>
            <a:spLocks xmlns:a="http://schemas.openxmlformats.org/drawingml/2006/main" noGrp="1"/>
          </p:cNvSpPr>
          <p:nvPr/>
        </p:nvSpPr>
        <p:spPr>
          <a:xfrm xmlns:a="http://schemas.openxmlformats.org/drawingml/2006/main">
            <a:off x="9180576" y="141732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Shape 19">
            <a:extLst xmlns:a="http://schemas.openxmlformats.org/drawingml/2006/main">
              <a:ext uri="{FF2B5EF4-FFF2-40B4-BE49-F238E27FC236}">
                <a16:creationId xmlns:a16="http://schemas.microsoft.com/office/drawing/2014/main" id="{7555A7AB-88B7-4420-90C7-C94AC6146213}"/>
              </a:ext>
            </a:extLst>
          </p:cNvPr>
          <p:cNvSpPr>
            <a:spLocks xmlns:a="http://schemas.openxmlformats.org/drawingml/2006/main" noGrp="1"/>
          </p:cNvSpPr>
          <p:nvPr/>
        </p:nvSpPr>
        <p:spPr>
          <a:xfrm xmlns:a="http://schemas.openxmlformats.org/drawingml/2006/main">
            <a:off x="9180576" y="1417320"/>
            <a:ext cx="2788920" cy="3657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4" name="Text 20">
            <a:extLst xmlns:a="http://schemas.openxmlformats.org/drawingml/2006/main">
              <a:ext uri="{FF2B5EF4-FFF2-40B4-BE49-F238E27FC236}">
                <a16:creationId xmlns:a16="http://schemas.microsoft.com/office/drawing/2014/main" id="{7EF32CD4-8ADA-4C65-9088-1EBDFD764E72}"/>
              </a:ext>
            </a:extLst>
          </p:cNvPr>
          <p:cNvSpPr>
            <a:spLocks xmlns:a="http://schemas.openxmlformats.org/drawingml/2006/main" noGrp="1"/>
          </p:cNvSpPr>
          <p:nvPr/>
        </p:nvSpPr>
        <p:spPr>
          <a:xfrm xmlns:a="http://schemas.openxmlformats.org/drawingml/2006/main">
            <a:off x="9180576" y="141732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Cache Order</a:t>
            </a:r>
            <a:endParaRPr sz="1300"/>
          </a:p>
        </p:txBody>
      </p:sp>
      <p:sp>
        <p:nvSpPr>
          <p:cNvPr id="25" name="Text 21">
            <a:extLst xmlns:a="http://schemas.openxmlformats.org/drawingml/2006/main">
              <a:ext uri="{FF2B5EF4-FFF2-40B4-BE49-F238E27FC236}">
                <a16:creationId xmlns:a16="http://schemas.microsoft.com/office/drawing/2014/main" id="{72D7EFF1-81F9-4DCC-90C8-1E8A108B41AB}"/>
              </a:ext>
            </a:extLst>
          </p:cNvPr>
          <p:cNvSpPr>
            <a:spLocks xmlns:a="http://schemas.openxmlformats.org/drawingml/2006/main" noGrp="1"/>
          </p:cNvSpPr>
          <p:nvPr/>
        </p:nvSpPr>
        <p:spPr>
          <a:xfrm xmlns:a="http://schemas.openxmlformats.org/drawingml/2006/main">
            <a:off x="9363456" y="187452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FROM &lt;base&gt;</a:t>
            </a:r>
            <a:endParaRPr sz="1100"/>
          </a:p>
          <a:p xmlns:a="http://schemas.openxmlformats.org/drawingml/2006/main">
            <a:pPr marL="0" indent="0">
              <a:spcAft>
                <a:spcPts val="300"/>
              </a:spcAft>
              <a:buNone/>
            </a:pPr>
            <a:r>
              <a:rPr sz="1100">
                <a:solidFill>
                  <a:srgbClr val="1E293B"/>
                </a:solidFill>
                <a:latin typeface="Consolas"/>
                <a:ea typeface="Consolas"/>
                <a:cs typeface="Consolas"/>
              </a:rPr>
              <a:t>WORKDIR /app</a:t>
            </a:r>
            <a:endParaRPr sz="1100"/>
          </a:p>
          <a:p xmlns:a="http://schemas.openxmlformats.org/drawingml/2006/main">
            <a:pPr marL="0" indent="0">
              <a:spcAft>
                <a:spcPts val="300"/>
              </a:spcAft>
              <a:buNone/>
            </a:pPr>
            <a:r>
              <a:rPr sz="1100">
                <a:solidFill>
                  <a:srgbClr val="1E293B"/>
                </a:solidFill>
                <a:latin typeface="Consolas"/>
                <a:ea typeface="Consolas"/>
                <a:cs typeface="Consolas"/>
              </a:rPr>
              <a:t>COPY package*.json ./</a:t>
            </a:r>
            <a:endParaRPr sz="1100"/>
          </a:p>
          <a:p xmlns:a="http://schemas.openxmlformats.org/drawingml/2006/main">
            <a:pPr marL="0" indent="0">
              <a:spcAft>
                <a:spcPts val="300"/>
              </a:spcAft>
              <a:buNone/>
            </a:pPr>
            <a:r>
              <a:rPr sz="1100">
                <a:solidFill>
                  <a:srgbClr val="1E293B"/>
                </a:solidFill>
                <a:latin typeface="Consolas"/>
                <a:ea typeface="Consolas"/>
                <a:cs typeface="Consolas"/>
              </a:rPr>
              <a:t>RUN npm ci</a:t>
            </a:r>
            <a:endParaRPr sz="1100"/>
          </a:p>
          <a:p xmlns:a="http://schemas.openxmlformats.org/drawingml/2006/main">
            <a:pPr marL="0" indent="0">
              <a:spcAft>
                <a:spcPts val="300"/>
              </a:spcAft>
              <a:buNone/>
            </a:pPr>
            <a:r>
              <a:rPr sz="1100">
                <a:solidFill>
                  <a:srgbClr val="1E293B"/>
                </a:solidFill>
                <a:latin typeface="Consolas"/>
                <a:ea typeface="Consolas"/>
                <a:cs typeface="Consolas"/>
              </a:rPr>
              <a:t>COPY . .</a:t>
            </a:r>
            <a:endParaRPr sz="1100"/>
          </a:p>
          <a:p xmlns:a="http://schemas.openxmlformats.org/drawingml/2006/main">
            <a:pPr marL="0" indent="0">
              <a:spcAft>
                <a:spcPts val="300"/>
              </a:spcAft>
              <a:buNone/>
            </a:pPr>
            <a:r>
              <a:rPr sz="1100">
                <a:solidFill>
                  <a:srgbClr val="1E293B"/>
                </a:solidFill>
                <a:latin typeface="Consolas"/>
                <a:ea typeface="Consolas"/>
                <a:cs typeface="Consolas"/>
              </a:rPr>
              <a:t>CMD ["node","server.js"]</a:t>
            </a:r>
            <a:endParaRPr sz="1100"/>
          </a:p>
        </p:txBody>
      </p:sp>
      <p:sp>
        <p:nvSpPr>
          <p:cNvPr id="26" name="Shape 22">
            <a:extLst xmlns:a="http://schemas.openxmlformats.org/drawingml/2006/main">
              <a:ext uri="{FF2B5EF4-FFF2-40B4-BE49-F238E27FC236}">
                <a16:creationId xmlns:a16="http://schemas.microsoft.com/office/drawing/2014/main" id="{A00798F4-9536-4CA0-9BF0-BC9F8597F816}"/>
              </a:ext>
            </a:extLst>
          </p:cNvPr>
          <p:cNvSpPr>
            <a:spLocks xmlns:a="http://schemas.openxmlformats.org/drawingml/2006/main" noGrp="1"/>
          </p:cNvSpPr>
          <p:nvPr/>
        </p:nvSpPr>
        <p:spPr>
          <a:xfrm xmlns:a="http://schemas.openxmlformats.org/drawingml/2006/main">
            <a:off x="457200" y="388620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7" name="Shape 23">
            <a:extLst xmlns:a="http://schemas.openxmlformats.org/drawingml/2006/main">
              <a:ext uri="{FF2B5EF4-FFF2-40B4-BE49-F238E27FC236}">
                <a16:creationId xmlns:a16="http://schemas.microsoft.com/office/drawing/2014/main" id="{64EE323B-62AB-4BFE-A5D9-8C91998C8A01}"/>
              </a:ext>
            </a:extLst>
          </p:cNvPr>
          <p:cNvSpPr>
            <a:spLocks xmlns:a="http://schemas.openxmlformats.org/drawingml/2006/main" noGrp="1"/>
          </p:cNvSpPr>
          <p:nvPr/>
        </p:nvSpPr>
        <p:spPr>
          <a:xfrm xmlns:a="http://schemas.openxmlformats.org/drawingml/2006/main">
            <a:off x="457200" y="3886200"/>
            <a:ext cx="2788920" cy="3657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28" name="Text 24">
            <a:extLst xmlns:a="http://schemas.openxmlformats.org/drawingml/2006/main">
              <a:ext uri="{FF2B5EF4-FFF2-40B4-BE49-F238E27FC236}">
                <a16:creationId xmlns:a16="http://schemas.microsoft.com/office/drawing/2014/main" id="{40B8351A-8B82-4780-B507-E1857CA64A11}"/>
              </a:ext>
            </a:extLst>
          </p:cNvPr>
          <p:cNvSpPr>
            <a:spLocks xmlns:a="http://schemas.openxmlformats.org/drawingml/2006/main" noGrp="1"/>
          </p:cNvSpPr>
          <p:nvPr/>
        </p:nvSpPr>
        <p:spPr>
          <a:xfrm xmlns:a="http://schemas.openxmlformats.org/drawingml/2006/main">
            <a:off x="457200" y="388620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Optimization</a:t>
            </a:r>
            <a:endParaRPr sz="1300"/>
          </a:p>
        </p:txBody>
      </p:sp>
      <p:sp>
        <p:nvSpPr>
          <p:cNvPr id="29" name="Text 25">
            <a:extLst xmlns:a="http://schemas.openxmlformats.org/drawingml/2006/main">
              <a:ext uri="{FF2B5EF4-FFF2-40B4-BE49-F238E27FC236}">
                <a16:creationId xmlns:a16="http://schemas.microsoft.com/office/drawing/2014/main" id="{EDE559FB-33EC-4A11-AAEE-DCDBC889701C}"/>
              </a:ext>
            </a:extLst>
          </p:cNvPr>
          <p:cNvSpPr>
            <a:spLocks xmlns:a="http://schemas.openxmlformats.org/drawingml/2006/main" noGrp="1"/>
          </p:cNvSpPr>
          <p:nvPr/>
        </p:nvSpPr>
        <p:spPr>
          <a:xfrm xmlns:a="http://schemas.openxmlformats.org/drawingml/2006/main">
            <a:off x="640080" y="434340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alpine / slim base</a:t>
            </a:r>
            <a:endParaRPr sz="1100"/>
          </a:p>
          <a:p xmlns:a="http://schemas.openxmlformats.org/drawingml/2006/main">
            <a:pPr marL="0" indent="0">
              <a:spcAft>
                <a:spcPts val="300"/>
              </a:spcAft>
              <a:buNone/>
            </a:pPr>
            <a:r>
              <a:rPr sz="1100">
                <a:solidFill>
                  <a:srgbClr val="1E293B"/>
                </a:solidFill>
                <a:latin typeface="Consolas"/>
                <a:ea typeface="Consolas"/>
                <a:cs typeface="Consolas"/>
              </a:rPr>
              <a:t>Multi-stage build</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.dockerignore</a:t>
            </a:r>
            <a:endParaRPr sz="1100"/>
          </a:p>
          <a:p xmlns:a="http://schemas.openxmlformats.org/drawingml/2006/main">
            <a:pPr marL="0" indent="0">
              <a:spcAft>
                <a:spcPts val="300"/>
              </a:spcAft>
              <a:buNone/>
            </a:pPr>
            <a:r>
              <a:rPr sz="1100">
                <a:solidFill>
                  <a:srgbClr val="1E293B"/>
                </a:solidFill>
                <a:latin typeface="Consolas"/>
                <a:ea typeface="Consolas"/>
                <a:cs typeface="Consolas"/>
              </a:rPr>
              <a:t>Combine RUN steps</a:t>
            </a:r>
            <a:endParaRPr sz="1100"/>
          </a:p>
          <a:p xmlns:a="http://schemas.openxmlformats.org/drawingml/2006/main">
            <a:pPr marL="0" indent="0">
              <a:spcAft>
                <a:spcPts val="300"/>
              </a:spcAft>
              <a:buNone/>
            </a:pPr>
            <a:r>
              <a:rPr sz="1100">
                <a:solidFill>
                  <a:srgbClr val="1E293B"/>
                </a:solidFill>
                <a:latin typeface="Consolas"/>
                <a:ea typeface="Consolas"/>
                <a:cs typeface="Consolas"/>
              </a:rPr>
              <a:t>Clear apt cache</a:t>
            </a:r>
            <a:endParaRPr sz="1100"/>
          </a:p>
          <a:p xmlns:a="http://schemas.openxmlformats.org/drawingml/2006/main">
            <a:pPr marL="0" indent="0">
              <a:spcAft>
                <a:spcPts val="300"/>
              </a:spcAft>
              <a:buNone/>
            </a:pPr>
            <a:r>
              <a:rPr sz="1100">
                <a:solidFill>
                  <a:srgbClr val="1E293B"/>
                </a:solidFill>
                <a:latin typeface="Consolas"/>
                <a:ea typeface="Consolas"/>
                <a:cs typeface="Consolas"/>
              </a:rPr>
              <a:t>Lockfile + base digest</a:t>
            </a:r>
            <a:endParaRPr sz="1100"/>
          </a:p>
        </p:txBody>
      </p:sp>
      <p:sp>
        <p:nvSpPr>
          <p:cNvPr id="30" name="Shape 26">
            <a:extLst xmlns:a="http://schemas.openxmlformats.org/drawingml/2006/main">
              <a:ext uri="{FF2B5EF4-FFF2-40B4-BE49-F238E27FC236}">
                <a16:creationId xmlns:a16="http://schemas.microsoft.com/office/drawing/2014/main" id="{895553B5-8117-44A2-AEF2-4A4D38BE9B6D}"/>
              </a:ext>
            </a:extLst>
          </p:cNvPr>
          <p:cNvSpPr>
            <a:spLocks xmlns:a="http://schemas.openxmlformats.org/drawingml/2006/main" noGrp="1"/>
          </p:cNvSpPr>
          <p:nvPr/>
        </p:nvSpPr>
        <p:spPr>
          <a:xfrm xmlns:a="http://schemas.openxmlformats.org/drawingml/2006/main">
            <a:off x="3364992" y="388620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Shape 27">
            <a:extLst xmlns:a="http://schemas.openxmlformats.org/drawingml/2006/main">
              <a:ext uri="{FF2B5EF4-FFF2-40B4-BE49-F238E27FC236}">
                <a16:creationId xmlns:a16="http://schemas.microsoft.com/office/drawing/2014/main" id="{9F99AFC0-E091-47B0-8C22-1EFED8F24331}"/>
              </a:ext>
            </a:extLst>
          </p:cNvPr>
          <p:cNvSpPr>
            <a:spLocks xmlns:a="http://schemas.openxmlformats.org/drawingml/2006/main" noGrp="1"/>
          </p:cNvSpPr>
          <p:nvPr/>
        </p:nvSpPr>
        <p:spPr>
          <a:xfrm xmlns:a="http://schemas.openxmlformats.org/drawingml/2006/main">
            <a:off x="3364992" y="3886200"/>
            <a:ext cx="2788920" cy="3657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2" name="Text 28">
            <a:extLst xmlns:a="http://schemas.openxmlformats.org/drawingml/2006/main">
              <a:ext uri="{FF2B5EF4-FFF2-40B4-BE49-F238E27FC236}">
                <a16:creationId xmlns:a16="http://schemas.microsoft.com/office/drawing/2014/main" id="{451905E4-E33D-467E-9FD2-FBCF56A60707}"/>
              </a:ext>
            </a:extLst>
          </p:cNvPr>
          <p:cNvSpPr>
            <a:spLocks xmlns:a="http://schemas.openxmlformats.org/drawingml/2006/main" noGrp="1"/>
          </p:cNvSpPr>
          <p:nvPr/>
        </p:nvSpPr>
        <p:spPr>
          <a:xfrm xmlns:a="http://schemas.openxmlformats.org/drawingml/2006/main">
            <a:off x="3364992" y="388620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Tagging</a:t>
            </a:r>
            <a:endParaRPr sz="1300"/>
          </a:p>
        </p:txBody>
      </p:sp>
      <p:sp>
        <p:nvSpPr>
          <p:cNvPr id="33" name="Text 29">
            <a:extLst xmlns:a="http://schemas.openxmlformats.org/drawingml/2006/main">
              <a:ext uri="{FF2B5EF4-FFF2-40B4-BE49-F238E27FC236}">
                <a16:creationId xmlns:a16="http://schemas.microsoft.com/office/drawing/2014/main" id="{40E49E60-DCD9-4316-8EE8-A9DDD89DEC09}"/>
              </a:ext>
            </a:extLst>
          </p:cNvPr>
          <p:cNvSpPr>
            <a:spLocks xmlns:a="http://schemas.openxmlformats.org/drawingml/2006/main" noGrp="1"/>
          </p:cNvSpPr>
          <p:nvPr/>
        </p:nvSpPr>
        <p:spPr>
          <a:xfrm xmlns:a="http://schemas.openxmlformats.org/drawingml/2006/main">
            <a:off x="3547872" y="434340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myapp:1.2.3 (semver)</a:t>
            </a:r>
            <a:endParaRPr sz="1100"/>
          </a:p>
          <a:p xmlns:a="http://schemas.openxmlformats.org/drawingml/2006/main">
            <a:pPr marL="0" indent="0">
              <a:spcAft>
                <a:spcPts val="300"/>
              </a:spcAft>
              <a:buNone/>
            </a:pPr>
            <a:r>
              <a:rPr sz="1100">
                <a:solidFill>
                  <a:srgbClr val="1E293B"/>
                </a:solidFill>
                <a:latin typeface="Consolas"/>
                <a:ea typeface="Consolas"/>
                <a:cs typeface="Consolas"/>
              </a:rPr>
              <a:t>myapp:1.2</a:t>
            </a:r>
            <a:endParaRPr sz="1100"/>
          </a:p>
          <a:p xmlns:a="http://schemas.openxmlformats.org/drawingml/2006/main">
            <a:pPr marL="0" indent="0">
              <a:spcAft>
                <a:spcPts val="300"/>
              </a:spcAft>
              <a:buNone/>
            </a:pPr>
            <a:r>
              <a:rPr sz="1100">
                <a:solidFill>
                  <a:srgbClr val="1E293B"/>
                </a:solidFill>
                <a:latin typeface="Consolas"/>
                <a:ea typeface="Consolas"/>
                <a:cs typeface="Consolas"/>
              </a:rPr>
              <a:t>myapp:1</a:t>
            </a:r>
            <a:endParaRPr sz="1100"/>
          </a:p>
          <a:p xmlns:a="http://schemas.openxmlformats.org/drawingml/2006/main">
            <a:pPr marL="0" indent="0">
              <a:spcAft>
                <a:spcPts val="300"/>
              </a:spcAft>
              <a:buNone/>
            </a:pPr>
            <a:r>
              <a:rPr sz="1100">
                <a:solidFill>
                  <a:srgbClr val="1E293B"/>
                </a:solidFill>
                <a:latin typeface="Consolas"/>
                <a:ea typeface="Consolas"/>
                <a:cs typeface="Consolas"/>
              </a:rPr>
              <a:t>myapp:git-abc123</a:t>
            </a:r>
            <a:endParaRPr sz="1100"/>
          </a:p>
          <a:p xmlns:a="http://schemas.openxmlformats.org/drawingml/2006/main">
            <a:pPr marL="0" indent="0">
              <a:spcAft>
                <a:spcPts val="300"/>
              </a:spcAft>
              <a:buNone/>
            </a:pPr>
            <a:r>
              <a:rPr sz="1100">
                <a:solidFill>
                  <a:srgbClr val="1E293B"/>
                </a:solidFill>
                <a:latin typeface="Consolas"/>
                <a:ea typeface="Consolas"/>
                <a:cs typeface="Consolas"/>
              </a:rPr>
              <a:t>Avoid :latest</a:t>
            </a:r>
            <a:endParaRPr sz="1100"/>
          </a:p>
          <a:p xmlns:a="http://schemas.openxmlformats.org/drawingml/2006/main">
            <a:pPr marL="0" indent="0">
              <a:spcAft>
                <a:spcPts val="300"/>
              </a:spcAft>
              <a:buNone/>
            </a:pPr>
            <a:r>
              <a:rPr sz="1100">
                <a:solidFill>
                  <a:srgbClr val="1E293B"/>
                </a:solidFill>
                <a:latin typeface="Consolas"/>
                <a:ea typeface="Consolas"/>
                <a:cs typeface="Consolas"/>
              </a:rPr>
              <a:t>ghcr.io/user/app:1.0</a:t>
            </a:r>
            <a:endParaRPr sz="1100"/>
          </a:p>
        </p:txBody>
      </p:sp>
      <p:sp>
        <p:nvSpPr>
          <p:cNvPr id="34" name="Shape 30">
            <a:extLst xmlns:a="http://schemas.openxmlformats.org/drawingml/2006/main">
              <a:ext uri="{FF2B5EF4-FFF2-40B4-BE49-F238E27FC236}">
                <a16:creationId xmlns:a16="http://schemas.microsoft.com/office/drawing/2014/main" id="{033A775B-375A-498C-ACFD-3B53F3CF5573}"/>
              </a:ext>
            </a:extLst>
          </p:cNvPr>
          <p:cNvSpPr>
            <a:spLocks xmlns:a="http://schemas.openxmlformats.org/drawingml/2006/main" noGrp="1"/>
          </p:cNvSpPr>
          <p:nvPr/>
        </p:nvSpPr>
        <p:spPr>
          <a:xfrm xmlns:a="http://schemas.openxmlformats.org/drawingml/2006/main">
            <a:off x="6272784" y="388620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5" name="Shape 31">
            <a:extLst xmlns:a="http://schemas.openxmlformats.org/drawingml/2006/main">
              <a:ext uri="{FF2B5EF4-FFF2-40B4-BE49-F238E27FC236}">
                <a16:creationId xmlns:a16="http://schemas.microsoft.com/office/drawing/2014/main" id="{215B8D1C-18DB-4B1B-A6EE-0F23D37605EC}"/>
              </a:ext>
            </a:extLst>
          </p:cNvPr>
          <p:cNvSpPr>
            <a:spLocks xmlns:a="http://schemas.openxmlformats.org/drawingml/2006/main" noGrp="1"/>
          </p:cNvSpPr>
          <p:nvPr/>
        </p:nvSpPr>
        <p:spPr>
          <a:xfrm xmlns:a="http://schemas.openxmlformats.org/drawingml/2006/main">
            <a:off x="6272784" y="3886200"/>
            <a:ext cx="2788920" cy="3657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36" name="Text 32">
            <a:extLst xmlns:a="http://schemas.openxmlformats.org/drawingml/2006/main">
              <a:ext uri="{FF2B5EF4-FFF2-40B4-BE49-F238E27FC236}">
                <a16:creationId xmlns:a16="http://schemas.microsoft.com/office/drawing/2014/main" id="{9E3BD6C5-90F1-41B7-930B-02304E85990E}"/>
              </a:ext>
            </a:extLst>
          </p:cNvPr>
          <p:cNvSpPr>
            <a:spLocks xmlns:a="http://schemas.openxmlformats.org/drawingml/2006/main" noGrp="1"/>
          </p:cNvSpPr>
          <p:nvPr/>
        </p:nvSpPr>
        <p:spPr>
          <a:xfrm xmlns:a="http://schemas.openxmlformats.org/drawingml/2006/main">
            <a:off x="6272784" y="388620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Registry</a:t>
            </a:r>
            <a:endParaRPr sz="1300"/>
          </a:p>
        </p:txBody>
      </p:sp>
      <p:sp>
        <p:nvSpPr>
          <p:cNvPr id="37" name="Text 33">
            <a:extLst xmlns:a="http://schemas.openxmlformats.org/drawingml/2006/main">
              <a:ext uri="{FF2B5EF4-FFF2-40B4-BE49-F238E27FC236}">
                <a16:creationId xmlns:a16="http://schemas.microsoft.com/office/drawing/2014/main" id="{BB778C37-8F61-44F3-B087-07F29F6D7F04}"/>
              </a:ext>
            </a:extLst>
          </p:cNvPr>
          <p:cNvSpPr>
            <a:spLocks xmlns:a="http://schemas.openxmlformats.org/drawingml/2006/main" noGrp="1"/>
          </p:cNvSpPr>
          <p:nvPr/>
        </p:nvSpPr>
        <p:spPr>
          <a:xfrm xmlns:a="http://schemas.openxmlformats.org/drawingml/2006/main">
            <a:off x="6455664" y="434340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docker login &lt;reg&gt;</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 tag old new</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 push &lt;img&gt;</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 pull &lt;img&gt;</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 Hub: docker.io</a:t>
            </a:r>
            <a:endParaRPr sz="1100"/>
          </a:p>
          <a:p xmlns:a="http://schemas.openxmlformats.org/drawingml/2006/main">
            <a:pPr marL="0" indent="0">
              <a:spcAft>
                <a:spcPts val="300"/>
              </a:spcAft>
              <a:buNone/>
            </a:pPr>
            <a:r>
              <a:rPr sz="1100">
                <a:solidFill>
                  <a:srgbClr val="1E293B"/>
                </a:solidFill>
                <a:latin typeface="Consolas"/>
                <a:ea typeface="Consolas"/>
                <a:cs typeface="Consolas"/>
              </a:rPr>
              <a:t>GitHub: ghcr.io</a:t>
            </a:r>
            <a:endParaRPr sz="1100"/>
          </a:p>
        </p:txBody>
      </p:sp>
      <p:sp>
        <p:nvSpPr>
          <p:cNvPr id="38" name="Shape 34">
            <a:extLst xmlns:a="http://schemas.openxmlformats.org/drawingml/2006/main">
              <a:ext uri="{FF2B5EF4-FFF2-40B4-BE49-F238E27FC236}">
                <a16:creationId xmlns:a16="http://schemas.microsoft.com/office/drawing/2014/main" id="{EBB75082-4169-4A63-A1A3-B3409EA4549A}"/>
              </a:ext>
            </a:extLst>
          </p:cNvPr>
          <p:cNvSpPr>
            <a:spLocks xmlns:a="http://schemas.openxmlformats.org/drawingml/2006/main" noGrp="1"/>
          </p:cNvSpPr>
          <p:nvPr/>
        </p:nvSpPr>
        <p:spPr>
          <a:xfrm xmlns:a="http://schemas.openxmlformats.org/drawingml/2006/main">
            <a:off x="9180576" y="388620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9" name="Shape 35">
            <a:extLst xmlns:a="http://schemas.openxmlformats.org/drawingml/2006/main">
              <a:ext uri="{FF2B5EF4-FFF2-40B4-BE49-F238E27FC236}">
                <a16:creationId xmlns:a16="http://schemas.microsoft.com/office/drawing/2014/main" id="{0849AB61-6856-4343-8DB5-49346D93F96C}"/>
              </a:ext>
            </a:extLst>
          </p:cNvPr>
          <p:cNvSpPr>
            <a:spLocks xmlns:a="http://schemas.openxmlformats.org/drawingml/2006/main" noGrp="1"/>
          </p:cNvSpPr>
          <p:nvPr/>
        </p:nvSpPr>
        <p:spPr>
          <a:xfrm xmlns:a="http://schemas.openxmlformats.org/drawingml/2006/main">
            <a:off x="9180576" y="3886200"/>
            <a:ext cx="2788920" cy="3657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40" name="Text 36">
            <a:extLst xmlns:a="http://schemas.openxmlformats.org/drawingml/2006/main">
              <a:ext uri="{FF2B5EF4-FFF2-40B4-BE49-F238E27FC236}">
                <a16:creationId xmlns:a16="http://schemas.microsoft.com/office/drawing/2014/main" id="{7E8BB61A-E7C5-42EE-BE3C-E37A24EFFC9A}"/>
              </a:ext>
            </a:extLst>
          </p:cNvPr>
          <p:cNvSpPr>
            <a:spLocks xmlns:a="http://schemas.openxmlformats.org/drawingml/2006/main" noGrp="1"/>
          </p:cNvSpPr>
          <p:nvPr/>
        </p:nvSpPr>
        <p:spPr>
          <a:xfrm xmlns:a="http://schemas.openxmlformats.org/drawingml/2006/main">
            <a:off x="9180576" y="388620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Security</a:t>
            </a:r>
            <a:endParaRPr sz="1300"/>
          </a:p>
        </p:txBody>
      </p:sp>
      <p:sp>
        <p:nvSpPr>
          <p:cNvPr id="41" name="Text 37">
            <a:extLst xmlns:a="http://schemas.openxmlformats.org/drawingml/2006/main">
              <a:ext uri="{FF2B5EF4-FFF2-40B4-BE49-F238E27FC236}">
                <a16:creationId xmlns:a16="http://schemas.microsoft.com/office/drawing/2014/main" id="{8C3A6257-0152-4EC2-B6EC-A050D028855A}"/>
              </a:ext>
            </a:extLst>
          </p:cNvPr>
          <p:cNvSpPr>
            <a:spLocks xmlns:a="http://schemas.openxmlformats.org/drawingml/2006/main" noGrp="1"/>
          </p:cNvSpPr>
          <p:nvPr/>
        </p:nvSpPr>
        <p:spPr>
          <a:xfrm xmlns:a="http://schemas.openxmlformats.org/drawingml/2006/main">
            <a:off x="9363456" y="434340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USER appuser</a:t>
            </a:r>
            <a:endParaRPr sz="1100"/>
          </a:p>
          <a:p xmlns:a="http://schemas.openxmlformats.org/drawingml/2006/main">
            <a:pPr marL="0" indent="0">
              <a:spcAft>
                <a:spcPts val="300"/>
              </a:spcAft>
              <a:buNone/>
            </a:pPr>
            <a:r>
              <a:rPr sz="1100">
                <a:solidFill>
                  <a:srgbClr val="1E293B"/>
                </a:solidFill>
                <a:latin typeface="Consolas"/>
                <a:ea typeface="Consolas"/>
                <a:cs typeface="Consolas"/>
              </a:rPr>
              <a:t>--chown=app:app</a:t>
            </a:r>
            <a:endParaRPr sz="1100"/>
          </a:p>
          <a:p xmlns:a="http://schemas.openxmlformats.org/drawingml/2006/main">
            <a:pPr marL="0" indent="0">
              <a:spcAft>
                <a:spcPts val="300"/>
              </a:spcAft>
              <a:buNone/>
            </a:pPr>
            <a:r>
              <a:rPr sz="1100">
                <a:solidFill>
                  <a:srgbClr val="1E293B"/>
                </a:solidFill>
                <a:latin typeface="Consolas"/>
                <a:ea typeface="Consolas"/>
                <a:cs typeface="Consolas"/>
              </a:rPr>
              <a:t>HEALTHCHECK CMD</a:t>
            </a:r>
            <a:endParaRPr sz="1100"/>
          </a:p>
          <a:p xmlns:a="http://schemas.openxmlformats.org/drawingml/2006/main">
            <a:pPr marL="0" indent="0">
              <a:spcAft>
                <a:spcPts val="300"/>
              </a:spcAft>
              <a:buNone/>
            </a:pPr>
            <a:r>
              <a:rPr sz="1100">
                <a:solidFill>
                  <a:srgbClr val="1E293B"/>
                </a:solidFill>
                <a:latin typeface="Consolas"/>
                <a:ea typeface="Consolas"/>
                <a:cs typeface="Consolas"/>
              </a:rPr>
              <a:t>trivy image &lt;img&gt;</a:t>
            </a:r>
            <a:endParaRPr sz="1100"/>
          </a:p>
          <a:p xmlns:a="http://schemas.openxmlformats.org/drawingml/2006/main">
            <a:pPr marL="0" indent="0">
              <a:spcAft>
                <a:spcPts val="300"/>
              </a:spcAft>
              <a:buNone/>
            </a:pPr>
            <a:r>
              <a:rPr sz="1100">
                <a:solidFill>
                  <a:srgbClr val="1E293B"/>
                </a:solidFill>
                <a:latin typeface="Consolas"/>
                <a:ea typeface="Consolas"/>
                <a:cs typeface="Consolas"/>
              </a:rPr>
              <a:t>No secrets in build</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.dockerignore .env</a:t>
            </a:r>
            <a:endParaRPr sz="1100"/>
          </a:p>
        </p:txBody>
      </p:sp>
    </p:spTree>
    <p:extLst>
      <p:ext uri="{BB962C8B-B14F-4D97-AF65-F5344CB8AC3E}">
        <p14:creationId xmlns:p14="http://schemas.microsoft.com/office/powerpoint/2010/main" val="1127445255"/>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B02EA74-0EC9-4F5A-B4AB-B90B64539788}"/>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2DF55FDE-DDFF-45BC-85D8-A035BA20E5E5}"/>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36</a:t>
            </a:r>
            <a:endParaRPr sz="900"/>
          </a:p>
        </p:txBody>
      </p:sp>
      <p:sp>
        <p:nvSpPr>
          <p:cNvPr id="4" name="Shape 2">
            <a:extLst xmlns:a="http://schemas.openxmlformats.org/drawingml/2006/main">
              <a:ext uri="{FF2B5EF4-FFF2-40B4-BE49-F238E27FC236}">
                <a16:creationId xmlns:a16="http://schemas.microsoft.com/office/drawing/2014/main" id="{55A366A6-3E38-4A26-929F-5C317D2B0577}"/>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6" name="Image 0">
            <a:extLst xmlns:a="http://schemas.openxmlformats.org/drawingml/2006/main">
              <a:ext uri="{FF2B5EF4-FFF2-40B4-BE49-F238E27FC236}">
                <a16:creationId xmlns:a16="http://schemas.microsoft.com/office/drawing/2014/main" id="{50CA0259-881B-42FB-96A8-0BABD48C335C}"/>
              </a:ext>
            </a:extLst>
          </p:cNvPr>
          <p:cNvPicPr>
            <a:picLocks xmlns:a="http://schemas.openxmlformats.org/drawingml/2006/main" noChangeAspect="1"/>
          </p:cNvPicPr>
          <p:nvPr/>
        </p:nvPicPr>
        <p:blipFill>
          <a:blip xmlns:r="http://schemas.openxmlformats.org/officeDocument/2006/relationships" xmlns:a="http://schemas.openxmlformats.org/drawingml/2006/main" r:embed="R122789c458ee48c2"/>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7" name="Image 1">
            <a:extLst xmlns:a="http://schemas.openxmlformats.org/drawingml/2006/main">
              <a:ext uri="{FF2B5EF4-FFF2-40B4-BE49-F238E27FC236}">
                <a16:creationId xmlns:a16="http://schemas.microsoft.com/office/drawing/2014/main" id="{19187529-9B38-4FFC-95B3-CCFD00638494}"/>
              </a:ext>
            </a:extLst>
          </p:cNvPr>
          <p:cNvPicPr>
            <a:picLocks xmlns:a="http://schemas.openxmlformats.org/drawingml/2006/main" noChangeAspect="1"/>
          </p:cNvPicPr>
          <p:nvPr/>
        </p:nvPicPr>
        <p:blipFill>
          <a:blip xmlns:r="http://schemas.openxmlformats.org/officeDocument/2006/relationships" xmlns:a="http://schemas.openxmlformats.org/drawingml/2006/main" r:embed="Ra8d4ee372ea44d8b"/>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1342C14E-F9CD-4436-B868-D0125E0CD5D1}"/>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5D298F34-5FAF-45C8-B09E-4A6FFC29EE50}"/>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Wrap-Up &amp; Persiapan Pertemuan 6</a:t>
            </a:r>
            <a:endParaRPr sz="2200"/>
          </a:p>
        </p:txBody>
      </p:sp>
      <p:sp>
        <p:nvSpPr>
          <p:cNvPr id="9" name="Text 5">
            <a:extLst xmlns:a="http://schemas.openxmlformats.org/drawingml/2006/main">
              <a:ext uri="{FF2B5EF4-FFF2-40B4-BE49-F238E27FC236}">
                <a16:creationId xmlns:a16="http://schemas.microsoft.com/office/drawing/2014/main" id="{0B875C42-70BC-4513-9FE1-6808BE877124}"/>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Docker Compose + Multi-container apps minggu depan</a:t>
            </a:r>
            <a:endParaRPr sz="1200"/>
          </a:p>
        </p:txBody>
      </p:sp>
      <p:sp>
        <p:nvSpPr>
          <p:cNvPr id="10" name="Text 6">
            <a:extLst xmlns:a="http://schemas.openxmlformats.org/drawingml/2006/main">
              <a:ext uri="{FF2B5EF4-FFF2-40B4-BE49-F238E27FC236}">
                <a16:creationId xmlns:a16="http://schemas.microsoft.com/office/drawing/2014/main" id="{B1DD26A8-E081-4ED0-A488-06CCADE580D7}"/>
              </a:ext>
            </a:extLst>
          </p:cNvPr>
          <p:cNvSpPr>
            <a:spLocks xmlns:a="http://schemas.openxmlformats.org/drawingml/2006/main" noGrp="1"/>
          </p:cNvSpPr>
          <p:nvPr/>
        </p:nvSpPr>
        <p:spPr>
          <a:xfrm xmlns:a="http://schemas.openxmlformats.org/drawingml/2006/main">
            <a:off x="457200" y="1417320"/>
            <a:ext cx="54864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Key Takeaways Hari Ini</a:t>
            </a:r>
            <a:endParaRPr sz="1600"/>
          </a:p>
        </p:txBody>
      </p:sp>
      <p:sp>
        <p:nvSpPr>
          <p:cNvPr id="11" name="Shape 7">
            <a:extLst xmlns:a="http://schemas.openxmlformats.org/drawingml/2006/main">
              <a:ext uri="{FF2B5EF4-FFF2-40B4-BE49-F238E27FC236}">
                <a16:creationId xmlns:a16="http://schemas.microsoft.com/office/drawing/2014/main" id="{81BF3951-3CF7-4EB2-82A1-CBD475328A44}"/>
              </a:ext>
            </a:extLst>
          </p:cNvPr>
          <p:cNvSpPr>
            <a:spLocks xmlns:a="http://schemas.openxmlformats.org/drawingml/2006/main" noGrp="1"/>
          </p:cNvSpPr>
          <p:nvPr/>
        </p:nvSpPr>
        <p:spPr>
          <a:xfrm xmlns:a="http://schemas.openxmlformats.org/drawingml/2006/main">
            <a:off x="457200" y="1920240"/>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2" name="Text 8">
            <a:extLst xmlns:a="http://schemas.openxmlformats.org/drawingml/2006/main">
              <a:ext uri="{FF2B5EF4-FFF2-40B4-BE49-F238E27FC236}">
                <a16:creationId xmlns:a16="http://schemas.microsoft.com/office/drawing/2014/main" id="{B0B5663E-13E8-4DE6-AF37-3E4C795BBFD0}"/>
              </a:ext>
            </a:extLst>
          </p:cNvPr>
          <p:cNvSpPr>
            <a:spLocks xmlns:a="http://schemas.openxmlformats.org/drawingml/2006/main" noGrp="1"/>
          </p:cNvSpPr>
          <p:nvPr/>
        </p:nvSpPr>
        <p:spPr>
          <a:xfrm xmlns:a="http://schemas.openxmlformats.org/drawingml/2006/main">
            <a:off x="457200" y="1920240"/>
            <a:ext cx="274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1</a:t>
            </a:r>
            <a:endParaRPr sz="1100"/>
          </a:p>
        </p:txBody>
      </p:sp>
      <p:sp>
        <p:nvSpPr>
          <p:cNvPr id="13" name="Text 9">
            <a:extLst xmlns:a="http://schemas.openxmlformats.org/drawingml/2006/main">
              <a:ext uri="{FF2B5EF4-FFF2-40B4-BE49-F238E27FC236}">
                <a16:creationId xmlns:a16="http://schemas.microsoft.com/office/drawing/2014/main" id="{D9B50F7B-EC81-4BF2-8AB0-2327BF63E635}"/>
              </a:ext>
            </a:extLst>
          </p:cNvPr>
          <p:cNvSpPr>
            <a:spLocks xmlns:a="http://schemas.openxmlformats.org/drawingml/2006/main" noGrp="1"/>
          </p:cNvSpPr>
          <p:nvPr/>
        </p:nvSpPr>
        <p:spPr>
          <a:xfrm xmlns:a="http://schemas.openxmlformats.org/drawingml/2006/main">
            <a:off x="868680" y="1874520"/>
            <a:ext cx="5166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Dockerfile mendefinisikan build. Sesi ini membahas 14 instruksi inti.</a:t>
            </a:r>
            <a:endParaRPr sz="1050"/>
          </a:p>
        </p:txBody>
      </p:sp>
      <p:sp>
        <p:nvSpPr>
          <p:cNvPr id="14" name="Shape 10">
            <a:extLst xmlns:a="http://schemas.openxmlformats.org/drawingml/2006/main">
              <a:ext uri="{FF2B5EF4-FFF2-40B4-BE49-F238E27FC236}">
                <a16:creationId xmlns:a16="http://schemas.microsoft.com/office/drawing/2014/main" id="{E9DE29DE-B9C1-4DE6-B30C-AE3A5FFF59EA}"/>
              </a:ext>
            </a:extLst>
          </p:cNvPr>
          <p:cNvSpPr>
            <a:spLocks xmlns:a="http://schemas.openxmlformats.org/drawingml/2006/main" noGrp="1"/>
          </p:cNvSpPr>
          <p:nvPr/>
        </p:nvSpPr>
        <p:spPr>
          <a:xfrm xmlns:a="http://schemas.openxmlformats.org/drawingml/2006/main">
            <a:off x="457200" y="2377440"/>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5" name="Text 11">
            <a:extLst xmlns:a="http://schemas.openxmlformats.org/drawingml/2006/main">
              <a:ext uri="{FF2B5EF4-FFF2-40B4-BE49-F238E27FC236}">
                <a16:creationId xmlns:a16="http://schemas.microsoft.com/office/drawing/2014/main" id="{2BFEBC9E-BDCB-4CEC-AEBA-FCB03D22C249}"/>
              </a:ext>
            </a:extLst>
          </p:cNvPr>
          <p:cNvSpPr>
            <a:spLocks xmlns:a="http://schemas.openxmlformats.org/drawingml/2006/main" noGrp="1"/>
          </p:cNvSpPr>
          <p:nvPr/>
        </p:nvSpPr>
        <p:spPr>
          <a:xfrm xmlns:a="http://schemas.openxmlformats.org/drawingml/2006/main">
            <a:off x="457200" y="2377440"/>
            <a:ext cx="274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2</a:t>
            </a:r>
            <a:endParaRPr sz="1100"/>
          </a:p>
        </p:txBody>
      </p:sp>
      <p:sp>
        <p:nvSpPr>
          <p:cNvPr id="16" name="Text 12">
            <a:extLst xmlns:a="http://schemas.openxmlformats.org/drawingml/2006/main">
              <a:ext uri="{FF2B5EF4-FFF2-40B4-BE49-F238E27FC236}">
                <a16:creationId xmlns:a16="http://schemas.microsoft.com/office/drawing/2014/main" id="{90A8F56A-AB4C-42E9-A2CF-EDCCB1462785}"/>
              </a:ext>
            </a:extLst>
          </p:cNvPr>
          <p:cNvSpPr>
            <a:spLocks xmlns:a="http://schemas.openxmlformats.org/drawingml/2006/main" noGrp="1"/>
          </p:cNvSpPr>
          <p:nvPr/>
        </p:nvSpPr>
        <p:spPr>
          <a:xfrm xmlns:a="http://schemas.openxmlformats.org/drawingml/2006/main">
            <a:off x="868680" y="2331720"/>
            <a:ext cx="5166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RUN saat build. CMD/ENTRYPOINT memberi command dan argumen default runtime.</a:t>
            </a:r>
            <a:endParaRPr sz="1050"/>
          </a:p>
        </p:txBody>
      </p:sp>
      <p:sp>
        <p:nvSpPr>
          <p:cNvPr id="17" name="Shape 13">
            <a:extLst xmlns:a="http://schemas.openxmlformats.org/drawingml/2006/main">
              <a:ext uri="{FF2B5EF4-FFF2-40B4-BE49-F238E27FC236}">
                <a16:creationId xmlns:a16="http://schemas.microsoft.com/office/drawing/2014/main" id="{F2533055-477B-4C81-8025-BD576E970A7B}"/>
              </a:ext>
            </a:extLst>
          </p:cNvPr>
          <p:cNvSpPr>
            <a:spLocks xmlns:a="http://schemas.openxmlformats.org/drawingml/2006/main" noGrp="1"/>
          </p:cNvSpPr>
          <p:nvPr/>
        </p:nvSpPr>
        <p:spPr>
          <a:xfrm xmlns:a="http://schemas.openxmlformats.org/drawingml/2006/main">
            <a:off x="457200" y="2834640"/>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8" name="Text 14">
            <a:extLst xmlns:a="http://schemas.openxmlformats.org/drawingml/2006/main">
              <a:ext uri="{FF2B5EF4-FFF2-40B4-BE49-F238E27FC236}">
                <a16:creationId xmlns:a16="http://schemas.microsoft.com/office/drawing/2014/main" id="{8354398D-F37D-4B97-8E9B-7B459E3B5079}"/>
              </a:ext>
            </a:extLst>
          </p:cNvPr>
          <p:cNvSpPr>
            <a:spLocks xmlns:a="http://schemas.openxmlformats.org/drawingml/2006/main" noGrp="1"/>
          </p:cNvSpPr>
          <p:nvPr/>
        </p:nvSpPr>
        <p:spPr>
          <a:xfrm xmlns:a="http://schemas.openxmlformats.org/drawingml/2006/main">
            <a:off x="457200" y="2834640"/>
            <a:ext cx="274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3</a:t>
            </a:r>
            <a:endParaRPr sz="1100"/>
          </a:p>
        </p:txBody>
      </p:sp>
      <p:sp>
        <p:nvSpPr>
          <p:cNvPr id="19" name="Text 15">
            <a:extLst xmlns:a="http://schemas.openxmlformats.org/drawingml/2006/main">
              <a:ext uri="{FF2B5EF4-FFF2-40B4-BE49-F238E27FC236}">
                <a16:creationId xmlns:a16="http://schemas.microsoft.com/office/drawing/2014/main" id="{3157111A-3312-4C75-8E71-A79DD4417FE8}"/>
              </a:ext>
            </a:extLst>
          </p:cNvPr>
          <p:cNvSpPr>
            <a:spLocks xmlns:a="http://schemas.openxmlformats.org/drawingml/2006/main" noGrp="1"/>
          </p:cNvSpPr>
          <p:nvPr/>
        </p:nvSpPr>
        <p:spPr>
          <a:xfrm xmlns:a="http://schemas.openxmlformats.org/drawingml/2006/main">
            <a:off x="868680" y="2788920"/>
            <a:ext cx="5166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Layer caching: dependency dulu (jarang ubah), code belakangan.</a:t>
            </a:r>
            <a:endParaRPr sz="1050"/>
          </a:p>
        </p:txBody>
      </p:sp>
      <p:sp>
        <p:nvSpPr>
          <p:cNvPr id="20" name="Shape 16">
            <a:extLst xmlns:a="http://schemas.openxmlformats.org/drawingml/2006/main">
              <a:ext uri="{FF2B5EF4-FFF2-40B4-BE49-F238E27FC236}">
                <a16:creationId xmlns:a16="http://schemas.microsoft.com/office/drawing/2014/main" id="{3A9E8480-309D-429A-B75F-A0DCF80CA653}"/>
              </a:ext>
            </a:extLst>
          </p:cNvPr>
          <p:cNvSpPr>
            <a:spLocks xmlns:a="http://schemas.openxmlformats.org/drawingml/2006/main" noGrp="1"/>
          </p:cNvSpPr>
          <p:nvPr/>
        </p:nvSpPr>
        <p:spPr>
          <a:xfrm xmlns:a="http://schemas.openxmlformats.org/drawingml/2006/main">
            <a:off x="457200" y="3291840"/>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1" name="Text 17">
            <a:extLst xmlns:a="http://schemas.openxmlformats.org/drawingml/2006/main">
              <a:ext uri="{FF2B5EF4-FFF2-40B4-BE49-F238E27FC236}">
                <a16:creationId xmlns:a16="http://schemas.microsoft.com/office/drawing/2014/main" id="{13C72C55-CBAF-400F-8F45-5A75419BF4FC}"/>
              </a:ext>
            </a:extLst>
          </p:cNvPr>
          <p:cNvSpPr>
            <a:spLocks xmlns:a="http://schemas.openxmlformats.org/drawingml/2006/main" noGrp="1"/>
          </p:cNvSpPr>
          <p:nvPr/>
        </p:nvSpPr>
        <p:spPr>
          <a:xfrm xmlns:a="http://schemas.openxmlformats.org/drawingml/2006/main">
            <a:off x="457200" y="3291840"/>
            <a:ext cx="274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4</a:t>
            </a:r>
            <a:endParaRPr sz="1100"/>
          </a:p>
        </p:txBody>
      </p:sp>
      <p:sp>
        <p:nvSpPr>
          <p:cNvPr id="22" name="Text 18">
            <a:extLst xmlns:a="http://schemas.openxmlformats.org/drawingml/2006/main">
              <a:ext uri="{FF2B5EF4-FFF2-40B4-BE49-F238E27FC236}">
                <a16:creationId xmlns:a16="http://schemas.microsoft.com/office/drawing/2014/main" id="{5227EFA1-9433-43B0-9AF1-99B3CB28B12D}"/>
              </a:ext>
            </a:extLst>
          </p:cNvPr>
          <p:cNvSpPr>
            <a:spLocks xmlns:a="http://schemas.openxmlformats.org/drawingml/2006/main" noGrp="1"/>
          </p:cNvSpPr>
          <p:nvPr/>
        </p:nvSpPr>
        <p:spPr>
          <a:xfrm xmlns:a="http://schemas.openxmlformats.org/drawingml/2006/main">
            <a:off x="868680" y="3246120"/>
            <a:ext cx="5166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.dockerignore membatasi context. Kecualikan .env dari COPY.</a:t>
            </a:r>
            <a:endParaRPr sz="1050"/>
          </a:p>
        </p:txBody>
      </p:sp>
      <p:sp>
        <p:nvSpPr>
          <p:cNvPr id="23" name="Shape 19">
            <a:extLst xmlns:a="http://schemas.openxmlformats.org/drawingml/2006/main">
              <a:ext uri="{FF2B5EF4-FFF2-40B4-BE49-F238E27FC236}">
                <a16:creationId xmlns:a16="http://schemas.microsoft.com/office/drawing/2014/main" id="{FA2F0A35-D2D7-4A5A-AA7C-DA9ABE4F6A15}"/>
              </a:ext>
            </a:extLst>
          </p:cNvPr>
          <p:cNvSpPr>
            <a:spLocks xmlns:a="http://schemas.openxmlformats.org/drawingml/2006/main" noGrp="1"/>
          </p:cNvSpPr>
          <p:nvPr/>
        </p:nvSpPr>
        <p:spPr>
          <a:xfrm xmlns:a="http://schemas.openxmlformats.org/drawingml/2006/main">
            <a:off x="457200" y="3749040"/>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4" name="Text 20">
            <a:extLst xmlns:a="http://schemas.openxmlformats.org/drawingml/2006/main">
              <a:ext uri="{FF2B5EF4-FFF2-40B4-BE49-F238E27FC236}">
                <a16:creationId xmlns:a16="http://schemas.microsoft.com/office/drawing/2014/main" id="{AAB63975-2153-4831-9A14-8846D75112E7}"/>
              </a:ext>
            </a:extLst>
          </p:cNvPr>
          <p:cNvSpPr>
            <a:spLocks xmlns:a="http://schemas.openxmlformats.org/drawingml/2006/main" noGrp="1"/>
          </p:cNvSpPr>
          <p:nvPr/>
        </p:nvSpPr>
        <p:spPr>
          <a:xfrm xmlns:a="http://schemas.openxmlformats.org/drawingml/2006/main">
            <a:off x="457200" y="3749040"/>
            <a:ext cx="274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5</a:t>
            </a:r>
            <a:endParaRPr sz="1100"/>
          </a:p>
        </p:txBody>
      </p:sp>
      <p:sp>
        <p:nvSpPr>
          <p:cNvPr id="25" name="Text 21">
            <a:extLst xmlns:a="http://schemas.openxmlformats.org/drawingml/2006/main">
              <a:ext uri="{FF2B5EF4-FFF2-40B4-BE49-F238E27FC236}">
                <a16:creationId xmlns:a16="http://schemas.microsoft.com/office/drawing/2014/main" id="{CAC461E9-C6A7-4895-8B65-B2B73CDD9777}"/>
              </a:ext>
            </a:extLst>
          </p:cNvPr>
          <p:cNvSpPr>
            <a:spLocks xmlns:a="http://schemas.openxmlformats.org/drawingml/2006/main" noGrp="1"/>
          </p:cNvSpPr>
          <p:nvPr/>
        </p:nvSpPr>
        <p:spPr>
          <a:xfrm xmlns:a="http://schemas.openxmlformats.org/drawingml/2006/main">
            <a:off x="868680" y="3703320"/>
            <a:ext cx="5166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Multi-stage build dapat mengecilkan image; ukur hasilnya.</a:t>
            </a:r>
            <a:endParaRPr sz="1050"/>
          </a:p>
        </p:txBody>
      </p:sp>
      <p:sp>
        <p:nvSpPr>
          <p:cNvPr id="26" name="Shape 22">
            <a:extLst xmlns:a="http://schemas.openxmlformats.org/drawingml/2006/main">
              <a:ext uri="{FF2B5EF4-FFF2-40B4-BE49-F238E27FC236}">
                <a16:creationId xmlns:a16="http://schemas.microsoft.com/office/drawing/2014/main" id="{B659D5DE-E557-4B08-A907-036FB42EB806}"/>
              </a:ext>
            </a:extLst>
          </p:cNvPr>
          <p:cNvSpPr>
            <a:spLocks xmlns:a="http://schemas.openxmlformats.org/drawingml/2006/main" noGrp="1"/>
          </p:cNvSpPr>
          <p:nvPr/>
        </p:nvSpPr>
        <p:spPr>
          <a:xfrm xmlns:a="http://schemas.openxmlformats.org/drawingml/2006/main">
            <a:off x="457200" y="4206240"/>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7" name="Text 23">
            <a:extLst xmlns:a="http://schemas.openxmlformats.org/drawingml/2006/main">
              <a:ext uri="{FF2B5EF4-FFF2-40B4-BE49-F238E27FC236}">
                <a16:creationId xmlns:a16="http://schemas.microsoft.com/office/drawing/2014/main" id="{D57C8D50-E41B-4597-92D9-7028E7BA5ECC}"/>
              </a:ext>
            </a:extLst>
          </p:cNvPr>
          <p:cNvSpPr>
            <a:spLocks xmlns:a="http://schemas.openxmlformats.org/drawingml/2006/main" noGrp="1"/>
          </p:cNvSpPr>
          <p:nvPr/>
        </p:nvSpPr>
        <p:spPr>
          <a:xfrm xmlns:a="http://schemas.openxmlformats.org/drawingml/2006/main">
            <a:off x="457200" y="4206240"/>
            <a:ext cx="274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6</a:t>
            </a:r>
            <a:endParaRPr sz="1100"/>
          </a:p>
        </p:txBody>
      </p:sp>
      <p:sp>
        <p:nvSpPr>
          <p:cNvPr id="28" name="Text 24">
            <a:extLst xmlns:a="http://schemas.openxmlformats.org/drawingml/2006/main">
              <a:ext uri="{FF2B5EF4-FFF2-40B4-BE49-F238E27FC236}">
                <a16:creationId xmlns:a16="http://schemas.microsoft.com/office/drawing/2014/main" id="{CDCF1362-4E10-4D24-AD91-2EAFD28252FC}"/>
              </a:ext>
            </a:extLst>
          </p:cNvPr>
          <p:cNvSpPr>
            <a:spLocks xmlns:a="http://schemas.openxmlformats.org/drawingml/2006/main" noGrp="1"/>
          </p:cNvSpPr>
          <p:nvPr/>
        </p:nvSpPr>
        <p:spPr>
          <a:xfrm xmlns:a="http://schemas.openxmlformats.org/drawingml/2006/main">
            <a:off x="868680" y="4160520"/>
            <a:ext cx="5166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Tag pakai semver / git SHA. Avoid :latest di production.</a:t>
            </a:r>
            <a:endParaRPr sz="1050"/>
          </a:p>
        </p:txBody>
      </p:sp>
      <p:sp>
        <p:nvSpPr>
          <p:cNvPr id="29" name="Shape 25">
            <a:extLst xmlns:a="http://schemas.openxmlformats.org/drawingml/2006/main">
              <a:ext uri="{FF2B5EF4-FFF2-40B4-BE49-F238E27FC236}">
                <a16:creationId xmlns:a16="http://schemas.microsoft.com/office/drawing/2014/main" id="{617FEFCC-3654-483E-B8E7-7A8E4F5459BF}"/>
              </a:ext>
            </a:extLst>
          </p:cNvPr>
          <p:cNvSpPr>
            <a:spLocks xmlns:a="http://schemas.openxmlformats.org/drawingml/2006/main" noGrp="1"/>
          </p:cNvSpPr>
          <p:nvPr/>
        </p:nvSpPr>
        <p:spPr>
          <a:xfrm xmlns:a="http://schemas.openxmlformats.org/drawingml/2006/main">
            <a:off x="457200" y="4663440"/>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30" name="Text 26">
            <a:extLst xmlns:a="http://schemas.openxmlformats.org/drawingml/2006/main">
              <a:ext uri="{FF2B5EF4-FFF2-40B4-BE49-F238E27FC236}">
                <a16:creationId xmlns:a16="http://schemas.microsoft.com/office/drawing/2014/main" id="{A911CCC2-30E2-4B79-B4D1-3710831287B2}"/>
              </a:ext>
            </a:extLst>
          </p:cNvPr>
          <p:cNvSpPr>
            <a:spLocks xmlns:a="http://schemas.openxmlformats.org/drawingml/2006/main" noGrp="1"/>
          </p:cNvSpPr>
          <p:nvPr/>
        </p:nvSpPr>
        <p:spPr>
          <a:xfrm xmlns:a="http://schemas.openxmlformats.org/drawingml/2006/main">
            <a:off x="457200" y="4663440"/>
            <a:ext cx="274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7</a:t>
            </a:r>
            <a:endParaRPr sz="1100"/>
          </a:p>
        </p:txBody>
      </p:sp>
      <p:sp>
        <p:nvSpPr>
          <p:cNvPr id="31" name="Text 27">
            <a:extLst xmlns:a="http://schemas.openxmlformats.org/drawingml/2006/main">
              <a:ext uri="{FF2B5EF4-FFF2-40B4-BE49-F238E27FC236}">
                <a16:creationId xmlns:a16="http://schemas.microsoft.com/office/drawing/2014/main" id="{C31AD512-E4A0-4D81-A0C9-0383FD835746}"/>
              </a:ext>
            </a:extLst>
          </p:cNvPr>
          <p:cNvSpPr>
            <a:spLocks xmlns:a="http://schemas.openxmlformats.org/drawingml/2006/main" noGrp="1"/>
          </p:cNvSpPr>
          <p:nvPr/>
        </p:nvSpPr>
        <p:spPr>
          <a:xfrm xmlns:a="http://schemas.openxmlformats.org/drawingml/2006/main">
            <a:off x="868680" y="4617720"/>
            <a:ext cx="5166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Security: non-root USER, no secrets in image, scan dengan Trivy.</a:t>
            </a:r>
            <a:endParaRPr sz="1050"/>
          </a:p>
        </p:txBody>
      </p:sp>
      <p:sp>
        <p:nvSpPr>
          <p:cNvPr id="32" name="Shape 28">
            <a:extLst xmlns:a="http://schemas.openxmlformats.org/drawingml/2006/main">
              <a:ext uri="{FF2B5EF4-FFF2-40B4-BE49-F238E27FC236}">
                <a16:creationId xmlns:a16="http://schemas.microsoft.com/office/drawing/2014/main" id="{98E823FE-9A5E-44DE-8C00-D76C007FE05F}"/>
              </a:ext>
            </a:extLst>
          </p:cNvPr>
          <p:cNvSpPr>
            <a:spLocks xmlns:a="http://schemas.openxmlformats.org/drawingml/2006/main" noGrp="1"/>
          </p:cNvSpPr>
          <p:nvPr/>
        </p:nvSpPr>
        <p:spPr>
          <a:xfrm xmlns:a="http://schemas.openxmlformats.org/drawingml/2006/main">
            <a:off x="6217920" y="1417320"/>
            <a:ext cx="5486400" cy="210312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84" name="Image 2">
            <a:extLst xmlns:a="http://schemas.openxmlformats.org/drawingml/2006/main">
              <a:ext uri="{FF2B5EF4-FFF2-40B4-BE49-F238E27FC236}">
                <a16:creationId xmlns:a16="http://schemas.microsoft.com/office/drawing/2014/main" id="{59FD5D89-F8A4-468A-9A76-7D89826514EF}"/>
              </a:ext>
            </a:extLst>
          </p:cNvPr>
          <p:cNvPicPr>
            <a:picLocks xmlns:a="http://schemas.openxmlformats.org/drawingml/2006/main" noChangeAspect="1"/>
          </p:cNvPicPr>
          <p:nvPr/>
        </p:nvPicPr>
        <p:blipFill>
          <a:blip xmlns:r="http://schemas.openxmlformats.org/officeDocument/2006/relationships" xmlns:a="http://schemas.openxmlformats.org/drawingml/2006/main" r:embed="Rf66c63a4633c4f62"/>
          <a:stretch xmlns:a="http://schemas.openxmlformats.org/drawingml/2006/main">
            <a:fillRect l="0" t="0" r="0" b="0"/>
          </a:stretch>
        </p:blipFill>
        <p:spPr>
          <a:xfrm xmlns:a="http://schemas.openxmlformats.org/drawingml/2006/main">
            <a:off x="6400800" y="1554480"/>
            <a:ext cx="457200" cy="457200"/>
          </a:xfrm>
          <a:prstGeom xmlns:a="http://schemas.openxmlformats.org/drawingml/2006/main" prst="rect">
            <a:avLst/>
          </a:prstGeom>
        </p:spPr>
      </p:pic>
      <p:sp>
        <p:nvSpPr>
          <p:cNvPr id="34" name="Text 29">
            <a:extLst xmlns:a="http://schemas.openxmlformats.org/drawingml/2006/main">
              <a:ext uri="{FF2B5EF4-FFF2-40B4-BE49-F238E27FC236}">
                <a16:creationId xmlns:a16="http://schemas.microsoft.com/office/drawing/2014/main" id="{F6A2D6E0-20CF-4EB8-BF50-86A674007F9A}"/>
              </a:ext>
            </a:extLst>
          </p:cNvPr>
          <p:cNvSpPr>
            <a:spLocks xmlns:a="http://schemas.openxmlformats.org/drawingml/2006/main" noGrp="1"/>
          </p:cNvSpPr>
          <p:nvPr/>
        </p:nvSpPr>
        <p:spPr>
          <a:xfrm xmlns:a="http://schemas.openxmlformats.org/drawingml/2006/main">
            <a:off x="6949440" y="1554480"/>
            <a:ext cx="4572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300">
                <a:solidFill>
                  <a:srgbClr val="F37021"/>
                </a:solidFill>
                <a:latin typeface="Calibri"/>
                <a:ea typeface="Calibri"/>
                <a:cs typeface="Calibri"/>
              </a:rPr>
              <a:t>PRAKTIKUM 5 - LATIHAN SESI INI</a:t>
            </a:r>
            <a:endParaRPr sz="1100"/>
          </a:p>
        </p:txBody>
      </p:sp>
      <p:sp>
        <p:nvSpPr>
          <p:cNvPr id="35" name="Text 30">
            <a:extLst xmlns:a="http://schemas.openxmlformats.org/drawingml/2006/main">
              <a:ext uri="{FF2B5EF4-FFF2-40B4-BE49-F238E27FC236}">
                <a16:creationId xmlns:a16="http://schemas.microsoft.com/office/drawing/2014/main" id="{DE1782BE-BBC4-49E7-A62D-D41538F6C79A}"/>
              </a:ext>
            </a:extLst>
          </p:cNvPr>
          <p:cNvSpPr>
            <a:spLocks xmlns:a="http://schemas.openxmlformats.org/drawingml/2006/main" noGrp="1"/>
          </p:cNvSpPr>
          <p:nvPr/>
        </p:nvSpPr>
        <p:spPr>
          <a:xfrm xmlns:a="http://schemas.openxmlformats.org/drawingml/2006/main">
            <a:off x="6400800" y="2011680"/>
            <a:ext cx="521208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FFFFFF"/>
                </a:solidFill>
                <a:latin typeface="Calibri"/>
                <a:ea typeface="Calibri"/>
                <a:cs typeface="Calibri"/>
              </a:rPr>
              <a:t>Build image Cloud Notes API dan uji endpoint</a:t>
            </a:r>
            <a:endParaRPr sz="1300"/>
          </a:p>
        </p:txBody>
      </p:sp>
      <p:sp>
        <p:nvSpPr>
          <p:cNvPr id="36" name="Text 31">
            <a:extLst xmlns:a="http://schemas.openxmlformats.org/drawingml/2006/main">
              <a:ext uri="{FF2B5EF4-FFF2-40B4-BE49-F238E27FC236}">
                <a16:creationId xmlns:a16="http://schemas.microsoft.com/office/drawing/2014/main" id="{343AAB31-BCF7-4C86-AD41-AA54420EFFD1}"/>
              </a:ext>
            </a:extLst>
          </p:cNvPr>
          <p:cNvSpPr>
            <a:spLocks xmlns:a="http://schemas.openxmlformats.org/drawingml/2006/main" noGrp="1"/>
          </p:cNvSpPr>
          <p:nvPr/>
        </p:nvSpPr>
        <p:spPr>
          <a:xfrm xmlns:a="http://schemas.openxmlformats.org/drawingml/2006/main">
            <a:off x="6537960" y="2377440"/>
            <a:ext cx="5120640" cy="10972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300"/>
              </a:spcAft>
              <a:buSzPct val="100000"/>
              <a:buChar char="▸"/>
            </a:pPr>
            <a:r>
              <a:rPr sz="1050">
                <a:solidFill>
                  <a:srgbClr val="FFFFFF"/>
                </a:solidFill>
                <a:latin typeface="Calibri"/>
                <a:ea typeface="Calibri"/>
                <a:cs typeface="Calibri"/>
              </a:rPr>
              <a:t>Bangun Dockerfile multi-stage untuk FastAPI</a:t>
            </a:r>
            <a:endParaRPr sz="1050"/>
          </a:p>
          <a:p xmlns:a="http://schemas.openxmlformats.org/drawingml/2006/main">
            <a:pPr marL="342900" indent="-342900">
              <a:spcAft>
                <a:spcPts val="300"/>
              </a:spcAft>
              <a:buSzPct val="100000"/>
              <a:buChar char="▸"/>
            </a:pPr>
            <a:r>
              <a:rPr sz="1050">
                <a:solidFill>
                  <a:srgbClr val="FFFFFF"/>
                </a:solidFill>
                <a:latin typeface="Calibri"/>
                <a:ea typeface="Calibri"/>
                <a:cs typeface="Calibri"/>
              </a:rPr>
              <a:t>Tambahkan .dockerignore agar build context kecil</a:t>
            </a:r>
            <a:endParaRPr sz="1050"/>
          </a:p>
          <a:p xmlns:a="http://schemas.openxmlformats.org/drawingml/2006/main">
            <a:pPr marL="342900" indent="-342900">
              <a:spcAft>
                <a:spcPts val="300"/>
              </a:spcAft>
              <a:buSzPct val="100000"/>
              <a:buChar char="▸"/>
            </a:pPr>
            <a:r>
              <a:rPr sz="1050">
                <a:solidFill>
                  <a:srgbClr val="FFFFFF"/>
                </a:solidFill>
                <a:latin typeface="Calibri"/>
                <a:ea typeface="Calibri"/>
                <a:cs typeface="Calibri"/>
              </a:rPr>
              <a:t>Jalankan image, uji /health dan /docs</a:t>
            </a:r>
            <a:endParaRPr sz="1050"/>
          </a:p>
          <a:p xmlns:a="http://schemas.openxmlformats.org/drawingml/2006/main">
            <a:pPr marL="342900" indent="-342900">
              <a:spcAft>
                <a:spcPts val="300"/>
              </a:spcAft>
              <a:buSzPct val="100000"/>
              <a:buChar char="▸"/>
            </a:pPr>
            <a:r>
              <a:rPr sz="1050">
                <a:solidFill>
                  <a:srgbClr val="FFFFFF"/>
                </a:solidFill>
                <a:latin typeface="Calibri"/>
                <a:ea typeface="Calibri"/>
                <a:cs typeface="Calibri"/>
              </a:rPr>
              <a:t>Uji POST /notes dan validasi HTTP 422</a:t>
            </a:r>
            <a:endParaRPr sz="1050"/>
          </a:p>
        </p:txBody>
      </p:sp>
      <p:sp>
        <p:nvSpPr>
          <p:cNvPr id="37" name="Shape 32">
            <a:extLst xmlns:a="http://schemas.openxmlformats.org/drawingml/2006/main">
              <a:ext uri="{FF2B5EF4-FFF2-40B4-BE49-F238E27FC236}">
                <a16:creationId xmlns:a16="http://schemas.microsoft.com/office/drawing/2014/main" id="{887DD5FD-062B-4D23-8DCB-50CAC356CB27}"/>
              </a:ext>
            </a:extLst>
          </p:cNvPr>
          <p:cNvSpPr>
            <a:spLocks xmlns:a="http://schemas.openxmlformats.org/drawingml/2006/main" noGrp="1"/>
          </p:cNvSpPr>
          <p:nvPr/>
        </p:nvSpPr>
        <p:spPr>
          <a:xfrm xmlns:a="http://schemas.openxmlformats.org/drawingml/2006/main">
            <a:off x="6217920" y="3657600"/>
            <a:ext cx="5486400" cy="16459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89" name="Image 3">
            <a:extLst xmlns:a="http://schemas.openxmlformats.org/drawingml/2006/main">
              <a:ext uri="{FF2B5EF4-FFF2-40B4-BE49-F238E27FC236}">
                <a16:creationId xmlns:a16="http://schemas.microsoft.com/office/drawing/2014/main" id="{2CBA67FB-7A71-4D1C-8E16-E995455433D4}"/>
              </a:ext>
            </a:extLst>
          </p:cNvPr>
          <p:cNvPicPr>
            <a:picLocks xmlns:a="http://schemas.openxmlformats.org/drawingml/2006/main" noChangeAspect="1"/>
          </p:cNvPicPr>
          <p:nvPr/>
        </p:nvPicPr>
        <p:blipFill>
          <a:blip xmlns:r="http://schemas.openxmlformats.org/officeDocument/2006/relationships" xmlns:a="http://schemas.openxmlformats.org/drawingml/2006/main" r:embed="Rca2be197cb3d4a0b"/>
          <a:stretch xmlns:a="http://schemas.openxmlformats.org/drawingml/2006/main">
            <a:fillRect l="0" t="0" r="0" b="0"/>
          </a:stretch>
        </p:blipFill>
        <p:spPr>
          <a:xfrm xmlns:a="http://schemas.openxmlformats.org/drawingml/2006/main">
            <a:off x="6400800" y="3794760"/>
            <a:ext cx="457200" cy="457200"/>
          </a:xfrm>
          <a:prstGeom xmlns:a="http://schemas.openxmlformats.org/drawingml/2006/main" prst="rect">
            <a:avLst/>
          </a:prstGeom>
        </p:spPr>
      </p:pic>
      <p:sp>
        <p:nvSpPr>
          <p:cNvPr id="39" name="Text 33">
            <a:extLst xmlns:a="http://schemas.openxmlformats.org/drawingml/2006/main">
              <a:ext uri="{FF2B5EF4-FFF2-40B4-BE49-F238E27FC236}">
                <a16:creationId xmlns:a16="http://schemas.microsoft.com/office/drawing/2014/main" id="{EC28F988-30BE-44AA-B38E-8451E8885872}"/>
              </a:ext>
            </a:extLst>
          </p:cNvPr>
          <p:cNvSpPr>
            <a:spLocks xmlns:a="http://schemas.openxmlformats.org/drawingml/2006/main" noGrp="1"/>
          </p:cNvSpPr>
          <p:nvPr/>
        </p:nvSpPr>
        <p:spPr>
          <a:xfrm xmlns:a="http://schemas.openxmlformats.org/drawingml/2006/main">
            <a:off x="6949440" y="3794760"/>
            <a:ext cx="4572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300">
                <a:solidFill>
                  <a:srgbClr val="F37021"/>
                </a:solidFill>
                <a:latin typeface="Calibri"/>
                <a:ea typeface="Calibri"/>
                <a:cs typeface="Calibri"/>
              </a:rPr>
              <a:t>PERTEMUAN 6</a:t>
            </a:r>
            <a:endParaRPr sz="1100"/>
          </a:p>
        </p:txBody>
      </p:sp>
      <p:sp>
        <p:nvSpPr>
          <p:cNvPr id="40" name="Text 34">
            <a:extLst xmlns:a="http://schemas.openxmlformats.org/drawingml/2006/main">
              <a:ext uri="{FF2B5EF4-FFF2-40B4-BE49-F238E27FC236}">
                <a16:creationId xmlns:a16="http://schemas.microsoft.com/office/drawing/2014/main" id="{E8892875-BBEB-49FA-B81C-F6D9369F6926}"/>
              </a:ext>
            </a:extLst>
          </p:cNvPr>
          <p:cNvSpPr>
            <a:spLocks xmlns:a="http://schemas.openxmlformats.org/drawingml/2006/main" noGrp="1"/>
          </p:cNvSpPr>
          <p:nvPr/>
        </p:nvSpPr>
        <p:spPr>
          <a:xfrm xmlns:a="http://schemas.openxmlformats.org/drawingml/2006/main">
            <a:off x="6400800" y="4251960"/>
            <a:ext cx="52120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Docker Compose</a:t>
            </a:r>
            <a:endParaRPr sz="1400"/>
          </a:p>
        </p:txBody>
      </p:sp>
      <p:sp>
        <p:nvSpPr>
          <p:cNvPr id="41" name="Text 35">
            <a:extLst xmlns:a="http://schemas.openxmlformats.org/drawingml/2006/main">
              <a:ext uri="{FF2B5EF4-FFF2-40B4-BE49-F238E27FC236}">
                <a16:creationId xmlns:a16="http://schemas.microsoft.com/office/drawing/2014/main" id="{E33C6BE2-C45B-4A67-A5A2-BAD37079CD9C}"/>
              </a:ext>
            </a:extLst>
          </p:cNvPr>
          <p:cNvSpPr>
            <a:spLocks xmlns:a="http://schemas.openxmlformats.org/drawingml/2006/main" noGrp="1"/>
          </p:cNvSpPr>
          <p:nvPr/>
        </p:nvSpPr>
        <p:spPr>
          <a:xfrm xmlns:a="http://schemas.openxmlformats.org/drawingml/2006/main">
            <a:off x="6400800" y="4617720"/>
            <a:ext cx="521208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Multi-container apps: web + database + cache. Networking antar service. docker-compose.yml.</a:t>
            </a:r>
            <a:endParaRPr sz="1100"/>
          </a:p>
        </p:txBody>
      </p:sp>
      <p:sp>
        <p:nvSpPr>
          <p:cNvPr id="42" name="Shape 36">
            <a:extLst xmlns:a="http://schemas.openxmlformats.org/drawingml/2006/main">
              <a:ext uri="{FF2B5EF4-FFF2-40B4-BE49-F238E27FC236}">
                <a16:creationId xmlns:a16="http://schemas.microsoft.com/office/drawing/2014/main" id="{8B401BEB-5355-40E1-BDF1-E8DE7DFD79B5}"/>
              </a:ext>
            </a:extLst>
          </p:cNvPr>
          <p:cNvSpPr>
            <a:spLocks xmlns:a="http://schemas.openxmlformats.org/drawingml/2006/main" noGrp="1"/>
          </p:cNvSpPr>
          <p:nvPr/>
        </p:nvSpPr>
        <p:spPr>
          <a:xfrm xmlns:a="http://schemas.openxmlformats.org/drawingml/2006/main">
            <a:off x="457200" y="5029200"/>
            <a:ext cx="5486400" cy="118872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94" name="Image 4">
            <a:extLst xmlns:a="http://schemas.openxmlformats.org/drawingml/2006/main">
              <a:ext uri="{FF2B5EF4-FFF2-40B4-BE49-F238E27FC236}">
                <a16:creationId xmlns:a16="http://schemas.microsoft.com/office/drawing/2014/main" id="{4D19872B-D6F0-4F15-8D73-8FFDF148D5CA}"/>
              </a:ext>
            </a:extLst>
          </p:cNvPr>
          <p:cNvPicPr>
            <a:picLocks xmlns:a="http://schemas.openxmlformats.org/drawingml/2006/main" noChangeAspect="1"/>
          </p:cNvPicPr>
          <p:nvPr/>
        </p:nvPicPr>
        <p:blipFill>
          <a:blip xmlns:r="http://schemas.openxmlformats.org/officeDocument/2006/relationships" xmlns:a="http://schemas.openxmlformats.org/drawingml/2006/main" r:embed="R007f812b482f42d7"/>
          <a:stretch xmlns:a="http://schemas.openxmlformats.org/drawingml/2006/main">
            <a:fillRect l="0" t="0" r="0" b="0"/>
          </a:stretch>
        </p:blipFill>
        <p:spPr>
          <a:xfrm xmlns:a="http://schemas.openxmlformats.org/drawingml/2006/main">
            <a:off x="640080" y="5257800"/>
            <a:ext cx="640080" cy="640080"/>
          </a:xfrm>
          <a:prstGeom xmlns:a="http://schemas.openxmlformats.org/drawingml/2006/main" prst="rect">
            <a:avLst/>
          </a:prstGeom>
        </p:spPr>
      </p:pic>
      <p:sp>
        <p:nvSpPr>
          <p:cNvPr id="44" name="Text 37">
            <a:extLst xmlns:a="http://schemas.openxmlformats.org/drawingml/2006/main">
              <a:ext uri="{FF2B5EF4-FFF2-40B4-BE49-F238E27FC236}">
                <a16:creationId xmlns:a16="http://schemas.microsoft.com/office/drawing/2014/main" id="{F55357CF-12DE-4B1F-8840-B2373D4F04B9}"/>
              </a:ext>
            </a:extLst>
          </p:cNvPr>
          <p:cNvSpPr>
            <a:spLocks xmlns:a="http://schemas.openxmlformats.org/drawingml/2006/main" noGrp="1"/>
          </p:cNvSpPr>
          <p:nvPr/>
        </p:nvSpPr>
        <p:spPr>
          <a:xfrm xmlns:a="http://schemas.openxmlformats.org/drawingml/2006/main">
            <a:off x="1417320" y="5074920"/>
            <a:ext cx="4023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FFFFF"/>
                </a:solidFill>
                <a:latin typeface="Calibri"/>
                <a:ea typeface="Calibri"/>
                <a:cs typeface="Calibri"/>
              </a:rPr>
              <a:t>Pertanyaan?</a:t>
            </a:r>
            <a:endParaRPr sz="2200"/>
          </a:p>
        </p:txBody>
      </p:sp>
      <p:sp>
        <p:nvSpPr>
          <p:cNvPr id="45" name="Text 38">
            <a:extLst xmlns:a="http://schemas.openxmlformats.org/drawingml/2006/main">
              <a:ext uri="{FF2B5EF4-FFF2-40B4-BE49-F238E27FC236}">
                <a16:creationId xmlns:a16="http://schemas.microsoft.com/office/drawing/2014/main" id="{6898E8C2-5517-4D0F-A949-146E0948ABC8}"/>
              </a:ext>
            </a:extLst>
          </p:cNvPr>
          <p:cNvSpPr>
            <a:spLocks xmlns:a="http://schemas.openxmlformats.org/drawingml/2006/main" noGrp="1"/>
          </p:cNvSpPr>
          <p:nvPr/>
        </p:nvSpPr>
        <p:spPr>
          <a:xfrm xmlns:a="http://schemas.openxmlformats.org/drawingml/2006/main">
            <a:off x="1417320" y="5577840"/>
            <a:ext cx="4023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i="1">
                <a:solidFill>
                  <a:srgbClr val="FFFFFF"/>
                </a:solidFill>
                <a:latin typeface="Calibri"/>
                <a:ea typeface="Calibri"/>
                <a:cs typeface="Calibri"/>
              </a:rPr>
              <a:t>Diskusi sebelum praktikum</a:t>
            </a:r>
            <a:endParaRPr sz="1200"/>
          </a:p>
        </p:txBody>
      </p:sp>
      <p:sp>
        <p:nvSpPr>
          <p:cNvPr id="46" name="Shape 39">
            <a:extLst xmlns:a="http://schemas.openxmlformats.org/drawingml/2006/main">
              <a:ext uri="{FF2B5EF4-FFF2-40B4-BE49-F238E27FC236}">
                <a16:creationId xmlns:a16="http://schemas.microsoft.com/office/drawing/2014/main" id="{C756036B-4CE1-4727-A605-F91311EB22CF}"/>
              </a:ext>
            </a:extLst>
          </p:cNvPr>
          <p:cNvSpPr>
            <a:spLocks xmlns:a="http://schemas.openxmlformats.org/drawingml/2006/main" noGrp="1"/>
          </p:cNvSpPr>
          <p:nvPr/>
        </p:nvSpPr>
        <p:spPr>
          <a:xfrm xmlns:a="http://schemas.openxmlformats.org/drawingml/2006/main">
            <a:off x="6217920" y="5440680"/>
            <a:ext cx="5486400" cy="77724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47" name="Text 40">
            <a:extLst xmlns:a="http://schemas.openxmlformats.org/drawingml/2006/main">
              <a:ext uri="{FF2B5EF4-FFF2-40B4-BE49-F238E27FC236}">
                <a16:creationId xmlns:a16="http://schemas.microsoft.com/office/drawing/2014/main" id="{16886E8F-E083-41B4-9607-5EAB526B6004}"/>
              </a:ext>
            </a:extLst>
          </p:cNvPr>
          <p:cNvSpPr>
            <a:spLocks xmlns:a="http://schemas.openxmlformats.org/drawingml/2006/main" noGrp="1"/>
          </p:cNvSpPr>
          <p:nvPr/>
        </p:nvSpPr>
        <p:spPr>
          <a:xfrm xmlns:a="http://schemas.openxmlformats.org/drawingml/2006/main">
            <a:off x="6217920" y="5440680"/>
            <a:ext cx="54864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i="1">
                <a:solidFill>
                  <a:srgbClr val="FED7AA"/>
                </a:solidFill>
                <a:latin typeface="Calibri"/>
                <a:ea typeface="Calibri"/>
                <a:cs typeface="Calibri"/>
              </a:rPr>
              <a:t>Capaian utama RPS: LO2 Design (C3). Lab 05 adalah latihan formatif untuk proyek kelompok.</a:t>
            </a:r>
            <a:endParaRPr sz="1100"/>
          </a:p>
        </p:txBody>
      </p:sp>
    </p:spTree>
    <p:extLst>
      <p:ext uri="{BB962C8B-B14F-4D97-AF65-F5344CB8AC3E}">
        <p14:creationId xmlns:p14="http://schemas.microsoft.com/office/powerpoint/2010/main" val="572251933"/>
      </p:ext>
    </p:extLst>
  </p:cSld>
</p:sld>
</file>

<file path=ppt/slides/slide37.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C11D3B5C-49E9-B0FC-FE4B-9A8B4642D5D7}"/>
              </a:ext>
            </a:extLst>
          </p:cNvPr>
          <p:cNvSpPr>
            <a:spLocks xmlns:a="http://schemas.openxmlformats.org/drawingml/2006/main" noGrp="1"/>
          </p:cNvSpPr>
          <p:nvPr/>
        </p:nvSpPr>
        <p:spPr>
          <a:xfrm xmlns:a="http://schemas.openxmlformats.org/drawingml/2006/main">
            <a:off x="457200" y="177800"/>
            <a:ext cx="8890000" cy="153888"/>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1000">
                <a:solidFill>
                  <a:srgbClr val="696969"/>
                </a:solidFill>
                <a:latin typeface="Calibri"/>
                <a:ea typeface="Calibri"/>
                <a:cs typeface="Calibri"/>
              </a:rPr>
              <a:t>BINUS UNIVERSITY  |  Cloud Services  |  Pertemuan 5</a:t>
            </a:r>
          </a:p>
        </p:txBody>
      </p:sp>
      <p:sp>
        <p:nvSpPr>
          <p:cNvPr id="3" name="TextBox 2">
            <a:extLst xmlns:a="http://schemas.openxmlformats.org/drawingml/2006/main">
              <a:ext uri="{FF2B5EF4-FFF2-40B4-BE49-F238E27FC236}">
                <a16:creationId xmlns:a16="http://schemas.microsoft.com/office/drawing/2014/main" id="{9D6859F4-9311-92DA-71CA-FFAF6CD8B745}"/>
              </a:ext>
            </a:extLst>
          </p:cNvPr>
          <p:cNvSpPr>
            <a:spLocks xmlns:a="http://schemas.openxmlformats.org/drawingml/2006/main" noGrp="1"/>
          </p:cNvSpPr>
          <p:nvPr/>
        </p:nvSpPr>
        <p:spPr>
          <a:xfrm xmlns:a="http://schemas.openxmlformats.org/drawingml/2006/main">
            <a:off x="457200" y="673100"/>
            <a:ext cx="11277600" cy="430887"/>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2800" b="1">
                <a:solidFill>
                  <a:srgbClr val="004690"/>
                </a:solidFill>
                <a:latin typeface="Calibri"/>
                <a:ea typeface="Calibri"/>
                <a:cs typeface="Calibri"/>
              </a:rPr>
              <a:t>Dari source code ke image</a:t>
            </a:r>
            <a:endParaRPr sz="2800" b="1">
              <a:solidFill>
                <a:srgbClr val="004690"/>
              </a:solidFill>
              <a:latin typeface="Calibri"/>
              <a:ea typeface="Calibri"/>
              <a:cs typeface="Calibri"/>
            </a:endParaRPr>
          </a:p>
        </p:txBody>
      </p:sp>
      <p:sp>
        <p:nvSpPr>
          <p:cNvPr id="4" name="TextBox 3">
            <a:extLst xmlns:a="http://schemas.openxmlformats.org/drawingml/2006/main">
              <a:ext uri="{FF2B5EF4-FFF2-40B4-BE49-F238E27FC236}">
                <a16:creationId xmlns:a16="http://schemas.microsoft.com/office/drawing/2014/main" id="{4AB93ABE-19FF-1337-67A9-2B733EDED712}"/>
              </a:ext>
            </a:extLst>
          </p:cNvPr>
          <p:cNvSpPr>
            <a:spLocks xmlns:a="http://schemas.openxmlformats.org/drawingml/2006/main" noGrp="1"/>
          </p:cNvSpPr>
          <p:nvPr/>
        </p:nvSpPr>
        <p:spPr>
          <a:xfrm xmlns:a="http://schemas.openxmlformats.org/drawingml/2006/main">
            <a:off x="457200" y="1371600"/>
            <a:ext cx="11277600" cy="230832"/>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1500" i="1">
                <a:solidFill>
                  <a:srgbClr val="606060"/>
                </a:solidFill>
                <a:latin typeface="Calibri"/>
                <a:ea typeface="Calibri"/>
                <a:cs typeface="Calibri"/>
              </a:rPr>
              <a:t>Build yang dapat diulang untuk proyek kelompok</a:t>
            </a:r>
          </a:p>
        </p:txBody>
      </p:sp>
      <p:sp>
        <p:nvSpPr>
          <p:cNvPr id="5" name="TextBox 4">
            <a:extLst xmlns:a="http://schemas.openxmlformats.org/drawingml/2006/main">
              <a:ext uri="{FF2B5EF4-FFF2-40B4-BE49-F238E27FC236}">
                <a16:creationId xmlns:a16="http://schemas.microsoft.com/office/drawing/2014/main" id="{CA493341-82AD-926F-96C7-A3575C2E41DD}"/>
              </a:ext>
            </a:extLst>
          </p:cNvPr>
          <p:cNvSpPr>
            <a:spLocks xmlns:a="http://schemas.openxmlformats.org/drawingml/2006/main" noGrp="1"/>
          </p:cNvSpPr>
          <p:nvPr/>
        </p:nvSpPr>
        <p:spPr>
          <a:xfrm xmlns:a="http://schemas.openxmlformats.org/drawingml/2006/main">
            <a:off x="660400" y="20447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Tulis .dockerignore, salin dependency lebih dulu, lalu gunakan multi-stage build.</a:t>
            </a:r>
          </a:p>
        </p:txBody>
      </p:sp>
      <p:sp>
        <p:nvSpPr>
          <p:cNvPr id="6" name="TextBox 5">
            <a:extLst xmlns:a="http://schemas.openxmlformats.org/drawingml/2006/main">
              <a:ext uri="{FF2B5EF4-FFF2-40B4-BE49-F238E27FC236}">
                <a16:creationId xmlns:a16="http://schemas.microsoft.com/office/drawing/2014/main" id="{8A417739-0A05-7112-CAE6-DCA3CF083DAB}"/>
              </a:ext>
            </a:extLst>
          </p:cNvPr>
          <p:cNvSpPr>
            <a:spLocks xmlns:a="http://schemas.openxmlformats.org/drawingml/2006/main" noGrp="1"/>
          </p:cNvSpPr>
          <p:nvPr/>
        </p:nvSpPr>
        <p:spPr>
          <a:xfrm xmlns:a="http://schemas.openxmlformats.org/drawingml/2006/main">
            <a:off x="660400" y="28448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Jalankan aplikasi sebagai user non-root dan uji endpoint /health.</a:t>
            </a:r>
          </a:p>
        </p:txBody>
      </p:sp>
      <p:sp>
        <p:nvSpPr>
          <p:cNvPr id="7" name="TextBox 6">
            <a:extLst xmlns:a="http://schemas.openxmlformats.org/drawingml/2006/main">
              <a:ext uri="{FF2B5EF4-FFF2-40B4-BE49-F238E27FC236}">
                <a16:creationId xmlns:a16="http://schemas.microsoft.com/office/drawing/2014/main" id="{7A860896-6AAC-332C-13CC-41CAFC203477}"/>
              </a:ext>
            </a:extLst>
          </p:cNvPr>
          <p:cNvSpPr>
            <a:spLocks xmlns:a="http://schemas.openxmlformats.org/drawingml/2006/main" noGrp="1"/>
          </p:cNvSpPr>
          <p:nvPr/>
        </p:nvSpPr>
        <p:spPr>
          <a:xfrm xmlns:a="http://schemas.openxmlformats.org/drawingml/2006/main">
            <a:off x="660400" y="36449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Bandingkan ukuran image sebelum dan sesudah optimasi dengan docker images.</a:t>
            </a:r>
          </a:p>
        </p:txBody>
      </p:sp>
      <p:sp>
        <p:nvSpPr>
          <p:cNvPr id="8" name="TextBox 7">
            <a:extLst xmlns:a="http://schemas.openxmlformats.org/drawingml/2006/main">
              <a:ext uri="{FF2B5EF4-FFF2-40B4-BE49-F238E27FC236}">
                <a16:creationId xmlns:a16="http://schemas.microsoft.com/office/drawing/2014/main" id="{1DB9DDF0-4ACE-5F4A-60A0-21E81A52C3C2}"/>
              </a:ext>
            </a:extLst>
          </p:cNvPr>
          <p:cNvSpPr>
            <a:spLocks xmlns:a="http://schemas.openxmlformats.org/drawingml/2006/main" noGrp="1"/>
          </p:cNvSpPr>
          <p:nvPr/>
        </p:nvSpPr>
        <p:spPr>
          <a:xfrm xmlns:a="http://schemas.openxmlformats.org/drawingml/2006/main">
            <a:off x="660400" y="44450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a:t>
            </a:r>
            <a:r>
              <a:rPr>
                <a:solidFill>
                  <a:srgbClr val="101919"/>
                </a:solidFill>
                <a:latin typeface="Calibri"/>
                <a:ea typeface="Calibri"/>
                <a:cs typeface="Calibri"/>
              </a:rPr>
              <a:t>Push image ke registry hanya bila perlu; kode tetap di GitHub.</a:t>
            </a:r>
          </a:p>
        </p:txBody>
      </p:sp>
      <p:sp>
        <p:nvSpPr>
          <p:cNvPr id="9" name="TextBox 8">
            <a:extLst xmlns:a="http://schemas.openxmlformats.org/drawingml/2006/main">
              <a:ext uri="{FF2B5EF4-FFF2-40B4-BE49-F238E27FC236}">
                <a16:creationId xmlns:a16="http://schemas.microsoft.com/office/drawing/2014/main" id="{04C7BFF7-8F47-917A-1FB3-E04CA4083F8C}"/>
              </a:ext>
            </a:extLst>
          </p:cNvPr>
          <p:cNvSpPr>
            <a:spLocks xmlns:a="http://schemas.openxmlformats.org/drawingml/2006/main" noGrp="1"/>
          </p:cNvSpPr>
          <p:nvPr/>
        </p:nvSpPr>
        <p:spPr>
          <a:xfrm xmlns:a="http://schemas.openxmlformats.org/drawingml/2006/main">
            <a:off x="660400" y="52451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Kode dan perintah ada di </a:t>
            </a:r>
            <a:r>
              <a:rPr>
                <a:solidFill>
                  <a:srgbClr val="101919"/>
                </a:solidFill>
                <a:latin typeface="Calibri"/>
                <a:ea typeface="Calibri"/>
                <a:cs typeface="Calibri"/>
                <a:hlinkClick xmlns:r="http://schemas.openxmlformats.org/officeDocument/2006/relationships" r:id="R91b9495c93004089"/>
              </a:rPr>
              <a:t>SeedFlora/meet5CloudService</a:t>
            </a:r>
            <a:r>
              <a:rPr>
                <a:solidFill>
                  <a:srgbClr val="101919"/>
                </a:solidFill>
                <a:latin typeface="Calibri"/>
                <a:ea typeface="Calibri"/>
                <a:cs typeface="Calibri"/>
              </a:rPr>
              <a:t>.</a:t>
            </a:r>
          </a:p>
        </p:txBody>
      </p:sp>
      <p:sp>
        <p:nvSpPr>
          <p:cNvPr id="10" name="TextBox 9">
            <a:extLst xmlns:a="http://schemas.openxmlformats.org/drawingml/2006/main">
              <a:ext uri="{FF2B5EF4-FFF2-40B4-BE49-F238E27FC236}">
                <a16:creationId xmlns:a16="http://schemas.microsoft.com/office/drawing/2014/main" id="{2D1CD91F-86E1-B28D-9CAF-EF9F95D17BA4}"/>
              </a:ext>
            </a:extLst>
          </p:cNvPr>
          <p:cNvSpPr>
            <a:spLocks xmlns:a="http://schemas.openxmlformats.org/drawingml/2006/main" noGrp="1"/>
          </p:cNvSpPr>
          <p:nvPr/>
        </p:nvSpPr>
        <p:spPr>
          <a:xfrm xmlns:a="http://schemas.openxmlformats.org/drawingml/2006/main">
            <a:off x="457200" y="6413500"/>
            <a:ext cx="11277600" cy="1384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900">
                <a:solidFill>
                  <a:srgbClr val="696969"/>
                </a:solidFill>
                <a:latin typeface="Calibri"/>
                <a:ea typeface="Calibri"/>
                <a:cs typeface="Calibri"/>
              </a:rPr>
              <a:t>Materi praktik: </a:t>
            </a:r>
            <a:r>
              <a:rPr sz="900">
                <a:solidFill>
                  <a:srgbClr val="696969"/>
                </a:solidFill>
                <a:latin typeface="Calibri"/>
                <a:ea typeface="Calibri"/>
                <a:cs typeface="Calibri"/>
                <a:hlinkClick xmlns:r="http://schemas.openxmlformats.org/officeDocument/2006/relationships" r:id="R7726dd244f5941cb"/>
              </a:rPr>
              <a:t>SeedFlora/meet5CloudService</a:t>
            </a:r>
            <a:r>
              <a:rPr sz="900">
                <a:solidFill>
                  <a:srgbClr val="696969"/>
                </a:solidFill>
                <a:latin typeface="Calibri"/>
                <a:ea typeface="Calibri"/>
                <a:cs typeface="Calibri"/>
              </a:rPr>
              <a:t>  |  Sumber: RPS COMP6991031</a:t>
            </a:r>
          </a:p>
        </p:txBody>
      </p:sp>
      <p:sp>
        <p:nvSpPr>
          <p:cNvPr id="11" name="text_9">
            <a:extLst xmlns:a="http://schemas.openxmlformats.org/drawingml/2006/main">
              <a:ext uri="{FF2B5EF4-FFF2-40B4-BE49-F238E27FC236}">
                <a16:creationId xmlns:a16="http://schemas.microsoft.com/office/drawing/2014/main" id="{FB011F69-F959-4B0E-B95F-3E9F60F6D6B7}"/>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37</a:t>
            </a:r>
          </a:p>
        </p:txBody>
      </p:sp>
    </p:spTree>
    <p:extLst>
      <p:ext uri="{BB962C8B-B14F-4D97-AF65-F5344CB8AC3E}">
        <p14:creationId xmlns:p14="http://schemas.microsoft.com/office/powerpoint/2010/main" val="367655924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A264104-9E10-4D5D-A6C6-A6B5655213AA}"/>
              </a:ext>
            </a:extLst>
          </p:cNvPr>
          <p:cNvSpPr>
            <a:spLocks xmlns:a="http://schemas.openxmlformats.org/drawingml/2006/main" noGrp="1"/>
          </p:cNvSpPr>
          <p:nvPr/>
        </p:nvSpPr>
        <p:spPr>
          <a:xfrm xmlns:a="http://schemas.openxmlformats.org/drawingml/2006/main">
            <a:off x="457200" y="1905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050" b="0">
                <a:solidFill>
                  <a:srgbClr val="666666"/>
                </a:solidFill>
                <a:latin typeface="Arial"/>
                <a:ea typeface="Arial"/>
                <a:cs typeface="Arial"/>
              </a:defRPr>
            </a:pPr>
            <a:r>
              <a:rPr sz="1050" b="0">
                <a:solidFill>
                  <a:srgbClr val="666666"/>
                </a:solidFill>
                <a:latin typeface="Arial"/>
                <a:ea typeface="Arial"/>
                <a:cs typeface="Arial"/>
              </a:rPr>
              <a:t>BINUS UNIVERSITY  |  Cloud Services  |  Pertemuan 5</a:t>
            </a:r>
          </a:p>
        </p:txBody>
      </p:sp>
      <p:sp>
        <p:nvSpPr>
          <p:cNvPr id="2" name="">
            <a:extLst xmlns:a="http://schemas.openxmlformats.org/drawingml/2006/main">
              <a:ext uri="{FF2B5EF4-FFF2-40B4-BE49-F238E27FC236}">
                <a16:creationId xmlns:a16="http://schemas.microsoft.com/office/drawing/2014/main" id="{4DF85DBD-45BF-4BE7-8C94-B2899074B4F1}"/>
              </a:ext>
            </a:extLst>
          </p:cNvPr>
          <p:cNvSpPr>
            <a:spLocks xmlns:a="http://schemas.openxmlformats.org/drawingml/2006/main" noGrp="1"/>
          </p:cNvSpPr>
          <p:nvPr/>
        </p:nvSpPr>
        <p:spPr>
          <a:xfrm xmlns:a="http://schemas.openxmlformats.org/drawingml/2006/main">
            <a:off x="457200" y="666750"/>
            <a:ext cx="11049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925" b="1">
                <a:solidFill>
                  <a:srgbClr val="064C8C"/>
                </a:solidFill>
                <a:latin typeface="Arial"/>
                <a:ea typeface="Arial"/>
                <a:cs typeface="Arial"/>
              </a:defRPr>
            </a:pPr>
            <a:r>
              <a:rPr sz="2925" b="1">
                <a:solidFill>
                  <a:srgbClr val="064C8C"/>
                </a:solidFill>
                <a:latin typeface="Arial"/>
                <a:ea typeface="Arial"/>
                <a:cs typeface="Arial"/>
              </a:rPr>
              <a:t>Kasus kerja dan Lab 05</a:t>
            </a:r>
          </a:p>
        </p:txBody>
      </p:sp>
      <p:sp>
        <p:nvSpPr>
          <p:cNvPr id="3" name="">
            <a:extLst xmlns:a="http://schemas.openxmlformats.org/drawingml/2006/main">
              <a:ext uri="{FF2B5EF4-FFF2-40B4-BE49-F238E27FC236}">
                <a16:creationId xmlns:a16="http://schemas.microsoft.com/office/drawing/2014/main" id="{D0DA7AA3-4D8C-4A00-8A4E-AB7256701752}"/>
              </a:ext>
            </a:extLst>
          </p:cNvPr>
          <p:cNvSpPr>
            <a:spLocks xmlns:a="http://schemas.openxmlformats.org/drawingml/2006/main" noGrp="1"/>
          </p:cNvSpPr>
          <p:nvPr/>
        </p:nvSpPr>
        <p:spPr>
          <a:xfrm xmlns:a="http://schemas.openxmlformats.org/drawingml/2006/main">
            <a:off x="457200" y="1457325"/>
            <a:ext cx="5810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650" b="0">
                <a:solidFill>
                  <a:srgbClr val="243746"/>
                </a:solidFill>
                <a:latin typeface="Arial"/>
                <a:ea typeface="Arial"/>
                <a:cs typeface="Arial"/>
              </a:defRPr>
            </a:pPr>
            <a:r>
              <a:rPr sz="1650" b="0">
                <a:solidFill>
                  <a:srgbClr val="243746"/>
                </a:solidFill>
                <a:latin typeface="Arial"/>
                <a:ea typeface="Arial"/>
                <a:cs typeface="Arial"/>
              </a:rPr>
              <a:t>Kasus kerja: tim menerima API catatan baru. Image harus bisa dibangun ulang, dijalankan tanpa root, dan diuji sebelum rilis.</a:t>
            </a:r>
          </a:p>
        </p:txBody>
      </p:sp>
      <p:sp>
        <p:nvSpPr>
          <p:cNvPr id="4" name="">
            <a:extLst xmlns:a="http://schemas.openxmlformats.org/drawingml/2006/main">
              <a:ext uri="{FF2B5EF4-FFF2-40B4-BE49-F238E27FC236}">
                <a16:creationId xmlns:a16="http://schemas.microsoft.com/office/drawing/2014/main" id="{9DA5D319-8C9E-45B1-96FD-CA520CD89551}"/>
              </a:ext>
            </a:extLst>
          </p:cNvPr>
          <p:cNvSpPr>
            <a:spLocks xmlns:a="http://schemas.openxmlformats.org/drawingml/2006/main" noGrp="1"/>
          </p:cNvSpPr>
          <p:nvPr/>
        </p:nvSpPr>
        <p:spPr>
          <a:xfrm xmlns:a="http://schemas.openxmlformats.org/drawingml/2006/main">
            <a:off x="457200" y="2695575"/>
            <a:ext cx="581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0A3678"/>
                </a:solidFill>
                <a:latin typeface="Arial"/>
                <a:ea typeface="Arial"/>
                <a:cs typeface="Arial"/>
              </a:defRPr>
            </a:pPr>
            <a:r>
              <a:rPr sz="1725" b="1">
                <a:solidFill>
                  <a:srgbClr val="0A3678"/>
                </a:solidFill>
                <a:latin typeface="Arial"/>
                <a:ea typeface="Arial"/>
                <a:cs typeface="Arial"/>
              </a:rPr>
              <a:t>Sebelum praktikum (10–15 menit)</a:t>
            </a:r>
          </a:p>
        </p:txBody>
      </p:sp>
      <p:sp>
        <p:nvSpPr>
          <p:cNvPr id="5" name="">
            <a:extLst xmlns:a="http://schemas.openxmlformats.org/drawingml/2006/main">
              <a:ext uri="{FF2B5EF4-FFF2-40B4-BE49-F238E27FC236}">
                <a16:creationId xmlns:a16="http://schemas.microsoft.com/office/drawing/2014/main" id="{9E6B5300-5027-4A50-8044-84B82EB07783}"/>
              </a:ext>
            </a:extLst>
          </p:cNvPr>
          <p:cNvSpPr>
            <a:spLocks xmlns:a="http://schemas.openxmlformats.org/drawingml/2006/main" noGrp="1"/>
          </p:cNvSpPr>
          <p:nvPr/>
        </p:nvSpPr>
        <p:spPr>
          <a:xfrm xmlns:a="http://schemas.openxmlformats.org/drawingml/2006/main">
            <a:off x="457200" y="3219450"/>
            <a:ext cx="58102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0">
                <a:solidFill>
                  <a:srgbClr val="243746"/>
                </a:solidFill>
                <a:latin typeface="Arial"/>
                <a:ea typeface="Arial"/>
                <a:cs typeface="Arial"/>
              </a:defRPr>
            </a:pPr>
            <a:r>
              <a:rPr sz="1575" b="0">
                <a:solidFill>
                  <a:srgbClr val="243746"/>
                </a:solidFill>
                <a:latin typeface="Arial"/>
                <a:ea typeface="Arial"/>
                <a:cs typeface="Arial"/>
              </a:rPr>
              <a:t>Prediksi: apa yang terjadi pada catatan ketika container dihapus dan dibuat lagi?</a:t>
            </a:r>
          </a:p>
        </p:txBody>
      </p:sp>
      <p:sp>
        <p:nvSpPr>
          <p:cNvPr id="6" name="">
            <a:extLst xmlns:a="http://schemas.openxmlformats.org/drawingml/2006/main">
              <a:ext uri="{FF2B5EF4-FFF2-40B4-BE49-F238E27FC236}">
                <a16:creationId xmlns:a16="http://schemas.microsoft.com/office/drawing/2014/main" id="{432A24C1-7964-4EA4-A179-A4FF0F7D49B7}"/>
              </a:ext>
            </a:extLst>
          </p:cNvPr>
          <p:cNvSpPr>
            <a:spLocks xmlns:a="http://schemas.openxmlformats.org/drawingml/2006/main" noGrp="1"/>
          </p:cNvSpPr>
          <p:nvPr/>
        </p:nvSpPr>
        <p:spPr>
          <a:xfrm xmlns:a="http://schemas.openxmlformats.org/drawingml/2006/main">
            <a:off x="457200" y="4438650"/>
            <a:ext cx="581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1">
                <a:solidFill>
                  <a:srgbClr val="0969AD"/>
                </a:solidFill>
                <a:latin typeface="Arial"/>
                <a:ea typeface="Arial"/>
                <a:cs typeface="Arial"/>
              </a:defRPr>
            </a:pPr>
            <a:r>
              <a:rPr sz="1425" b="1">
                <a:solidFill>
                  <a:srgbClr val="0969AD"/>
                </a:solidFill>
                <a:latin typeface="Arial"/>
                <a:ea typeface="Arial"/>
                <a:cs typeface="Arial"/>
                <a:hlinkClick xmlns:r="http://schemas.openxmlformats.org/officeDocument/2006/relationships" r:id="Ra74e38a61984495e"/>
              </a:rPr>
              <a:t>Bacaan: Writing a Dockerfile (Docker Docs)</a:t>
            </a:r>
          </a:p>
        </p:txBody>
      </p:sp>
      <p:sp>
        <p:nvSpPr>
          <p:cNvPr id="7" name="">
            <a:extLst xmlns:a="http://schemas.openxmlformats.org/drawingml/2006/main">
              <a:ext uri="{FF2B5EF4-FFF2-40B4-BE49-F238E27FC236}">
                <a16:creationId xmlns:a16="http://schemas.microsoft.com/office/drawing/2014/main" id="{717FE2A3-9C21-4E9C-BBD2-84F84C2AA6F8}"/>
              </a:ext>
            </a:extLst>
          </p:cNvPr>
          <p:cNvSpPr>
            <a:spLocks xmlns:a="http://schemas.openxmlformats.org/drawingml/2006/main" noGrp="1"/>
          </p:cNvSpPr>
          <p:nvPr/>
        </p:nvSpPr>
        <p:spPr>
          <a:xfrm xmlns:a="http://schemas.openxmlformats.org/drawingml/2006/main">
            <a:off x="457200" y="4876800"/>
            <a:ext cx="581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1">
                <a:solidFill>
                  <a:srgbClr val="0969AD"/>
                </a:solidFill>
                <a:latin typeface="Arial"/>
                <a:ea typeface="Arial"/>
                <a:cs typeface="Arial"/>
              </a:defRPr>
            </a:pPr>
            <a:r>
              <a:rPr sz="1425" b="1">
                <a:solidFill>
                  <a:srgbClr val="0969AD"/>
                </a:solidFill>
                <a:latin typeface="Arial"/>
                <a:ea typeface="Arial"/>
                <a:cs typeface="Arial"/>
                <a:hlinkClick xmlns:r="http://schemas.openxmlformats.org/officeDocument/2006/relationships" r:id="Rb5f13cc7ac4e4385"/>
              </a:rPr>
              <a:t>Video: Docker Intro and Overview, mulai 29:57</a:t>
            </a:r>
          </a:p>
        </p:txBody>
      </p:sp>
      <p:sp>
        <p:nvSpPr>
          <p:cNvPr id="8" name="">
            <a:extLst xmlns:a="http://schemas.openxmlformats.org/drawingml/2006/main">
              <a:ext uri="{FF2B5EF4-FFF2-40B4-BE49-F238E27FC236}">
                <a16:creationId xmlns:a16="http://schemas.microsoft.com/office/drawing/2014/main" id="{2401F2CC-7BDB-4672-B944-CA031125B2C8}"/>
              </a:ext>
            </a:extLst>
          </p:cNvPr>
          <p:cNvSpPr>
            <a:spLocks xmlns:a="http://schemas.openxmlformats.org/drawingml/2006/main" noGrp="1"/>
          </p:cNvSpPr>
          <p:nvPr/>
        </p:nvSpPr>
        <p:spPr>
          <a:xfrm xmlns:a="http://schemas.openxmlformats.org/drawingml/2006/main">
            <a:off x="457200" y="5781675"/>
            <a:ext cx="11144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1">
                <a:solidFill>
                  <a:srgbClr val="0969AD"/>
                </a:solidFill>
                <a:latin typeface="Arial"/>
                <a:ea typeface="Arial"/>
                <a:cs typeface="Arial"/>
              </a:defRPr>
            </a:pPr>
            <a:r>
              <a:rPr sz="1425" b="1">
                <a:solidFill>
                  <a:srgbClr val="0969AD"/>
                </a:solidFill>
                <a:latin typeface="Arial"/>
                <a:ea typeface="Arial"/>
                <a:cs typeface="Arial"/>
                <a:hlinkClick xmlns:r="http://schemas.openxmlformats.org/officeDocument/2006/relationships" r:id="R800de65c96144bca"/>
              </a:rPr>
              <a:t>Buka repo Lab 05: SeedFlora/meet5CloudService</a:t>
            </a:r>
          </a:p>
        </p:txBody>
      </p:sp>
      <p:sp>
        <p:nvSpPr>
          <p:cNvPr id="9" name="">
            <a:extLst xmlns:a="http://schemas.openxmlformats.org/drawingml/2006/main">
              <a:ext uri="{FF2B5EF4-FFF2-40B4-BE49-F238E27FC236}">
                <a16:creationId xmlns:a16="http://schemas.microsoft.com/office/drawing/2014/main" id="{2CF66352-D08E-4CC8-91D4-C9DF5159FBC7}"/>
              </a:ext>
            </a:extLst>
          </p:cNvPr>
          <p:cNvSpPr>
            <a:spLocks xmlns:a="http://schemas.openxmlformats.org/drawingml/2006/main" noGrp="1"/>
          </p:cNvSpPr>
          <p:nvPr/>
        </p:nvSpPr>
        <p:spPr>
          <a:xfrm xmlns:a="http://schemas.openxmlformats.org/drawingml/2006/main">
            <a:off x="457200" y="6276975"/>
            <a:ext cx="11144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200" b="0">
                <a:solidFill>
                  <a:srgbClr val="566270"/>
                </a:solidFill>
                <a:latin typeface="Arial"/>
                <a:ea typeface="Arial"/>
                <a:cs typeface="Arial"/>
              </a:defRPr>
            </a:pPr>
            <a:r>
              <a:rPr sz="1200" b="0">
                <a:solidFill>
                  <a:srgbClr val="566270"/>
                </a:solidFill>
                <a:latin typeface="Arial"/>
                <a:ea typeface="Arial"/>
                <a:cs typeface="Arial"/>
              </a:rPr>
              <a:t>Proyek kelompok 3 orang: presentasi UTS minggu 7 dan UAS minggu 14.</a:t>
            </a:r>
          </a:p>
        </p:txBody>
      </p:sp>
      <p:pic>
        <p:nvPicPr>
          <p:cNvPr id="22" name="">
            <a:extLst xmlns:a="http://schemas.openxmlformats.org/drawingml/2006/main">
              <a:ext uri="{FF2B5EF4-FFF2-40B4-BE49-F238E27FC236}">
                <a16:creationId xmlns:a16="http://schemas.microsoft.com/office/drawing/2014/main" id="{F77A8AF9-384E-444C-BAAE-10CEE6DED66F}"/>
              </a:ext>
            </a:extLst>
          </p:cNvPr>
          <p:cNvPicPr>
            <a:picLocks xmlns:a="http://schemas.openxmlformats.org/drawingml/2006/main" noChangeAspect="1"/>
          </p:cNvPicPr>
          <p:nvPr/>
        </p:nvPicPr>
        <p:blipFill>
          <a:blip xmlns:r="http://schemas.openxmlformats.org/officeDocument/2006/relationships" xmlns:a="http://schemas.openxmlformats.org/drawingml/2006/main" r:embed="R8fd5c5e19ea3495e"/>
          <a:stretch xmlns:a="http://schemas.openxmlformats.org/drawingml/2006/main"/>
        </p:blipFill>
        <p:spPr>
          <a:xfrm xmlns:a="http://schemas.openxmlformats.org/drawingml/2006/main">
            <a:off x="6534150" y="1970302"/>
            <a:ext cx="5200650" cy="2926921"/>
          </a:xfrm>
          <a:prstGeom xmlns:a="http://schemas.openxmlformats.org/drawingml/2006/main" prst="rect">
            <a:avLst/>
          </a:prstGeom>
        </p:spPr>
      </p:pic>
      <p:sp>
        <p:nvSpPr>
          <p:cNvPr id="23" name="text_9">
            <a:extLst xmlns:a="http://schemas.openxmlformats.org/drawingml/2006/main">
              <a:ext uri="{FF2B5EF4-FFF2-40B4-BE49-F238E27FC236}">
                <a16:creationId xmlns:a16="http://schemas.microsoft.com/office/drawing/2014/main" id="{92B74891-B219-4EB9-BC61-6A390323A683}"/>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38</a:t>
            </a:r>
          </a:p>
        </p:txBody>
      </p:sp>
    </p:spTree>
    <p:extLst>
      <p:ext uri="{BB962C8B-B14F-4D97-AF65-F5344CB8AC3E}">
        <p14:creationId xmlns:p14="http://schemas.microsoft.com/office/powerpoint/2010/main" val="76754379"/>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AF52888-6985-47BF-8BAC-33D4DE0855D3}"/>
              </a:ext>
            </a:extLst>
          </p:cNvPr>
          <p:cNvSpPr>
            <a:spLocks xmlns:a="http://schemas.openxmlformats.org/drawingml/2006/main" noGrp="1"/>
          </p:cNvSpPr>
          <p:nvPr/>
        </p:nvSpPr>
        <p:spPr>
          <a:xfrm xmlns:a="http://schemas.openxmlformats.org/drawingml/2006/main">
            <a:off x="457200" y="323850"/>
            <a:ext cx="11239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550" b="1">
                <a:solidFill>
                  <a:srgbClr val="1673C6"/>
                </a:solidFill>
                <a:latin typeface="Arial"/>
                <a:ea typeface="Arial"/>
                <a:cs typeface="Arial"/>
              </a:defRPr>
            </a:pPr>
            <a:r>
              <a:rPr sz="2550" b="1">
                <a:solidFill>
                  <a:srgbClr val="1673C6"/>
                </a:solidFill>
                <a:latin typeface="Arial"/>
                <a:ea typeface="Arial"/>
                <a:cs typeface="Arial"/>
              </a:rPr>
              <a:t>Dockerfile FastAPI pada Lab 05</a:t>
            </a:r>
          </a:p>
        </p:txBody>
      </p:sp>
      <p:sp>
        <p:nvSpPr>
          <p:cNvPr id="2" name="">
            <a:extLst xmlns:a="http://schemas.openxmlformats.org/drawingml/2006/main">
              <a:ext uri="{FF2B5EF4-FFF2-40B4-BE49-F238E27FC236}">
                <a16:creationId xmlns:a16="http://schemas.microsoft.com/office/drawing/2014/main" id="{B803ED82-138B-4A90-A14D-DBC684293B7E}"/>
              </a:ext>
            </a:extLst>
          </p:cNvPr>
          <p:cNvSpPr>
            <a:spLocks xmlns:a="http://schemas.openxmlformats.org/drawingml/2006/main" noGrp="1"/>
          </p:cNvSpPr>
          <p:nvPr/>
        </p:nvSpPr>
        <p:spPr>
          <a:xfrm xmlns:a="http://schemas.openxmlformats.org/drawingml/2006/main">
            <a:off x="457200" y="933450"/>
            <a:ext cx="1123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64748B"/>
                </a:solidFill>
                <a:latin typeface="Arial"/>
                <a:ea typeface="Arial"/>
                <a:cs typeface="Arial"/>
              </a:defRPr>
            </a:pPr>
            <a:r>
              <a:rPr sz="1425" b="0">
                <a:solidFill>
                  <a:srgbClr val="64748B"/>
                </a:solidFill>
                <a:latin typeface="Arial"/>
                <a:ea typeface="Arial"/>
                <a:cs typeface="Arial"/>
              </a:rPr>
              <a:t>Builder memasang dependency. Runtime menjalankan API sebagai UID 10001.</a:t>
            </a:r>
          </a:p>
        </p:txBody>
      </p:sp>
      <p:pic>
        <p:nvPicPr>
          <p:cNvPr id="10" name="">
            <a:extLst xmlns:a="http://schemas.openxmlformats.org/drawingml/2006/main">
              <a:ext uri="{FF2B5EF4-FFF2-40B4-BE49-F238E27FC236}">
                <a16:creationId xmlns:a16="http://schemas.microsoft.com/office/drawing/2014/main" id="{1C3925AF-AD04-4497-98DB-664DE27ED65B}"/>
              </a:ext>
            </a:extLst>
          </p:cNvPr>
          <p:cNvPicPr>
            <a:picLocks xmlns:a="http://schemas.openxmlformats.org/drawingml/2006/main" noChangeAspect="1"/>
          </p:cNvPicPr>
          <p:nvPr/>
        </p:nvPicPr>
        <p:blipFill>
          <a:blip xmlns:r="http://schemas.openxmlformats.org/officeDocument/2006/relationships" xmlns:a="http://schemas.openxmlformats.org/drawingml/2006/main" r:embed="Rc8a43cacec9a4d87"/>
          <a:stretch xmlns:a="http://schemas.openxmlformats.org/drawingml/2006/main"/>
        </p:blipFill>
        <p:spPr>
          <a:xfrm xmlns:a="http://schemas.openxmlformats.org/drawingml/2006/main">
            <a:off x="467783" y="1428750"/>
            <a:ext cx="11218333" cy="40386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39F44A9-4719-4C67-893A-3655A0D6B8E3}"/>
              </a:ext>
            </a:extLst>
          </p:cNvPr>
          <p:cNvSpPr>
            <a:spLocks xmlns:a="http://schemas.openxmlformats.org/drawingml/2006/main" noGrp="1"/>
          </p:cNvSpPr>
          <p:nvPr/>
        </p:nvSpPr>
        <p:spPr>
          <a:xfrm xmlns:a="http://schemas.openxmlformats.org/drawingml/2006/main">
            <a:off x="457200" y="5619750"/>
            <a:ext cx="1123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243746"/>
                </a:solidFill>
                <a:latin typeface="Consolas"/>
                <a:ea typeface="Consolas"/>
                <a:cs typeface="Consolas"/>
              </a:defRPr>
            </a:pPr>
            <a:r>
              <a:rPr sz="1350" b="0">
                <a:solidFill>
                  <a:srgbClr val="243746"/>
                </a:solidFill>
                <a:latin typeface="Consolas"/>
                <a:ea typeface="Consolas"/>
                <a:cs typeface="Consolas"/>
              </a:rPr>
              <a:t>docker build -t cloud-notes-api:lab05 .</a:t>
            </a:r>
          </a:p>
        </p:txBody>
      </p:sp>
      <p:sp>
        <p:nvSpPr>
          <p:cNvPr id="5" name="">
            <a:extLst xmlns:a="http://schemas.openxmlformats.org/drawingml/2006/main">
              <a:ext uri="{FF2B5EF4-FFF2-40B4-BE49-F238E27FC236}">
                <a16:creationId xmlns:a16="http://schemas.microsoft.com/office/drawing/2014/main" id="{AF780982-7964-40AC-9753-9B30C5DDF58B}"/>
              </a:ext>
            </a:extLst>
          </p:cNvPr>
          <p:cNvSpPr>
            <a:spLocks xmlns:a="http://schemas.openxmlformats.org/drawingml/2006/main" noGrp="1"/>
          </p:cNvSpPr>
          <p:nvPr/>
        </p:nvSpPr>
        <p:spPr>
          <a:xfrm xmlns:a="http://schemas.openxmlformats.org/drawingml/2006/main">
            <a:off x="457200" y="6029325"/>
            <a:ext cx="1123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243746"/>
                </a:solidFill>
                <a:latin typeface="Arial"/>
                <a:ea typeface="Arial"/>
                <a:cs typeface="Arial"/>
              </a:defRPr>
            </a:pPr>
            <a:r>
              <a:rPr sz="1425" b="0">
                <a:solidFill>
                  <a:srgbClr val="243746"/>
                </a:solidFill>
                <a:latin typeface="Arial"/>
                <a:ea typeface="Arial"/>
                <a:cs typeface="Arial"/>
              </a:rPr>
              <a:t>COPY --from memindahkan venv. EXPOSE 8000 adalah metadata. CMD listen 0.0.0.0 di dalam container.</a:t>
            </a:r>
          </a:p>
        </p:txBody>
      </p:sp>
      <p:sp>
        <p:nvSpPr>
          <p:cNvPr id="6" name="">
            <a:extLst xmlns:a="http://schemas.openxmlformats.org/drawingml/2006/main">
              <a:ext uri="{FF2B5EF4-FFF2-40B4-BE49-F238E27FC236}">
                <a16:creationId xmlns:a16="http://schemas.microsoft.com/office/drawing/2014/main" id="{63681E88-FD87-4CFF-A496-237DE13DC114}"/>
              </a:ext>
            </a:extLst>
          </p:cNvPr>
          <p:cNvSpPr>
            <a:spLocks xmlns:a="http://schemas.openxmlformats.org/drawingml/2006/main" noGrp="1"/>
          </p:cNvSpPr>
          <p:nvPr/>
        </p:nvSpPr>
        <p:spPr>
          <a:xfrm xmlns:a="http://schemas.openxmlformats.org/drawingml/2006/main">
            <a:off x="457200" y="6553200"/>
            <a:ext cx="1000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975" b="0">
                <a:solidFill>
                  <a:srgbClr val="64748B"/>
                </a:solidFill>
                <a:latin typeface="Arial"/>
                <a:ea typeface="Arial"/>
                <a:cs typeface="Arial"/>
              </a:defRPr>
            </a:pPr>
            <a:r>
              <a:rPr sz="975" b="0">
                <a:solidFill>
                  <a:srgbClr val="64748B"/>
                </a:solidFill>
                <a:latin typeface="Arial"/>
                <a:ea typeface="Arial"/>
                <a:cs typeface="Arial"/>
              </a:rPr>
              <a:t>BINUS UNIVERSITY  |  Cloud Services  |  Pertemuan 5</a:t>
            </a:r>
          </a:p>
        </p:txBody>
      </p:sp>
      <p:sp>
        <p:nvSpPr>
          <p:cNvPr id="7" name="">
            <a:extLst xmlns:a="http://schemas.openxmlformats.org/drawingml/2006/main">
              <a:ext uri="{FF2B5EF4-FFF2-40B4-BE49-F238E27FC236}">
                <a16:creationId xmlns:a16="http://schemas.microsoft.com/office/drawing/2014/main" id="{34E6C16B-4946-46EC-B7D1-238E635B6832}"/>
              </a:ext>
            </a:extLst>
          </p:cNvPr>
          <p:cNvSpPr>
            <a:spLocks xmlns:a="http://schemas.openxmlformats.org/drawingml/2006/main" noGrp="1"/>
          </p:cNvSpPr>
          <p:nvPr/>
        </p:nvSpPr>
        <p:spPr>
          <a:xfrm xmlns:a="http://schemas.openxmlformats.org/drawingml/2006/main">
            <a:off x="11239500" y="65532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975" b="0">
                <a:solidFill>
                  <a:srgbClr val="64748B"/>
                </a:solidFill>
                <a:latin typeface="Arial"/>
                <a:ea typeface="Arial"/>
                <a:cs typeface="Arial"/>
              </a:defRPr>
            </a:pPr>
            <a:r>
              <a:rPr sz="975" b="0">
                <a:solidFill>
                  <a:srgbClr val="64748B"/>
                </a:solidFill>
                <a:latin typeface="Arial"/>
                <a:ea typeface="Arial"/>
                <a:cs typeface="Arial"/>
              </a:rPr>
              <a:t>39</a:t>
            </a:r>
          </a:p>
        </p:txBody>
      </p:sp>
    </p:spTree>
    <p:extLst>
      <p:ext uri="{BB962C8B-B14F-4D97-AF65-F5344CB8AC3E}">
        <p14:creationId xmlns:p14="http://schemas.microsoft.com/office/powerpoint/2010/main" val="689290480"/>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B48C811-9AC6-4729-B848-CE40BAE87B2F}"/>
              </a:ext>
            </a:extLst>
          </p:cNvPr>
          <p:cNvSpPr>
            <a:spLocks xmlns:a="http://schemas.openxmlformats.org/drawingml/2006/main" noGrp="1"/>
          </p:cNvSpPr>
          <p:nvPr/>
        </p:nvSpPr>
        <p:spPr>
          <a:xfrm xmlns:a="http://schemas.openxmlformats.org/drawingml/2006/main">
            <a:off x="457200" y="323850"/>
            <a:ext cx="11239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550" b="1">
                <a:solidFill>
                  <a:srgbClr val="1673C6"/>
                </a:solidFill>
                <a:latin typeface="Arial"/>
                <a:ea typeface="Arial"/>
                <a:cs typeface="Arial"/>
              </a:defRPr>
            </a:pPr>
            <a:r>
              <a:rPr sz="2550" b="1">
                <a:solidFill>
                  <a:srgbClr val="1673C6"/>
                </a:solidFill>
                <a:latin typeface="Arial"/>
                <a:ea typeface="Arial"/>
                <a:cs typeface="Arial"/>
              </a:rPr>
              <a:t>Uji perilaku image Lab 05</a:t>
            </a:r>
          </a:p>
        </p:txBody>
      </p:sp>
      <p:sp>
        <p:nvSpPr>
          <p:cNvPr id="2" name="">
            <a:extLst xmlns:a="http://schemas.openxmlformats.org/drawingml/2006/main">
              <a:ext uri="{FF2B5EF4-FFF2-40B4-BE49-F238E27FC236}">
                <a16:creationId xmlns:a16="http://schemas.microsoft.com/office/drawing/2014/main" id="{24126A61-11AB-47A3-BB90-9DE8C6BDB9B6}"/>
              </a:ext>
            </a:extLst>
          </p:cNvPr>
          <p:cNvSpPr>
            <a:spLocks xmlns:a="http://schemas.openxmlformats.org/drawingml/2006/main" noGrp="1"/>
          </p:cNvSpPr>
          <p:nvPr/>
        </p:nvSpPr>
        <p:spPr>
          <a:xfrm xmlns:a="http://schemas.openxmlformats.org/drawingml/2006/main">
            <a:off x="457200" y="933450"/>
            <a:ext cx="1123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64748B"/>
                </a:solidFill>
                <a:latin typeface="Arial"/>
                <a:ea typeface="Arial"/>
                <a:cs typeface="Arial"/>
              </a:defRPr>
            </a:pPr>
            <a:r>
              <a:rPr sz="1425" b="0">
                <a:solidFill>
                  <a:srgbClr val="64748B"/>
                </a:solidFill>
                <a:latin typeface="Arial"/>
                <a:ea typeface="Arial"/>
                <a:cs typeface="Arial"/>
              </a:rPr>
              <a:t>Bukti HTTP dibaca bersama konfigurasi container dan batas penyimpanan memori.</a:t>
            </a:r>
          </a:p>
        </p:txBody>
      </p:sp>
      <p:pic>
        <p:nvPicPr>
          <p:cNvPr id="10" name="">
            <a:extLst xmlns:a="http://schemas.openxmlformats.org/drawingml/2006/main">
              <a:ext uri="{FF2B5EF4-FFF2-40B4-BE49-F238E27FC236}">
                <a16:creationId xmlns:a16="http://schemas.microsoft.com/office/drawing/2014/main" id="{19705595-0C1B-488F-93C2-CF5E3A92FAC5}"/>
              </a:ext>
            </a:extLst>
          </p:cNvPr>
          <p:cNvPicPr>
            <a:picLocks xmlns:a="http://schemas.openxmlformats.org/drawingml/2006/main" noChangeAspect="1"/>
          </p:cNvPicPr>
          <p:nvPr/>
        </p:nvPicPr>
        <p:blipFill>
          <a:blip xmlns:r="http://schemas.openxmlformats.org/officeDocument/2006/relationships" xmlns:a="http://schemas.openxmlformats.org/drawingml/2006/main" r:embed="R495dde0b8a5e4f76"/>
          <a:stretch xmlns:a="http://schemas.openxmlformats.org/drawingml/2006/main"/>
        </p:blipFill>
        <p:spPr>
          <a:xfrm xmlns:a="http://schemas.openxmlformats.org/drawingml/2006/main">
            <a:off x="457200" y="1574800"/>
            <a:ext cx="11239500" cy="3746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4DB6793-6D6F-4D3A-9922-F90DA459E5E8}"/>
              </a:ext>
            </a:extLst>
          </p:cNvPr>
          <p:cNvSpPr>
            <a:spLocks xmlns:a="http://schemas.openxmlformats.org/drawingml/2006/main" noGrp="1"/>
          </p:cNvSpPr>
          <p:nvPr/>
        </p:nvSpPr>
        <p:spPr>
          <a:xfrm xmlns:a="http://schemas.openxmlformats.org/drawingml/2006/main">
            <a:off x="457200" y="5619750"/>
            <a:ext cx="1123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243746"/>
                </a:solidFill>
                <a:latin typeface="Consolas"/>
                <a:ea typeface="Consolas"/>
                <a:cs typeface="Consolas"/>
              </a:defRPr>
            </a:pPr>
            <a:r>
              <a:rPr sz="1350" b="0">
                <a:solidFill>
                  <a:srgbClr val="243746"/>
                </a:solidFill>
                <a:latin typeface="Consolas"/>
                <a:ea typeface="Consolas"/>
                <a:cs typeface="Consolas"/>
              </a:rPr>
              <a:t>docker run -d -p 127.0.0.1:8000:8000 -e APP_ENV=classroom cloud-notes-api:lab05</a:t>
            </a:r>
          </a:p>
        </p:txBody>
      </p:sp>
      <p:sp>
        <p:nvSpPr>
          <p:cNvPr id="5" name="">
            <a:extLst xmlns:a="http://schemas.openxmlformats.org/drawingml/2006/main">
              <a:ext uri="{FF2B5EF4-FFF2-40B4-BE49-F238E27FC236}">
                <a16:creationId xmlns:a16="http://schemas.microsoft.com/office/drawing/2014/main" id="{51FCE197-A29A-4910-9A4B-FC286C1F3330}"/>
              </a:ext>
            </a:extLst>
          </p:cNvPr>
          <p:cNvSpPr>
            <a:spLocks xmlns:a="http://schemas.openxmlformats.org/drawingml/2006/main" noGrp="1"/>
          </p:cNvSpPr>
          <p:nvPr/>
        </p:nvSpPr>
        <p:spPr>
          <a:xfrm xmlns:a="http://schemas.openxmlformats.org/drawingml/2006/main">
            <a:off x="457200" y="6029325"/>
            <a:ext cx="1123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243746"/>
                </a:solidFill>
                <a:latin typeface="Arial"/>
                <a:ea typeface="Arial"/>
                <a:cs typeface="Arial"/>
              </a:defRPr>
            </a:pPr>
            <a:r>
              <a:rPr sz="1425" b="0">
                <a:solidFill>
                  <a:srgbClr val="243746"/>
                </a:solidFill>
                <a:latin typeface="Arial"/>
                <a:ea typeface="Arial"/>
                <a:cs typeface="Arial"/>
              </a:rPr>
              <a:t>/health 200, POST /notes 201, input kosong 422. Restart proses menghapus data memori. Lab 06 menambahkan database.</a:t>
            </a:r>
          </a:p>
        </p:txBody>
      </p:sp>
      <p:sp>
        <p:nvSpPr>
          <p:cNvPr id="6" name="">
            <a:extLst xmlns:a="http://schemas.openxmlformats.org/drawingml/2006/main">
              <a:ext uri="{FF2B5EF4-FFF2-40B4-BE49-F238E27FC236}">
                <a16:creationId xmlns:a16="http://schemas.microsoft.com/office/drawing/2014/main" id="{E265807F-53E3-4408-A0C2-9F343B4EB739}"/>
              </a:ext>
            </a:extLst>
          </p:cNvPr>
          <p:cNvSpPr>
            <a:spLocks xmlns:a="http://schemas.openxmlformats.org/drawingml/2006/main" noGrp="1"/>
          </p:cNvSpPr>
          <p:nvPr/>
        </p:nvSpPr>
        <p:spPr>
          <a:xfrm xmlns:a="http://schemas.openxmlformats.org/drawingml/2006/main">
            <a:off x="457200" y="6553200"/>
            <a:ext cx="1000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975" b="0">
                <a:solidFill>
                  <a:srgbClr val="64748B"/>
                </a:solidFill>
                <a:latin typeface="Arial"/>
                <a:ea typeface="Arial"/>
                <a:cs typeface="Arial"/>
              </a:defRPr>
            </a:pPr>
            <a:r>
              <a:rPr sz="975" b="0">
                <a:solidFill>
                  <a:srgbClr val="64748B"/>
                </a:solidFill>
                <a:latin typeface="Arial"/>
                <a:ea typeface="Arial"/>
                <a:cs typeface="Arial"/>
              </a:rPr>
              <a:t>BINUS UNIVERSITY  |  Cloud Services  |  Pertemuan 5</a:t>
            </a:r>
          </a:p>
        </p:txBody>
      </p:sp>
      <p:sp>
        <p:nvSpPr>
          <p:cNvPr id="7" name="">
            <a:extLst xmlns:a="http://schemas.openxmlformats.org/drawingml/2006/main">
              <a:ext uri="{FF2B5EF4-FFF2-40B4-BE49-F238E27FC236}">
                <a16:creationId xmlns:a16="http://schemas.microsoft.com/office/drawing/2014/main" id="{F8CCED7C-E993-46DC-8385-3AAC72F72921}"/>
              </a:ext>
            </a:extLst>
          </p:cNvPr>
          <p:cNvSpPr>
            <a:spLocks xmlns:a="http://schemas.openxmlformats.org/drawingml/2006/main" noGrp="1"/>
          </p:cNvSpPr>
          <p:nvPr/>
        </p:nvSpPr>
        <p:spPr>
          <a:xfrm xmlns:a="http://schemas.openxmlformats.org/drawingml/2006/main">
            <a:off x="11239500" y="65532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975" b="0">
                <a:solidFill>
                  <a:srgbClr val="64748B"/>
                </a:solidFill>
                <a:latin typeface="Arial"/>
                <a:ea typeface="Arial"/>
                <a:cs typeface="Arial"/>
              </a:defRPr>
            </a:pPr>
            <a:r>
              <a:rPr sz="975" b="0">
                <a:solidFill>
                  <a:srgbClr val="64748B"/>
                </a:solidFill>
                <a:latin typeface="Arial"/>
                <a:ea typeface="Arial"/>
                <a:cs typeface="Arial"/>
              </a:rPr>
              <a:t>40</a:t>
            </a:r>
          </a:p>
        </p:txBody>
      </p:sp>
    </p:spTree>
    <p:extLst>
      <p:ext uri="{BB962C8B-B14F-4D97-AF65-F5344CB8AC3E}">
        <p14:creationId xmlns:p14="http://schemas.microsoft.com/office/powerpoint/2010/main" val="21439445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3E12D7E-2EC4-4AF5-B00B-AD11C07ECA97}"/>
              </a:ext>
            </a:extLst>
          </p:cNvPr>
          <p:cNvSpPr>
            <a:spLocks xmlns:a="http://schemas.openxmlformats.org/drawingml/2006/main" noGrp="1"/>
          </p:cNvSpPr>
          <p:nvPr/>
        </p:nvSpPr>
        <p:spPr>
          <a:xfrm xmlns:a="http://schemas.openxmlformats.org/drawingml/2006/main">
            <a:off x="457200" y="323850"/>
            <a:ext cx="11239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550" b="1">
                <a:solidFill>
                  <a:srgbClr val="1673C6"/>
                </a:solidFill>
                <a:latin typeface="Arial"/>
                <a:ea typeface="Arial"/>
                <a:cs typeface="Arial"/>
              </a:defRPr>
            </a:pPr>
            <a:r>
              <a:rPr sz="2550" b="1">
                <a:solidFill>
                  <a:srgbClr val="1673C6"/>
                </a:solidFill>
                <a:latin typeface="Arial"/>
                <a:ea typeface="Arial"/>
                <a:cs typeface="Arial"/>
              </a:rPr>
              <a:t>Swagger: uji API dari browser</a:t>
            </a:r>
          </a:p>
        </p:txBody>
      </p:sp>
      <p:sp>
        <p:nvSpPr>
          <p:cNvPr id="2" name="">
            <a:extLst xmlns:a="http://schemas.openxmlformats.org/drawingml/2006/main">
              <a:ext uri="{FF2B5EF4-FFF2-40B4-BE49-F238E27FC236}">
                <a16:creationId xmlns:a16="http://schemas.microsoft.com/office/drawing/2014/main" id="{7E175314-E285-4AE3-8E97-99C2039346A6}"/>
              </a:ext>
            </a:extLst>
          </p:cNvPr>
          <p:cNvSpPr>
            <a:spLocks xmlns:a="http://schemas.openxmlformats.org/drawingml/2006/main" noGrp="1"/>
          </p:cNvSpPr>
          <p:nvPr/>
        </p:nvSpPr>
        <p:spPr>
          <a:xfrm xmlns:a="http://schemas.openxmlformats.org/drawingml/2006/main">
            <a:off x="457200" y="933450"/>
            <a:ext cx="1123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64748B"/>
                </a:solidFill>
                <a:latin typeface="Arial"/>
                <a:ea typeface="Arial"/>
                <a:cs typeface="Arial"/>
              </a:defRPr>
            </a:pPr>
            <a:r>
              <a:rPr sz="1425" b="0">
                <a:solidFill>
                  <a:srgbClr val="64748B"/>
                </a:solidFill>
                <a:latin typeface="Arial"/>
                <a:ea typeface="Arial"/>
                <a:cs typeface="Arial"/>
              </a:rPr>
              <a:t>Buka /docs, pilih GET /health, klik Try it out, lalu Execute.</a:t>
            </a:r>
          </a:p>
        </p:txBody>
      </p:sp>
      <p:pic>
        <p:nvPicPr>
          <p:cNvPr id="10" name="">
            <a:extLst xmlns:a="http://schemas.openxmlformats.org/drawingml/2006/main">
              <a:ext uri="{FF2B5EF4-FFF2-40B4-BE49-F238E27FC236}">
                <a16:creationId xmlns:a16="http://schemas.microsoft.com/office/drawing/2014/main" id="{4809C944-2A58-47C3-A3FD-24A42681DA2E}"/>
              </a:ext>
            </a:extLst>
          </p:cNvPr>
          <p:cNvPicPr>
            <a:picLocks xmlns:a="http://schemas.openxmlformats.org/drawingml/2006/main" noChangeAspect="1"/>
          </p:cNvPicPr>
          <p:nvPr/>
        </p:nvPicPr>
        <p:blipFill>
          <a:blip xmlns:r="http://schemas.openxmlformats.org/officeDocument/2006/relationships" xmlns:a="http://schemas.openxmlformats.org/drawingml/2006/main" r:embed="Rb2534f09eea14805"/>
          <a:stretch xmlns:a="http://schemas.openxmlformats.org/drawingml/2006/main"/>
        </p:blipFill>
        <p:spPr>
          <a:xfrm xmlns:a="http://schemas.openxmlformats.org/drawingml/2006/main">
            <a:off x="1900109" y="1428750"/>
            <a:ext cx="8353681" cy="40386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FB6201D-86B6-43DF-B107-07201459BB33}"/>
              </a:ext>
            </a:extLst>
          </p:cNvPr>
          <p:cNvSpPr>
            <a:spLocks xmlns:a="http://schemas.openxmlformats.org/drawingml/2006/main" noGrp="1"/>
          </p:cNvSpPr>
          <p:nvPr/>
        </p:nvSpPr>
        <p:spPr>
          <a:xfrm xmlns:a="http://schemas.openxmlformats.org/drawingml/2006/main">
            <a:off x="457200" y="5619750"/>
            <a:ext cx="1123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243746"/>
                </a:solidFill>
                <a:latin typeface="Consolas"/>
                <a:ea typeface="Consolas"/>
                <a:cs typeface="Consolas"/>
              </a:defRPr>
            </a:pPr>
            <a:r>
              <a:rPr sz="1350" b="0">
                <a:solidFill>
                  <a:srgbClr val="243746"/>
                </a:solidFill>
                <a:latin typeface="Consolas"/>
                <a:ea typeface="Consolas"/>
                <a:cs typeface="Consolas"/>
              </a:rPr>
              <a:t>curl -i http://127.0.0.1:18005/health</a:t>
            </a:r>
          </a:p>
        </p:txBody>
      </p:sp>
      <p:sp>
        <p:nvSpPr>
          <p:cNvPr id="5" name="">
            <a:extLst xmlns:a="http://schemas.openxmlformats.org/drawingml/2006/main">
              <a:ext uri="{FF2B5EF4-FFF2-40B4-BE49-F238E27FC236}">
                <a16:creationId xmlns:a16="http://schemas.microsoft.com/office/drawing/2014/main" id="{9FED1140-D8B9-4B74-8C43-312C331B4AEC}"/>
              </a:ext>
            </a:extLst>
          </p:cNvPr>
          <p:cNvSpPr>
            <a:spLocks xmlns:a="http://schemas.openxmlformats.org/drawingml/2006/main" noGrp="1"/>
          </p:cNvSpPr>
          <p:nvPr/>
        </p:nvSpPr>
        <p:spPr>
          <a:xfrm xmlns:a="http://schemas.openxmlformats.org/drawingml/2006/main">
            <a:off x="457200" y="6029325"/>
            <a:ext cx="1123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243746"/>
                </a:solidFill>
                <a:latin typeface="Arial"/>
                <a:ea typeface="Arial"/>
                <a:cs typeface="Arial"/>
              </a:defRPr>
            </a:pPr>
            <a:r>
              <a:rPr sz="1425" b="0">
                <a:solidFill>
                  <a:srgbClr val="243746"/>
                </a:solidFill>
                <a:latin typeface="Arial"/>
                <a:ea typeface="Arial"/>
                <a:cs typeface="Arial"/>
              </a:rPr>
              <a:t>HTTP 200 dan status ok membuktikan endpoint dapat diakses. Port host 18005 dipakai untuk uji ini; container tetap 8000.</a:t>
            </a:r>
          </a:p>
        </p:txBody>
      </p:sp>
      <p:sp>
        <p:nvSpPr>
          <p:cNvPr id="6" name="">
            <a:extLst xmlns:a="http://schemas.openxmlformats.org/drawingml/2006/main">
              <a:ext uri="{FF2B5EF4-FFF2-40B4-BE49-F238E27FC236}">
                <a16:creationId xmlns:a16="http://schemas.microsoft.com/office/drawing/2014/main" id="{C5E88454-CF4C-4DF3-B379-BFB280A55A2F}"/>
              </a:ext>
            </a:extLst>
          </p:cNvPr>
          <p:cNvSpPr>
            <a:spLocks xmlns:a="http://schemas.openxmlformats.org/drawingml/2006/main" noGrp="1"/>
          </p:cNvSpPr>
          <p:nvPr/>
        </p:nvSpPr>
        <p:spPr>
          <a:xfrm xmlns:a="http://schemas.openxmlformats.org/drawingml/2006/main">
            <a:off x="457200" y="6553200"/>
            <a:ext cx="1000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975" b="0">
                <a:solidFill>
                  <a:srgbClr val="64748B"/>
                </a:solidFill>
                <a:latin typeface="Arial"/>
                <a:ea typeface="Arial"/>
                <a:cs typeface="Arial"/>
              </a:defRPr>
            </a:pPr>
            <a:r>
              <a:rPr sz="975" b="0">
                <a:solidFill>
                  <a:srgbClr val="64748B"/>
                </a:solidFill>
                <a:latin typeface="Arial"/>
                <a:ea typeface="Arial"/>
                <a:cs typeface="Arial"/>
              </a:rPr>
              <a:t>BINUS UNIVERSITY  |  Cloud Services  |  Pertemuan 5</a:t>
            </a:r>
          </a:p>
        </p:txBody>
      </p:sp>
      <p:sp>
        <p:nvSpPr>
          <p:cNvPr id="7" name="">
            <a:extLst xmlns:a="http://schemas.openxmlformats.org/drawingml/2006/main">
              <a:ext uri="{FF2B5EF4-FFF2-40B4-BE49-F238E27FC236}">
                <a16:creationId xmlns:a16="http://schemas.microsoft.com/office/drawing/2014/main" id="{FAF63B0C-FB69-4A1A-A4FB-9262064FF1E7}"/>
              </a:ext>
            </a:extLst>
          </p:cNvPr>
          <p:cNvSpPr>
            <a:spLocks xmlns:a="http://schemas.openxmlformats.org/drawingml/2006/main" noGrp="1"/>
          </p:cNvSpPr>
          <p:nvPr/>
        </p:nvSpPr>
        <p:spPr>
          <a:xfrm xmlns:a="http://schemas.openxmlformats.org/drawingml/2006/main">
            <a:off x="11239500" y="65532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975" b="0">
                <a:solidFill>
                  <a:srgbClr val="64748B"/>
                </a:solidFill>
                <a:latin typeface="Arial"/>
                <a:ea typeface="Arial"/>
                <a:cs typeface="Arial"/>
              </a:defRPr>
            </a:pPr>
            <a:r>
              <a:rPr sz="975" b="0">
                <a:solidFill>
                  <a:srgbClr val="64748B"/>
                </a:solidFill>
                <a:latin typeface="Arial"/>
                <a:ea typeface="Arial"/>
                <a:cs typeface="Arial"/>
              </a:rPr>
              <a:t>41</a:t>
            </a:r>
          </a:p>
        </p:txBody>
      </p:sp>
    </p:spTree>
    <p:extLst>
      <p:ext uri="{BB962C8B-B14F-4D97-AF65-F5344CB8AC3E}">
        <p14:creationId xmlns:p14="http://schemas.microsoft.com/office/powerpoint/2010/main" val="93751504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0B34243F-4E8E-4A88-91D1-C05D1CE80E00}"/>
              </a:ext>
            </a:extLst>
          </p:cNvPr>
          <p:cNvPicPr>
            <a:picLocks xmlns:a="http://schemas.openxmlformats.org/drawingml/2006/main" noChangeAspect="1"/>
          </p:cNvPicPr>
          <p:nvPr/>
        </p:nvPicPr>
        <p:blipFill>
          <a:blip xmlns:r="http://schemas.openxmlformats.org/officeDocument/2006/relationships" xmlns:a="http://schemas.openxmlformats.org/drawingml/2006/main" r:embed="R257f42757cc8445c"/>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1E004B67-5260-4B89-9500-440DB0EBDD23}"/>
              </a:ext>
            </a:extLst>
          </p:cNvPr>
          <p:cNvPicPr>
            <a:picLocks xmlns:a="http://schemas.openxmlformats.org/drawingml/2006/main" noChangeAspect="1"/>
          </p:cNvPicPr>
          <p:nvPr/>
        </p:nvPicPr>
        <p:blipFill>
          <a:blip xmlns:r="http://schemas.openxmlformats.org/officeDocument/2006/relationships" xmlns:a="http://schemas.openxmlformats.org/drawingml/2006/main" r:embed="R5f8b4821d759477e"/>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097CC942-4FB5-4B1F-8BC0-619700A82680}"/>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Demo penuh lewat browser: GitHub Codespaces</a:t>
            </a:r>
          </a:p>
        </p:txBody>
      </p:sp>
      <p:sp>
        <p:nvSpPr>
          <p:cNvPr id="4" name="text_1">
            <a:extLst xmlns:a="http://schemas.openxmlformats.org/drawingml/2006/main">
              <a:ext uri="{FF2B5EF4-FFF2-40B4-BE49-F238E27FC236}">
                <a16:creationId xmlns:a16="http://schemas.microsoft.com/office/drawing/2014/main" id="{A62DAA1C-6EDE-4797-9401-1D8289D21D8E}"/>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Tanpa memasang Docker, Python, Node.js, Git, atau VS Code pada laptop</a:t>
            </a:r>
          </a:p>
        </p:txBody>
      </p:sp>
      <p:sp>
        <p:nvSpPr>
          <p:cNvPr id="5" name="">
            <a:extLst xmlns:a="http://schemas.openxmlformats.org/drawingml/2006/main">
              <a:ext uri="{FF2B5EF4-FFF2-40B4-BE49-F238E27FC236}">
                <a16:creationId xmlns:a16="http://schemas.microsoft.com/office/drawing/2014/main" id="{7FD497BC-D97E-45F5-8F05-9C5961C55177}"/>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619D92D-C324-4A5A-9AFD-928F340AE7D0}"/>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4919FE84-C5A5-4B80-90A2-A52605F823A5}"/>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sp>
        <p:nvSpPr>
          <p:cNvPr id="8" name="text_5">
            <a:extLst xmlns:a="http://schemas.openxmlformats.org/drawingml/2006/main">
              <a:ext uri="{FF2B5EF4-FFF2-40B4-BE49-F238E27FC236}">
                <a16:creationId xmlns:a16="http://schemas.microsoft.com/office/drawing/2014/main" id="{B8D2D579-23DD-4F24-931F-10645F1930BB}"/>
              </a:ext>
            </a:extLst>
          </p:cNvPr>
          <p:cNvSpPr>
            <a:spLocks xmlns:a="http://schemas.openxmlformats.org/drawingml/2006/main" noGrp="1"/>
          </p:cNvSpPr>
          <p:nvPr/>
        </p:nvSpPr>
        <p:spPr>
          <a:xfrm xmlns:a="http://schemas.openxmlformats.org/drawingml/2006/main">
            <a:off x="457200" y="1543050"/>
            <a:ext cx="533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defRPr sz="1875" b="1">
                <a:solidFill>
                  <a:srgbClr val="052877"/>
                </a:solidFill>
                <a:latin typeface="Calibri"/>
                <a:ea typeface="Calibri"/>
                <a:cs typeface="Calibri"/>
              </a:defRPr>
            </a:pPr>
            <a:r>
              <a:rPr sz="1875" b="1">
                <a:solidFill>
                  <a:srgbClr val="052877"/>
                </a:solidFill>
                <a:latin typeface="Calibri"/>
                <a:ea typeface="Calibri"/>
                <a:cs typeface="Calibri"/>
              </a:rPr>
              <a:t>1. Buka repo meet5CloudService</a:t>
            </a:r>
          </a:p>
        </p:txBody>
      </p:sp>
      <p:sp>
        <p:nvSpPr>
          <p:cNvPr id="9" name="text_6">
            <a:extLst xmlns:a="http://schemas.openxmlformats.org/drawingml/2006/main">
              <a:ext uri="{FF2B5EF4-FFF2-40B4-BE49-F238E27FC236}">
                <a16:creationId xmlns:a16="http://schemas.microsoft.com/office/drawing/2014/main" id="{B7100247-27C8-4996-A1F9-FE7255DC8332}"/>
              </a:ext>
            </a:extLst>
          </p:cNvPr>
          <p:cNvSpPr>
            <a:spLocks xmlns:a="http://schemas.openxmlformats.org/drawingml/2006/main" noGrp="1"/>
          </p:cNvSpPr>
          <p:nvPr/>
        </p:nvSpPr>
        <p:spPr>
          <a:xfrm xmlns:a="http://schemas.openxmlformats.org/drawingml/2006/main">
            <a:off x="457200" y="1990725"/>
            <a:ext cx="533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Code → Codespaces → New with options.</a:t>
            </a:r>
          </a:p>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Pilih main, konfigurasi repo, mesin 2 core.</a:t>
            </a:r>
          </a:p>
        </p:txBody>
      </p:sp>
      <p:sp>
        <p:nvSpPr>
          <p:cNvPr id="10" name="text_7">
            <a:extLst xmlns:a="http://schemas.openxmlformats.org/drawingml/2006/main">
              <a:ext uri="{FF2B5EF4-FFF2-40B4-BE49-F238E27FC236}">
                <a16:creationId xmlns:a16="http://schemas.microsoft.com/office/drawing/2014/main" id="{13E7BB20-137D-4191-AB9D-1803DF13D4EA}"/>
              </a:ext>
            </a:extLst>
          </p:cNvPr>
          <p:cNvSpPr>
            <a:spLocks xmlns:a="http://schemas.openxmlformats.org/drawingml/2006/main" noGrp="1"/>
          </p:cNvSpPr>
          <p:nvPr/>
        </p:nvSpPr>
        <p:spPr>
          <a:xfrm xmlns:a="http://schemas.openxmlformats.org/drawingml/2006/main">
            <a:off x="457200" y="2886075"/>
            <a:ext cx="533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defRPr sz="1875" b="1">
                <a:solidFill>
                  <a:srgbClr val="052877"/>
                </a:solidFill>
                <a:latin typeface="Calibri"/>
                <a:ea typeface="Calibri"/>
                <a:cs typeface="Calibri"/>
              </a:defRPr>
            </a:pPr>
            <a:r>
              <a:rPr sz="1875" b="1">
                <a:solidFill>
                  <a:srgbClr val="052877"/>
                </a:solidFill>
                <a:latin typeface="Calibri"/>
                <a:ea typeface="Calibri"/>
                <a:cs typeface="Calibri"/>
              </a:rPr>
              <a:t>2. Tunggu terminal Linux siap</a:t>
            </a:r>
          </a:p>
        </p:txBody>
      </p:sp>
      <p:sp>
        <p:nvSpPr>
          <p:cNvPr id="11" name="text_8">
            <a:extLst xmlns:a="http://schemas.openxmlformats.org/drawingml/2006/main">
              <a:ext uri="{FF2B5EF4-FFF2-40B4-BE49-F238E27FC236}">
                <a16:creationId xmlns:a16="http://schemas.microsoft.com/office/drawing/2014/main" id="{BA859BB0-3941-440B-8726-DB4FE051566E}"/>
              </a:ext>
            </a:extLst>
          </p:cNvPr>
          <p:cNvSpPr>
            <a:spLocks xmlns:a="http://schemas.openxmlformats.org/drawingml/2006/main" noGrp="1"/>
          </p:cNvSpPr>
          <p:nvPr/>
        </p:nvSpPr>
        <p:spPr>
          <a:xfrm xmlns:a="http://schemas.openxmlformats.org/drawingml/2006/main">
            <a:off x="457200" y="3333750"/>
            <a:ext cx="533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Docker berjalan pada mesin cloud.</a:t>
            </a:r>
          </a:p>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Browser menjadi editor dan jendela aplikasi.</a:t>
            </a:r>
          </a:p>
        </p:txBody>
      </p:sp>
      <p:sp>
        <p:nvSpPr>
          <p:cNvPr id="12" name="text_9">
            <a:extLst xmlns:a="http://schemas.openxmlformats.org/drawingml/2006/main">
              <a:ext uri="{FF2B5EF4-FFF2-40B4-BE49-F238E27FC236}">
                <a16:creationId xmlns:a16="http://schemas.microsoft.com/office/drawing/2014/main" id="{F76860CD-B175-4522-86B4-00AE5E2FEAF1}"/>
              </a:ext>
            </a:extLst>
          </p:cNvPr>
          <p:cNvSpPr>
            <a:spLocks xmlns:a="http://schemas.openxmlformats.org/drawingml/2006/main" noGrp="1"/>
          </p:cNvSpPr>
          <p:nvPr/>
        </p:nvSpPr>
        <p:spPr>
          <a:xfrm xmlns:a="http://schemas.openxmlformats.org/drawingml/2006/main">
            <a:off x="457200" y="423862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1">
                <a:solidFill>
                  <a:srgbClr val="F97316"/>
                </a:solidFill>
                <a:latin typeface="Calibri"/>
                <a:ea typeface="Calibri"/>
                <a:cs typeface="Calibri"/>
              </a:defRPr>
            </a:defPPr>
          </a:lstStyle>
          <a:p xmlns:a="http://schemas.openxmlformats.org/drawingml/2006/main">
            <a:pPr>
              <a:defRPr sz="1725" b="1">
                <a:solidFill>
                  <a:srgbClr val="F97316"/>
                </a:solidFill>
                <a:latin typeface="Calibri"/>
                <a:ea typeface="Calibri"/>
                <a:cs typeface="Calibri"/>
              </a:defRPr>
            </a:pPr>
            <a:r>
              <a:rPr sz="1725" b="1">
                <a:solidFill>
                  <a:srgbClr val="F97316"/>
                </a:solidFill>
                <a:latin typeface="Calibri"/>
                <a:ea typeface="Calibri"/>
                <a:cs typeface="Calibri"/>
              </a:rPr>
              <a:t>Perlu akun GitHub, internet, dan kuota.</a:t>
            </a:r>
          </a:p>
        </p:txBody>
      </p:sp>
      <p:sp>
        <p:nvSpPr>
          <p:cNvPr id="13" name="text_10">
            <a:extLst xmlns:a="http://schemas.openxmlformats.org/drawingml/2006/main">
              <a:ext uri="{FF2B5EF4-FFF2-40B4-BE49-F238E27FC236}">
                <a16:creationId xmlns:a16="http://schemas.microsoft.com/office/drawing/2014/main" id="{E887A7B5-8955-4A0B-A675-135D642BA012}"/>
              </a:ext>
            </a:extLst>
          </p:cNvPr>
          <p:cNvSpPr>
            <a:spLocks xmlns:a="http://schemas.openxmlformats.org/drawingml/2006/main" noGrp="1"/>
          </p:cNvSpPr>
          <p:nvPr/>
        </p:nvSpPr>
        <p:spPr>
          <a:xfrm xmlns:a="http://schemas.openxmlformats.org/drawingml/2006/main">
            <a:off x="457200" y="467677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243746"/>
                </a:solidFill>
                <a:latin typeface="Calibri"/>
                <a:ea typeface="Calibri"/>
                <a:cs typeface="Calibri"/>
              </a:defRPr>
            </a:defPPr>
          </a:lstStyle>
          <a:p xmlns:a="http://schemas.openxmlformats.org/drawingml/2006/main">
            <a:pPr>
              <a:defRPr sz="1575" b="0">
                <a:solidFill>
                  <a:srgbClr val="243746"/>
                </a:solidFill>
                <a:latin typeface="Calibri"/>
                <a:ea typeface="Calibri"/>
                <a:cs typeface="Calibri"/>
              </a:defRPr>
            </a:pPr>
            <a:r>
              <a:rPr sz="1575" b="0">
                <a:solidFill>
                  <a:srgbClr val="243746"/>
                </a:solidFill>
                <a:latin typeface="Calibri"/>
                <a:ea typeface="Calibri"/>
                <a:cs typeface="Calibri"/>
              </a:rPr>
              <a:t>github.dev editor ringan tidak menyediakan</a:t>
            </a:r>
          </a:p>
          <a:p xmlns:a="http://schemas.openxmlformats.org/drawingml/2006/main">
            <a:pPr>
              <a:defRPr sz="1575" b="0">
                <a:solidFill>
                  <a:srgbClr val="243746"/>
                </a:solidFill>
                <a:latin typeface="Calibri"/>
                <a:ea typeface="Calibri"/>
                <a:cs typeface="Calibri"/>
              </a:defRPr>
            </a:pPr>
            <a:r>
              <a:rPr sz="1575" b="0">
                <a:solidFill>
                  <a:srgbClr val="243746"/>
                </a:solidFill>
                <a:latin typeface="Calibri"/>
                <a:ea typeface="Calibri"/>
                <a:cs typeface="Calibri"/>
              </a:rPr>
              <a:t>compute/terminal Docker seperti Codespaces.</a:t>
            </a:r>
          </a:p>
        </p:txBody>
      </p:sp>
      <p:pic>
        <p:nvPicPr>
          <p:cNvPr id="14" name="">
            <a:extLst xmlns:a="http://schemas.openxmlformats.org/drawingml/2006/main">
              <a:ext uri="{FF2B5EF4-FFF2-40B4-BE49-F238E27FC236}">
                <a16:creationId xmlns:a16="http://schemas.microsoft.com/office/drawing/2014/main" id="{3B5715C3-C0B3-4CF1-9CCC-7AE4492C9AAE}"/>
              </a:ext>
            </a:extLst>
          </p:cNvPr>
          <p:cNvPicPr>
            <a:picLocks xmlns:a="http://schemas.openxmlformats.org/drawingml/2006/main" noChangeAspect="1"/>
          </p:cNvPicPr>
          <p:nvPr/>
        </p:nvPicPr>
        <p:blipFill>
          <a:blip xmlns:r="http://schemas.openxmlformats.org/officeDocument/2006/relationships" xmlns:a="http://schemas.openxmlformats.org/drawingml/2006/main" r:embed="Rf07efe7285fd4505"/>
          <a:srcRect xmlns:a="http://schemas.openxmlformats.org/drawingml/2006/main" l="27241" t="10845" r="27182" b="36644"/>
          <a:stretch xmlns:a="http://schemas.openxmlformats.org/drawingml/2006/main"/>
        </p:blipFill>
        <p:spPr>
          <a:xfrm xmlns:a="http://schemas.openxmlformats.org/drawingml/2006/main">
            <a:off x="6096000" y="1728665"/>
            <a:ext cx="5638800" cy="333399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87987045-1481-46AB-9B62-04792470A6E2}"/>
              </a:ext>
            </a:extLst>
          </p:cNvPr>
          <p:cNvSpPr>
            <a:spLocks xmlns:a="http://schemas.openxmlformats.org/drawingml/2006/main" noGrp="1"/>
          </p:cNvSpPr>
          <p:nvPr/>
        </p:nvSpPr>
        <p:spPr>
          <a:xfrm xmlns:a="http://schemas.openxmlformats.org/drawingml/2006/main">
            <a:off x="457200" y="5391150"/>
            <a:ext cx="11277600" cy="6667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6" name="text_12">
            <a:extLst xmlns:a="http://schemas.openxmlformats.org/drawingml/2006/main">
              <a:ext uri="{FF2B5EF4-FFF2-40B4-BE49-F238E27FC236}">
                <a16:creationId xmlns:a16="http://schemas.microsoft.com/office/drawing/2014/main" id="{C129CF3B-0C5C-44A4-9847-AD19976E927B}"/>
              </a:ext>
            </a:extLst>
          </p:cNvPr>
          <p:cNvSpPr>
            <a:spLocks xmlns:a="http://schemas.openxmlformats.org/drawingml/2006/main" noGrp="1"/>
          </p:cNvSpPr>
          <p:nvPr/>
        </p:nvSpPr>
        <p:spPr>
          <a:xfrm xmlns:a="http://schemas.openxmlformats.org/drawingml/2006/main">
            <a:off x="590550" y="5505450"/>
            <a:ext cx="11010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check</a:t>
            </a:r>
          </a:p>
        </p:txBody>
      </p:sp>
      <p:sp>
        <p:nvSpPr>
          <p:cNvPr id="17" name="text_13">
            <a:extLst xmlns:a="http://schemas.openxmlformats.org/drawingml/2006/main">
              <a:ext uri="{FF2B5EF4-FFF2-40B4-BE49-F238E27FC236}">
                <a16:creationId xmlns:a16="http://schemas.microsoft.com/office/drawing/2014/main" id="{AAB39E27-EBF0-4744-B11F-6A57056B682A}"/>
              </a:ext>
            </a:extLst>
          </p:cNvPr>
          <p:cNvSpPr>
            <a:spLocks xmlns:a="http://schemas.openxmlformats.org/drawingml/2006/main" noGrp="1"/>
          </p:cNvSpPr>
          <p:nvPr/>
        </p:nvSpPr>
        <p:spPr>
          <a:xfrm xmlns:a="http://schemas.openxmlformats.org/drawingml/2006/main">
            <a:off x="457200" y="6143625"/>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Check memeriksa Docker client, daemon, dan curl pada mesin cloud.</a:t>
            </a:r>
          </a:p>
        </p:txBody>
      </p:sp>
      <p:sp>
        <p:nvSpPr>
          <p:cNvPr id="18" name="text_14">
            <a:extLst xmlns:a="http://schemas.openxmlformats.org/drawingml/2006/main">
              <a:ext uri="{FF2B5EF4-FFF2-40B4-BE49-F238E27FC236}">
                <a16:creationId xmlns:a16="http://schemas.microsoft.com/office/drawing/2014/main" id="{DE2E25A0-CD9C-4899-9BB9-0C4CB8E89E6E}"/>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42</a:t>
            </a:r>
          </a:p>
        </p:txBody>
      </p:sp>
    </p:spTree>
    <p:extLst>
      <p:ext uri="{BB962C8B-B14F-4D97-AF65-F5344CB8AC3E}">
        <p14:creationId xmlns:p14="http://schemas.microsoft.com/office/powerpoint/2010/main" val="128453760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318EC6DF-E6CC-4858-8200-B58949C9A2AB}"/>
              </a:ext>
            </a:extLst>
          </p:cNvPr>
          <p:cNvPicPr>
            <a:picLocks xmlns:a="http://schemas.openxmlformats.org/drawingml/2006/main" noChangeAspect="1"/>
          </p:cNvPicPr>
          <p:nvPr/>
        </p:nvPicPr>
        <p:blipFill>
          <a:blip xmlns:r="http://schemas.openxmlformats.org/officeDocument/2006/relationships" xmlns:a="http://schemas.openxmlformats.org/drawingml/2006/main" r:embed="R15cb179b331147e9"/>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C7CC4C15-EF55-4DCA-9C29-B990424818B1}"/>
              </a:ext>
            </a:extLst>
          </p:cNvPr>
          <p:cNvPicPr>
            <a:picLocks xmlns:a="http://schemas.openxmlformats.org/drawingml/2006/main" noChangeAspect="1"/>
          </p:cNvPicPr>
          <p:nvPr/>
        </p:nvPicPr>
        <p:blipFill>
          <a:blip xmlns:r="http://schemas.openxmlformats.org/officeDocument/2006/relationships" xmlns:a="http://schemas.openxmlformats.org/drawingml/2006/main" r:embed="Rb0539a4ae7eb4411"/>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B83DC445-C0F6-4EAA-A51A-2C7747A61BD6}"/>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Periksa Docker client dan daemon</a:t>
            </a:r>
          </a:p>
        </p:txBody>
      </p:sp>
      <p:sp>
        <p:nvSpPr>
          <p:cNvPr id="4" name="text_1">
            <a:extLst xmlns:a="http://schemas.openxmlformats.org/drawingml/2006/main">
              <a:ext uri="{FF2B5EF4-FFF2-40B4-BE49-F238E27FC236}">
                <a16:creationId xmlns:a16="http://schemas.microsoft.com/office/drawing/2014/main" id="{CCEA1786-F626-4736-970E-C1DD71891431}"/>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Dua komponen harus tersedia sebelum build atau run.</a:t>
            </a:r>
          </a:p>
        </p:txBody>
      </p:sp>
      <p:sp>
        <p:nvSpPr>
          <p:cNvPr id="5" name="">
            <a:extLst xmlns:a="http://schemas.openxmlformats.org/drawingml/2006/main">
              <a:ext uri="{FF2B5EF4-FFF2-40B4-BE49-F238E27FC236}">
                <a16:creationId xmlns:a16="http://schemas.microsoft.com/office/drawing/2014/main" id="{22D7F26D-B338-4E9B-8929-F2E4D65D47E8}"/>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CAD4536-8E91-4CD8-BAAF-227C914CB5F7}"/>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C77DD7E2-5A74-4BF7-86EC-BFBD60651548}"/>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55773C8B-940F-4076-8938-0A869A4145F4}"/>
              </a:ext>
            </a:extLst>
          </p:cNvPr>
          <p:cNvPicPr>
            <a:picLocks xmlns:a="http://schemas.openxmlformats.org/drawingml/2006/main" noChangeAspect="1"/>
          </p:cNvPicPr>
          <p:nvPr/>
        </p:nvPicPr>
        <p:blipFill>
          <a:blip xmlns:r="http://schemas.openxmlformats.org/officeDocument/2006/relationships" xmlns:a="http://schemas.openxmlformats.org/drawingml/2006/main" r:embed="R2a3f647f01b64128"/>
          <a:srcRect xmlns:a="http://schemas.openxmlformats.org/drawingml/2006/main" l="20797" t="27968" r="29701" b="29224"/>
          <a:stretch xmlns:a="http://schemas.openxmlformats.org/drawingml/2006/main"/>
        </p:blipFill>
        <p:spPr>
          <a:xfrm xmlns:a="http://schemas.openxmlformats.org/drawingml/2006/main">
            <a:off x="1395603" y="1457325"/>
            <a:ext cx="9400794" cy="41719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7C6A6CFE-5DA5-41E3-AEF4-5164098F3F97}"/>
              </a:ext>
            </a:extLst>
          </p:cNvPr>
          <p:cNvSpPr>
            <a:spLocks xmlns:a="http://schemas.openxmlformats.org/drawingml/2006/main" noGrp="1"/>
          </p:cNvSpPr>
          <p:nvPr/>
        </p:nvSpPr>
        <p:spPr>
          <a:xfrm xmlns:a="http://schemas.openxmlformats.org/drawingml/2006/main">
            <a:off x="457200" y="5676900"/>
            <a:ext cx="11277600" cy="45720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03DC2CC1-33CD-49D5-860F-C2773C38154B}"/>
              </a:ext>
            </a:extLst>
          </p:cNvPr>
          <p:cNvSpPr>
            <a:spLocks xmlns:a="http://schemas.openxmlformats.org/drawingml/2006/main" noGrp="1"/>
          </p:cNvSpPr>
          <p:nvPr/>
        </p:nvSpPr>
        <p:spPr>
          <a:xfrm xmlns:a="http://schemas.openxmlformats.org/drawingml/2006/main">
            <a:off x="590550" y="57912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check</a:t>
            </a:r>
          </a:p>
        </p:txBody>
      </p:sp>
      <p:sp>
        <p:nvSpPr>
          <p:cNvPr id="11" name="text_7">
            <a:extLst xmlns:a="http://schemas.openxmlformats.org/drawingml/2006/main">
              <a:ext uri="{FF2B5EF4-FFF2-40B4-BE49-F238E27FC236}">
                <a16:creationId xmlns:a16="http://schemas.microsoft.com/office/drawing/2014/main" id="{58F0E4DB-CB46-45DE-B9BE-0CF5D4CE718F}"/>
              </a:ext>
            </a:extLst>
          </p:cNvPr>
          <p:cNvSpPr>
            <a:spLocks xmlns:a="http://schemas.openxmlformats.org/drawingml/2006/main" noGrp="1"/>
          </p:cNvSpPr>
          <p:nvPr/>
        </p:nvSpPr>
        <p:spPr>
          <a:xfrm xmlns:a="http://schemas.openxmlformats.org/drawingml/2006/main">
            <a:off x="457200" y="62103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Client mengirim perintah; daemon di mesin cloud membangun dan menjalankan container.</a:t>
            </a:r>
          </a:p>
        </p:txBody>
      </p:sp>
      <p:sp>
        <p:nvSpPr>
          <p:cNvPr id="12" name="text_8">
            <a:extLst xmlns:a="http://schemas.openxmlformats.org/drawingml/2006/main">
              <a:ext uri="{FF2B5EF4-FFF2-40B4-BE49-F238E27FC236}">
                <a16:creationId xmlns:a16="http://schemas.microsoft.com/office/drawing/2014/main" id="{E864751D-7C91-4900-9769-3EF3CBDBA647}"/>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43</a:t>
            </a:r>
          </a:p>
        </p:txBody>
      </p:sp>
    </p:spTree>
    <p:extLst>
      <p:ext uri="{BB962C8B-B14F-4D97-AF65-F5344CB8AC3E}">
        <p14:creationId xmlns:p14="http://schemas.microsoft.com/office/powerpoint/2010/main" val="23520278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68A1FFE9-A399-4D4A-89DF-F68EE76EF9EC}"/>
              </a:ext>
            </a:extLst>
          </p:cNvPr>
          <p:cNvPicPr>
            <a:picLocks xmlns:a="http://schemas.openxmlformats.org/drawingml/2006/main" noChangeAspect="1"/>
          </p:cNvPicPr>
          <p:nvPr/>
        </p:nvPicPr>
        <p:blipFill>
          <a:blip xmlns:r="http://schemas.openxmlformats.org/officeDocument/2006/relationships" xmlns:a="http://schemas.openxmlformats.org/drawingml/2006/main" r:embed="R458d3618ab4b44a3"/>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A9F3DF90-27DA-4150-BF68-86A8A2F54DFD}"/>
              </a:ext>
            </a:extLst>
          </p:cNvPr>
          <p:cNvPicPr>
            <a:picLocks xmlns:a="http://schemas.openxmlformats.org/drawingml/2006/main" noChangeAspect="1"/>
          </p:cNvPicPr>
          <p:nvPr/>
        </p:nvPicPr>
        <p:blipFill>
          <a:blip xmlns:r="http://schemas.openxmlformats.org/officeDocument/2006/relationships" xmlns:a="http://schemas.openxmlformats.org/drawingml/2006/main" r:embed="R746fb7690896472d"/>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DA2C48CB-F43B-410C-B07A-D51FD67260BF}"/>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Baca Dockerfile yang benar-benar dipakai</a:t>
            </a:r>
          </a:p>
        </p:txBody>
      </p:sp>
      <p:sp>
        <p:nvSpPr>
          <p:cNvPr id="4" name="text_1">
            <a:extLst xmlns:a="http://schemas.openxmlformats.org/drawingml/2006/main">
              <a:ext uri="{FF2B5EF4-FFF2-40B4-BE49-F238E27FC236}">
                <a16:creationId xmlns:a16="http://schemas.microsoft.com/office/drawing/2014/main" id="{40F658F1-3A92-41D4-B460-D018B667688C}"/>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Cocokkan resep restoran dengan instruksi builder dan runtime.</a:t>
            </a:r>
          </a:p>
        </p:txBody>
      </p:sp>
      <p:sp>
        <p:nvSpPr>
          <p:cNvPr id="5" name="">
            <a:extLst xmlns:a="http://schemas.openxmlformats.org/drawingml/2006/main">
              <a:ext uri="{FF2B5EF4-FFF2-40B4-BE49-F238E27FC236}">
                <a16:creationId xmlns:a16="http://schemas.microsoft.com/office/drawing/2014/main" id="{16440662-13C0-4957-A13B-83D1D76005ED}"/>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407C478-10BC-480C-A1AF-24E099539AEA}"/>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949220F0-D4E0-48CA-AC56-F26DE27ADEC4}"/>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49127458-A4CE-4773-B7E8-E2756F08C062}"/>
              </a:ext>
            </a:extLst>
          </p:cNvPr>
          <p:cNvPicPr>
            <a:picLocks xmlns:a="http://schemas.openxmlformats.org/drawingml/2006/main" noChangeAspect="1"/>
          </p:cNvPicPr>
          <p:nvPr/>
        </p:nvPicPr>
        <p:blipFill>
          <a:blip xmlns:r="http://schemas.openxmlformats.org/officeDocument/2006/relationships" xmlns:a="http://schemas.openxmlformats.org/drawingml/2006/main" r:embed="R3ef097be485f4c28"/>
          <a:srcRect xmlns:a="http://schemas.openxmlformats.org/drawingml/2006/main" l="20797" t="7420" r="35559" b="54909"/>
          <a:stretch xmlns:a="http://schemas.openxmlformats.org/drawingml/2006/main"/>
        </p:blipFill>
        <p:spPr>
          <a:xfrm xmlns:a="http://schemas.openxmlformats.org/drawingml/2006/main">
            <a:off x="1386753" y="1457325"/>
            <a:ext cx="9418493" cy="41719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D98970E5-BB7C-4E60-97A9-161BFCD78D7E}"/>
              </a:ext>
            </a:extLst>
          </p:cNvPr>
          <p:cNvSpPr>
            <a:spLocks xmlns:a="http://schemas.openxmlformats.org/drawingml/2006/main" noGrp="1"/>
          </p:cNvSpPr>
          <p:nvPr/>
        </p:nvSpPr>
        <p:spPr>
          <a:xfrm xmlns:a="http://schemas.openxmlformats.org/drawingml/2006/main">
            <a:off x="457200" y="5676900"/>
            <a:ext cx="11277600" cy="45720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F37EF487-5CA3-4086-94EC-0F027F437209}"/>
              </a:ext>
            </a:extLst>
          </p:cNvPr>
          <p:cNvSpPr>
            <a:spLocks xmlns:a="http://schemas.openxmlformats.org/drawingml/2006/main" noGrp="1"/>
          </p:cNvSpPr>
          <p:nvPr/>
        </p:nvSpPr>
        <p:spPr>
          <a:xfrm xmlns:a="http://schemas.openxmlformats.org/drawingml/2006/main">
            <a:off x="590550" y="57912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cat Dockerfile</a:t>
            </a:r>
          </a:p>
        </p:txBody>
      </p:sp>
      <p:sp>
        <p:nvSpPr>
          <p:cNvPr id="11" name="text_7">
            <a:extLst xmlns:a="http://schemas.openxmlformats.org/drawingml/2006/main">
              <a:ext uri="{FF2B5EF4-FFF2-40B4-BE49-F238E27FC236}">
                <a16:creationId xmlns:a16="http://schemas.microsoft.com/office/drawing/2014/main" id="{D86C8A76-2092-4DAD-973C-3E557E65689A}"/>
              </a:ext>
            </a:extLst>
          </p:cNvPr>
          <p:cNvSpPr>
            <a:spLocks xmlns:a="http://schemas.openxmlformats.org/drawingml/2006/main" noGrp="1"/>
          </p:cNvSpPr>
          <p:nvPr/>
        </p:nvSpPr>
        <p:spPr>
          <a:xfrm xmlns:a="http://schemas.openxmlformats.org/drawingml/2006/main">
            <a:off x="457200" y="62103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RUN menyiapkan dependency; COPY --from mengambil venv; CMD memulai server API.</a:t>
            </a:r>
          </a:p>
        </p:txBody>
      </p:sp>
      <p:sp>
        <p:nvSpPr>
          <p:cNvPr id="12" name="text_8">
            <a:extLst xmlns:a="http://schemas.openxmlformats.org/drawingml/2006/main">
              <a:ext uri="{FF2B5EF4-FFF2-40B4-BE49-F238E27FC236}">
                <a16:creationId xmlns:a16="http://schemas.microsoft.com/office/drawing/2014/main" id="{0C58946F-0819-40CA-A45D-5C74B66433C8}"/>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44</a:t>
            </a:r>
          </a:p>
        </p:txBody>
      </p:sp>
    </p:spTree>
    <p:extLst>
      <p:ext uri="{BB962C8B-B14F-4D97-AF65-F5344CB8AC3E}">
        <p14:creationId xmlns:p14="http://schemas.microsoft.com/office/powerpoint/2010/main" val="98146081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96105773-4C9F-4911-87EB-2D5D8B721A01}"/>
              </a:ext>
            </a:extLst>
          </p:cNvPr>
          <p:cNvPicPr>
            <a:picLocks xmlns:a="http://schemas.openxmlformats.org/drawingml/2006/main" noChangeAspect="1"/>
          </p:cNvPicPr>
          <p:nvPr/>
        </p:nvPicPr>
        <p:blipFill>
          <a:blip xmlns:r="http://schemas.openxmlformats.org/officeDocument/2006/relationships" xmlns:a="http://schemas.openxmlformats.org/drawingml/2006/main" r:embed="R08663393d0bd47a5"/>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AC8D6253-E160-4B39-A78B-7F790ED456ED}"/>
              </a:ext>
            </a:extLst>
          </p:cNvPr>
          <p:cNvPicPr>
            <a:picLocks xmlns:a="http://schemas.openxmlformats.org/drawingml/2006/main" noChangeAspect="1"/>
          </p:cNvPicPr>
          <p:nvPr/>
        </p:nvPicPr>
        <p:blipFill>
          <a:blip xmlns:r="http://schemas.openxmlformats.org/officeDocument/2006/relationships" xmlns:a="http://schemas.openxmlformats.org/drawingml/2006/main" r:embed="R4f26cab8c30645ca"/>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02ED1B79-1077-446B-ADD2-BD8FD4FFE925}"/>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Build: resep menjadi image</a:t>
            </a:r>
          </a:p>
        </p:txBody>
      </p:sp>
      <p:sp>
        <p:nvSpPr>
          <p:cNvPr id="4" name="text_1">
            <a:extLst xmlns:a="http://schemas.openxmlformats.org/drawingml/2006/main">
              <a:ext uri="{FF2B5EF4-FFF2-40B4-BE49-F238E27FC236}">
                <a16:creationId xmlns:a16="http://schemas.microsoft.com/office/drawing/2014/main" id="{1B81B50F-B3D1-4118-A6AD-1E69A30E579F}"/>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Output FINISHED dan nama image menunjukkan tahap build selesai.</a:t>
            </a:r>
          </a:p>
        </p:txBody>
      </p:sp>
      <p:sp>
        <p:nvSpPr>
          <p:cNvPr id="5" name="">
            <a:extLst xmlns:a="http://schemas.openxmlformats.org/drawingml/2006/main">
              <a:ext uri="{FF2B5EF4-FFF2-40B4-BE49-F238E27FC236}">
                <a16:creationId xmlns:a16="http://schemas.microsoft.com/office/drawing/2014/main" id="{6904D459-F42F-4892-BD13-DF85035EC485}"/>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7DC0871-0EAC-4205-AF00-DE07F754CDE5}"/>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9537801F-85D7-445D-B8D8-F957848CA022}"/>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642FF030-B7E0-42A8-8BB3-4F734719AEC1}"/>
              </a:ext>
            </a:extLst>
          </p:cNvPr>
          <p:cNvPicPr>
            <a:picLocks xmlns:a="http://schemas.openxmlformats.org/drawingml/2006/main" noChangeAspect="1"/>
          </p:cNvPicPr>
          <p:nvPr/>
        </p:nvPicPr>
        <p:blipFill>
          <a:blip xmlns:r="http://schemas.openxmlformats.org/officeDocument/2006/relationships" xmlns:a="http://schemas.openxmlformats.org/drawingml/2006/main" r:embed="R348afc43cb4249f5"/>
          <a:stretch xmlns:a="http://schemas.openxmlformats.org/drawingml/2006/main"/>
        </p:blipFill>
        <p:spPr>
          <a:xfrm xmlns:a="http://schemas.openxmlformats.org/drawingml/2006/main">
            <a:off x="2031206" y="1457325"/>
            <a:ext cx="8129588" cy="41719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471BD9C8-DECB-4FD7-94B1-24C16721105E}"/>
              </a:ext>
            </a:extLst>
          </p:cNvPr>
          <p:cNvSpPr>
            <a:spLocks xmlns:a="http://schemas.openxmlformats.org/drawingml/2006/main" noGrp="1"/>
          </p:cNvSpPr>
          <p:nvPr/>
        </p:nvSpPr>
        <p:spPr>
          <a:xfrm xmlns:a="http://schemas.openxmlformats.org/drawingml/2006/main">
            <a:off x="457200" y="5676900"/>
            <a:ext cx="11277600" cy="45720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740B087B-2495-45EC-9832-3F663E1889AF}"/>
              </a:ext>
            </a:extLst>
          </p:cNvPr>
          <p:cNvSpPr>
            <a:spLocks xmlns:a="http://schemas.openxmlformats.org/drawingml/2006/main" noGrp="1"/>
          </p:cNvSpPr>
          <p:nvPr/>
        </p:nvSpPr>
        <p:spPr>
          <a:xfrm xmlns:a="http://schemas.openxmlformats.org/drawingml/2006/main">
            <a:off x="590550" y="57912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build</a:t>
            </a:r>
          </a:p>
        </p:txBody>
      </p:sp>
      <p:sp>
        <p:nvSpPr>
          <p:cNvPr id="11" name="text_7">
            <a:extLst xmlns:a="http://schemas.openxmlformats.org/drawingml/2006/main">
              <a:ext uri="{FF2B5EF4-FFF2-40B4-BE49-F238E27FC236}">
                <a16:creationId xmlns:a16="http://schemas.microsoft.com/office/drawing/2014/main" id="{2D8A6767-E441-41AC-838C-C26890C6ACE4}"/>
              </a:ext>
            </a:extLst>
          </p:cNvPr>
          <p:cNvSpPr>
            <a:spLocks xmlns:a="http://schemas.openxmlformats.org/drawingml/2006/main" noGrp="1"/>
          </p:cNvSpPr>
          <p:nvPr/>
        </p:nvSpPr>
        <p:spPr>
          <a:xfrm xmlns:a="http://schemas.openxmlformats.org/drawingml/2006/main">
            <a:off x="457200" y="62103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Padanan: docker build -t cloud-notes-api:theory-online . — titik adalah build context.</a:t>
            </a:r>
          </a:p>
        </p:txBody>
      </p:sp>
      <p:sp>
        <p:nvSpPr>
          <p:cNvPr id="12" name="text_8">
            <a:extLst xmlns:a="http://schemas.openxmlformats.org/drawingml/2006/main">
              <a:ext uri="{FF2B5EF4-FFF2-40B4-BE49-F238E27FC236}">
                <a16:creationId xmlns:a16="http://schemas.microsoft.com/office/drawing/2014/main" id="{7C85AA70-7543-41B5-8086-DD7286866FEC}"/>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45</a:t>
            </a:r>
          </a:p>
        </p:txBody>
      </p:sp>
    </p:spTree>
    <p:extLst>
      <p:ext uri="{BB962C8B-B14F-4D97-AF65-F5344CB8AC3E}">
        <p14:creationId xmlns:p14="http://schemas.microsoft.com/office/powerpoint/2010/main" val="1751956663"/>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69EC22F7-DBFC-4EC9-BE34-E02DF8AFF866}"/>
              </a:ext>
            </a:extLst>
          </p:cNvPr>
          <p:cNvPicPr>
            <a:picLocks xmlns:a="http://schemas.openxmlformats.org/drawingml/2006/main" noChangeAspect="1"/>
          </p:cNvPicPr>
          <p:nvPr/>
        </p:nvPicPr>
        <p:blipFill>
          <a:blip xmlns:r="http://schemas.openxmlformats.org/officeDocument/2006/relationships" xmlns:a="http://schemas.openxmlformats.org/drawingml/2006/main" r:embed="R718172aef1c3451e"/>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6731D5A7-AC13-45FC-9E51-B753752D1B43}"/>
              </a:ext>
            </a:extLst>
          </p:cNvPr>
          <p:cNvPicPr>
            <a:picLocks xmlns:a="http://schemas.openxmlformats.org/drawingml/2006/main" noChangeAspect="1"/>
          </p:cNvPicPr>
          <p:nvPr/>
        </p:nvPicPr>
        <p:blipFill>
          <a:blip xmlns:r="http://schemas.openxmlformats.org/officeDocument/2006/relationships" xmlns:a="http://schemas.openxmlformats.org/drawingml/2006/main" r:embed="Rba333ecb2c04402c"/>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05D0A3EA-E445-4395-AD2A-2931C40304EF}"/>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Run: image menjadi container yang aktif</a:t>
            </a:r>
          </a:p>
        </p:txBody>
      </p:sp>
      <p:sp>
        <p:nvSpPr>
          <p:cNvPr id="4" name="text_1">
            <a:extLst xmlns:a="http://schemas.openxmlformats.org/drawingml/2006/main">
              <a:ext uri="{FF2B5EF4-FFF2-40B4-BE49-F238E27FC236}">
                <a16:creationId xmlns:a16="http://schemas.microsoft.com/office/drawing/2014/main" id="{E87AC554-A93A-4AC2-87FC-42C86835CE53}"/>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Start helper memakai cache build kemudian membuat container demo.</a:t>
            </a:r>
          </a:p>
        </p:txBody>
      </p:sp>
      <p:sp>
        <p:nvSpPr>
          <p:cNvPr id="5" name="">
            <a:extLst xmlns:a="http://schemas.openxmlformats.org/drawingml/2006/main">
              <a:ext uri="{FF2B5EF4-FFF2-40B4-BE49-F238E27FC236}">
                <a16:creationId xmlns:a16="http://schemas.microsoft.com/office/drawing/2014/main" id="{F8DAA2D9-EF99-4031-A638-DC41CA6D8BB8}"/>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13B107C-C958-4F92-9A76-E7C490333617}"/>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7B3AF475-5BAC-4A96-AA83-44FAD02E5685}"/>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E311FB9B-3C26-4641-B92A-728AF69E48DD}"/>
              </a:ext>
            </a:extLst>
          </p:cNvPr>
          <p:cNvPicPr>
            <a:picLocks xmlns:a="http://schemas.openxmlformats.org/drawingml/2006/main" noChangeAspect="1"/>
          </p:cNvPicPr>
          <p:nvPr/>
        </p:nvPicPr>
        <p:blipFill>
          <a:blip xmlns:r="http://schemas.openxmlformats.org/officeDocument/2006/relationships" xmlns:a="http://schemas.openxmlformats.org/drawingml/2006/main" r:embed="Reb2a56d20bf948af"/>
          <a:stretch xmlns:a="http://schemas.openxmlformats.org/drawingml/2006/main"/>
        </p:blipFill>
        <p:spPr>
          <a:xfrm xmlns:a="http://schemas.openxmlformats.org/drawingml/2006/main">
            <a:off x="2031206" y="1457325"/>
            <a:ext cx="8129588" cy="41719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B52DC84C-B4EF-4D2A-A3B4-EB6D7392F1CC}"/>
              </a:ext>
            </a:extLst>
          </p:cNvPr>
          <p:cNvSpPr>
            <a:spLocks xmlns:a="http://schemas.openxmlformats.org/drawingml/2006/main" noGrp="1"/>
          </p:cNvSpPr>
          <p:nvPr/>
        </p:nvSpPr>
        <p:spPr>
          <a:xfrm xmlns:a="http://schemas.openxmlformats.org/drawingml/2006/main">
            <a:off x="457200" y="5676900"/>
            <a:ext cx="11277600" cy="45720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A7964F74-9507-488F-BA87-E1C876934B37}"/>
              </a:ext>
            </a:extLst>
          </p:cNvPr>
          <p:cNvSpPr>
            <a:spLocks xmlns:a="http://schemas.openxmlformats.org/drawingml/2006/main" noGrp="1"/>
          </p:cNvSpPr>
          <p:nvPr/>
        </p:nvSpPr>
        <p:spPr>
          <a:xfrm xmlns:a="http://schemas.openxmlformats.org/drawingml/2006/main">
            <a:off x="590550" y="57912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start</a:t>
            </a:r>
          </a:p>
        </p:txBody>
      </p:sp>
      <p:sp>
        <p:nvSpPr>
          <p:cNvPr id="11" name="text_7">
            <a:extLst xmlns:a="http://schemas.openxmlformats.org/drawingml/2006/main">
              <a:ext uri="{FF2B5EF4-FFF2-40B4-BE49-F238E27FC236}">
                <a16:creationId xmlns:a16="http://schemas.microsoft.com/office/drawing/2014/main" id="{D4CF4023-C1BC-41C0-A7E6-20CA455ED76A}"/>
              </a:ext>
            </a:extLst>
          </p:cNvPr>
          <p:cNvSpPr>
            <a:spLocks xmlns:a="http://schemas.openxmlformats.org/drawingml/2006/main" noGrp="1"/>
          </p:cNvSpPr>
          <p:nvPr/>
        </p:nvSpPr>
        <p:spPr>
          <a:xfrm xmlns:a="http://schemas.openxmlformats.org/drawingml/2006/main">
            <a:off x="457200" y="62103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Image dipakai untuk run dengan port 8000:8000 dan APP_ENV=classroom.</a:t>
            </a:r>
          </a:p>
        </p:txBody>
      </p:sp>
      <p:sp>
        <p:nvSpPr>
          <p:cNvPr id="12" name="text_8">
            <a:extLst xmlns:a="http://schemas.openxmlformats.org/drawingml/2006/main">
              <a:ext uri="{FF2B5EF4-FFF2-40B4-BE49-F238E27FC236}">
                <a16:creationId xmlns:a16="http://schemas.microsoft.com/office/drawing/2014/main" id="{81E5956E-467F-4CB9-910A-A0BCE5303E85}"/>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46</a:t>
            </a:r>
          </a:p>
        </p:txBody>
      </p:sp>
    </p:spTree>
    <p:extLst>
      <p:ext uri="{BB962C8B-B14F-4D97-AF65-F5344CB8AC3E}">
        <p14:creationId xmlns:p14="http://schemas.microsoft.com/office/powerpoint/2010/main" val="1331917370"/>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F2C64737-95B4-43D0-ABF2-36CA6EF8E496}"/>
              </a:ext>
            </a:extLst>
          </p:cNvPr>
          <p:cNvPicPr>
            <a:picLocks xmlns:a="http://schemas.openxmlformats.org/drawingml/2006/main" noChangeAspect="1"/>
          </p:cNvPicPr>
          <p:nvPr/>
        </p:nvPicPr>
        <p:blipFill>
          <a:blip xmlns:r="http://schemas.openxmlformats.org/officeDocument/2006/relationships" xmlns:a="http://schemas.openxmlformats.org/drawingml/2006/main" r:embed="R46d19c13b1984fa0"/>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06C3317E-1F7F-4873-891D-FC5642BF945A}"/>
              </a:ext>
            </a:extLst>
          </p:cNvPr>
          <p:cNvPicPr>
            <a:picLocks xmlns:a="http://schemas.openxmlformats.org/drawingml/2006/main" noChangeAspect="1"/>
          </p:cNvPicPr>
          <p:nvPr/>
        </p:nvPicPr>
        <p:blipFill>
          <a:blip xmlns:r="http://schemas.openxmlformats.org/officeDocument/2006/relationships" xmlns:a="http://schemas.openxmlformats.org/drawingml/2006/main" r:embed="Re94ad1e04cdd4036"/>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95F6AD18-6CB7-449F-B494-DD32E67F118E}"/>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Build dan runtime di Codespaces</a:t>
            </a:r>
          </a:p>
        </p:txBody>
      </p:sp>
      <p:sp>
        <p:nvSpPr>
          <p:cNvPr id="4" name="text_1">
            <a:extLst xmlns:a="http://schemas.openxmlformats.org/drawingml/2006/main">
              <a:ext uri="{FF2B5EF4-FFF2-40B4-BE49-F238E27FC236}">
                <a16:creationId xmlns:a16="http://schemas.microsoft.com/office/drawing/2014/main" id="{9179511B-EB77-4653-88B0-35F9D26CFE9B}"/>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Jalankan setiap command satu per satu lalu amati hasilnya di terminal</a:t>
            </a:r>
          </a:p>
        </p:txBody>
      </p:sp>
      <p:sp>
        <p:nvSpPr>
          <p:cNvPr id="5" name="">
            <a:extLst xmlns:a="http://schemas.openxmlformats.org/drawingml/2006/main">
              <a:ext uri="{FF2B5EF4-FFF2-40B4-BE49-F238E27FC236}">
                <a16:creationId xmlns:a16="http://schemas.microsoft.com/office/drawing/2014/main" id="{9721E6EF-0B8F-49FF-9963-A7DFCB59D93A}"/>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A73632E-6E21-43A6-A32B-B7EDFF5B7E93}"/>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94108F3A-5630-4751-AB09-33E4612422F4}"/>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11B7B25D-0622-44B8-9F6A-689F82E82E29}"/>
              </a:ext>
            </a:extLst>
          </p:cNvPr>
          <p:cNvPicPr>
            <a:picLocks xmlns:a="http://schemas.openxmlformats.org/drawingml/2006/main" noChangeAspect="1"/>
          </p:cNvPicPr>
          <p:nvPr/>
        </p:nvPicPr>
        <p:blipFill>
          <a:blip xmlns:r="http://schemas.openxmlformats.org/officeDocument/2006/relationships" xmlns:a="http://schemas.openxmlformats.org/drawingml/2006/main" r:embed="Ree3ebaaf8bd04037"/>
          <a:srcRect xmlns:a="http://schemas.openxmlformats.org/drawingml/2006/main" l="13064" t="7420" r="1582" b="53196"/>
          <a:stretch xmlns:a="http://schemas.openxmlformats.org/drawingml/2006/main"/>
        </p:blipFill>
        <p:spPr>
          <a:xfrm xmlns:a="http://schemas.openxmlformats.org/drawingml/2006/main">
            <a:off x="457200" y="2074750"/>
            <a:ext cx="11277600" cy="2670399"/>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7FC40457-5D4E-45A6-9C77-8DD37F0F4718}"/>
              </a:ext>
            </a:extLst>
          </p:cNvPr>
          <p:cNvSpPr>
            <a:spLocks xmlns:a="http://schemas.openxmlformats.org/drawingml/2006/main" noGrp="1"/>
          </p:cNvSpPr>
          <p:nvPr/>
        </p:nvSpPr>
        <p:spPr>
          <a:xfrm xmlns:a="http://schemas.openxmlformats.org/drawingml/2006/main">
            <a:off x="457200" y="5353050"/>
            <a:ext cx="11277600" cy="733425"/>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3D0FA583-B1D2-442B-BD62-ADAEE3EF15D7}"/>
              </a:ext>
            </a:extLst>
          </p:cNvPr>
          <p:cNvSpPr>
            <a:spLocks xmlns:a="http://schemas.openxmlformats.org/drawingml/2006/main" noGrp="1"/>
          </p:cNvSpPr>
          <p:nvPr/>
        </p:nvSpPr>
        <p:spPr>
          <a:xfrm xmlns:a="http://schemas.openxmlformats.org/drawingml/2006/main">
            <a:off x="590550" y="5467350"/>
            <a:ext cx="11010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cat Dockerfile</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start</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status</a:t>
            </a:r>
          </a:p>
        </p:txBody>
      </p:sp>
      <p:sp>
        <p:nvSpPr>
          <p:cNvPr id="11" name="text_7">
            <a:extLst xmlns:a="http://schemas.openxmlformats.org/drawingml/2006/main">
              <a:ext uri="{FF2B5EF4-FFF2-40B4-BE49-F238E27FC236}">
                <a16:creationId xmlns:a16="http://schemas.microsoft.com/office/drawing/2014/main" id="{F482080F-CDB0-4377-869F-0401A89D24E9}"/>
              </a:ext>
            </a:extLst>
          </p:cNvPr>
          <p:cNvSpPr>
            <a:spLocks xmlns:a="http://schemas.openxmlformats.org/drawingml/2006/main" noGrp="1"/>
          </p:cNvSpPr>
          <p:nvPr/>
        </p:nvSpPr>
        <p:spPr>
          <a:xfrm xmlns:a="http://schemas.openxmlformats.org/drawingml/2006/main">
            <a:off x="457200" y="6153150"/>
            <a:ext cx="11277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425" b="0">
                <a:solidFill>
                  <a:srgbClr val="243746"/>
                </a:solidFill>
                <a:latin typeface="Calibri"/>
                <a:ea typeface="Calibri"/>
                <a:cs typeface="Calibri"/>
              </a:defRPr>
            </a:defPPr>
          </a:lstStyle>
          <a:p xmlns:a="http://schemas.openxmlformats.org/drawingml/2006/main">
            <a:pPr>
              <a:defRPr sz="1425" b="0">
                <a:solidFill>
                  <a:srgbClr val="243746"/>
                </a:solidFill>
                <a:latin typeface="Calibri"/>
                <a:ea typeface="Calibri"/>
                <a:cs typeface="Calibri"/>
              </a:defRPr>
            </a:pPr>
            <a:r>
              <a:rPr sz="1425" b="0">
                <a:solidFill>
                  <a:srgbClr val="243746"/>
                </a:solidFill>
                <a:latin typeface="Calibri"/>
                <a:ea typeface="Calibri"/>
                <a:cs typeface="Calibri"/>
              </a:rPr>
              <a:t>Start melakukan build + run. Status memperlihatkan image, port, user, dan log.</a:t>
            </a:r>
          </a:p>
        </p:txBody>
      </p:sp>
      <p:sp>
        <p:nvSpPr>
          <p:cNvPr id="12" name="text_8">
            <a:extLst xmlns:a="http://schemas.openxmlformats.org/drawingml/2006/main">
              <a:ext uri="{FF2B5EF4-FFF2-40B4-BE49-F238E27FC236}">
                <a16:creationId xmlns:a16="http://schemas.microsoft.com/office/drawing/2014/main" id="{0470CD2C-1FEE-4D6B-AA85-0F1EAE8D52CF}"/>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47</a:t>
            </a:r>
          </a:p>
        </p:txBody>
      </p:sp>
    </p:spTree>
    <p:extLst>
      <p:ext uri="{BB962C8B-B14F-4D97-AF65-F5344CB8AC3E}">
        <p14:creationId xmlns:p14="http://schemas.microsoft.com/office/powerpoint/2010/main" val="588907824"/>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74466280-965D-438C-9FA9-271F9831827A}"/>
              </a:ext>
            </a:extLst>
          </p:cNvPr>
          <p:cNvPicPr>
            <a:picLocks xmlns:a="http://schemas.openxmlformats.org/drawingml/2006/main" noChangeAspect="1"/>
          </p:cNvPicPr>
          <p:nvPr/>
        </p:nvPicPr>
        <p:blipFill>
          <a:blip xmlns:r="http://schemas.openxmlformats.org/officeDocument/2006/relationships" xmlns:a="http://schemas.openxmlformats.org/drawingml/2006/main" r:embed="Rbe1bf68e2e514c32"/>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C0E52AA9-0916-47CE-B4F6-F88139C66E38}"/>
              </a:ext>
            </a:extLst>
          </p:cNvPr>
          <p:cNvPicPr>
            <a:picLocks xmlns:a="http://schemas.openxmlformats.org/drawingml/2006/main" noChangeAspect="1"/>
          </p:cNvPicPr>
          <p:nvPr/>
        </p:nvPicPr>
        <p:blipFill>
          <a:blip xmlns:r="http://schemas.openxmlformats.org/officeDocument/2006/relationships" xmlns:a="http://schemas.openxmlformats.org/drawingml/2006/main" r:embed="R55b7ba5232d14c30"/>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DB9C2C6A-273C-4802-B247-800DE4C690D1}"/>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Forward port host dari Codespaces ke browser</a:t>
            </a:r>
          </a:p>
        </p:txBody>
      </p:sp>
      <p:sp>
        <p:nvSpPr>
          <p:cNvPr id="4" name="text_1">
            <a:extLst xmlns:a="http://schemas.openxmlformats.org/drawingml/2006/main">
              <a:ext uri="{FF2B5EF4-FFF2-40B4-BE49-F238E27FC236}">
                <a16:creationId xmlns:a16="http://schemas.microsoft.com/office/drawing/2014/main" id="{020A933D-0396-44C5-A4D6-16728E5025D1}"/>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Pilih port 8000 dan pertahankan Visibility Private.</a:t>
            </a:r>
          </a:p>
        </p:txBody>
      </p:sp>
      <p:sp>
        <p:nvSpPr>
          <p:cNvPr id="5" name="">
            <a:extLst xmlns:a="http://schemas.openxmlformats.org/drawingml/2006/main">
              <a:ext uri="{FF2B5EF4-FFF2-40B4-BE49-F238E27FC236}">
                <a16:creationId xmlns:a16="http://schemas.microsoft.com/office/drawing/2014/main" id="{281BE05F-4F47-4102-AFC1-C655BEF3A0F4}"/>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9E261D7-B88B-4F3F-A1E8-67D0A21E810A}"/>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68B72C4D-E343-447B-A1C4-3C5576B8B230}"/>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7762BB16-74AE-4A6D-BC0D-430A31599417}"/>
              </a:ext>
            </a:extLst>
          </p:cNvPr>
          <p:cNvPicPr>
            <a:picLocks xmlns:a="http://schemas.openxmlformats.org/drawingml/2006/main" noChangeAspect="1"/>
          </p:cNvPicPr>
          <p:nvPr/>
        </p:nvPicPr>
        <p:blipFill>
          <a:blip xmlns:r="http://schemas.openxmlformats.org/officeDocument/2006/relationships" xmlns:a="http://schemas.openxmlformats.org/drawingml/2006/main" r:embed="R773c18f4a2e544bd"/>
          <a:srcRect xmlns:a="http://schemas.openxmlformats.org/drawingml/2006/main" l="13064" t="3653" r="26772" b="77169"/>
          <a:stretch xmlns:a="http://schemas.openxmlformats.org/drawingml/2006/main"/>
        </p:blipFill>
        <p:spPr>
          <a:xfrm xmlns:a="http://schemas.openxmlformats.org/drawingml/2006/main">
            <a:off x="457200" y="2620887"/>
            <a:ext cx="11277600" cy="1844826"/>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99ABFCF0-807C-4E13-B5F7-20141D29962F}"/>
              </a:ext>
            </a:extLst>
          </p:cNvPr>
          <p:cNvSpPr>
            <a:spLocks xmlns:a="http://schemas.openxmlformats.org/drawingml/2006/main" noGrp="1"/>
          </p:cNvSpPr>
          <p:nvPr/>
        </p:nvSpPr>
        <p:spPr>
          <a:xfrm xmlns:a="http://schemas.openxmlformats.org/drawingml/2006/main">
            <a:off x="457200" y="5676900"/>
            <a:ext cx="11277600" cy="45720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74A6C501-1C85-45AB-98A1-2C0233A12FFA}"/>
              </a:ext>
            </a:extLst>
          </p:cNvPr>
          <p:cNvSpPr>
            <a:spLocks xmlns:a="http://schemas.openxmlformats.org/drawingml/2006/main" noGrp="1"/>
          </p:cNvSpPr>
          <p:nvPr/>
        </p:nvSpPr>
        <p:spPr>
          <a:xfrm xmlns:a="http://schemas.openxmlformats.org/drawingml/2006/main">
            <a:off x="590550" y="57912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Ports → 8000 → Open in Browser → tambahkan /docs</a:t>
            </a:r>
          </a:p>
        </p:txBody>
      </p:sp>
      <p:sp>
        <p:nvSpPr>
          <p:cNvPr id="11" name="text_7">
            <a:extLst xmlns:a="http://schemas.openxmlformats.org/drawingml/2006/main">
              <a:ext uri="{FF2B5EF4-FFF2-40B4-BE49-F238E27FC236}">
                <a16:creationId xmlns:a16="http://schemas.microsoft.com/office/drawing/2014/main" id="{4EE1E1CA-2C8E-46EC-8820-B324C1E2CA6E}"/>
              </a:ext>
            </a:extLst>
          </p:cNvPr>
          <p:cNvSpPr>
            <a:spLocks xmlns:a="http://schemas.openxmlformats.org/drawingml/2006/main" noGrp="1"/>
          </p:cNvSpPr>
          <p:nvPr/>
        </p:nvSpPr>
        <p:spPr>
          <a:xfrm xmlns:a="http://schemas.openxmlformats.org/drawingml/2006/main">
            <a:off x="457200" y="62103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Port forwarding GitHub melengkapi mapping Docker; browser memakai URL HTTPS dari Ports.</a:t>
            </a:r>
          </a:p>
        </p:txBody>
      </p:sp>
      <p:sp>
        <p:nvSpPr>
          <p:cNvPr id="12" name="text_8">
            <a:extLst xmlns:a="http://schemas.openxmlformats.org/drawingml/2006/main">
              <a:ext uri="{FF2B5EF4-FFF2-40B4-BE49-F238E27FC236}">
                <a16:creationId xmlns:a16="http://schemas.microsoft.com/office/drawing/2014/main" id="{AA38922B-1A08-4DC0-8303-5FE10E7247BD}"/>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48</a:t>
            </a:r>
          </a:p>
        </p:txBody>
      </p:sp>
    </p:spTree>
    <p:extLst>
      <p:ext uri="{BB962C8B-B14F-4D97-AF65-F5344CB8AC3E}">
        <p14:creationId xmlns:p14="http://schemas.microsoft.com/office/powerpoint/2010/main" val="758218516"/>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EF87C937-D427-4AC8-B1C7-AA6B30F1DC64}"/>
              </a:ext>
            </a:extLst>
          </p:cNvPr>
          <p:cNvPicPr>
            <a:picLocks xmlns:a="http://schemas.openxmlformats.org/drawingml/2006/main" noChangeAspect="1"/>
          </p:cNvPicPr>
          <p:nvPr/>
        </p:nvPicPr>
        <p:blipFill>
          <a:blip xmlns:r="http://schemas.openxmlformats.org/officeDocument/2006/relationships" xmlns:a="http://schemas.openxmlformats.org/drawingml/2006/main" r:embed="R07e16991a86440c2"/>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47213711-E0CA-4E94-8437-22279A9FFA2A}"/>
              </a:ext>
            </a:extLst>
          </p:cNvPr>
          <p:cNvPicPr>
            <a:picLocks xmlns:a="http://schemas.openxmlformats.org/drawingml/2006/main" noChangeAspect="1"/>
          </p:cNvPicPr>
          <p:nvPr/>
        </p:nvPicPr>
        <p:blipFill>
          <a:blip xmlns:r="http://schemas.openxmlformats.org/officeDocument/2006/relationships" xmlns:a="http://schemas.openxmlformats.org/drawingml/2006/main" r:embed="R522d2bd285364be4"/>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E89C0EF2-5F2C-47E3-8232-319D6DFDA05D}"/>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Swagger melalui port forwarding</a:t>
            </a:r>
          </a:p>
        </p:txBody>
      </p:sp>
      <p:sp>
        <p:nvSpPr>
          <p:cNvPr id="4" name="text_1">
            <a:extLst xmlns:a="http://schemas.openxmlformats.org/drawingml/2006/main">
              <a:ext uri="{FF2B5EF4-FFF2-40B4-BE49-F238E27FC236}">
                <a16:creationId xmlns:a16="http://schemas.microsoft.com/office/drawing/2014/main" id="{7C422150-ABDA-4F56-B786-CF3E978F754B}"/>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Pertahankan visibility Private, lalu Open in Browser dan buka /docs</a:t>
            </a:r>
          </a:p>
        </p:txBody>
      </p:sp>
      <p:sp>
        <p:nvSpPr>
          <p:cNvPr id="5" name="">
            <a:extLst xmlns:a="http://schemas.openxmlformats.org/drawingml/2006/main">
              <a:ext uri="{FF2B5EF4-FFF2-40B4-BE49-F238E27FC236}">
                <a16:creationId xmlns:a16="http://schemas.microsoft.com/office/drawing/2014/main" id="{2D94CD13-D3DE-44C8-80EC-6A485A34337A}"/>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1E1C0C3-6323-4420-9C35-F10F224BF8A7}"/>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38C14B14-B32F-4800-9376-EF87863977CB}"/>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A62BF4C7-D84F-4AC3-AF09-6D1EE8F1BC9A}"/>
              </a:ext>
            </a:extLst>
          </p:cNvPr>
          <p:cNvPicPr>
            <a:picLocks xmlns:a="http://schemas.openxmlformats.org/drawingml/2006/main" noChangeAspect="1"/>
          </p:cNvPicPr>
          <p:nvPr/>
        </p:nvPicPr>
        <p:blipFill>
          <a:blip xmlns:r="http://schemas.openxmlformats.org/officeDocument/2006/relationships" xmlns:a="http://schemas.openxmlformats.org/drawingml/2006/main" r:embed="Ra42339618850451c"/>
          <a:stretch xmlns:a="http://schemas.openxmlformats.org/drawingml/2006/main"/>
        </p:blipFill>
        <p:spPr>
          <a:xfrm xmlns:a="http://schemas.openxmlformats.org/drawingml/2006/main">
            <a:off x="2364000" y="1504950"/>
            <a:ext cx="7464001" cy="38290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65FA6D8B-C73B-4E96-B5EE-959BCFACD65B}"/>
              </a:ext>
            </a:extLst>
          </p:cNvPr>
          <p:cNvSpPr>
            <a:spLocks xmlns:a="http://schemas.openxmlformats.org/drawingml/2006/main" noGrp="1"/>
          </p:cNvSpPr>
          <p:nvPr/>
        </p:nvSpPr>
        <p:spPr>
          <a:xfrm xmlns:a="http://schemas.openxmlformats.org/drawingml/2006/main">
            <a:off x="457200" y="5410200"/>
            <a:ext cx="11277600" cy="5524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DDB50A4B-61E6-4C83-9D42-4A7562ACC2FE}"/>
              </a:ext>
            </a:extLst>
          </p:cNvPr>
          <p:cNvSpPr>
            <a:spLocks xmlns:a="http://schemas.openxmlformats.org/drawingml/2006/main" noGrp="1"/>
          </p:cNvSpPr>
          <p:nvPr/>
        </p:nvSpPr>
        <p:spPr>
          <a:xfrm xmlns:a="http://schemas.openxmlformats.org/drawingml/2006/main">
            <a:off x="590550" y="5524500"/>
            <a:ext cx="11010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curl -i http://127.0.0.1:8000/health</a:t>
            </a:r>
          </a:p>
        </p:txBody>
      </p:sp>
      <p:sp>
        <p:nvSpPr>
          <p:cNvPr id="11" name="text_7">
            <a:extLst xmlns:a="http://schemas.openxmlformats.org/drawingml/2006/main">
              <a:ext uri="{FF2B5EF4-FFF2-40B4-BE49-F238E27FC236}">
                <a16:creationId xmlns:a16="http://schemas.microsoft.com/office/drawing/2014/main" id="{65A43637-511E-4093-A50C-FCBB89C94CC7}"/>
              </a:ext>
            </a:extLst>
          </p:cNvPr>
          <p:cNvSpPr>
            <a:spLocks xmlns:a="http://schemas.openxmlformats.org/drawingml/2006/main" noGrp="1"/>
          </p:cNvSpPr>
          <p:nvPr/>
        </p:nvSpPr>
        <p:spPr>
          <a:xfrm xmlns:a="http://schemas.openxmlformats.org/drawingml/2006/main">
            <a:off x="457200" y="6115050"/>
            <a:ext cx="1127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Di Swagger: GET /health → Try it out → Execute. Respons 200 dan status ok.</a:t>
            </a:r>
          </a:p>
        </p:txBody>
      </p:sp>
      <p:sp>
        <p:nvSpPr>
          <p:cNvPr id="12" name="text_8">
            <a:extLst xmlns:a="http://schemas.openxmlformats.org/drawingml/2006/main">
              <a:ext uri="{FF2B5EF4-FFF2-40B4-BE49-F238E27FC236}">
                <a16:creationId xmlns:a16="http://schemas.microsoft.com/office/drawing/2014/main" id="{FD1CBA27-ADE9-4E7E-9B42-4EFBABB9A845}"/>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49</a:t>
            </a:r>
          </a:p>
        </p:txBody>
      </p:sp>
    </p:spTree>
    <p:extLst>
      <p:ext uri="{BB962C8B-B14F-4D97-AF65-F5344CB8AC3E}">
        <p14:creationId xmlns:p14="http://schemas.microsoft.com/office/powerpoint/2010/main" val="187507621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DB095C7F-EC43-44A1-9447-6B1814211A21}"/>
              </a:ext>
            </a:extLst>
          </p:cNvPr>
          <p:cNvPicPr>
            <a:picLocks xmlns:a="http://schemas.openxmlformats.org/drawingml/2006/main" noChangeAspect="1"/>
          </p:cNvPicPr>
          <p:nvPr/>
        </p:nvPicPr>
        <p:blipFill>
          <a:blip xmlns:r="http://schemas.openxmlformats.org/officeDocument/2006/relationships" xmlns:a="http://schemas.openxmlformats.org/drawingml/2006/main" r:embed="R050884a2784448ef"/>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14E00320-5EF8-4521-B66C-3BA9C3B91FBD}"/>
              </a:ext>
            </a:extLst>
          </p:cNvPr>
          <p:cNvPicPr>
            <a:picLocks xmlns:a="http://schemas.openxmlformats.org/drawingml/2006/main" noChangeAspect="1"/>
          </p:cNvPicPr>
          <p:nvPr/>
        </p:nvPicPr>
        <p:blipFill>
          <a:blip xmlns:r="http://schemas.openxmlformats.org/officeDocument/2006/relationships" xmlns:a="http://schemas.openxmlformats.org/drawingml/2006/main" r:embed="R416d567234eb4123"/>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0B22C6BA-CE9E-44EA-97F1-E6A2C2C8DEF7}"/>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Buat catatan lewat Swagger: HTTP 201</a:t>
            </a:r>
          </a:p>
        </p:txBody>
      </p:sp>
      <p:sp>
        <p:nvSpPr>
          <p:cNvPr id="4" name="text_1">
            <a:extLst xmlns:a="http://schemas.openxmlformats.org/drawingml/2006/main">
              <a:ext uri="{FF2B5EF4-FFF2-40B4-BE49-F238E27FC236}">
                <a16:creationId xmlns:a16="http://schemas.microsoft.com/office/drawing/2014/main" id="{15631FFB-5812-4B7C-B94A-AE0366848FE4}"/>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POST /notes → Try it out → isi JSON → Execute.</a:t>
            </a:r>
          </a:p>
        </p:txBody>
      </p:sp>
      <p:sp>
        <p:nvSpPr>
          <p:cNvPr id="5" name="">
            <a:extLst xmlns:a="http://schemas.openxmlformats.org/drawingml/2006/main">
              <a:ext uri="{FF2B5EF4-FFF2-40B4-BE49-F238E27FC236}">
                <a16:creationId xmlns:a16="http://schemas.microsoft.com/office/drawing/2014/main" id="{31D22581-A97E-4529-A962-74B380CD6364}"/>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4B6B807-439E-4D16-A8F2-48AE319D8C69}"/>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4C063D3A-7A27-485E-BDBB-BE1BB6381C0E}"/>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EBCC00E5-C232-4C67-BA36-AC9C6590C670}"/>
              </a:ext>
            </a:extLst>
          </p:cNvPr>
          <p:cNvPicPr>
            <a:picLocks xmlns:a="http://schemas.openxmlformats.org/drawingml/2006/main" noChangeAspect="1"/>
          </p:cNvPicPr>
          <p:nvPr/>
        </p:nvPicPr>
        <p:blipFill>
          <a:blip xmlns:r="http://schemas.openxmlformats.org/officeDocument/2006/relationships" xmlns:a="http://schemas.openxmlformats.org/drawingml/2006/main" r:embed="R2e3ea199f733487d"/>
          <a:stretch xmlns:a="http://schemas.openxmlformats.org/drawingml/2006/main"/>
        </p:blipFill>
        <p:spPr>
          <a:xfrm xmlns:a="http://schemas.openxmlformats.org/drawingml/2006/main">
            <a:off x="2029791" y="1457325"/>
            <a:ext cx="8132419" cy="41719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C47DA308-BD1F-4335-8F77-C3CC5897A49A}"/>
              </a:ext>
            </a:extLst>
          </p:cNvPr>
          <p:cNvSpPr>
            <a:spLocks xmlns:a="http://schemas.openxmlformats.org/drawingml/2006/main" noGrp="1"/>
          </p:cNvSpPr>
          <p:nvPr/>
        </p:nvSpPr>
        <p:spPr>
          <a:xfrm xmlns:a="http://schemas.openxmlformats.org/drawingml/2006/main">
            <a:off x="457200" y="5676900"/>
            <a:ext cx="11277600" cy="45720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57D87C1C-ED2E-4DEB-B9A0-C9A32C911E6E}"/>
              </a:ext>
            </a:extLst>
          </p:cNvPr>
          <p:cNvSpPr>
            <a:spLocks xmlns:a="http://schemas.openxmlformats.org/drawingml/2006/main" noGrp="1"/>
          </p:cNvSpPr>
          <p:nvPr/>
        </p:nvSpPr>
        <p:spPr>
          <a:xfrm xmlns:a="http://schemas.openxmlformats.org/drawingml/2006/main">
            <a:off x="590550" y="57912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{"title":"Demo kelas online","content":"Docker berjalan di cloud."}</a:t>
            </a:r>
          </a:p>
        </p:txBody>
      </p:sp>
      <p:sp>
        <p:nvSpPr>
          <p:cNvPr id="11" name="text_7">
            <a:extLst xmlns:a="http://schemas.openxmlformats.org/drawingml/2006/main">
              <a:ext uri="{FF2B5EF4-FFF2-40B4-BE49-F238E27FC236}">
                <a16:creationId xmlns:a16="http://schemas.microsoft.com/office/drawing/2014/main" id="{6A5EF26C-4BF8-4164-A177-C6B21D9C67CF}"/>
              </a:ext>
            </a:extLst>
          </p:cNvPr>
          <p:cNvSpPr>
            <a:spLocks xmlns:a="http://schemas.openxmlformats.org/drawingml/2006/main" noGrp="1"/>
          </p:cNvSpPr>
          <p:nvPr/>
        </p:nvSpPr>
        <p:spPr>
          <a:xfrm xmlns:a="http://schemas.openxmlformats.org/drawingml/2006/main">
            <a:off x="457200" y="62103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201 berarti catatan berhasil dibuat; simpan ID pada response untuk dibaca kembali.</a:t>
            </a:r>
          </a:p>
        </p:txBody>
      </p:sp>
      <p:sp>
        <p:nvSpPr>
          <p:cNvPr id="12" name="text_8">
            <a:extLst xmlns:a="http://schemas.openxmlformats.org/drawingml/2006/main">
              <a:ext uri="{FF2B5EF4-FFF2-40B4-BE49-F238E27FC236}">
                <a16:creationId xmlns:a16="http://schemas.microsoft.com/office/drawing/2014/main" id="{0BB566D0-EAFB-409E-B8E4-755FF91FDB78}"/>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50</a:t>
            </a:r>
          </a:p>
        </p:txBody>
      </p:sp>
    </p:spTree>
    <p:extLst>
      <p:ext uri="{BB962C8B-B14F-4D97-AF65-F5344CB8AC3E}">
        <p14:creationId xmlns:p14="http://schemas.microsoft.com/office/powerpoint/2010/main" val="324814267"/>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F478BC08-DFBF-4A73-A44A-4C6CF0818A9C}"/>
              </a:ext>
            </a:extLst>
          </p:cNvPr>
          <p:cNvPicPr>
            <a:picLocks xmlns:a="http://schemas.openxmlformats.org/drawingml/2006/main" noChangeAspect="1"/>
          </p:cNvPicPr>
          <p:nvPr/>
        </p:nvPicPr>
        <p:blipFill>
          <a:blip xmlns:r="http://schemas.openxmlformats.org/officeDocument/2006/relationships" xmlns:a="http://schemas.openxmlformats.org/drawingml/2006/main" r:embed="Rdcb3efe184de44ce"/>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702F0F3E-8C25-4E3B-B41B-8D8F505506AB}"/>
              </a:ext>
            </a:extLst>
          </p:cNvPr>
          <p:cNvPicPr>
            <a:picLocks xmlns:a="http://schemas.openxmlformats.org/drawingml/2006/main" noChangeAspect="1"/>
          </p:cNvPicPr>
          <p:nvPr/>
        </p:nvPicPr>
        <p:blipFill>
          <a:blip xmlns:r="http://schemas.openxmlformats.org/officeDocument/2006/relationships" xmlns:a="http://schemas.openxmlformats.org/drawingml/2006/main" r:embed="R650d530a01614899"/>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451D4ED3-EB3D-4347-A1CE-44C0C52053A9}"/>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Baca hasil yang baru dibuat</a:t>
            </a:r>
          </a:p>
        </p:txBody>
      </p:sp>
      <p:sp>
        <p:nvSpPr>
          <p:cNvPr id="4" name="text_1">
            <a:extLst xmlns:a="http://schemas.openxmlformats.org/drawingml/2006/main">
              <a:ext uri="{FF2B5EF4-FFF2-40B4-BE49-F238E27FC236}">
                <a16:creationId xmlns:a16="http://schemas.microsoft.com/office/drawing/2014/main" id="{FF1108C2-95DA-47A9-855A-794D325796D0}"/>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GET /notes → Try it out → Execute menampilkan daftar catatan.</a:t>
            </a:r>
          </a:p>
        </p:txBody>
      </p:sp>
      <p:sp>
        <p:nvSpPr>
          <p:cNvPr id="5" name="">
            <a:extLst xmlns:a="http://schemas.openxmlformats.org/drawingml/2006/main">
              <a:ext uri="{FF2B5EF4-FFF2-40B4-BE49-F238E27FC236}">
                <a16:creationId xmlns:a16="http://schemas.microsoft.com/office/drawing/2014/main" id="{3B42CE3D-59E4-461C-97F5-56537B199987}"/>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1AF7C6D-899B-4B5B-804C-B3D4DE5CC224}"/>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1E95E7C7-A6D7-4AF3-B770-D7E306378361}"/>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8D0E4ADD-9C4E-4D71-A05D-CCD9B90EBD1B}"/>
              </a:ext>
            </a:extLst>
          </p:cNvPr>
          <p:cNvPicPr>
            <a:picLocks xmlns:a="http://schemas.openxmlformats.org/drawingml/2006/main" noChangeAspect="1"/>
          </p:cNvPicPr>
          <p:nvPr/>
        </p:nvPicPr>
        <p:blipFill>
          <a:blip xmlns:r="http://schemas.openxmlformats.org/officeDocument/2006/relationships" xmlns:a="http://schemas.openxmlformats.org/drawingml/2006/main" r:embed="R9c444985a95a4f47"/>
          <a:stretch xmlns:a="http://schemas.openxmlformats.org/drawingml/2006/main"/>
        </p:blipFill>
        <p:spPr>
          <a:xfrm xmlns:a="http://schemas.openxmlformats.org/drawingml/2006/main">
            <a:off x="2029791" y="1457325"/>
            <a:ext cx="8132419" cy="41719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5BA386F8-13E3-4E21-A33A-AEE630492AB1}"/>
              </a:ext>
            </a:extLst>
          </p:cNvPr>
          <p:cNvSpPr>
            <a:spLocks xmlns:a="http://schemas.openxmlformats.org/drawingml/2006/main" noGrp="1"/>
          </p:cNvSpPr>
          <p:nvPr/>
        </p:nvSpPr>
        <p:spPr>
          <a:xfrm xmlns:a="http://schemas.openxmlformats.org/drawingml/2006/main">
            <a:off x="457200" y="5676900"/>
            <a:ext cx="11277600" cy="45720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378DEA3C-8485-4D57-850B-A31A9FE1B11E}"/>
              </a:ext>
            </a:extLst>
          </p:cNvPr>
          <p:cNvSpPr>
            <a:spLocks xmlns:a="http://schemas.openxmlformats.org/drawingml/2006/main" noGrp="1"/>
          </p:cNvSpPr>
          <p:nvPr/>
        </p:nvSpPr>
        <p:spPr>
          <a:xfrm xmlns:a="http://schemas.openxmlformats.org/drawingml/2006/main">
            <a:off x="590550" y="57912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curl -i http://127.0.0.1:8000/notes</a:t>
            </a:r>
          </a:p>
        </p:txBody>
      </p:sp>
      <p:sp>
        <p:nvSpPr>
          <p:cNvPr id="11" name="text_7">
            <a:extLst xmlns:a="http://schemas.openxmlformats.org/drawingml/2006/main">
              <a:ext uri="{FF2B5EF4-FFF2-40B4-BE49-F238E27FC236}">
                <a16:creationId xmlns:a16="http://schemas.microsoft.com/office/drawing/2014/main" id="{3162FCAD-41E9-4F8F-9D7F-4797C2C40351}"/>
              </a:ext>
            </a:extLst>
          </p:cNvPr>
          <p:cNvSpPr>
            <a:spLocks xmlns:a="http://schemas.openxmlformats.org/drawingml/2006/main" noGrp="1"/>
          </p:cNvSpPr>
          <p:nvPr/>
        </p:nvSpPr>
        <p:spPr>
          <a:xfrm xmlns:a="http://schemas.openxmlformats.org/drawingml/2006/main">
            <a:off x="457200" y="62103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GET 200 membuktikan data dibuat dan dibaca pada proses aplikasi yang sama.</a:t>
            </a:r>
          </a:p>
        </p:txBody>
      </p:sp>
      <p:sp>
        <p:nvSpPr>
          <p:cNvPr id="12" name="text_8">
            <a:extLst xmlns:a="http://schemas.openxmlformats.org/drawingml/2006/main">
              <a:ext uri="{FF2B5EF4-FFF2-40B4-BE49-F238E27FC236}">
                <a16:creationId xmlns:a16="http://schemas.microsoft.com/office/drawing/2014/main" id="{1F98F729-3D4F-4EA2-9AC3-4015A666C2BC}"/>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51</a:t>
            </a:r>
          </a:p>
        </p:txBody>
      </p:sp>
    </p:spTree>
    <p:extLst>
      <p:ext uri="{BB962C8B-B14F-4D97-AF65-F5344CB8AC3E}">
        <p14:creationId xmlns:p14="http://schemas.microsoft.com/office/powerpoint/2010/main" val="2131449709"/>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FF88C81C-4A38-4594-9B95-0E594402D34E}"/>
              </a:ext>
            </a:extLst>
          </p:cNvPr>
          <p:cNvPicPr>
            <a:picLocks xmlns:a="http://schemas.openxmlformats.org/drawingml/2006/main" noChangeAspect="1"/>
          </p:cNvPicPr>
          <p:nvPr/>
        </p:nvPicPr>
        <p:blipFill>
          <a:blip xmlns:r="http://schemas.openxmlformats.org/officeDocument/2006/relationships" xmlns:a="http://schemas.openxmlformats.org/drawingml/2006/main" r:embed="R150db419277d4d69"/>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539B64E9-E899-4EF8-8E14-5219C68AAEC8}"/>
              </a:ext>
            </a:extLst>
          </p:cNvPr>
          <p:cNvPicPr>
            <a:picLocks xmlns:a="http://schemas.openxmlformats.org/drawingml/2006/main" noChangeAspect="1"/>
          </p:cNvPicPr>
          <p:nvPr/>
        </p:nvPicPr>
        <p:blipFill>
          <a:blip xmlns:r="http://schemas.openxmlformats.org/officeDocument/2006/relationships" xmlns:a="http://schemas.openxmlformats.org/drawingml/2006/main" r:embed="R814843a49b4d4806"/>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98F00E58-E05F-41CC-93B4-866357239EE1}"/>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Pemeriksaan HTTP end to end</a:t>
            </a:r>
          </a:p>
        </p:txBody>
      </p:sp>
      <p:sp>
        <p:nvSpPr>
          <p:cNvPr id="4" name="text_1">
            <a:extLst xmlns:a="http://schemas.openxmlformats.org/drawingml/2006/main">
              <a:ext uri="{FF2B5EF4-FFF2-40B4-BE49-F238E27FC236}">
                <a16:creationId xmlns:a16="http://schemas.microsoft.com/office/drawing/2014/main" id="{10F9DE9A-7BCC-46DC-9F16-D880ACE516D9}"/>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Status container Up perlu dilengkapi pemeriksaan HTTP dan isi respons</a:t>
            </a:r>
          </a:p>
        </p:txBody>
      </p:sp>
      <p:sp>
        <p:nvSpPr>
          <p:cNvPr id="5" name="">
            <a:extLst xmlns:a="http://schemas.openxmlformats.org/drawingml/2006/main">
              <a:ext uri="{FF2B5EF4-FFF2-40B4-BE49-F238E27FC236}">
                <a16:creationId xmlns:a16="http://schemas.microsoft.com/office/drawing/2014/main" id="{B9A7E118-BADA-49FF-AA89-986A7441894A}"/>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2016C4E-FCE7-44FF-AA2A-B8D883A1EA4F}"/>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E0CAE977-4CDB-4953-A767-A7584A263F47}"/>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9A9A77D0-47CD-4A42-8EBE-9079F4275575}"/>
              </a:ext>
            </a:extLst>
          </p:cNvPr>
          <p:cNvPicPr>
            <a:picLocks xmlns:a="http://schemas.openxmlformats.org/drawingml/2006/main" noChangeAspect="1"/>
          </p:cNvPicPr>
          <p:nvPr/>
        </p:nvPicPr>
        <p:blipFill>
          <a:blip xmlns:r="http://schemas.openxmlformats.org/officeDocument/2006/relationships" xmlns:a="http://schemas.openxmlformats.org/drawingml/2006/main" r:embed="R7114aecd731f4496"/>
          <a:stretch xmlns:a="http://schemas.openxmlformats.org/drawingml/2006/main"/>
        </p:blipFill>
        <p:spPr>
          <a:xfrm xmlns:a="http://schemas.openxmlformats.org/drawingml/2006/main">
            <a:off x="2420981" y="1514475"/>
            <a:ext cx="7350038" cy="37719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DA930E95-F877-47EB-B1A8-E191858610BD}"/>
              </a:ext>
            </a:extLst>
          </p:cNvPr>
          <p:cNvSpPr>
            <a:spLocks xmlns:a="http://schemas.openxmlformats.org/drawingml/2006/main" noGrp="1"/>
          </p:cNvSpPr>
          <p:nvPr/>
        </p:nvSpPr>
        <p:spPr>
          <a:xfrm xmlns:a="http://schemas.openxmlformats.org/drawingml/2006/main">
            <a:off x="457200" y="5410200"/>
            <a:ext cx="11277600" cy="5524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0C8718A4-48FA-43E7-9AAC-1A247EF019E1}"/>
              </a:ext>
            </a:extLst>
          </p:cNvPr>
          <p:cNvSpPr>
            <a:spLocks xmlns:a="http://schemas.openxmlformats.org/drawingml/2006/main" noGrp="1"/>
          </p:cNvSpPr>
          <p:nvPr/>
        </p:nvSpPr>
        <p:spPr>
          <a:xfrm xmlns:a="http://schemas.openxmlformats.org/drawingml/2006/main">
            <a:off x="590550" y="5524500"/>
            <a:ext cx="11010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test</a:t>
            </a:r>
          </a:p>
        </p:txBody>
      </p:sp>
      <p:sp>
        <p:nvSpPr>
          <p:cNvPr id="11" name="text_7">
            <a:extLst xmlns:a="http://schemas.openxmlformats.org/drawingml/2006/main">
              <a:ext uri="{FF2B5EF4-FFF2-40B4-BE49-F238E27FC236}">
                <a16:creationId xmlns:a16="http://schemas.microsoft.com/office/drawing/2014/main" id="{E8BADC08-0690-43E9-A2B6-9646D975C3C8}"/>
              </a:ext>
            </a:extLst>
          </p:cNvPr>
          <p:cNvSpPr>
            <a:spLocks xmlns:a="http://schemas.openxmlformats.org/drawingml/2006/main" noGrp="1"/>
          </p:cNvSpPr>
          <p:nvPr/>
        </p:nvSpPr>
        <p:spPr>
          <a:xfrm xmlns:a="http://schemas.openxmlformats.org/drawingml/2006/main">
            <a:off x="457200" y="6115050"/>
            <a:ext cx="1127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defRPr sz="1650" b="0">
                <a:solidFill>
                  <a:srgbClr val="243746"/>
                </a:solidFill>
                <a:latin typeface="Calibri"/>
                <a:ea typeface="Calibri"/>
                <a:cs typeface="Calibri"/>
              </a:defRPr>
            </a:pPr>
            <a:r>
              <a:rPr sz="1650" b="0">
                <a:solidFill>
                  <a:srgbClr val="243746"/>
                </a:solidFill>
                <a:latin typeface="Calibri"/>
                <a:ea typeface="Calibri"/>
                <a:cs typeface="Calibri"/>
              </a:rPr>
              <a:t>200: baca/health · 201: catatan dibuat · 422: input ditolak · 404: ID tidak ada</a:t>
            </a:r>
          </a:p>
        </p:txBody>
      </p:sp>
      <p:sp>
        <p:nvSpPr>
          <p:cNvPr id="12" name="text_8">
            <a:extLst xmlns:a="http://schemas.openxmlformats.org/drawingml/2006/main">
              <a:ext uri="{FF2B5EF4-FFF2-40B4-BE49-F238E27FC236}">
                <a16:creationId xmlns:a16="http://schemas.microsoft.com/office/drawing/2014/main" id="{C52710E1-8F20-4A14-8D5F-AEA9CF6FB9C1}"/>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52</a:t>
            </a:r>
          </a:p>
        </p:txBody>
      </p:sp>
    </p:spTree>
    <p:extLst>
      <p:ext uri="{BB962C8B-B14F-4D97-AF65-F5344CB8AC3E}">
        <p14:creationId xmlns:p14="http://schemas.microsoft.com/office/powerpoint/2010/main" val="1921636409"/>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4DACFFE0-CDC2-417E-BD26-F4513D441E91}"/>
              </a:ext>
            </a:extLst>
          </p:cNvPr>
          <p:cNvPicPr>
            <a:picLocks xmlns:a="http://schemas.openxmlformats.org/drawingml/2006/main" noChangeAspect="1"/>
          </p:cNvPicPr>
          <p:nvPr/>
        </p:nvPicPr>
        <p:blipFill>
          <a:blip xmlns:r="http://schemas.openxmlformats.org/officeDocument/2006/relationships" xmlns:a="http://schemas.openxmlformats.org/drawingml/2006/main" r:embed="R476706651ac74c2b"/>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DE02A7B3-4896-4D37-A156-B54CD391DFF3}"/>
              </a:ext>
            </a:extLst>
          </p:cNvPr>
          <p:cNvPicPr>
            <a:picLocks xmlns:a="http://schemas.openxmlformats.org/drawingml/2006/main" noChangeAspect="1"/>
          </p:cNvPicPr>
          <p:nvPr/>
        </p:nvPicPr>
        <p:blipFill>
          <a:blip xmlns:r="http://schemas.openxmlformats.org/officeDocument/2006/relationships" xmlns:a="http://schemas.openxmlformats.org/drawingml/2006/main" r:embed="R7f906284e0a140b0"/>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9273ED8E-0596-475D-B336-EFA794631347}"/>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Data sementara dan penutupan demo</a:t>
            </a:r>
          </a:p>
        </p:txBody>
      </p:sp>
      <p:sp>
        <p:nvSpPr>
          <p:cNvPr id="4" name="text_1">
            <a:extLst xmlns:a="http://schemas.openxmlformats.org/drawingml/2006/main">
              <a:ext uri="{FF2B5EF4-FFF2-40B4-BE49-F238E27FC236}">
                <a16:creationId xmlns:a16="http://schemas.microsoft.com/office/drawing/2014/main" id="{44C6CEB8-44B2-492B-B5D4-742C9A898633}"/>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Restart proses menghapus catatan memori; hentikan Codespace setelah kelas</a:t>
            </a:r>
          </a:p>
        </p:txBody>
      </p:sp>
      <p:sp>
        <p:nvSpPr>
          <p:cNvPr id="5" name="">
            <a:extLst xmlns:a="http://schemas.openxmlformats.org/drawingml/2006/main">
              <a:ext uri="{FF2B5EF4-FFF2-40B4-BE49-F238E27FC236}">
                <a16:creationId xmlns:a16="http://schemas.microsoft.com/office/drawing/2014/main" id="{FD2A56F5-4985-4E0F-8450-6434CC03339D}"/>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CFE4703-F5ED-44A3-80CF-7D7DA0E1223E}"/>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6E99E776-068C-4CFA-9F1D-57A7BA552BAE}"/>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7C31B5B0-5A06-48D0-9296-9527F9FF0F32}"/>
              </a:ext>
            </a:extLst>
          </p:cNvPr>
          <p:cNvPicPr>
            <a:picLocks xmlns:a="http://schemas.openxmlformats.org/drawingml/2006/main" noChangeAspect="1"/>
          </p:cNvPicPr>
          <p:nvPr/>
        </p:nvPicPr>
        <p:blipFill>
          <a:blip xmlns:r="http://schemas.openxmlformats.org/officeDocument/2006/relationships" xmlns:a="http://schemas.openxmlformats.org/drawingml/2006/main" r:embed="Rf37e6c36fdfc4fc4"/>
          <a:srcRect xmlns:a="http://schemas.openxmlformats.org/drawingml/2006/main" l="13064" t="56507" r="2168" b="24087"/>
          <a:stretch xmlns:a="http://schemas.openxmlformats.org/drawingml/2006/main"/>
        </p:blipFill>
        <p:spPr>
          <a:xfrm xmlns:a="http://schemas.openxmlformats.org/drawingml/2006/main">
            <a:off x="457200" y="2185504"/>
            <a:ext cx="11277600" cy="1324943"/>
          </a:xfrm>
          <a:prstGeom xmlns:a="http://schemas.openxmlformats.org/drawingml/2006/main" prst="rect">
            <a:avLst/>
          </a:prstGeom>
        </p:spPr>
      </p:pic>
      <p:sp>
        <p:nvSpPr>
          <p:cNvPr id="9" name="text_5">
            <a:extLst xmlns:a="http://schemas.openxmlformats.org/drawingml/2006/main">
              <a:ext uri="{FF2B5EF4-FFF2-40B4-BE49-F238E27FC236}">
                <a16:creationId xmlns:a16="http://schemas.microsoft.com/office/drawing/2014/main" id="{EFDDB959-1559-4B3C-8666-FEBC9F041A3C}"/>
              </a:ext>
            </a:extLst>
          </p:cNvPr>
          <p:cNvSpPr>
            <a:spLocks xmlns:a="http://schemas.openxmlformats.org/drawingml/2006/main" noGrp="1"/>
          </p:cNvSpPr>
          <p:nvPr/>
        </p:nvSpPr>
        <p:spPr>
          <a:xfrm xmlns:a="http://schemas.openxmlformats.org/drawingml/2006/main">
            <a:off x="457200" y="4324350"/>
            <a:ext cx="11277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1">
                <a:solidFill>
                  <a:srgbClr val="052877"/>
                </a:solidFill>
                <a:latin typeface="Calibri"/>
                <a:ea typeface="Calibri"/>
                <a:cs typeface="Calibri"/>
              </a:defRPr>
            </a:defPPr>
          </a:lstStyle>
          <a:p xmlns:a="http://schemas.openxmlformats.org/drawingml/2006/main">
            <a:pPr>
              <a:defRPr sz="1725" b="1">
                <a:solidFill>
                  <a:srgbClr val="052877"/>
                </a:solidFill>
                <a:latin typeface="Calibri"/>
                <a:ea typeface="Calibri"/>
                <a:cs typeface="Calibri"/>
              </a:defRPr>
            </a:pPr>
            <a:r>
              <a:rPr sz="1725" b="1">
                <a:solidFill>
                  <a:srgbClr val="052877"/>
                </a:solidFill>
                <a:latin typeface="Calibri"/>
                <a:ea typeface="Calibri"/>
                <a:cs typeface="Calibri"/>
              </a:rPr>
              <a:t>API menyimpan dict Python dalam memori. Restart proses menghasilkan daftar kosong [].</a:t>
            </a:r>
          </a:p>
        </p:txBody>
      </p:sp>
      <p:sp>
        <p:nvSpPr>
          <p:cNvPr id="10" name="text_6">
            <a:extLst xmlns:a="http://schemas.openxmlformats.org/drawingml/2006/main">
              <a:ext uri="{FF2B5EF4-FFF2-40B4-BE49-F238E27FC236}">
                <a16:creationId xmlns:a16="http://schemas.microsoft.com/office/drawing/2014/main" id="{555D89DF-2F42-42D1-90B2-A4D209B682D2}"/>
              </a:ext>
            </a:extLst>
          </p:cNvPr>
          <p:cNvSpPr>
            <a:spLocks xmlns:a="http://schemas.openxmlformats.org/drawingml/2006/main" noGrp="1"/>
          </p:cNvSpPr>
          <p:nvPr/>
        </p:nvSpPr>
        <p:spPr>
          <a:xfrm xmlns:a="http://schemas.openxmlformats.org/drawingml/2006/main">
            <a:off x="457200" y="4772025"/>
            <a:ext cx="11277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243746"/>
                </a:solidFill>
                <a:latin typeface="Calibri"/>
                <a:ea typeface="Calibri"/>
                <a:cs typeface="Calibri"/>
              </a:defRPr>
            </a:defPPr>
          </a:lstStyle>
          <a:p xmlns:a="http://schemas.openxmlformats.org/drawingml/2006/main">
            <a:pPr>
              <a:defRPr sz="1575" b="0">
                <a:solidFill>
                  <a:srgbClr val="243746"/>
                </a:solidFill>
                <a:latin typeface="Calibri"/>
                <a:ea typeface="Calibri"/>
                <a:cs typeface="Calibri"/>
              </a:defRPr>
            </a:pPr>
            <a:r>
              <a:rPr sz="1575" b="0">
                <a:solidFill>
                  <a:srgbClr val="243746"/>
                </a:solidFill>
                <a:latin typeface="Calibri"/>
                <a:ea typeface="Calibri"/>
                <a:cs typeface="Calibri"/>
              </a:rPr>
              <a:t>Volume saja belum membuat data persisten. Lab 06 menambahkan database.</a:t>
            </a:r>
          </a:p>
          <a:p xmlns:a="http://schemas.openxmlformats.org/drawingml/2006/main">
            <a:pPr>
              <a:defRPr sz="1575" b="0">
                <a:solidFill>
                  <a:srgbClr val="243746"/>
                </a:solidFill>
                <a:latin typeface="Calibri"/>
                <a:ea typeface="Calibri"/>
                <a:cs typeface="Calibri"/>
              </a:defRPr>
            </a:pPr>
            <a:r>
              <a:rPr sz="1575" b="0">
                <a:solidFill>
                  <a:srgbClr val="243746"/>
                </a:solidFill>
                <a:latin typeface="Calibri"/>
                <a:ea typeface="Calibri"/>
                <a:cs typeface="Calibri"/>
              </a:rPr>
              <a:t>stop menghapus container demo; Stop Codespace menghentikan mesin compute.</a:t>
            </a:r>
          </a:p>
        </p:txBody>
      </p:sp>
      <p:sp>
        <p:nvSpPr>
          <p:cNvPr id="11" name="">
            <a:extLst xmlns:a="http://schemas.openxmlformats.org/drawingml/2006/main">
              <a:ext uri="{FF2B5EF4-FFF2-40B4-BE49-F238E27FC236}">
                <a16:creationId xmlns:a16="http://schemas.microsoft.com/office/drawing/2014/main" id="{4E591D73-A65D-4F49-83F7-8BEDA8E5A85E}"/>
              </a:ext>
            </a:extLst>
          </p:cNvPr>
          <p:cNvSpPr>
            <a:spLocks xmlns:a="http://schemas.openxmlformats.org/drawingml/2006/main" noGrp="1"/>
          </p:cNvSpPr>
          <p:nvPr/>
        </p:nvSpPr>
        <p:spPr>
          <a:xfrm xmlns:a="http://schemas.openxmlformats.org/drawingml/2006/main">
            <a:off x="457200" y="5391150"/>
            <a:ext cx="11277600" cy="6667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2" name="text_8">
            <a:extLst xmlns:a="http://schemas.openxmlformats.org/drawingml/2006/main">
              <a:ext uri="{FF2B5EF4-FFF2-40B4-BE49-F238E27FC236}">
                <a16:creationId xmlns:a16="http://schemas.microsoft.com/office/drawing/2014/main" id="{77A76E65-B28A-4500-986D-151A77C81AFC}"/>
              </a:ext>
            </a:extLst>
          </p:cNvPr>
          <p:cNvSpPr>
            <a:spLocks xmlns:a="http://schemas.openxmlformats.org/drawingml/2006/main" noGrp="1"/>
          </p:cNvSpPr>
          <p:nvPr/>
        </p:nvSpPr>
        <p:spPr>
          <a:xfrm xmlns:a="http://schemas.openxmlformats.org/drawingml/2006/main">
            <a:off x="590550" y="5505450"/>
            <a:ext cx="11010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test --restart</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stop</a:t>
            </a:r>
          </a:p>
        </p:txBody>
      </p:sp>
      <p:sp>
        <p:nvSpPr>
          <p:cNvPr id="13" name="text_9">
            <a:extLst xmlns:a="http://schemas.openxmlformats.org/drawingml/2006/main">
              <a:ext uri="{FF2B5EF4-FFF2-40B4-BE49-F238E27FC236}">
                <a16:creationId xmlns:a16="http://schemas.microsoft.com/office/drawing/2014/main" id="{53D1AFB0-CA30-4CE0-A908-3749D1F116E6}"/>
              </a:ext>
            </a:extLst>
          </p:cNvPr>
          <p:cNvSpPr>
            <a:spLocks xmlns:a="http://schemas.openxmlformats.org/drawingml/2006/main" noGrp="1"/>
          </p:cNvSpPr>
          <p:nvPr/>
        </p:nvSpPr>
        <p:spPr>
          <a:xfrm xmlns:a="http://schemas.openxmlformats.org/drawingml/2006/main">
            <a:off x="457200" y="6143625"/>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F97316"/>
                </a:solidFill>
                <a:latin typeface="Calibri"/>
                <a:ea typeface="Calibri"/>
                <a:cs typeface="Calibri"/>
              </a:defRPr>
            </a:defPPr>
          </a:lstStyle>
          <a:p xmlns:a="http://schemas.openxmlformats.org/drawingml/2006/main">
            <a:pPr>
              <a:defRPr sz="1575" b="1">
                <a:solidFill>
                  <a:srgbClr val="F97316"/>
                </a:solidFill>
                <a:latin typeface="Calibri"/>
                <a:ea typeface="Calibri"/>
                <a:cs typeface="Calibri"/>
              </a:defRPr>
            </a:pPr>
            <a:r>
              <a:rPr sz="1575" b="1">
                <a:solidFill>
                  <a:srgbClr val="F97316"/>
                </a:solidFill>
                <a:latin typeface="Calibri"/>
                <a:ea typeface="Calibri"/>
                <a:cs typeface="Calibri"/>
              </a:rPr>
              <a:t>Kuota gratis terbatas; storage tetap dihitung saat Codespace disimpan.</a:t>
            </a:r>
          </a:p>
        </p:txBody>
      </p:sp>
      <p:sp>
        <p:nvSpPr>
          <p:cNvPr id="14" name="text_10">
            <a:extLst xmlns:a="http://schemas.openxmlformats.org/drawingml/2006/main">
              <a:ext uri="{FF2B5EF4-FFF2-40B4-BE49-F238E27FC236}">
                <a16:creationId xmlns:a16="http://schemas.microsoft.com/office/drawing/2014/main" id="{B5DC7799-F358-4BE6-9AD6-EAAEA6FA8133}"/>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53</a:t>
            </a:r>
          </a:p>
        </p:txBody>
      </p:sp>
    </p:spTree>
    <p:extLst>
      <p:ext uri="{BB962C8B-B14F-4D97-AF65-F5344CB8AC3E}">
        <p14:creationId xmlns:p14="http://schemas.microsoft.com/office/powerpoint/2010/main" val="287352344"/>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F5747FE9-78C3-4D47-BCCA-1CBA17D75941}"/>
              </a:ext>
            </a:extLst>
          </p:cNvPr>
          <p:cNvPicPr>
            <a:picLocks xmlns:a="http://schemas.openxmlformats.org/drawingml/2006/main" noChangeAspect="1"/>
          </p:cNvPicPr>
          <p:nvPr/>
        </p:nvPicPr>
        <p:blipFill>
          <a:blip xmlns:r="http://schemas.openxmlformats.org/officeDocument/2006/relationships" xmlns:a="http://schemas.openxmlformats.org/drawingml/2006/main" r:embed="R39f4596e71de4464"/>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ABE016C0-24B7-4ECC-9D61-96F2EA5A5383}"/>
              </a:ext>
            </a:extLst>
          </p:cNvPr>
          <p:cNvPicPr>
            <a:picLocks xmlns:a="http://schemas.openxmlformats.org/drawingml/2006/main" noChangeAspect="1"/>
          </p:cNvPicPr>
          <p:nvPr/>
        </p:nvPicPr>
        <p:blipFill>
          <a:blip xmlns:r="http://schemas.openxmlformats.org/officeDocument/2006/relationships" xmlns:a="http://schemas.openxmlformats.org/drawingml/2006/main" r:embed="R34bcf2d191ef4015"/>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29D72507-AA52-452A-9BFC-8577AEC33607}"/>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Bersihkan container demo sendiri</a:t>
            </a:r>
          </a:p>
        </p:txBody>
      </p:sp>
      <p:sp>
        <p:nvSpPr>
          <p:cNvPr id="4" name="text_1">
            <a:extLst xmlns:a="http://schemas.openxmlformats.org/drawingml/2006/main">
              <a:ext uri="{FF2B5EF4-FFF2-40B4-BE49-F238E27FC236}">
                <a16:creationId xmlns:a16="http://schemas.microsoft.com/office/drawing/2014/main" id="{43F82B57-A6C1-4D8E-B53E-19340B79FA59}"/>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Hapus container latihan setelah catatan dummy tidak lagi diperlukan.</a:t>
            </a:r>
          </a:p>
        </p:txBody>
      </p:sp>
      <p:sp>
        <p:nvSpPr>
          <p:cNvPr id="5" name="">
            <a:extLst xmlns:a="http://schemas.openxmlformats.org/drawingml/2006/main">
              <a:ext uri="{FF2B5EF4-FFF2-40B4-BE49-F238E27FC236}">
                <a16:creationId xmlns:a16="http://schemas.microsoft.com/office/drawing/2014/main" id="{2DE29308-4152-4644-B07A-E38E514CEE22}"/>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98569F6-C5D6-4E5E-BEF5-D67DCB1C56F0}"/>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02865704-E763-442E-9E7A-809C9A77E691}"/>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04D0C7E5-08D8-4A37-BF00-FDDEEC0304E7}"/>
              </a:ext>
            </a:extLst>
          </p:cNvPr>
          <p:cNvPicPr>
            <a:picLocks xmlns:a="http://schemas.openxmlformats.org/drawingml/2006/main" noChangeAspect="1"/>
          </p:cNvPicPr>
          <p:nvPr/>
        </p:nvPicPr>
        <p:blipFill>
          <a:blip xmlns:r="http://schemas.openxmlformats.org/officeDocument/2006/relationships" xmlns:a="http://schemas.openxmlformats.org/drawingml/2006/main" r:embed="Rd035fcc8bf8f4e05"/>
          <a:srcRect xmlns:a="http://schemas.openxmlformats.org/drawingml/2006/main" l="13064" t="6849" r="29701" b="75457"/>
          <a:stretch xmlns:a="http://schemas.openxmlformats.org/drawingml/2006/main"/>
        </p:blipFill>
        <p:spPr>
          <a:xfrm xmlns:a="http://schemas.openxmlformats.org/drawingml/2006/main">
            <a:off x="457200" y="2648710"/>
            <a:ext cx="11277600" cy="1789179"/>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C6804B29-5F42-460E-98AA-C67A499160AF}"/>
              </a:ext>
            </a:extLst>
          </p:cNvPr>
          <p:cNvSpPr>
            <a:spLocks xmlns:a="http://schemas.openxmlformats.org/drawingml/2006/main" noGrp="1"/>
          </p:cNvSpPr>
          <p:nvPr/>
        </p:nvSpPr>
        <p:spPr>
          <a:xfrm xmlns:a="http://schemas.openxmlformats.org/drawingml/2006/main">
            <a:off x="457200" y="5676900"/>
            <a:ext cx="11277600" cy="45720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AF939EF9-6A03-4C9B-B28A-B46803A72400}"/>
              </a:ext>
            </a:extLst>
          </p:cNvPr>
          <p:cNvSpPr>
            <a:spLocks xmlns:a="http://schemas.openxmlformats.org/drawingml/2006/main" noGrp="1"/>
          </p:cNvSpPr>
          <p:nvPr/>
        </p:nvSpPr>
        <p:spPr>
          <a:xfrm xmlns:a="http://schemas.openxmlformats.org/drawingml/2006/main">
            <a:off x="590550" y="57912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stop</a:t>
            </a:r>
          </a:p>
        </p:txBody>
      </p:sp>
      <p:sp>
        <p:nvSpPr>
          <p:cNvPr id="11" name="text_7">
            <a:extLst xmlns:a="http://schemas.openxmlformats.org/drawingml/2006/main">
              <a:ext uri="{FF2B5EF4-FFF2-40B4-BE49-F238E27FC236}">
                <a16:creationId xmlns:a16="http://schemas.microsoft.com/office/drawing/2014/main" id="{8939A9A3-662F-4D83-8A03-6041563F6627}"/>
              </a:ext>
            </a:extLst>
          </p:cNvPr>
          <p:cNvSpPr>
            <a:spLocks xmlns:a="http://schemas.openxmlformats.org/drawingml/2006/main" noGrp="1"/>
          </p:cNvSpPr>
          <p:nvPr/>
        </p:nvSpPr>
        <p:spPr>
          <a:xfrm xmlns:a="http://schemas.openxmlformats.org/drawingml/2006/main">
            <a:off x="457200" y="62103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Container demo dihapus; image tetap ada dan dapat dipakai membuat container lagi.</a:t>
            </a:r>
          </a:p>
        </p:txBody>
      </p:sp>
      <p:sp>
        <p:nvSpPr>
          <p:cNvPr id="12" name="text_8">
            <a:extLst xmlns:a="http://schemas.openxmlformats.org/drawingml/2006/main">
              <a:ext uri="{FF2B5EF4-FFF2-40B4-BE49-F238E27FC236}">
                <a16:creationId xmlns:a16="http://schemas.microsoft.com/office/drawing/2014/main" id="{72ACA55B-D12F-4F0B-9D17-1B868F0497F5}"/>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54</a:t>
            </a:r>
          </a:p>
        </p:txBody>
      </p:sp>
    </p:spTree>
    <p:extLst>
      <p:ext uri="{BB962C8B-B14F-4D97-AF65-F5344CB8AC3E}">
        <p14:creationId xmlns:p14="http://schemas.microsoft.com/office/powerpoint/2010/main" val="69574874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51A3A1D6-BC7F-47B9-949B-A7C98B807260}"/>
              </a:ext>
            </a:extLst>
          </p:cNvPr>
          <p:cNvPicPr>
            <a:picLocks xmlns:a="http://schemas.openxmlformats.org/drawingml/2006/main" noChangeAspect="1"/>
          </p:cNvPicPr>
          <p:nvPr/>
        </p:nvPicPr>
        <p:blipFill>
          <a:blip xmlns:r="http://schemas.openxmlformats.org/officeDocument/2006/relationships" xmlns:a="http://schemas.openxmlformats.org/drawingml/2006/main" r:embed="Rb68646fda66f4339"/>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4F96B333-6607-4BC4-BAB5-2C9197191FF1}"/>
              </a:ext>
            </a:extLst>
          </p:cNvPr>
          <p:cNvPicPr>
            <a:picLocks xmlns:a="http://schemas.openxmlformats.org/drawingml/2006/main" noChangeAspect="1"/>
          </p:cNvPicPr>
          <p:nvPr/>
        </p:nvPicPr>
        <p:blipFill>
          <a:blip xmlns:r="http://schemas.openxmlformats.org/officeDocument/2006/relationships" xmlns:a="http://schemas.openxmlformats.org/drawingml/2006/main" r:embed="Rca42216b50bf44a3"/>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DE31E36E-0FDF-4A15-92B4-6365D518C862}"/>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Stop Codespace setelah kelas</a:t>
            </a:r>
          </a:p>
        </p:txBody>
      </p:sp>
      <p:sp>
        <p:nvSpPr>
          <p:cNvPr id="4" name="text_1">
            <a:extLst xmlns:a="http://schemas.openxmlformats.org/drawingml/2006/main">
              <a:ext uri="{FF2B5EF4-FFF2-40B4-BE49-F238E27FC236}">
                <a16:creationId xmlns:a16="http://schemas.microsoft.com/office/drawing/2014/main" id="{955F4C13-8D03-4170-BE5E-AEF5909FE7C0}"/>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Di github.com/codespaces: menu … pada lingkungan kelas → Stop codespace.</a:t>
            </a:r>
          </a:p>
        </p:txBody>
      </p:sp>
      <p:sp>
        <p:nvSpPr>
          <p:cNvPr id="5" name="">
            <a:extLst xmlns:a="http://schemas.openxmlformats.org/drawingml/2006/main">
              <a:ext uri="{FF2B5EF4-FFF2-40B4-BE49-F238E27FC236}">
                <a16:creationId xmlns:a16="http://schemas.microsoft.com/office/drawing/2014/main" id="{7BA0A021-1665-4304-B959-D6A0F850DE49}"/>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62697A9-C32D-41B3-957D-49E87E0EC3ED}"/>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108E1666-D8AA-4543-B3EB-B5AA7886E376}"/>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420EAA9F-CE40-4BFC-91BE-8066BF56A956}"/>
              </a:ext>
            </a:extLst>
          </p:cNvPr>
          <p:cNvPicPr>
            <a:picLocks xmlns:a="http://schemas.openxmlformats.org/drawingml/2006/main" noChangeAspect="1"/>
          </p:cNvPicPr>
          <p:nvPr/>
        </p:nvPicPr>
        <p:blipFill>
          <a:blip xmlns:r="http://schemas.openxmlformats.org/officeDocument/2006/relationships" xmlns:a="http://schemas.openxmlformats.org/drawingml/2006/main" r:embed="R1e560eb0028a48ab"/>
          <a:stretch xmlns:a="http://schemas.openxmlformats.org/drawingml/2006/main"/>
        </p:blipFill>
        <p:spPr>
          <a:xfrm xmlns:a="http://schemas.openxmlformats.org/drawingml/2006/main">
            <a:off x="2029791" y="1457325"/>
            <a:ext cx="8132419" cy="41719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56F70A5F-FF19-40C9-932B-FBE206F725AB}"/>
              </a:ext>
            </a:extLst>
          </p:cNvPr>
          <p:cNvSpPr>
            <a:spLocks xmlns:a="http://schemas.openxmlformats.org/drawingml/2006/main" noGrp="1"/>
          </p:cNvSpPr>
          <p:nvPr/>
        </p:nvSpPr>
        <p:spPr>
          <a:xfrm xmlns:a="http://schemas.openxmlformats.org/drawingml/2006/main">
            <a:off x="457200" y="5676900"/>
            <a:ext cx="11277600" cy="45720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4AAF408F-2A7D-4A0B-BC35-48F884662459}"/>
              </a:ext>
            </a:extLst>
          </p:cNvPr>
          <p:cNvSpPr>
            <a:spLocks xmlns:a="http://schemas.openxmlformats.org/drawingml/2006/main" noGrp="1"/>
          </p:cNvSpPr>
          <p:nvPr/>
        </p:nvSpPr>
        <p:spPr>
          <a:xfrm xmlns:a="http://schemas.openxmlformats.org/drawingml/2006/main">
            <a:off x="590550" y="57912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github.com/codespaces → lingkungan kelas → … → Stop codespace</a:t>
            </a:r>
          </a:p>
        </p:txBody>
      </p:sp>
      <p:sp>
        <p:nvSpPr>
          <p:cNvPr id="11" name="text_7">
            <a:extLst xmlns:a="http://schemas.openxmlformats.org/drawingml/2006/main">
              <a:ext uri="{FF2B5EF4-FFF2-40B4-BE49-F238E27FC236}">
                <a16:creationId xmlns:a16="http://schemas.microsoft.com/office/drawing/2014/main" id="{AD00AF83-79D2-465D-A0FB-ABCD2BA3F023}"/>
              </a:ext>
            </a:extLst>
          </p:cNvPr>
          <p:cNvSpPr>
            <a:spLocks xmlns:a="http://schemas.openxmlformats.org/drawingml/2006/main" noGrp="1"/>
          </p:cNvSpPr>
          <p:nvPr/>
        </p:nvSpPr>
        <p:spPr>
          <a:xfrm xmlns:a="http://schemas.openxmlformats.org/drawingml/2006/main">
            <a:off x="457200" y="62103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Stopped menghentikan compute; storage masih dihitung selama Codespace disimpan.</a:t>
            </a:r>
          </a:p>
        </p:txBody>
      </p:sp>
      <p:sp>
        <p:nvSpPr>
          <p:cNvPr id="12" name="text_8">
            <a:extLst xmlns:a="http://schemas.openxmlformats.org/drawingml/2006/main">
              <a:ext uri="{FF2B5EF4-FFF2-40B4-BE49-F238E27FC236}">
                <a16:creationId xmlns:a16="http://schemas.microsoft.com/office/drawing/2014/main" id="{98F1CA8A-EF9B-419E-8B07-B1F7FD32CCC6}"/>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55</a:t>
            </a:r>
          </a:p>
        </p:txBody>
      </p:sp>
    </p:spTree>
    <p:extLst>
      <p:ext uri="{BB962C8B-B14F-4D97-AF65-F5344CB8AC3E}">
        <p14:creationId xmlns:p14="http://schemas.microsoft.com/office/powerpoint/2010/main" val="86953901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2026-10-08T01:47:05.8720000Z</dcterms:created>
  <dcterms:modified xsi:type="dcterms:W3CDTF">2026-10-08T01:47:05.8720000Z</dcterms:modified>
</coreProperties>
</file>