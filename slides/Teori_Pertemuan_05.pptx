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1b76c2819e447d" /><Relationship Type="http://schemas.openxmlformats.org/officeDocument/2006/relationships/extended-properties" Target="/docProps/app.xml" Id="R6ee0ef81cd7e4625" /><Relationship Type="http://schemas.openxmlformats.org/officeDocument/2006/relationships/officeDocument" Target="/ppt/presentation.xml" Id="R0fe6497a98bf49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8851256e5e42b5"/>
  </p:sldMasterIdLst>
  <p:notesMasterIdLst>
    <p:notesMasterId xmlns:r="http://schemas.openxmlformats.org/officeDocument/2006/relationships" r:id="Rc0e5904c4a044ad4"/>
  </p:notesMasterIdLst>
  <p:sldIdLst>
    <p:sldId xmlns:r="http://schemas.openxmlformats.org/officeDocument/2006/relationships" id="256" r:id="R847d78cc67b341c5"/>
    <p:sldId xmlns:r="http://schemas.openxmlformats.org/officeDocument/2006/relationships" id="257" r:id="Rb024b3cfcff44499"/>
    <p:sldId xmlns:r="http://schemas.openxmlformats.org/officeDocument/2006/relationships" id="258" r:id="R41f4026a1cd140c0"/>
    <p:sldId xmlns:r="http://schemas.openxmlformats.org/officeDocument/2006/relationships" id="259" r:id="R1f8e52eabb46479e"/>
    <p:sldId xmlns:r="http://schemas.openxmlformats.org/officeDocument/2006/relationships" id="260" r:id="Rcb7f2d992fc54b9f"/>
    <p:sldId xmlns:r="http://schemas.openxmlformats.org/officeDocument/2006/relationships" id="261" r:id="R1df79c658a394e75"/>
    <p:sldId xmlns:r="http://schemas.openxmlformats.org/officeDocument/2006/relationships" id="262" r:id="R2919e420d06b4859"/>
    <p:sldId xmlns:r="http://schemas.openxmlformats.org/officeDocument/2006/relationships" id="263" r:id="Rfbf56eaeb3424c00"/>
    <p:sldId xmlns:r="http://schemas.openxmlformats.org/officeDocument/2006/relationships" id="264" r:id="Rc7e2003acae14db2"/>
    <p:sldId xmlns:r="http://schemas.openxmlformats.org/officeDocument/2006/relationships" id="265" r:id="R8e789491d4ec47a0"/>
    <p:sldId xmlns:r="http://schemas.openxmlformats.org/officeDocument/2006/relationships" id="266" r:id="R7d5d2e61e9b6474f"/>
    <p:sldId xmlns:r="http://schemas.openxmlformats.org/officeDocument/2006/relationships" id="267" r:id="Rb71d55c9c5f64bcb"/>
    <p:sldId xmlns:r="http://schemas.openxmlformats.org/officeDocument/2006/relationships" id="268" r:id="R5008a79f6dde473f"/>
    <p:sldId xmlns:r="http://schemas.openxmlformats.org/officeDocument/2006/relationships" id="269" r:id="R203275035ac54405"/>
    <p:sldId xmlns:r="http://schemas.openxmlformats.org/officeDocument/2006/relationships" id="270" r:id="R226f65c1ecba484d"/>
    <p:sldId xmlns:r="http://schemas.openxmlformats.org/officeDocument/2006/relationships" id="271" r:id="R7f2c3e6a03244335"/>
    <p:sldId xmlns:r="http://schemas.openxmlformats.org/officeDocument/2006/relationships" id="272" r:id="Re5150eba612b4439"/>
    <p:sldId xmlns:r="http://schemas.openxmlformats.org/officeDocument/2006/relationships" id="273" r:id="R16aa6006ec5645ce"/>
    <p:sldId xmlns:r="http://schemas.openxmlformats.org/officeDocument/2006/relationships" id="274" r:id="Ra2bc75d51dea4e8a"/>
    <p:sldId xmlns:r="http://schemas.openxmlformats.org/officeDocument/2006/relationships" id="275" r:id="R7024d9d2a2014ae2"/>
    <p:sldId xmlns:r="http://schemas.openxmlformats.org/officeDocument/2006/relationships" id="276" r:id="R0981ae90ade041bf"/>
    <p:sldId xmlns:r="http://schemas.openxmlformats.org/officeDocument/2006/relationships" id="277" r:id="R9257f4919ebc4f43"/>
    <p:sldId xmlns:r="http://schemas.openxmlformats.org/officeDocument/2006/relationships" id="278" r:id="R9bb97ffa1ebe483f"/>
    <p:sldId xmlns:r="http://schemas.openxmlformats.org/officeDocument/2006/relationships" id="279" r:id="Re0ce15037aad4c8d"/>
    <p:sldId xmlns:r="http://schemas.openxmlformats.org/officeDocument/2006/relationships" id="280" r:id="Rc04de8881a914804"/>
    <p:sldId xmlns:r="http://schemas.openxmlformats.org/officeDocument/2006/relationships" id="281" r:id="R7627da13efe243d9"/>
    <p:sldId xmlns:r="http://schemas.openxmlformats.org/officeDocument/2006/relationships" id="282" r:id="R4a78a41e0da044a4"/>
    <p:sldId xmlns:r="http://schemas.openxmlformats.org/officeDocument/2006/relationships" id="283" r:id="R1267730d7a154cc1"/>
    <p:sldId xmlns:r="http://schemas.openxmlformats.org/officeDocument/2006/relationships" id="284" r:id="R96fc20cffd0c410b"/>
    <p:sldId xmlns:r="http://schemas.openxmlformats.org/officeDocument/2006/relationships" id="285" r:id="R2e54955ce97e4f88"/>
    <p:sldId xmlns:r="http://schemas.openxmlformats.org/officeDocument/2006/relationships" id="286" r:id="Rd8a8ac862bef4497"/>
    <p:sldId xmlns:r="http://schemas.openxmlformats.org/officeDocument/2006/relationships" id="287" r:id="R82c401b403344425"/>
    <p:sldId xmlns:r="http://schemas.openxmlformats.org/officeDocument/2006/relationships" id="288" r:id="R49b40544cfdf4136"/>
    <p:sldId xmlns:r="http://schemas.openxmlformats.org/officeDocument/2006/relationships" id="289" r:id="R15d9a1339fd74f15"/>
    <p:sldId xmlns:r="http://schemas.openxmlformats.org/officeDocument/2006/relationships" id="290" r:id="Rba625e0995ed4678"/>
    <p:sldId xmlns:r="http://schemas.openxmlformats.org/officeDocument/2006/relationships" id="291" r:id="R7beb81d9557d4a7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dbd23424934342" /><Relationship Type="http://schemas.openxmlformats.org/officeDocument/2006/relationships/slideMaster" Target="/ppt/slideMasters/slideMaster1.xml" Id="R498851256e5e42b5" /><Relationship Type="http://schemas.openxmlformats.org/officeDocument/2006/relationships/notesMaster" Target="/ppt/notesMasters/notesMaster1.xml" Id="Rc0e5904c4a044ad4" /><Relationship Type="http://schemas.openxmlformats.org/officeDocument/2006/relationships/presProps" Target="/ppt/presProps.xml" Id="R7d78f8f8064b4d9c" /><Relationship Type="http://schemas.openxmlformats.org/officeDocument/2006/relationships/viewProps" Target="/ppt/viewProps.xml" Id="Rb8f996d8f71f4b7f" /><Relationship Type="http://schemas.openxmlformats.org/officeDocument/2006/relationships/tableStyles" Target="/ppt/tableStyles.xml" Id="Rc4ada9dac9474bbc" /><Relationship Type="http://schemas.openxmlformats.org/officeDocument/2006/relationships/slide" Target="/ppt/slides/slide1.xml" Id="R847d78cc67b341c5" /><Relationship Type="http://schemas.openxmlformats.org/officeDocument/2006/relationships/slide" Target="/ppt/slides/slide2.xml" Id="Rb024b3cfcff44499" /><Relationship Type="http://schemas.openxmlformats.org/officeDocument/2006/relationships/slide" Target="/ppt/slides/slide3.xml" Id="R41f4026a1cd140c0" /><Relationship Type="http://schemas.openxmlformats.org/officeDocument/2006/relationships/slide" Target="/ppt/slides/slide4.xml" Id="R1f8e52eabb46479e" /><Relationship Type="http://schemas.openxmlformats.org/officeDocument/2006/relationships/slide" Target="/ppt/slides/slide5.xml" Id="Rcb7f2d992fc54b9f" /><Relationship Type="http://schemas.openxmlformats.org/officeDocument/2006/relationships/slide" Target="/ppt/slides/slide6.xml" Id="R1df79c658a394e75" /><Relationship Type="http://schemas.openxmlformats.org/officeDocument/2006/relationships/slide" Target="/ppt/slides/slide7.xml" Id="R2919e420d06b4859" /><Relationship Type="http://schemas.openxmlformats.org/officeDocument/2006/relationships/slide" Target="/ppt/slides/slide8.xml" Id="Rfbf56eaeb3424c00" /><Relationship Type="http://schemas.openxmlformats.org/officeDocument/2006/relationships/slide" Target="/ppt/slides/slide9.xml" Id="Rc7e2003acae14db2" /><Relationship Type="http://schemas.openxmlformats.org/officeDocument/2006/relationships/slide" Target="/ppt/slides/slide10.xml" Id="R8e789491d4ec47a0" /><Relationship Type="http://schemas.openxmlformats.org/officeDocument/2006/relationships/slide" Target="/ppt/slides/slide11.xml" Id="R7d5d2e61e9b6474f" /><Relationship Type="http://schemas.openxmlformats.org/officeDocument/2006/relationships/slide" Target="/ppt/slides/slide12.xml" Id="Rb71d55c9c5f64bcb" /><Relationship Type="http://schemas.openxmlformats.org/officeDocument/2006/relationships/slide" Target="/ppt/slides/slide13.xml" Id="R5008a79f6dde473f" /><Relationship Type="http://schemas.openxmlformats.org/officeDocument/2006/relationships/slide" Target="/ppt/slides/slide14.xml" Id="R203275035ac54405" /><Relationship Type="http://schemas.openxmlformats.org/officeDocument/2006/relationships/slide" Target="/ppt/slides/slide15.xml" Id="R226f65c1ecba484d" /><Relationship Type="http://schemas.openxmlformats.org/officeDocument/2006/relationships/slide" Target="/ppt/slides/slide16.xml" Id="R7f2c3e6a03244335" /><Relationship Type="http://schemas.openxmlformats.org/officeDocument/2006/relationships/slide" Target="/ppt/slides/slide17.xml" Id="Re5150eba612b4439" /><Relationship Type="http://schemas.openxmlformats.org/officeDocument/2006/relationships/slide" Target="/ppt/slides/slide18.xml" Id="R16aa6006ec5645ce" /><Relationship Type="http://schemas.openxmlformats.org/officeDocument/2006/relationships/slide" Target="/ppt/slides/slide19.xml" Id="Ra2bc75d51dea4e8a" /><Relationship Type="http://schemas.openxmlformats.org/officeDocument/2006/relationships/slide" Target="/ppt/slides/slide20.xml" Id="R7024d9d2a2014ae2" /><Relationship Type="http://schemas.openxmlformats.org/officeDocument/2006/relationships/slide" Target="/ppt/slides/slide21.xml" Id="R0981ae90ade041bf" /><Relationship Type="http://schemas.openxmlformats.org/officeDocument/2006/relationships/slide" Target="/ppt/slides/slide22.xml" Id="R9257f4919ebc4f43" /><Relationship Type="http://schemas.openxmlformats.org/officeDocument/2006/relationships/slide" Target="/ppt/slides/slide23.xml" Id="R9bb97ffa1ebe483f" /><Relationship Type="http://schemas.openxmlformats.org/officeDocument/2006/relationships/slide" Target="/ppt/slides/slide24.xml" Id="Re0ce15037aad4c8d" /><Relationship Type="http://schemas.openxmlformats.org/officeDocument/2006/relationships/slide" Target="/ppt/slides/slide25.xml" Id="Rc04de8881a914804" /><Relationship Type="http://schemas.openxmlformats.org/officeDocument/2006/relationships/slide" Target="/ppt/slides/slide26.xml" Id="R7627da13efe243d9" /><Relationship Type="http://schemas.openxmlformats.org/officeDocument/2006/relationships/slide" Target="/ppt/slides/slide27.xml" Id="R4a78a41e0da044a4" /><Relationship Type="http://schemas.openxmlformats.org/officeDocument/2006/relationships/slide" Target="/ppt/slides/slide28.xml" Id="R1267730d7a154cc1" /><Relationship Type="http://schemas.openxmlformats.org/officeDocument/2006/relationships/slide" Target="/ppt/slides/slide29.xml" Id="R96fc20cffd0c410b" /><Relationship Type="http://schemas.openxmlformats.org/officeDocument/2006/relationships/slide" Target="/ppt/slides/slide30.xml" Id="R2e54955ce97e4f88" /><Relationship Type="http://schemas.openxmlformats.org/officeDocument/2006/relationships/slide" Target="/ppt/slides/slide31.xml" Id="Rd8a8ac862bef4497" /><Relationship Type="http://schemas.openxmlformats.org/officeDocument/2006/relationships/slide" Target="/ppt/slides/slide32.xml" Id="R82c401b403344425" /><Relationship Type="http://schemas.openxmlformats.org/officeDocument/2006/relationships/slide" Target="/ppt/slides/slide33.xml" Id="R49b40544cfdf4136" /><Relationship Type="http://schemas.openxmlformats.org/officeDocument/2006/relationships/slide" Target="/ppt/slides/slide34.xml" Id="R15d9a1339fd74f15" /><Relationship Type="http://schemas.openxmlformats.org/officeDocument/2006/relationships/slide" Target="/ppt/slides/slide35.xml" Id="Rba625e0995ed4678" /><Relationship Type="http://schemas.openxmlformats.org/officeDocument/2006/relationships/slide" Target="/ppt/slides/slide36.xml" Id="R7beb81d9557d4a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ee0519d00541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94d67c76bd4eca" /><Relationship Type="http://schemas.openxmlformats.org/officeDocument/2006/relationships/notesMaster" Target="/ppt/notesMasters/notesMaster1.xml" Id="Re59a37ca48be4f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d27d056a0b4a94" /><Relationship Type="http://schemas.openxmlformats.org/officeDocument/2006/relationships/notesMaster" Target="/ppt/notesMasters/notesMaster1.xml" Id="R279da3f190014f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2cbde768314270" /><Relationship Type="http://schemas.openxmlformats.org/officeDocument/2006/relationships/notesMaster" Target="/ppt/notesMasters/notesMaster1.xml" Id="R8e4fdf0b3f4048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26050322d54361" /><Relationship Type="http://schemas.openxmlformats.org/officeDocument/2006/relationships/notesMaster" Target="/ppt/notesMasters/notesMaster1.xml" Id="Rb04189fb04c345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dc2701fb684ccb" /><Relationship Type="http://schemas.openxmlformats.org/officeDocument/2006/relationships/notesMaster" Target="/ppt/notesMasters/notesMaster1.xml" Id="Rdcff8a0bb17a4b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bcbd7515f74a5b" /><Relationship Type="http://schemas.openxmlformats.org/officeDocument/2006/relationships/notesMaster" Target="/ppt/notesMasters/notesMaster1.xml" Id="Rd862365160ea458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9f5fe0b43c4390" /><Relationship Type="http://schemas.openxmlformats.org/officeDocument/2006/relationships/notesMaster" Target="/ppt/notesMasters/notesMaster1.xml" Id="R3bcfa885f01240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cda523091c4e3d" /><Relationship Type="http://schemas.openxmlformats.org/officeDocument/2006/relationships/notesMaster" Target="/ppt/notesMasters/notesMaster1.xml" Id="Rfb915783ab8048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6cbc1e085dd4943" /><Relationship Type="http://schemas.openxmlformats.org/officeDocument/2006/relationships/notesMaster" Target="/ppt/notesMasters/notesMaster1.xml" Id="R8b822f1c2fd345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549c081f0748e9" /><Relationship Type="http://schemas.openxmlformats.org/officeDocument/2006/relationships/notesMaster" Target="/ppt/notesMasters/notesMaster1.xml" Id="R5a0598c56fa24b4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1d0482eda3247aa" /><Relationship Type="http://schemas.openxmlformats.org/officeDocument/2006/relationships/notesMaster" Target="/ppt/notesMasters/notesMaster1.xml" Id="R6e68fd808dbc41d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1b5ae5a14f34100" /><Relationship Type="http://schemas.openxmlformats.org/officeDocument/2006/relationships/notesMaster" Target="/ppt/notesMasters/notesMaster1.xml" Id="R03dd5351d514474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3b447ca78c14e2e" /><Relationship Type="http://schemas.openxmlformats.org/officeDocument/2006/relationships/notesMaster" Target="/ppt/notesMasters/notesMaster1.xml" Id="Rd1454302a9144a2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c8c192fe8d84291" /><Relationship Type="http://schemas.openxmlformats.org/officeDocument/2006/relationships/notesMaster" Target="/ppt/notesMasters/notesMaster1.xml" Id="R601aa6b5fb724be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e1c245141a24715" /><Relationship Type="http://schemas.openxmlformats.org/officeDocument/2006/relationships/notesMaster" Target="/ppt/notesMasters/notesMaster1.xml" Id="Rb340bfcd692a4a7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2f895e0b7f84d05" /><Relationship Type="http://schemas.openxmlformats.org/officeDocument/2006/relationships/notesMaster" Target="/ppt/notesMasters/notesMaster1.xml" Id="R1a6b7d1b4dcf43c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9b9823c56ff43a6" /><Relationship Type="http://schemas.openxmlformats.org/officeDocument/2006/relationships/notesMaster" Target="/ppt/notesMasters/notesMaster1.xml" Id="Rdd6cf14212b74ce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e507e0c1eb24f08" /><Relationship Type="http://schemas.openxmlformats.org/officeDocument/2006/relationships/notesMaster" Target="/ppt/notesMasters/notesMaster1.xml" Id="R5cf38c76dd4b4cf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f290f1c2c1141c2" /><Relationship Type="http://schemas.openxmlformats.org/officeDocument/2006/relationships/notesMaster" Target="/ppt/notesMasters/notesMaster1.xml" Id="Rfad702fb208046d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ce8f3ede9ec484d" /><Relationship Type="http://schemas.openxmlformats.org/officeDocument/2006/relationships/notesMaster" Target="/ppt/notesMasters/notesMaster1.xml" Id="Re05b45263c164ea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823705cd4b54a5c" /><Relationship Type="http://schemas.openxmlformats.org/officeDocument/2006/relationships/notesMaster" Target="/ppt/notesMasters/notesMaster1.xml" Id="R13ad521599f04d5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f099dfb72ed4e84" /><Relationship Type="http://schemas.openxmlformats.org/officeDocument/2006/relationships/notesMaster" Target="/ppt/notesMasters/notesMaster1.xml" Id="R9ec1bebfd0ec41c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1550637d4594323" /><Relationship Type="http://schemas.openxmlformats.org/officeDocument/2006/relationships/notesMaster" Target="/ppt/notesMasters/notesMaster1.xml" Id="R5f553a350be24ba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6e534db5d7d46e8" /><Relationship Type="http://schemas.openxmlformats.org/officeDocument/2006/relationships/notesMaster" Target="/ppt/notesMasters/notesMaster1.xml" Id="R28f6de5c9605499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85db4f8492641b5" /><Relationship Type="http://schemas.openxmlformats.org/officeDocument/2006/relationships/notesMaster" Target="/ppt/notesMasters/notesMaster1.xml" Id="R96695a6fbd65483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013b34b98ec415c" /><Relationship Type="http://schemas.openxmlformats.org/officeDocument/2006/relationships/notesMaster" Target="/ppt/notesMasters/notesMaster1.xml" Id="R8f6139182c1f4d8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6bfd08438e844f2" /><Relationship Type="http://schemas.openxmlformats.org/officeDocument/2006/relationships/notesMaster" Target="/ppt/notesMasters/notesMaster1.xml" Id="Rd2f5f6bc2b32460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5691491eef94514" /><Relationship Type="http://schemas.openxmlformats.org/officeDocument/2006/relationships/notesMaster" Target="/ppt/notesMasters/notesMaster1.xml" Id="R327829b6fbe149c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0459356d51b4ac3" /><Relationship Type="http://schemas.openxmlformats.org/officeDocument/2006/relationships/notesMaster" Target="/ppt/notesMasters/notesMaster1.xml" Id="R781bd9cbe81d491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cc9b14ac5b04f6e" /><Relationship Type="http://schemas.openxmlformats.org/officeDocument/2006/relationships/notesMaster" Target="/ppt/notesMasters/notesMaster1.xml" Id="Rccd4772e140d4f0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5d0df900d034cf3" /><Relationship Type="http://schemas.openxmlformats.org/officeDocument/2006/relationships/notesMaster" Target="/ppt/notesMasters/notesMaster1.xml" Id="R020e84a66fb44f9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8c55174ea994a35" /><Relationship Type="http://schemas.openxmlformats.org/officeDocument/2006/relationships/notesMaster" Target="/ppt/notesMasters/notesMaster1.xml" Id="R24ad67ee969b440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b24106838a84a55" /><Relationship Type="http://schemas.openxmlformats.org/officeDocument/2006/relationships/notesMaster" Target="/ppt/notesMasters/notesMaster1.xml" Id="R46ddac3ebe2f4c1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ebf5757b2b1456e" /><Relationship Type="http://schemas.openxmlformats.org/officeDocument/2006/relationships/notesMaster" Target="/ppt/notesMasters/notesMaster1.xml" Id="Rb2a0952ff8c9477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f1d0f1aeeb4c4f3a" /><Relationship Type="http://schemas.openxmlformats.org/officeDocument/2006/relationships/notesMaster" Target="/ppt/notesMasters/notesMaster1.xml" Id="R54b8d2da12eb46d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fdbbad950b34153" /><Relationship Type="http://schemas.openxmlformats.org/officeDocument/2006/relationships/notesMaster" Target="/ppt/notesMasters/notesMaster1.xml" Id="R62b12219a1a34b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Alur kelas: 0–10 menit recap/kasus; 10–35 menit Dockerfile; 35–55 menit cache/context; 55–70 menit multi-stage; 70–85 menit tag/keamanan; 85–100 menit persiapan Lab05. RPS sesi5 F2F LO2 Design.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RPS COMP6991031 halaman3 sesi5 LO2 Design. C3 diterapkan saat memilih instruksi, membangun image, lalu menguji perilaku API. Lab05 halaman5 mendukung Node/Python, env, multi-stage, tag dan Docker Hub.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Bedakan layer filesystem dari konfigurasi image. Dockerfile saja tidak mengunci seluruh input. https://docs.docker.com/reference/dockerfile/ https://docs.docker.com/build/building/best-practices/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Empat belas instruksi pada slide adalah subset yang dipilih untuk sesi ini, bukan seluruh instruction set Dockerfile. USER dapat menunjuk root/non-root. https://docs.docker.com/reference/dockerfile/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Kode runnable lengkap: https://github.com/SeedFlora/meet5CloudService/tree/main/examples/theory-node . Pindah ke folder itu sebelum build. README memberi perintah satu baris yang bekerja pada Bash maupun PowerShell; untuk Windows gunakan curl.exe. Server listen 0.0.0.0:3000. npm ci memerlukan lockfile yang cocok. Contoh pengantar ini memakai UID0; slide21 menambahkan USER node. Lab05 utama memakai FastAPI. Node24 didukung pada tanggal kelas. https://nodejs.org/en/about/previous-releases https://docs.npmjs.com/cli/commands/npm-ci https://docs.docker.com/reference/dockerfile/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FROM memulai stage dan boleh didahului ARG global, komentar atau parser directive. Tag versi tetap mutable. Digest mengidentifikasi konten image; pembaruan keamanan tetap harus dilakukan. Official Image tidak memberi jaminan bebas celah. https://docs.docker.com/reference/dockerfile/ https://docs.docker.com/build/building/best-practices/ https://github.com/GoogleContainerTools/distroless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Exec-form ENTRYPOINT + CMD: docker run image arg mengganti argumen CMD; docker run --entrypoint executable image mengganti ENTRYPOINT. Shell form memiliki perilaku sinyal/argumen berbeda. CMD terakhir yang berlaku. https://docs.docker.com/reference/dockerfile/#entrypoint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Setiap RUN baru mulai dari WORKDIR image, bukan hasil cd proses sebelumnya. ADD mengekstrak tar lokal yang dikenal dan mendukung HTTP/Git. URL arsip tidak otomatis diekstrak. Periksa checksum dan izin sumber remote. https://docs.docker.com/reference/dockerfile/#add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ARG memiliki scope build dan tidak otomatis menjadi environment runtime. Nilai dapat berada pada history/provenance atau artefak yang dibuat. ARG tanpa default bisa kosong; aplikasi build harus memvalidasi jika wajib. ENV juga digunakan oleh instruksi build sesudah deklarasi. Keduanya tidak cocok untuk build secrets. https://docs.docker.com/build/building/variables/ https://docs.docker.com/build/building/secrets/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EXPOSE adalah metadata; -p melakukan publish port. USER app pada contoh Alpine memerlukan user yang telah dibuat. Probe curl memerlukan curl terpasang dan endpoint /health tersedia. Exit0 sehat, exit1 tidak sehat. Docker standalone tidak otomatis restart karena unhealthy. https://docs.docker.com/reference/dockerfile/#healthcheck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BuildKit menyusun graf stage, memakai cache, mentransfer input secara efisien dan dapat melewati file/stage yang tak digunakan. Tidak setiap baris menghasilkan filesystem layer. https://docs.docker.com/build/buildkit/ https://docs.docker.com/build/concepts/context/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COPY input dan instruksi memengaruhi cache. RUN biasanya tidak memeriksa ulang perubahan repository paket bila cache dipakai. --no-cache membuang cache langkah; --pull memeriksa base image baru. https://docs.docker.com/build/cache/invalidation/ https://docs.docker.com/build/cache/optimize/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Pola ignore adalah contoh Node, perlu disesuaikan jika aplikasi memakai docs/tests/build artifact saat runtime. .dockerignore membatasi context/COPY, tidak menghapus secret yang sengaja ditulis lewat ENV/ARG/RUN. https://docs.docker.com/build/concepts/context/#dockerignore-files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Ukuran image harus diukur untuk tag, platform, dan aplikasi yang sama. Pengurangan ukuran tidak menjamin performa atau keamanan. https://docs.docker.com/build/building/best-practices/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Angka ukuran universal dihindari. Bandingkan docker image ls atau docker image inspect setelah menarik/build untuk platform yang sama. Alpine memakai musl; native library dapat membutuhkan penyesuaian. Distroless berisi komponen runtime/distro minimal tanpa shell/package manager standar. https://github.com/nodejs/docker-node/blob/main/README.md https://github.com/GoogleContainerTools/distroless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Multi-stage hanya menyalin artefak runtime yang dipilih. Ukuran akhir bergantung base dan dependency. Dalam Lab05, venv dibuat pada builder Python3.12-slim dan disalin ke runtime Python3.12-slim. https://docs.docker.com/build/building/multi-stage/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Kode runnable: https://github.com/SeedFlora/meet5CloudService/tree/main/examples/theory-node . Build memakai -f Dockerfile.multistage. npm run build menghasilkan dist/server.js dengan menyalin source demo; aplikasi riil bisa memakai compiler TypeScript/bundler. Kedua stage Debian Bookworm. USER node UID1000. Kedua contoh Node dibuild/diuji 8Okt2026. Simple Alpine dan multi-stage Debian berbeda keluarga base sehingga ukuran keduanya bukan perbandingan terkendali tentang manfaat multi-stage. https://docs.docker.com/build/building/multi-stage/ https://docs.npmjs.com/cli/commands/npm-ci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Build secret: docker build --secret id=token,src=token.txt .; Dockerfile memakai RUN --mount=type=secret,id=token ... dan membaca /run/secrets/token hanya selama RUN. Jangan menyalin secret ke output atau log. Runtime secret berbeda dari build secret. https://docs.docker.com/build/building/secrets/ https://docs.docker.com/build/building/best-practices/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Nama tag, termasuk semver dan commit SHA, dapat ditimpa. Image digest sha256 mengidentifikasi konten. Rebuild commit yang sama dengan dependency/base baru dapat memberi image berbeda. https://docs.docker.com/reference/cli/docker/image/tag/ https://docs.docker.com/reference/cli/docker/image/pull/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Docker Hub menjadi jalur RPS: tag ulang image lokal, login, push, pull. Buat repository/akun sendiri bila akan mencoba. Ini opsional dan tidak menjadi tugas lab. GHCR alternatif: PAT classic write:packages untuk login manual; GITHUB_TOKEN digunakan pada workflow sesuai izin. Paket pertama biasanya private. Path image tidak wajib sama nama repo Git; hubungkan dengan org.opencontainers.image.source. https://docs.docker.com/get-started/introduction/publish-your-image/ https://docs.github.com/en/packages/working-with-a-github-packages-registry/working-with-the-container-registry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Non-root memperkecil dampak, tetapi bukan isolasi sempurna. Kernel, capabilities, mounts, user namespace dan konfigurasi daemon memengaruhi risiko. Proses exit terdeteksi Docker; HEALTHCHECK menambah status kesehatan aplikasi yang masih running. https://docs.docker.com/engine/security/ https://docs.docker.com/reference/dockerfile/#healthcheck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Contoh Alpine menggunakan addgroup/adduser dan wget BusyBox yang tersedia pada base. Node24 masih didukung saat kelas. Server harus listen 0.0.0.0:3000 dan menyediakan /health. Pin digest untuk identitas base; perbarui dan scan secara berkala. https://docs.docker.com/build/building/best-practices/ https://docs.docker.com/reference/dockerfile/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Output scanner harus berasal dari image dan database CVE yang dipakai saat scan. Status severity memerlukan penilaian paket/versi perbaikan dan jalur eksploitasi. Scanner tidak membuktikan image sepenuhnya aman. https://trivy.dev/latest/docs/target/container_image/ https://docs.docker.com/scout/ https://github.com/anchore/grype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--pull berbeda dari --no-cache. COPY --from membutuhkan source dan destination. Image prune menghapus image dangling; hindari prune massal pada komputer bersama. https://docs.docker.com/reference/dockerfile/ https://docs.docker.com/reference/cli/docker/buildx/build/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Pertanyaan cek pemahaman: apakah EXPOSE membuka port host? Mengapa source berubah tidak harus memasang dependency ulang? Bagaimana tag berbeda dari digest? Mengapa ARG tidak dipakai untuk token? RPS sesi5 LO2 Design.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Praktik utama: https://github.com/SeedFlora/meet5CloudService . Tunjukkan Dockerfile FastAPI, .dockerignore, APP_ENV, UID10001 dan validasi HTTP. Registry dipakai hanya bila bermanfaat untuk proyek.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Kasus kerja: tim menerima API catatan baru. Tanya mengapa data hilang saat proses restart. Bacaan: https://docs.docker.com/get-started/docker-concepts/building-images/writing-a-dockerfile/ Video pengantar: https://www.docker.com/resources/docker-intro-and-overview-on-demand-training/ . Pilih bagian containerizing an application. Repo: https://github.com/SeedFlora/meet5CloudService . Ilustrasi dibuat khusus untuk materi kelas; bukan bukti hasil lab. Proyek kelompok3 dipresentasikan minggu7 dan14.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output aktual lab ditata ulang agar terbaca. Tunjukkan sumber Dockerfile di https://github.com/SeedFlora/meet5CloudService . FROM Python3.12-slim yang sama menjaga kesesuaian interpreter/libc saat venv disalin. dependencies fastapi/uvicorn dipin pada requirements.txt, namun dependency transitif belum dikunci penuh. USER10001 mengurangi privilege. .dockerignore membatasi context. Tahap builder tidak berisi compiler; ini contoh pemisahan dependency/runtime, bukan janji image pasti lebih kecil. https://docs.docker.com/build/building/multi-stage/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berasal dari output HTTP aktual lab yang ditata ulang; bukan screenshot browser. README memberi perintah PowerShell/Bash lengkap. Tunjukkan docker logs &lt;container&gt; dan docker exec &lt;container&gt; id. GET /docs membuka Swagger. APP_ENV terlihat pada /runtime. Endpoint /health hanya memeriksa proses API, belum database. Data _notes berada dalam memori Python sehingga docker restart pun menghapus catatan. Volume saja tidak membuat dict Python menjadi persisten; perlu menulis data ke file/database. Jalankan API browser http://127.0.0.1:8000/docs . Repo https://github.com/SeedFlora/meet5CloudService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browser Chrome Budi diambil langsung saat audit kelas 8Okt2026. Container cloudlab-week05-review dibuild dari kode Lab05 lalu dijalankan dengan -p 127.0.0.1:18005:8000 -e APP_ENV=classroom. Uji browser: /docs -&gt; GET /health -&gt; Try it out -&gt; Execute. Screenshot respons 200 bukan hasil contoh yang diketik ulang. Perintah curl -i menunjukkan header dan body; Windows memakai curl.exe. Port utama panduan8000, port18005 dipakai hanya agar tidak berbenturan. /health menunjukkan liveness API, bukan kesiapan database. Semua respons FastAPI utama diverifikasi: health200, runtime200, docs200, create201, blank422, missing404; UID10001; restart mengosongkan memory.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9b761cdb25489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f77fecad6f4ae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45b5a5b0c643ad" /><Relationship Type="http://schemas.openxmlformats.org/officeDocument/2006/relationships/slideLayout" Target="/ppt/slideLayouts/slideLayout1.xml" Id="R23b7a4d2e68e45d2" /><Relationship Type="http://schemas.openxmlformats.org/officeDocument/2006/relationships/slideLayout" Target="/ppt/slideLayouts/slideLayout2.xml" Id="Red37408ebad7459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b7a4d2e68e45d2"/>
    <p:sldLayoutId xmlns:r="http://schemas.openxmlformats.org/officeDocument/2006/relationships" id="2147483650" r:id="Red37408ebad7459a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b569760714ebc" /><Relationship Type="http://schemas.openxmlformats.org/officeDocument/2006/relationships/image" Target="/ppt/media/image.jpeg" Id="R7ff13cfb80b0452a" /><Relationship Type="http://schemas.openxmlformats.org/officeDocument/2006/relationships/image" Target="/ppt/media/image.png" Id="Rece9b850ae4b4816" /><Relationship Type="http://schemas.openxmlformats.org/officeDocument/2006/relationships/image" Target="/ppt/media/image2.png" Id="R750b2b16030b4134" /><Relationship Type="http://schemas.openxmlformats.org/officeDocument/2006/relationships/notesSlide" Target="/ppt/notesSlides/notesSlide1.xml" Id="R79ed2a0378b541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e52999b7042ed" /><Relationship Type="http://schemas.openxmlformats.org/officeDocument/2006/relationships/image" Target="/ppt/media/image.png" Id="R5e480a286f7c4fd0" /><Relationship Type="http://schemas.openxmlformats.org/officeDocument/2006/relationships/image" Target="/ppt/media/image2.png" Id="Rc8cd251c86a74e7b" /><Relationship Type="http://schemas.openxmlformats.org/officeDocument/2006/relationships/image" Target="/ppt/media/image3.png" Id="R2036864c9fa641c9" /><Relationship Type="http://schemas.openxmlformats.org/officeDocument/2006/relationships/image" Target="/ppt/media/image4.png" Id="R96d76fe15d534e6c" /><Relationship Type="http://schemas.openxmlformats.org/officeDocument/2006/relationships/image" Target="/ppt/media/image5.png" Id="R403ff92e1a8d49f1" /><Relationship Type="http://schemas.openxmlformats.org/officeDocument/2006/relationships/image" Target="/ppt/media/image6.png" Id="Raeab533e27214981" /><Relationship Type="http://schemas.openxmlformats.org/officeDocument/2006/relationships/image" Target="/ppt/media/image7.png" Id="Re63b472da96e42ba" /><Relationship Type="http://schemas.openxmlformats.org/officeDocument/2006/relationships/notesSlide" Target="/ppt/notesSlides/notesSlide2.xml" Id="Rb7efdb818b0f48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5b9d919384f69" /><Relationship Type="http://schemas.openxmlformats.org/officeDocument/2006/relationships/image" Target="/ppt/media/image.png" Id="R57196091af464fd9" /><Relationship Type="http://schemas.openxmlformats.org/officeDocument/2006/relationships/image" Target="/ppt/media/image2.png" Id="R4ac4685e8fab4dae" /><Relationship Type="http://schemas.openxmlformats.org/officeDocument/2006/relationships/image" Target="/ppt/media/image8.png" Id="Rc9f2686278a548ba" /><Relationship Type="http://schemas.openxmlformats.org/officeDocument/2006/relationships/image" Target="/ppt/media/image6.png" Id="R55068bc1df9f46a9" /><Relationship Type="http://schemas.openxmlformats.org/officeDocument/2006/relationships/image" Target="/ppt/media/image9.png" Id="Rdf1eca45b7334b22" /><Relationship Type="http://schemas.openxmlformats.org/officeDocument/2006/relationships/image" Target="/ppt/media/image10.png" Id="R82d18444390e4d3b" /><Relationship Type="http://schemas.openxmlformats.org/officeDocument/2006/relationships/notesSlide" Target="/ppt/notesSlides/notesSlide3.xml" Id="R7d56bf57b5034a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e2d7b8ca64eef" /><Relationship Type="http://schemas.openxmlformats.org/officeDocument/2006/relationships/image" Target="/ppt/media/image.png" Id="Rae8d1c14dab94886" /><Relationship Type="http://schemas.openxmlformats.org/officeDocument/2006/relationships/image" Target="/ppt/media/image2.png" Id="Rad5619fcff8648af" /><Relationship Type="http://schemas.openxmlformats.org/officeDocument/2006/relationships/notesSlide" Target="/ppt/notesSlides/notesSlide4.xml" Id="Rd1a0d45b10054d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ef0d0861d4ca1" /><Relationship Type="http://schemas.openxmlformats.org/officeDocument/2006/relationships/image" Target="/ppt/media/image.png" Id="R18fae9570f7944d5" /><Relationship Type="http://schemas.openxmlformats.org/officeDocument/2006/relationships/image" Target="/ppt/media/image2.png" Id="R8d661ef920b24498" /><Relationship Type="http://schemas.openxmlformats.org/officeDocument/2006/relationships/image" Target="/ppt/media/image8.png" Id="Rc82b54f3d816478d" /><Relationship Type="http://schemas.openxmlformats.org/officeDocument/2006/relationships/image" Target="/ppt/media/image11.png" Id="R2891419b12c141c7" /><Relationship Type="http://schemas.openxmlformats.org/officeDocument/2006/relationships/image" Target="/ppt/media/image6.png" Id="Rc25b402a3707493c" /><Relationship Type="http://schemas.openxmlformats.org/officeDocument/2006/relationships/image" Target="/ppt/media/image12.png" Id="Rd59b3bd8677649c8" /><Relationship Type="http://schemas.openxmlformats.org/officeDocument/2006/relationships/image" Target="/ppt/media/image7.png" Id="Re1ace2caa055482a" /><Relationship Type="http://schemas.openxmlformats.org/officeDocument/2006/relationships/notesSlide" Target="/ppt/notesSlides/notesSlide5.xml" Id="Rfc96affa112540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f0660a5990439b" /><Relationship Type="http://schemas.openxmlformats.org/officeDocument/2006/relationships/image" Target="/ppt/media/image.png" Id="Rcbd08d45d1c244bb" /><Relationship Type="http://schemas.openxmlformats.org/officeDocument/2006/relationships/image" Target="/ppt/media/image2.png" Id="R645ac0f16b9447b8" /><Relationship Type="http://schemas.openxmlformats.org/officeDocument/2006/relationships/notesSlide" Target="/ppt/notesSlides/notesSlide6.xml" Id="Rda8aa888df7f4d0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4c78891bba45ab" /><Relationship Type="http://schemas.openxmlformats.org/officeDocument/2006/relationships/image" Target="/ppt/media/image.png" Id="R8c91df1ef2e34cf8" /><Relationship Type="http://schemas.openxmlformats.org/officeDocument/2006/relationships/image" Target="/ppt/media/image2.png" Id="Rd779349d06cd4f27" /><Relationship Type="http://schemas.openxmlformats.org/officeDocument/2006/relationships/notesSlide" Target="/ppt/notesSlides/notesSlide7.xml" Id="R74068905b43f42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fb299d774457e" /><Relationship Type="http://schemas.openxmlformats.org/officeDocument/2006/relationships/image" Target="/ppt/media/image.png" Id="R18dbbcc4feee47b5" /><Relationship Type="http://schemas.openxmlformats.org/officeDocument/2006/relationships/image" Target="/ppt/media/image2.png" Id="Rfdaa669dbd124f30" /><Relationship Type="http://schemas.openxmlformats.org/officeDocument/2006/relationships/notesSlide" Target="/ppt/notesSlides/notesSlide8.xml" Id="Rf5f9924a3b5647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5852384a6485f" /><Relationship Type="http://schemas.openxmlformats.org/officeDocument/2006/relationships/image" Target="/ppt/media/image.png" Id="Rfcbf4af7c40e4942" /><Relationship Type="http://schemas.openxmlformats.org/officeDocument/2006/relationships/image" Target="/ppt/media/image2.png" Id="R75b84cfef1334f53" /><Relationship Type="http://schemas.openxmlformats.org/officeDocument/2006/relationships/image" Target="/ppt/media/image13.png" Id="R7ced531726e04ced" /><Relationship Type="http://schemas.openxmlformats.org/officeDocument/2006/relationships/image" Target="/ppt/media/image9.png" Id="Ra325df97e3c449cf" /><Relationship Type="http://schemas.openxmlformats.org/officeDocument/2006/relationships/image" Target="/ppt/media/image14.png" Id="Re28ed61f4f1d402b" /><Relationship Type="http://schemas.openxmlformats.org/officeDocument/2006/relationships/image" Target="/ppt/media/image11.png" Id="R9507f705a74d498a" /><Relationship Type="http://schemas.openxmlformats.org/officeDocument/2006/relationships/notesSlide" Target="/ppt/notesSlides/notesSlide9.xml" Id="Rfa5b14d9095342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3094e0d3d4df0" /><Relationship Type="http://schemas.openxmlformats.org/officeDocument/2006/relationships/image" Target="/ppt/media/image.png" Id="R8c0c25d032844d99" /><Relationship Type="http://schemas.openxmlformats.org/officeDocument/2006/relationships/image" Target="/ppt/media/image2.png" Id="R14f4da1f5ac9495b" /><Relationship Type="http://schemas.openxmlformats.org/officeDocument/2006/relationships/notesSlide" Target="/ppt/notesSlides/notesSlide10.xml" Id="R32553a70c33145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d64ebed5348b6" /><Relationship Type="http://schemas.openxmlformats.org/officeDocument/2006/relationships/image" Target="/ppt/media/image.png" Id="R6c7b51c777ae45d8" /><Relationship Type="http://schemas.openxmlformats.org/officeDocument/2006/relationships/image" Target="/ppt/media/image2.png" Id="R4398597a1a2c49d3" /><Relationship Type="http://schemas.openxmlformats.org/officeDocument/2006/relationships/notesSlide" Target="/ppt/notesSlides/notesSlide11.xml" Id="Raa3c75b39124450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27829b583c4091" /><Relationship Type="http://schemas.openxmlformats.org/officeDocument/2006/relationships/image" Target="/ppt/media/image.png" Id="R0e6d0e1304504460" /><Relationship Type="http://schemas.openxmlformats.org/officeDocument/2006/relationships/image" Target="/ppt/media/image2.png" Id="Rc5827c682eb74399" /><Relationship Type="http://schemas.openxmlformats.org/officeDocument/2006/relationships/notesSlide" Target="/ppt/notesSlides/notesSlide12.xml" Id="R70a425ec72cb40c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c02576a5f4118" /><Relationship Type="http://schemas.openxmlformats.org/officeDocument/2006/relationships/image" Target="/ppt/media/image.png" Id="Rf2e47e4f91e04244" /><Relationship Type="http://schemas.openxmlformats.org/officeDocument/2006/relationships/image" Target="/ppt/media/image2.png" Id="Re58942472f7f4551" /><Relationship Type="http://schemas.openxmlformats.org/officeDocument/2006/relationships/notesSlide" Target="/ppt/notesSlides/notesSlide13.xml" Id="Ra0e258cc42804f1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cf726a39304949" /><Relationship Type="http://schemas.openxmlformats.org/officeDocument/2006/relationships/image" Target="/ppt/media/image.png" Id="Re2faa57f6d54493a" /><Relationship Type="http://schemas.openxmlformats.org/officeDocument/2006/relationships/image" Target="/ppt/media/image2.png" Id="R9be39797f3b44ee8" /><Relationship Type="http://schemas.openxmlformats.org/officeDocument/2006/relationships/notesSlide" Target="/ppt/notesSlides/notesSlide14.xml" Id="R956c2dac3c3645e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7c85e91f624ed8" /><Relationship Type="http://schemas.openxmlformats.org/officeDocument/2006/relationships/image" Target="/ppt/media/image.png" Id="R5920c42bdd454697" /><Relationship Type="http://schemas.openxmlformats.org/officeDocument/2006/relationships/image" Target="/ppt/media/image2.png" Id="R224e75a7e32b467f" /><Relationship Type="http://schemas.openxmlformats.org/officeDocument/2006/relationships/notesSlide" Target="/ppt/notesSlides/notesSlide15.xml" Id="Recf65c61e6e74b4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05dcca36774e8c" /><Relationship Type="http://schemas.openxmlformats.org/officeDocument/2006/relationships/image" Target="/ppt/media/image.png" Id="Re38798a4f7104a87" /><Relationship Type="http://schemas.openxmlformats.org/officeDocument/2006/relationships/image" Target="/ppt/media/image2.png" Id="Rb858e728fe1b4202" /><Relationship Type="http://schemas.openxmlformats.org/officeDocument/2006/relationships/notesSlide" Target="/ppt/notesSlides/notesSlide16.xml" Id="Re378564823254b4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d7cd5e120415d" /><Relationship Type="http://schemas.openxmlformats.org/officeDocument/2006/relationships/image" Target="/ppt/media/image.png" Id="Rc1756fa7b73a4a34" /><Relationship Type="http://schemas.openxmlformats.org/officeDocument/2006/relationships/image" Target="/ppt/media/image2.png" Id="R12d321883c8f4b8d" /><Relationship Type="http://schemas.openxmlformats.org/officeDocument/2006/relationships/notesSlide" Target="/ppt/notesSlides/notesSlide17.xml" Id="Rf8cfc2c50662476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a00beb40a4713" /><Relationship Type="http://schemas.openxmlformats.org/officeDocument/2006/relationships/image" Target="/ppt/media/image.png" Id="R9c450f55d05342ca" /><Relationship Type="http://schemas.openxmlformats.org/officeDocument/2006/relationships/image" Target="/ppt/media/image2.png" Id="R4a6746278d314ed9" /><Relationship Type="http://schemas.openxmlformats.org/officeDocument/2006/relationships/notesSlide" Target="/ppt/notesSlides/notesSlide18.xml" Id="R8dce6a1a564b491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81f7c49ba43a4" /><Relationship Type="http://schemas.openxmlformats.org/officeDocument/2006/relationships/image" Target="/ppt/media/image.png" Id="Rab3858c24cab40af" /><Relationship Type="http://schemas.openxmlformats.org/officeDocument/2006/relationships/image" Target="/ppt/media/image2.png" Id="R71236a56f8b34cb1" /><Relationship Type="http://schemas.openxmlformats.org/officeDocument/2006/relationships/notesSlide" Target="/ppt/notesSlides/notesSlide19.xml" Id="R3b998c9f90a141c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0c4bf946940f7" /><Relationship Type="http://schemas.openxmlformats.org/officeDocument/2006/relationships/image" Target="/ppt/media/image.png" Id="Rb7287c44d39e4d9d" /><Relationship Type="http://schemas.openxmlformats.org/officeDocument/2006/relationships/image" Target="/ppt/media/image2.png" Id="Rdb3554c889f74e6a" /><Relationship Type="http://schemas.openxmlformats.org/officeDocument/2006/relationships/notesSlide" Target="/ppt/notesSlides/notesSlide20.xml" Id="R4315d82b18d1454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65813946b4cf0" /><Relationship Type="http://schemas.openxmlformats.org/officeDocument/2006/relationships/image" Target="/ppt/media/image.png" Id="R103294279e474b20" /><Relationship Type="http://schemas.openxmlformats.org/officeDocument/2006/relationships/image" Target="/ppt/media/image2.png" Id="R4ecc4e246e1f4ad1" /><Relationship Type="http://schemas.openxmlformats.org/officeDocument/2006/relationships/notesSlide" Target="/ppt/notesSlides/notesSlide21.xml" Id="R1390865ae5bf4b6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ab5ed985544ff" /><Relationship Type="http://schemas.openxmlformats.org/officeDocument/2006/relationships/image" Target="/ppt/media/image.png" Id="Ra41522df282142ad" /><Relationship Type="http://schemas.openxmlformats.org/officeDocument/2006/relationships/image" Target="/ppt/media/image2.png" Id="Rf9f0e00c81724ee5" /><Relationship Type="http://schemas.openxmlformats.org/officeDocument/2006/relationships/image" Target="/ppt/media/image13.png" Id="R262160d5e5704a6e" /><Relationship Type="http://schemas.openxmlformats.org/officeDocument/2006/relationships/notesSlide" Target="/ppt/notesSlides/notesSlide22.xml" Id="Rea0c0c2878ba4db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16356a4e1490c" /><Relationship Type="http://schemas.openxmlformats.org/officeDocument/2006/relationships/image" Target="/ppt/media/image.png" Id="R19ded4c9c9e540ab" /><Relationship Type="http://schemas.openxmlformats.org/officeDocument/2006/relationships/image" Target="/ppt/media/image2.png" Id="Re8d5bdfe541345fb" /><Relationship Type="http://schemas.openxmlformats.org/officeDocument/2006/relationships/notesSlide" Target="/ppt/notesSlides/notesSlide23.xml" Id="R83f45b82f92c43f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fbf4fc9e04b26" /><Relationship Type="http://schemas.openxmlformats.org/officeDocument/2006/relationships/image" Target="/ppt/media/image.png" Id="Rfafb348415b94cef" /><Relationship Type="http://schemas.openxmlformats.org/officeDocument/2006/relationships/image" Target="/ppt/media/image2.png" Id="Rd3890a4db74f4a25" /><Relationship Type="http://schemas.openxmlformats.org/officeDocument/2006/relationships/notesSlide" Target="/ppt/notesSlides/notesSlide24.xml" Id="R86acd4fa79c8403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28ab00f5384df3" /><Relationship Type="http://schemas.openxmlformats.org/officeDocument/2006/relationships/image" Target="/ppt/media/image.png" Id="Re98ea67284d24591" /><Relationship Type="http://schemas.openxmlformats.org/officeDocument/2006/relationships/image" Target="/ppt/media/image2.png" Id="Ra49f27a959674eb2" /><Relationship Type="http://schemas.openxmlformats.org/officeDocument/2006/relationships/image" Target="/ppt/media/image5.png" Id="R1e7b402b7f2143bf" /><Relationship Type="http://schemas.openxmlformats.org/officeDocument/2006/relationships/image" Target="/ppt/media/image10.png" Id="Rfcdafa37101349e4" /><Relationship Type="http://schemas.openxmlformats.org/officeDocument/2006/relationships/notesSlide" Target="/ppt/notesSlides/notesSlide25.xml" Id="Rd6ae3d2145fd469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f509c064c647d9" /><Relationship Type="http://schemas.openxmlformats.org/officeDocument/2006/relationships/image" Target="/ppt/media/image.png" Id="Reae34af9321e41d4" /><Relationship Type="http://schemas.openxmlformats.org/officeDocument/2006/relationships/image" Target="/ppt/media/image2.png" Id="R7d1c96f7002c476f" /><Relationship Type="http://schemas.openxmlformats.org/officeDocument/2006/relationships/notesSlide" Target="/ppt/notesSlides/notesSlide26.xml" Id="R9aab85376944473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63616060c94267" /><Relationship Type="http://schemas.openxmlformats.org/officeDocument/2006/relationships/image" Target="/ppt/media/image.png" Id="Rd0c379276b7c46e0" /><Relationship Type="http://schemas.openxmlformats.org/officeDocument/2006/relationships/image" Target="/ppt/media/image2.png" Id="Rab8ae26dc26a4cb4" /><Relationship Type="http://schemas.openxmlformats.org/officeDocument/2006/relationships/image" Target="/ppt/media/image15.png" Id="Re410bf7328a24f09" /><Relationship Type="http://schemas.openxmlformats.org/officeDocument/2006/relationships/image" Target="/ppt/media/image16.png" Id="R2b617292101240d7" /><Relationship Type="http://schemas.openxmlformats.org/officeDocument/2006/relationships/image" Target="/ppt/media/image17.png" Id="R8a4d2f592a5040d2" /><Relationship Type="http://schemas.openxmlformats.org/officeDocument/2006/relationships/image" Target="/ppt/media/image8.png" Id="R3730ab39e4674521" /><Relationship Type="http://schemas.openxmlformats.org/officeDocument/2006/relationships/image" Target="/ppt/media/image18.png" Id="R07f7553f79fd48f4" /><Relationship Type="http://schemas.openxmlformats.org/officeDocument/2006/relationships/notesSlide" Target="/ppt/notesSlides/notesSlide27.xml" Id="R5eeeae6ddb73439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acc80dbbff4374" /><Relationship Type="http://schemas.openxmlformats.org/officeDocument/2006/relationships/image" Target="/ppt/media/image.png" Id="R13b05c24cb264776" /><Relationship Type="http://schemas.openxmlformats.org/officeDocument/2006/relationships/image" Target="/ppt/media/image2.png" Id="R2a63d8ea82e846aa" /><Relationship Type="http://schemas.openxmlformats.org/officeDocument/2006/relationships/notesSlide" Target="/ppt/notesSlides/notesSlide28.xml" Id="R0095c61626f64af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971ad67ee54f81" /><Relationship Type="http://schemas.openxmlformats.org/officeDocument/2006/relationships/image" Target="/ppt/media/image.png" Id="R89c8abd859e74291" /><Relationship Type="http://schemas.openxmlformats.org/officeDocument/2006/relationships/image" Target="/ppt/media/image2.png" Id="R04ebc6aa0ec144dc" /><Relationship Type="http://schemas.openxmlformats.org/officeDocument/2006/relationships/notesSlide" Target="/ppt/notesSlides/notesSlide29.xml" Id="Rc600fa90394a47d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dd281ea3b54b9b" /><Relationship Type="http://schemas.openxmlformats.org/officeDocument/2006/relationships/image" Target="/ppt/media/image.png" Id="Reffe73bab49740ee" /><Relationship Type="http://schemas.openxmlformats.org/officeDocument/2006/relationships/image" Target="/ppt/media/image2.png" Id="Ra8310b4dd7a64aba" /><Relationship Type="http://schemas.openxmlformats.org/officeDocument/2006/relationships/notesSlide" Target="/ppt/notesSlides/notesSlide30.xml" Id="R244a2639469c450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547dd2f072411b" /><Relationship Type="http://schemas.openxmlformats.org/officeDocument/2006/relationships/image" Target="/ppt/media/image.png" Id="Rd4467360edc146bf" /><Relationship Type="http://schemas.openxmlformats.org/officeDocument/2006/relationships/image" Target="/ppt/media/image2.png" Id="Read4a86b16874001" /><Relationship Type="http://schemas.openxmlformats.org/officeDocument/2006/relationships/image" Target="/ppt/media/image19.png" Id="R7f2ed2ef8ce74b68" /><Relationship Type="http://schemas.openxmlformats.org/officeDocument/2006/relationships/image" Target="/ppt/media/image20.png" Id="R97c8c9a65cce41c5" /><Relationship Type="http://schemas.openxmlformats.org/officeDocument/2006/relationships/image" Target="/ppt/media/image21.png" Id="R8b39c03d585846b4" /><Relationship Type="http://schemas.openxmlformats.org/officeDocument/2006/relationships/notesSlide" Target="/ppt/notesSlides/notesSlide31.xml" Id="R179d0ef56e4c409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32db2c93af429e" /><Relationship Type="http://schemas.openxmlformats.org/officeDocument/2006/relationships/hyperlink" Target="https://github.com/SeedFlora/meet5CloudService" TargetMode="External" Id="R6b0d1dd099da42a1" /><Relationship Type="http://schemas.openxmlformats.org/officeDocument/2006/relationships/hyperlink" Target="https://github.com/SeedFlora/meet5CloudService" TargetMode="External" Id="R18b83e4300274284" /><Relationship Type="http://schemas.openxmlformats.org/officeDocument/2006/relationships/notesSlide" Target="/ppt/notesSlides/notesSlide32.xml" Id="R8a789bb5899c406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16a0f1c6d4b30" /><Relationship Type="http://schemas.openxmlformats.org/officeDocument/2006/relationships/hyperlink" Target="https://docs.docker.com/get-started/docker-concepts/building-images/writing-a-dockerfile/" TargetMode="External" Id="Rbeed9d1ef4834c2e" /><Relationship Type="http://schemas.openxmlformats.org/officeDocument/2006/relationships/hyperlink" Target="https://www.docker.com/resources/docker-intro-and-overview-on-demand-training/" TargetMode="External" Id="R42b528a2a3404bd4" /><Relationship Type="http://schemas.openxmlformats.org/officeDocument/2006/relationships/hyperlink" Target="https://github.com/SeedFlora/meet5CloudService" TargetMode="External" Id="Rd2c83151e5a64a55" /><Relationship Type="http://schemas.openxmlformats.org/officeDocument/2006/relationships/image" Target="/ppt/media/image22.png" Id="R84a0263fd47b4c35" /><Relationship Type="http://schemas.openxmlformats.org/officeDocument/2006/relationships/notesSlide" Target="/ppt/notesSlides/notesSlide33.xml" Id="R8b0b83474352424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60f22e33b4439d" /><Relationship Type="http://schemas.openxmlformats.org/officeDocument/2006/relationships/image" Target="/ppt/media/image23.png" Id="R578c5492717c405b" /><Relationship Type="http://schemas.openxmlformats.org/officeDocument/2006/relationships/notesSlide" Target="/ppt/notesSlides/notesSlide34.xml" Id="R6feb35bbf89d490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08d96eb024ef9" /><Relationship Type="http://schemas.openxmlformats.org/officeDocument/2006/relationships/image" Target="/ppt/media/image24.png" Id="Rd77fda316e5849be" /><Relationship Type="http://schemas.openxmlformats.org/officeDocument/2006/relationships/notesSlide" Target="/ppt/notesSlides/notesSlide35.xml" Id="R7d890950f674492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aabb8146fd4138" /><Relationship Type="http://schemas.openxmlformats.org/officeDocument/2006/relationships/image" Target="/ppt/media/image2.jpeg" Id="Rd57566871e83478f" /><Relationship Type="http://schemas.openxmlformats.org/officeDocument/2006/relationships/notesSlide" Target="/ppt/notesSlides/notesSlide36.xml" Id="R976bfbf64b8940f9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ff13cfb80b0452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e9b850ae4b48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0b2b16030b4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791F6FB8-88A3-4B25-8F8D-6AF668AD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2 SKS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7C71C59F-C6E8-436D-B29C-05E82550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112471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CORE</a:t>
            </a:r>
            <a:endParaRPr sz="56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EDA9D5D7-DEAB-4DD7-A424-A342A352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11247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Dockerfile, Build Cache, Multi-stage, Optimasi</a:t>
            </a:r>
            <a:endParaRPr sz="2200"/>
          </a:p>
        </p:txBody>
      </p:sp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38B50C3-12C3-489A-859C-8A540851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720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B2062B6-4D9C-48D7-93C7-EB31E232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5  |  100 MENIT</a:t>
            </a:r>
            <a:endParaRPr sz="1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60C0697-032D-4B41-9FB9-56F1A32C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EEF93737-0E31-4348-B15C-93B521A9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311496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040292-9337-45BC-8CEF-039684B3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2123FF1-D8DF-4CEC-8482-2181F9CF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1768828-B0B8-496F-95D8-EA919CED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480a286f7c4f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251c86a74e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7237CFA-ACA7-499D-9788-1B8BF9C0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1EF8C2D-27C4-4D33-9081-6E863EE8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Recap Pertemuan 4 &amp; Agenda Hari Ini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D11C916-E1C1-4229-8882-A187B333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konsep container ke pembuatan image sendiri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3524D0E-10C5-4756-BDA7-281FEA21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1BEAFCC-89A6-4C23-B1E2-33091FC3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DI PERTEMUAN 4, KITA SUDAH: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Virt + Container</a:t>
            </a:r>
            <a:endParaRPr sz="1100"/>
          </a:p>
        </p:txBody>
      </p:sp>
      <p:pic>
        <p:nvPicPr>
          <p:cNvPr id="4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36864c9fa641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F309493E-6B3B-441B-8FCF-4247257C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VM = full OS, Container = isolated process</a:t>
            </a:r>
            <a:endParaRPr sz="1200"/>
          </a:p>
        </p:txBody>
      </p:sp>
      <p:pic>
        <p:nvPicPr>
          <p:cNvPr id="4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d76fe15d534e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375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D4B0FB14-129B-4977-907A-46FED95E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4612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Namespace + cgroup = fondasi container</a:t>
            </a:r>
            <a:endParaRPr sz="1200"/>
          </a:p>
        </p:txBody>
      </p:sp>
      <p:pic>
        <p:nvPicPr>
          <p:cNvPr id="4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3ff92e1a8d49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776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5F4FA181-9498-409D-87B7-EC506002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8620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arch: CLI -&gt; daemon -&gt; registry</a:t>
            </a:r>
            <a:endParaRPr sz="1200"/>
          </a:p>
        </p:txBody>
      </p:sp>
      <p:pic>
        <p:nvPicPr>
          <p:cNvPr id="49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ab533e272149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177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D8A3BE02-6264-4620-8C1B-47C66A24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5262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Image layered + immutable, container ephemeral</a:t>
            </a:r>
            <a:endParaRPr sz="1200"/>
          </a:p>
        </p:txBody>
      </p:sp>
      <p:pic>
        <p:nvPicPr>
          <p:cNvPr id="51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3b472da96e42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578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75888120-D179-475C-8810-627F466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16636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Volume untuk persistent data (named, bind)</a:t>
            </a:r>
            <a:endParaRPr sz="1200"/>
          </a:p>
        </p:txBody>
      </p:sp>
      <p:sp>
        <p:nvSpPr>
          <p:cNvPr id="22" name="Shape 13">
            <a:extLst xmlns:a="http://schemas.openxmlformats.org/drawingml/2006/main">
              <a:ext uri="{FF2B5EF4-FFF2-40B4-BE49-F238E27FC236}">
                <a16:creationId xmlns:a16="http://schemas.microsoft.com/office/drawing/2014/main" id="{45790661-D20D-471E-AE98-40CB99E8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5C1616BA-8EFE-4CC4-93EB-31F60667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HARI INI, KITA AKAN: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Core</a:t>
            </a:r>
            <a:endParaRPr sz="1100"/>
          </a:p>
        </p:txBody>
      </p:sp>
      <p:sp>
        <p:nvSpPr>
          <p:cNvPr id="24" name="Text 15">
            <a:extLst xmlns:a="http://schemas.openxmlformats.org/drawingml/2006/main">
              <a:ext uri="{FF2B5EF4-FFF2-40B4-BE49-F238E27FC236}">
                <a16:creationId xmlns:a16="http://schemas.microsoft.com/office/drawing/2014/main" id="{E7DDE0BD-B32E-4C67-98BB-587307E0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3383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Dockerfile + 14 instruksi inti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Build instructions deep dive (FROM, RUN, CMD)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Build process + layer caching strategy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Image optimization (alpine, multi-stage)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Tagging strategy + push ke registry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6. Security best practices (non-root, scan)</a:t>
            </a:r>
            <a:endParaRPr sz="1200"/>
          </a:p>
        </p:txBody>
      </p:sp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70E40D76-117C-4FC6-A96A-15E22AD8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Lab 05: bangun dan uji Cloud Notes API dalam container, sebagai komponen proyek kelompok.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22727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B27A307-1317-4281-A8DF-EFAA7F46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187D28E-0DC8-4381-9572-1E9A4BA6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375E13-CD35-4A40-9B81-DB58DBCD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196091af464f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c4685e8fab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B3F0431-2CE4-4DEE-BF58-14CF01B3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3BC6C85-E037-421A-B26E-3E946500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Learning Outcomes - Pertemuan 5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2BD8A6A-BBF5-4E6A-BD9A-A0F41566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Capaian Sesi Hari Ini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6E52CB4-08E7-4756-8309-56FE1008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A31A4C6-35CF-44A2-8783-6C162331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1F5F4413-9525-4793-86FF-F9E3285A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5637FFE-2134-4390-8F09-D81AE573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200"/>
          </a:p>
        </p:txBody>
      </p:sp>
      <p:pic>
        <p:nvPicPr>
          <p:cNvPr id="5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f2686278a548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86000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E0A138F8-FD5C-4A14-B428-09C7FC5A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Menulis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DCAC673A-4261-4B39-A9F5-F99E9255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Dockerfile aplikasi web Node.js/Python yang dapat dibangun dan diuji.</a:t>
            </a:r>
            <a:endParaRPr sz="12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660BCE48-A51E-479A-81A8-2F2F1D5E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AAC10ACF-7921-4B3B-BC00-058974FE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DA916B5A-291B-4199-AC98-CE0AB451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88D4100E-6982-45BF-889E-18A4C3FB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200"/>
          </a:p>
        </p:txBody>
      </p:sp>
      <p:pic>
        <p:nvPicPr>
          <p:cNvPr id="6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068bc1df9f46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8072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A1750F69-F0E4-4831-B37C-77288C48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Memahami</a:t>
            </a:r>
            <a:endParaRPr sz="18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8539E2AC-2ACF-4E94-B631-78007D85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build cache + layer ordering untuk percepat build &amp; minimize rebuild.</a:t>
            </a:r>
            <a:endParaRPr sz="12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7BFB61AD-C3C4-4BAE-B8EA-45A4C5A0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6B890FD-16E4-471A-BE64-3BEFA347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B690E2EA-3461-40CB-BCB5-CA802362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2BADDEDC-B734-47E4-BBB4-BD42DBEF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200"/>
          </a:p>
        </p:txBody>
      </p:sp>
      <p:pic>
        <p:nvPicPr>
          <p:cNvPr id="7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1eca45b7334b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0144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8974A3F0-03A3-442C-99FB-5CB06A87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Mengoptimasi</a:t>
            </a:r>
            <a:endParaRPr sz="18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C612AE3F-0D27-469E-80B8-18EE69F0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pilihan base image dan multi-stage. Ukur ukuran serta uji kompatibilitasnya.</a:t>
            </a:r>
            <a:endParaRPr sz="12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EF7FF3FD-ACAC-47D4-BBB0-6E3AB02A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0DF17B53-7080-4E51-A614-2D381FF6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1D2E042E-D0D7-4F31-ABA1-B780BD88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67176767-4FD6-4AE8-A3C1-1971BFF7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200"/>
          </a:p>
        </p:txBody>
      </p:sp>
      <p:pic>
        <p:nvPicPr>
          <p:cNvPr id="7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d18444390e4d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72216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4D052741-A4B1-4CFA-A542-E79CBD3ED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Menerbitkan</a:t>
            </a:r>
            <a:endParaRPr sz="18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4B065385-911A-4916-934F-B640927C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image ke registry (Docker Hub, ghcr.io) dengan tagging strategy yang benar.</a:t>
            </a:r>
            <a:endParaRPr sz="1200"/>
          </a:p>
        </p:txBody>
      </p:sp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569B92F8-8634-4A90-9EB5-D217C144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350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Capaian utama RPS: LO2 Design (C3). Pilihan base image juga melatih analisis LO1.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700568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BCDB829-2708-4B40-83D9-9AFFBA6A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35AEAD5-1191-44E9-9A9E-642F565D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817F418-81D4-4C00-A9F7-F12DFBBF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9859EC7-0C37-4D06-B788-542680B8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CB3B325-2D9C-499D-997E-83E0596F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FAF96EB-9C7C-4938-85A8-2FA67542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08B1FFE-8F5C-45D0-A219-0CE1D42D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8d1c14dab948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619fcff86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052241EC-E8D1-4863-A67E-15E239B4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CDB9F40-5716-4950-97D0-25C24C15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Dockerfile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Fundamentals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8FA54A4-4C82-46C4-8354-D7B0B0DA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9E09DEC-B28A-48CB-9627-79E80808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Resep untuk bikin image - text file dengan instruksi step-by-step.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9785472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FFCA19-27E3-46E7-8B92-C112FAB8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AA2C36B-FCA8-43BC-80D0-A0A922EA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CA4820A-9778-4F57-ABE8-F2964436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ae9570f7944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61ef920b244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50AB65D-941B-4DF9-A84F-542A3DD7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A25472-A781-4DFE-BF1F-D574BED1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Apa itu Dockerfile?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C8AB2CF-8CE1-45E6-9C5A-F8F721E7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Blueprint yang mendefinisikan image - text file biasa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C5F0EEF-79D0-4BAD-98CA-F1750D78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6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b54f3d81647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169164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D4E3411B-3A0E-4DDB-9D85-B020B7A9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554480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Dockerfile = text file berisi instruksi step-by-step untuk membangun image.</a:t>
            </a:r>
            <a:endParaRPr sz="16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2439C13E-B650-4395-9BBC-7BF0267E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965960"/>
            <a:ext cx="96012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Nama default: Dockerfile. RUN/COPY/ADD mengubah filesystem. CMD/ENV menyimpan konfigurasi image.</a:t>
            </a:r>
            <a:endParaRPr sz="12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5636905C-BCEA-454F-8330-82771F4C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Flow: Dari Source ke Image yang Jalan</a:t>
            </a:r>
            <a:endParaRPr sz="14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44CCDD6F-A733-43C1-BAFE-A8A1158B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219456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2A3B4DBC-2A21-4213-A822-4D246267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21945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617FB2DC-760E-4582-AC95-C9912DB7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800"/>
          </a:p>
        </p:txBody>
      </p:sp>
      <p:pic>
        <p:nvPicPr>
          <p:cNvPr id="6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b54f3d81647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34440" y="39319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86945F8F-0C5C-4D9E-879A-32A1AA75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63440"/>
            <a:ext cx="2011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Source code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Dockerfile</a:t>
            </a:r>
            <a:endParaRPr sz="12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2E410FC5-F09D-4F5F-8477-B4AB674E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0048" y="4251960"/>
            <a:ext cx="118872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815B71AC-5F22-4729-B54B-111EA1A5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291840"/>
            <a:ext cx="219456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16">
            <a:extLst xmlns:a="http://schemas.openxmlformats.org/drawingml/2006/main">
              <a:ext uri="{FF2B5EF4-FFF2-40B4-BE49-F238E27FC236}">
                <a16:creationId xmlns:a16="http://schemas.microsoft.com/office/drawing/2014/main" id="{253678D1-3B97-4C3D-8BB5-D7C10A1F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291840"/>
            <a:ext cx="21945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A73252B5-4D97-4300-B5DF-45169388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29184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800"/>
          </a:p>
        </p:txBody>
      </p:sp>
      <p:pic>
        <p:nvPicPr>
          <p:cNvPr id="7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1419b12c141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39319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25" name="Text 18">
            <a:extLst xmlns:a="http://schemas.openxmlformats.org/drawingml/2006/main">
              <a:ext uri="{FF2B5EF4-FFF2-40B4-BE49-F238E27FC236}">
                <a16:creationId xmlns:a16="http://schemas.microsoft.com/office/drawing/2014/main" id="{053A52DC-2A9F-4D50-8BC3-078ACA88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4663440"/>
            <a:ext cx="2011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build</a:t>
            </a:r>
            <a:endParaRPr sz="1200"/>
          </a:p>
        </p:txBody>
      </p:sp>
      <p:sp>
        <p:nvSpPr>
          <p:cNvPr id="26" name="Shape 19">
            <a:extLst xmlns:a="http://schemas.openxmlformats.org/drawingml/2006/main">
              <a:ext uri="{FF2B5EF4-FFF2-40B4-BE49-F238E27FC236}">
                <a16:creationId xmlns:a16="http://schemas.microsoft.com/office/drawing/2014/main" id="{E5DA29A2-7B32-4763-8197-2C6D5191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1768" y="4251960"/>
            <a:ext cx="118872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D1AF6315-0568-426E-BCB2-33D9DCBD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291840"/>
            <a:ext cx="219456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1">
            <a:extLst xmlns:a="http://schemas.openxmlformats.org/drawingml/2006/main">
              <a:ext uri="{FF2B5EF4-FFF2-40B4-BE49-F238E27FC236}">
                <a16:creationId xmlns:a16="http://schemas.microsoft.com/office/drawing/2014/main" id="{4E514AFE-CF9E-4979-A5E4-962B406D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291840"/>
            <a:ext cx="21945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7BFAF897-54AD-486E-BD1C-CED9707E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329184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800"/>
          </a:p>
        </p:txBody>
      </p:sp>
      <p:pic>
        <p:nvPicPr>
          <p:cNvPr id="8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b402a370749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97880" y="39319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31" name="Text 23">
            <a:extLst xmlns:a="http://schemas.openxmlformats.org/drawingml/2006/main">
              <a:ext uri="{FF2B5EF4-FFF2-40B4-BE49-F238E27FC236}">
                <a16:creationId xmlns:a16="http://schemas.microsoft.com/office/drawing/2014/main" id="{8997809B-4A67-472E-A3B1-27D11ACE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663440"/>
            <a:ext cx="2011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Image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(tagged)</a:t>
            </a:r>
            <a:endParaRPr sz="1200"/>
          </a:p>
        </p:txBody>
      </p:sp>
      <p:sp>
        <p:nvSpPr>
          <p:cNvPr id="32" name="Shape 24">
            <a:extLst xmlns:a="http://schemas.openxmlformats.org/drawingml/2006/main">
              <a:ext uri="{FF2B5EF4-FFF2-40B4-BE49-F238E27FC236}">
                <a16:creationId xmlns:a16="http://schemas.microsoft.com/office/drawing/2014/main" id="{E7572111-BB87-4D35-BA1A-FF167673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488" y="4251960"/>
            <a:ext cx="118872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3" name="Shape 25">
            <a:extLst xmlns:a="http://schemas.openxmlformats.org/drawingml/2006/main">
              <a:ext uri="{FF2B5EF4-FFF2-40B4-BE49-F238E27FC236}">
                <a16:creationId xmlns:a16="http://schemas.microsoft.com/office/drawing/2014/main" id="{6A5BCE4B-3C69-4D21-893C-290C910D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291840"/>
            <a:ext cx="219456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4" name="Shape 26">
            <a:extLst xmlns:a="http://schemas.openxmlformats.org/drawingml/2006/main">
              <a:ext uri="{FF2B5EF4-FFF2-40B4-BE49-F238E27FC236}">
                <a16:creationId xmlns:a16="http://schemas.microsoft.com/office/drawing/2014/main" id="{B54028DD-7A69-46EF-8DAE-59883196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291840"/>
            <a:ext cx="21945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5" name="Text 27">
            <a:extLst xmlns:a="http://schemas.openxmlformats.org/drawingml/2006/main">
              <a:ext uri="{FF2B5EF4-FFF2-40B4-BE49-F238E27FC236}">
                <a16:creationId xmlns:a16="http://schemas.microsoft.com/office/drawing/2014/main" id="{681B8503-D0EB-4054-B468-41558115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29184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800"/>
          </a:p>
        </p:txBody>
      </p:sp>
      <p:pic>
        <p:nvPicPr>
          <p:cNvPr id="8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b3bd8677649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29600" y="39319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37" name="Text 28">
            <a:extLst xmlns:a="http://schemas.openxmlformats.org/drawingml/2006/main">
              <a:ext uri="{FF2B5EF4-FFF2-40B4-BE49-F238E27FC236}">
                <a16:creationId xmlns:a16="http://schemas.microsoft.com/office/drawing/2014/main" id="{B75A8C6A-8429-4A41-B400-53F09DB1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63440"/>
            <a:ext cx="2011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 run</a:t>
            </a:r>
            <a:endParaRPr sz="1200"/>
          </a:p>
        </p:txBody>
      </p:sp>
      <p:sp>
        <p:nvSpPr>
          <p:cNvPr id="38" name="Shape 29">
            <a:extLst xmlns:a="http://schemas.openxmlformats.org/drawingml/2006/main">
              <a:ext uri="{FF2B5EF4-FFF2-40B4-BE49-F238E27FC236}">
                <a16:creationId xmlns:a16="http://schemas.microsoft.com/office/drawing/2014/main" id="{F10C4C06-F638-4436-BD68-0EECECC3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5208" y="4251960"/>
            <a:ext cx="118872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9" name="Shape 30">
            <a:extLst xmlns:a="http://schemas.openxmlformats.org/drawingml/2006/main">
              <a:ext uri="{FF2B5EF4-FFF2-40B4-BE49-F238E27FC236}">
                <a16:creationId xmlns:a16="http://schemas.microsoft.com/office/drawing/2014/main" id="{4B4E0F8C-54C7-4584-BA2B-56886D26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291840"/>
            <a:ext cx="219456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1">
            <a:extLst xmlns:a="http://schemas.openxmlformats.org/drawingml/2006/main">
              <a:ext uri="{FF2B5EF4-FFF2-40B4-BE49-F238E27FC236}">
                <a16:creationId xmlns:a16="http://schemas.microsoft.com/office/drawing/2014/main" id="{74D707FA-C21B-4EB2-A0CD-D43FE7F0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291840"/>
            <a:ext cx="21945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1" name="Text 32">
            <a:extLst xmlns:a="http://schemas.openxmlformats.org/drawingml/2006/main">
              <a:ext uri="{FF2B5EF4-FFF2-40B4-BE49-F238E27FC236}">
                <a16:creationId xmlns:a16="http://schemas.microsoft.com/office/drawing/2014/main" id="{E15C3EAB-7E43-4C4C-9632-01F618F4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29184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800"/>
          </a:p>
        </p:txBody>
      </p:sp>
      <p:pic>
        <p:nvPicPr>
          <p:cNvPr id="93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ace2caa05548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61320" y="39319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43" name="Text 33">
            <a:extLst xmlns:a="http://schemas.openxmlformats.org/drawingml/2006/main">
              <a:ext uri="{FF2B5EF4-FFF2-40B4-BE49-F238E27FC236}">
                <a16:creationId xmlns:a16="http://schemas.microsoft.com/office/drawing/2014/main" id="{253E7A16-3860-447A-A444-3D8D4C61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663440"/>
            <a:ext cx="2011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Container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running</a:t>
            </a:r>
            <a:endParaRPr sz="1200"/>
          </a:p>
        </p:txBody>
      </p:sp>
      <p:sp>
        <p:nvSpPr>
          <p:cNvPr id="44" name="Text 34">
            <a:extLst xmlns:a="http://schemas.openxmlformats.org/drawingml/2006/main">
              <a:ext uri="{FF2B5EF4-FFF2-40B4-BE49-F238E27FC236}">
                <a16:creationId xmlns:a16="http://schemas.microsoft.com/office/drawing/2014/main" id="{2AA1AA7B-71EF-413D-B576-F4A093FA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521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build juga bergantung pada base image, dependency, platform, dan context. Lockfile serta digest membantu mengendalikan input.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885289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CFE35C5-A05B-4EE7-9CD7-E7A41B99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ED0F682-0180-4D6B-9446-915AFF93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1B06EC1-AAA6-4D4B-8895-3DB671FA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8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08d45d1c244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8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5ac0f16b9447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F6D48B5-585E-41CD-A8AC-E2DFDE14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86544C0-2A43-43E7-9DA4-91496B1E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14 Instruksi Inti Dockerfile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1E8EAF0-A0C6-417C-9A24-0D8A6378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Subset untuk sesi ini, dikelompokkan menurut fungsi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F3B9B64-32E0-4FED-BA9A-3CF747A7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58C4623-9DA7-4A62-A47F-F217D430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6467420-42AB-4035-852E-CEDBEB9B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Base &amp; Build</a:t>
            </a:r>
            <a:endParaRPr sz="13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6EFE397-22BD-4E51-B016-D4F0EE94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1168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CEF071F-1094-4553-B13F-65263429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1168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08ED4C1-F415-449F-8F6B-CAB35D3F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1168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FROM</a:t>
            </a:r>
            <a:endParaRPr sz="12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B909AC7-4A82-4617-B794-AD6DD5D4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9572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Pilih base image (wajib)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B5DEBF4-0421-44FA-9824-0225524E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1752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5AD7A68-3DCC-40D6-8AC2-95002486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1752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6F754D68-8DB8-4828-A963-07450204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175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ARG</a:t>
            </a:r>
            <a:endParaRPr sz="12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8264954C-7C9C-468B-A8A4-804F1CDC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0156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Variabel build-time</a:t>
            </a:r>
            <a:endParaRPr sz="10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3584F30-575F-4CDF-822C-ED058592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02336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A6F1CC4B-CEEA-49EC-B3F7-A67E960F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02336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63FAB13-5B86-473F-8F3A-993B5D33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02336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RUN</a:t>
            </a:r>
            <a:endParaRPr sz="12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58035E90-2CE7-41D7-A92B-0CF92620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0740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Eksekusi command saat build</a:t>
            </a:r>
            <a:endParaRPr sz="10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242EB4E-805E-4FC8-856A-48E06D467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E6D7FAE8-21C7-46A3-8C7D-BC792C85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7F56C7B0-E13D-44DB-A079-A46B6EBB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Filesystem</a:t>
            </a:r>
            <a:endParaRPr sz="13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EF6014A8-2E5B-4A2C-9C02-95BF49AD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01168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A1E9E9F-DAE9-4777-84A0-83123FFC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01168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92C80B65-FD4D-4CC9-8C8E-8E4384F4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01168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COPY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F6F754C6-39A4-4D07-B894-C323932B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39572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Copy file dari host ke image</a:t>
            </a:r>
            <a:endParaRPr sz="10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C60B2FFF-3CF4-4F35-93C8-E929F3B8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01752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42D32C0B-82A1-4FB9-8B71-D0F28852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01752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6300AD1F-0C76-407A-804A-99BC6D2E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0175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ADD</a:t>
            </a:r>
            <a:endParaRPr sz="12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60A7059-C311-4FC0-85FC-B307783E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340156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Mirip COPY + auto-extract</a:t>
            </a:r>
            <a:endParaRPr sz="100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2F9C615C-4D86-4997-A48D-FD37E8C8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02336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DA85228C-5C90-4C77-B5D4-723213DD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02336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3AB7AF83-EE33-44CD-9436-DFA07AB0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02336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WORKDIR</a:t>
            </a:r>
            <a:endParaRPr sz="12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073AC2BF-13E3-4F71-98F3-13BD172D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440740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Set direktori kerja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C3A8DC79-7FAA-46E9-9EFD-407837F9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02920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C9E7A981-F64D-458A-8C4B-F3953752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02920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F9F2D1DB-4E2D-4E08-97D7-0CCBED30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02920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VOLUME</a:t>
            </a:r>
            <a:endParaRPr sz="12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617D2678-CEEA-4412-8817-76BE9FBB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541324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Mark mount point</a:t>
            </a:r>
            <a:endParaRPr sz="100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7DF5EA42-3DE3-4A0C-8212-706002DF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77082C8F-4094-42E8-A077-5307BC8A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56490CE9-78F0-4C85-8CC8-BF9F46EF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Runtime</a:t>
            </a:r>
            <a:endParaRPr sz="1300"/>
          </a:p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D53F7FE6-E9D9-4D03-8EF2-097142F7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201168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50E92743-31FA-401F-ACD9-715DDCAF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201168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970FA281-A26B-4BEE-9490-060C9C78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201168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CMD</a:t>
            </a:r>
            <a:endParaRPr sz="12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3705E161-9EE2-44C9-B660-39A19AE7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39572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Default command saat run</a:t>
            </a:r>
            <a:endParaRPr sz="1000"/>
          </a:p>
        </p:txBody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0F248959-CD71-4A14-8039-2B9C49CD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301752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2" name="Shape 48">
            <a:extLst xmlns:a="http://schemas.openxmlformats.org/drawingml/2006/main">
              <a:ext uri="{FF2B5EF4-FFF2-40B4-BE49-F238E27FC236}">
                <a16:creationId xmlns:a16="http://schemas.microsoft.com/office/drawing/2014/main" id="{88FA5CE5-0574-4D4F-9FCE-9F503759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301752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53" name="Text 49">
            <a:extLst xmlns:a="http://schemas.openxmlformats.org/drawingml/2006/main">
              <a:ext uri="{FF2B5EF4-FFF2-40B4-BE49-F238E27FC236}">
                <a16:creationId xmlns:a16="http://schemas.microsoft.com/office/drawing/2014/main" id="{E8DA6C53-8D6F-48F8-B2AD-43F869B1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30175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ENTRYPOINT</a:t>
            </a:r>
            <a:endParaRPr sz="1200"/>
          </a:p>
        </p:txBody>
      </p:sp>
      <p:sp>
        <p:nvSpPr>
          <p:cNvPr id="54" name="Text 50">
            <a:extLst xmlns:a="http://schemas.openxmlformats.org/drawingml/2006/main">
              <a:ext uri="{FF2B5EF4-FFF2-40B4-BE49-F238E27FC236}">
                <a16:creationId xmlns:a16="http://schemas.microsoft.com/office/drawing/2014/main" id="{4978442A-BC37-42EC-B540-F521FDA5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40156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Executable default saat run</a:t>
            </a:r>
            <a:endParaRPr sz="1000"/>
          </a:p>
        </p:txBody>
      </p:sp>
      <p:sp>
        <p:nvSpPr>
          <p:cNvPr id="55" name="Shape 51">
            <a:extLst xmlns:a="http://schemas.openxmlformats.org/drawingml/2006/main">
              <a:ext uri="{FF2B5EF4-FFF2-40B4-BE49-F238E27FC236}">
                <a16:creationId xmlns:a16="http://schemas.microsoft.com/office/drawing/2014/main" id="{7190E152-52BC-40B7-BB74-A82D1AB3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402336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6" name="Shape 52">
            <a:extLst xmlns:a="http://schemas.openxmlformats.org/drawingml/2006/main">
              <a:ext uri="{FF2B5EF4-FFF2-40B4-BE49-F238E27FC236}">
                <a16:creationId xmlns:a16="http://schemas.microsoft.com/office/drawing/2014/main" id="{B4E9155E-E057-429F-A2EF-26C924FD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402336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57" name="Text 53">
            <a:extLst xmlns:a="http://schemas.openxmlformats.org/drawingml/2006/main">
              <a:ext uri="{FF2B5EF4-FFF2-40B4-BE49-F238E27FC236}">
                <a16:creationId xmlns:a16="http://schemas.microsoft.com/office/drawing/2014/main" id="{33823F71-F975-4283-AA66-C0589A6A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402336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ENV</a:t>
            </a:r>
            <a:endParaRPr sz="1200"/>
          </a:p>
        </p:txBody>
      </p:sp>
      <p:sp>
        <p:nvSpPr>
          <p:cNvPr id="58" name="Text 54">
            <a:extLst xmlns:a="http://schemas.openxmlformats.org/drawingml/2006/main">
              <a:ext uri="{FF2B5EF4-FFF2-40B4-BE49-F238E27FC236}">
                <a16:creationId xmlns:a16="http://schemas.microsoft.com/office/drawing/2014/main" id="{37E7C25A-2F1E-4B60-82D0-6E76ED3A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440740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Environment variable</a:t>
            </a:r>
            <a:endParaRPr sz="1000"/>
          </a:p>
        </p:txBody>
      </p:sp>
      <p:sp>
        <p:nvSpPr>
          <p:cNvPr id="59" name="Shape 55">
            <a:extLst xmlns:a="http://schemas.openxmlformats.org/drawingml/2006/main">
              <a:ext uri="{FF2B5EF4-FFF2-40B4-BE49-F238E27FC236}">
                <a16:creationId xmlns:a16="http://schemas.microsoft.com/office/drawing/2014/main" id="{101B73B4-02ED-4C57-ACBD-E5847FCC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02920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60" name="Shape 56">
            <a:extLst xmlns:a="http://schemas.openxmlformats.org/drawingml/2006/main">
              <a:ext uri="{FF2B5EF4-FFF2-40B4-BE49-F238E27FC236}">
                <a16:creationId xmlns:a16="http://schemas.microsoft.com/office/drawing/2014/main" id="{F42F6660-FE04-4B26-885F-B898E100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02920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61" name="Text 57">
            <a:extLst xmlns:a="http://schemas.openxmlformats.org/drawingml/2006/main">
              <a:ext uri="{FF2B5EF4-FFF2-40B4-BE49-F238E27FC236}">
                <a16:creationId xmlns:a16="http://schemas.microsoft.com/office/drawing/2014/main" id="{F3204BA1-4677-47C7-A98C-62983E43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02920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EXPOSE</a:t>
            </a:r>
            <a:endParaRPr sz="1200"/>
          </a:p>
        </p:txBody>
      </p:sp>
      <p:sp>
        <p:nvSpPr>
          <p:cNvPr id="62" name="Text 58">
            <a:extLst xmlns:a="http://schemas.openxmlformats.org/drawingml/2006/main">
              <a:ext uri="{FF2B5EF4-FFF2-40B4-BE49-F238E27FC236}">
                <a16:creationId xmlns:a16="http://schemas.microsoft.com/office/drawing/2014/main" id="{BCFB48BE-044E-4576-8BC1-19AA6EC55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541324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Dokumentasi port</a:t>
            </a:r>
            <a:endParaRPr sz="1000"/>
          </a:p>
        </p:txBody>
      </p:sp>
      <p:sp>
        <p:nvSpPr>
          <p:cNvPr id="63" name="Shape 59">
            <a:extLst xmlns:a="http://schemas.openxmlformats.org/drawingml/2006/main">
              <a:ext uri="{FF2B5EF4-FFF2-40B4-BE49-F238E27FC236}">
                <a16:creationId xmlns:a16="http://schemas.microsoft.com/office/drawing/2014/main" id="{97231C23-532D-4031-BF03-B0D39BF0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64" name="Shape 60">
            <a:extLst xmlns:a="http://schemas.openxmlformats.org/drawingml/2006/main">
              <a:ext uri="{FF2B5EF4-FFF2-40B4-BE49-F238E27FC236}">
                <a16:creationId xmlns:a16="http://schemas.microsoft.com/office/drawing/2014/main" id="{8D8EEA04-9884-4714-AB68-3D0797F8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65" name="Text 61">
            <a:extLst xmlns:a="http://schemas.openxmlformats.org/drawingml/2006/main">
              <a:ext uri="{FF2B5EF4-FFF2-40B4-BE49-F238E27FC236}">
                <a16:creationId xmlns:a16="http://schemas.microsoft.com/office/drawing/2014/main" id="{911E9529-A3DA-4EB7-A801-E290F2EE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Meta &amp; Security</a:t>
            </a:r>
            <a:endParaRPr sz="1300"/>
          </a:p>
        </p:txBody>
      </p:sp>
      <p:sp>
        <p:nvSpPr>
          <p:cNvPr id="66" name="Shape 62">
            <a:extLst xmlns:a="http://schemas.openxmlformats.org/drawingml/2006/main">
              <a:ext uri="{FF2B5EF4-FFF2-40B4-BE49-F238E27FC236}">
                <a16:creationId xmlns:a16="http://schemas.microsoft.com/office/drawing/2014/main" id="{BEA41271-1428-4AE6-9A00-A007E476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201168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67" name="Shape 63">
            <a:extLst xmlns:a="http://schemas.openxmlformats.org/drawingml/2006/main">
              <a:ext uri="{FF2B5EF4-FFF2-40B4-BE49-F238E27FC236}">
                <a16:creationId xmlns:a16="http://schemas.microsoft.com/office/drawing/2014/main" id="{08656186-A7FF-41FC-AB3C-32BA9C14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201168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68" name="Text 64">
            <a:extLst xmlns:a="http://schemas.openxmlformats.org/drawingml/2006/main">
              <a:ext uri="{FF2B5EF4-FFF2-40B4-BE49-F238E27FC236}">
                <a16:creationId xmlns:a16="http://schemas.microsoft.com/office/drawing/2014/main" id="{46887531-841F-492B-978A-18ABE9CC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201168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USER</a:t>
            </a:r>
            <a:endParaRPr sz="1200"/>
          </a:p>
        </p:txBody>
      </p:sp>
      <p:sp>
        <p:nvSpPr>
          <p:cNvPr id="69" name="Text 65">
            <a:extLst xmlns:a="http://schemas.openxmlformats.org/drawingml/2006/main">
              <a:ext uri="{FF2B5EF4-FFF2-40B4-BE49-F238E27FC236}">
                <a16:creationId xmlns:a16="http://schemas.microsoft.com/office/drawing/2014/main" id="{46A30C6A-5FC3-41D4-9264-00EABF10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9572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Set user/UID untuk RUN dan run</a:t>
            </a:r>
            <a:endParaRPr sz="1000"/>
          </a:p>
        </p:txBody>
      </p:sp>
      <p:sp>
        <p:nvSpPr>
          <p:cNvPr id="70" name="Shape 66">
            <a:extLst xmlns:a="http://schemas.openxmlformats.org/drawingml/2006/main">
              <a:ext uri="{FF2B5EF4-FFF2-40B4-BE49-F238E27FC236}">
                <a16:creationId xmlns:a16="http://schemas.microsoft.com/office/drawing/2014/main" id="{B755D775-DA7C-4147-89E8-989A913E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01752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71" name="Shape 67">
            <a:extLst xmlns:a="http://schemas.openxmlformats.org/drawingml/2006/main">
              <a:ext uri="{FF2B5EF4-FFF2-40B4-BE49-F238E27FC236}">
                <a16:creationId xmlns:a16="http://schemas.microsoft.com/office/drawing/2014/main" id="{DE3167CC-FAF6-46EE-8C82-FD1E787A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01752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72" name="Text 68">
            <a:extLst xmlns:a="http://schemas.openxmlformats.org/drawingml/2006/main">
              <a:ext uri="{FF2B5EF4-FFF2-40B4-BE49-F238E27FC236}">
                <a16:creationId xmlns:a16="http://schemas.microsoft.com/office/drawing/2014/main" id="{9B45B730-ED12-4B92-BE4D-13A68596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0175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LABEL</a:t>
            </a:r>
            <a:endParaRPr sz="1200"/>
          </a:p>
        </p:txBody>
      </p:sp>
      <p:sp>
        <p:nvSpPr>
          <p:cNvPr id="73" name="Text 69">
            <a:extLst xmlns:a="http://schemas.openxmlformats.org/drawingml/2006/main">
              <a:ext uri="{FF2B5EF4-FFF2-40B4-BE49-F238E27FC236}">
                <a16:creationId xmlns:a16="http://schemas.microsoft.com/office/drawing/2014/main" id="{4311B913-ADC0-47BD-BBCA-1C3C8EFB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40156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Metadata image (key=val)</a:t>
            </a:r>
            <a:endParaRPr sz="1000"/>
          </a:p>
        </p:txBody>
      </p:sp>
      <p:sp>
        <p:nvSpPr>
          <p:cNvPr id="74" name="Shape 70">
            <a:extLst xmlns:a="http://schemas.openxmlformats.org/drawingml/2006/main">
              <a:ext uri="{FF2B5EF4-FFF2-40B4-BE49-F238E27FC236}">
                <a16:creationId xmlns:a16="http://schemas.microsoft.com/office/drawing/2014/main" id="{92BE7B46-B8F1-4442-AB63-398E3FCB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4023360"/>
            <a:ext cx="24231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75" name="Shape 71">
            <a:extLst xmlns:a="http://schemas.openxmlformats.org/drawingml/2006/main">
              <a:ext uri="{FF2B5EF4-FFF2-40B4-BE49-F238E27FC236}">
                <a16:creationId xmlns:a16="http://schemas.microsoft.com/office/drawing/2014/main" id="{4E16CA76-82E3-4F8F-9F1E-6267E908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4023360"/>
            <a:ext cx="2423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76" name="Text 72">
            <a:extLst xmlns:a="http://schemas.openxmlformats.org/drawingml/2006/main">
              <a:ext uri="{FF2B5EF4-FFF2-40B4-BE49-F238E27FC236}">
                <a16:creationId xmlns:a16="http://schemas.microsoft.com/office/drawing/2014/main" id="{D9E17E5B-5185-4DAE-8293-E505D50F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402336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HEALTHCHECK</a:t>
            </a:r>
            <a:endParaRPr sz="1200"/>
          </a:p>
        </p:txBody>
      </p:sp>
      <p:sp>
        <p:nvSpPr>
          <p:cNvPr id="77" name="Text 73">
            <a:extLst xmlns:a="http://schemas.openxmlformats.org/drawingml/2006/main">
              <a:ext uri="{FF2B5EF4-FFF2-40B4-BE49-F238E27FC236}">
                <a16:creationId xmlns:a16="http://schemas.microsoft.com/office/drawing/2014/main" id="{8B1E58F9-3357-4859-AD94-7070CD52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4407408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container sehat / tidak</a:t>
            </a:r>
            <a:endParaRPr sz="1000"/>
          </a:p>
        </p:txBody>
      </p:sp>
      <p:sp>
        <p:nvSpPr>
          <p:cNvPr id="78" name="Text 74">
            <a:extLst xmlns:a="http://schemas.openxmlformats.org/drawingml/2006/main">
              <a:ext uri="{FF2B5EF4-FFF2-40B4-BE49-F238E27FC236}">
                <a16:creationId xmlns:a16="http://schemas.microsoft.com/office/drawing/2014/main" id="{C3326EFA-1ADA-4699-8B89-FA444EE4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Fokus sesi: FROM, RUN, COPY, WORKDIR, ENV, EXPOSE, USER, CMD, ENTRYPOINT. Reference memuat instruksi lain.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0589331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6AE3557-318E-47FE-8022-C562A1D8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CA2F5A4-091E-45A6-9A9A-2B73C985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2AC52A3-ED8E-4518-A6E2-8E857D77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91df1ef2e34c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79349d06cd4f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B16D606-3CFC-4165-977A-6BA74565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457E301-0F4D-44A7-8BF1-3DF10828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Contoh Dockerfile Pertama - Node.js App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85AAB07-837F-49B7-892C-B0E3DECA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 Node.js mandiri: lockfile tersedia, server listen 0.0.0.0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EFBA26B-CB00-4C28-9711-AEE3A010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E54A884-96D6-4E92-B447-CD241002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18FEFFAB-12CD-44B7-9CB4-5F5C63E9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F49B5BA-B73C-4027-B2FD-C124D899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A8146B0-EEFB-461C-8A40-6C48F7D5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A2F93DE-2C11-40AD-A69E-5814D890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Dockerfile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910E6C4-2258-406D-A6CF-5B8BC492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Base image dari Docker Hub</a:t>
            </a: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sz="12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node:24-alpine</a:t>
            </a: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Direktori kerja di image</a:t>
            </a: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WORKDIR </a:t>
            </a: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/usr/src/app</a:t>
            </a: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Copy package.json dulu (cache layer)</a:t>
            </a: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COPY package.json package-lock.json ./</a:t>
            </a: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RUN </a:t>
            </a: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npm ci --omit=dev</a:t>
            </a: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Copy source code</a:t>
            </a: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COPY </a:t>
            </a: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 .</a:t>
            </a: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Expose + run</a:t>
            </a: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EXPOSE </a:t>
            </a: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3000</a:t>
            </a:r>
            <a:endParaRPr sz="12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CMD </a:t>
            </a:r>
            <a:r>
              <a:rPr sz="12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["node", "server.js"]</a:t>
            </a:r>
            <a:endParaRPr sz="12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6ED53269-E4C8-49C6-AC7E-D73B74484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2C17A724-5692-4EE5-8F15-828CFE04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3E2E335B-F13F-49B6-A5C4-00BEDFEB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2DA5B9F-081F-4F3F-891A-D080632D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D0598ADD-5249-48C6-AE15-0F204A3C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0029BDB-3CA4-48EB-B0AA-F529ABA2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build + run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7D238D50-889D-4BA5-80F3-DE7F34BC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Perintah contoh Node.js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myapp:1.0 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Batasi port ke localhost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node-demo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127.0.0.1:3000:3000 myapp:1.0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Uji lalu bersihkan container demo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http://127.0.0.1:3000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node-demo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Kode: examples/theory-node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Lab 05 memakai FastAPI pada port 8000.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5902195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A20CA46-A39A-46A8-914B-ED6C92C1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92C1DEC-FCE4-499C-9A16-5EFF473A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E5BC6FB-BADB-4680-AB75-276E39FD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9FE1AE0-793B-47DF-9882-832EEC57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E1427B4-0835-472D-8612-DC62493C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0078F55-B06E-43BF-AE26-A569569D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EDFFF3A-03B4-4817-862D-AD9E77DB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dbbcc4feee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aa669dbd124f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5882194-46BF-490B-8D53-E55BB247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6E304FF-F9E7-40E6-9E02-06E9FE8D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Instructions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Deep Dive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E8618D6-633B-4AE4-B7AD-BA9490AC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D989134-5D6E-4CBA-89D8-07B74086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FROM, RUN, COPY, CMD, ENTRYPOINT - dibedah satu-satu.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4421793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069CC6E-1B53-42C4-BA2C-8C7C1DA2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65B36A-4711-4A71-AA26-8D00E5CB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DF7C89E-86CD-4402-8C1C-038EFE79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bf4af7c40e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84cfef13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7A95CCF-4560-4147-81A3-586E6C8A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34D69E3-1F4D-4139-A183-BBC420B5F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FROM - Memilih Base Image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EA3F590-77CC-4C15-A1D0-17876DE55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FROM memulai setiap stage build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2A6CF26-8B56-4ADD-9D88-5A4C4E50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96E67B1-A0A7-4501-9CC3-085297E3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Komentar, parser directive, dan ARG global dapat mendahului FROM.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2F6EE07-92AE-4C03-B438-16445753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Strategi Pilih Base Image</a:t>
            </a:r>
            <a:endParaRPr sz="14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F175193-487E-4695-8DAB-BE224B38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71800"/>
            <a:ext cx="27432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ed531726e04c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31546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B3329C85-0FE2-4F89-8773-6EB4B0B8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89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Pakai Official Image</a:t>
            </a:r>
            <a:endParaRPr sz="12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42535F7B-D738-4E1D-BD18-181CF0E2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0332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Official Images mengikuti proses kurasi. Tetap cek pemelihara dan hasil scan.</a:t>
            </a:r>
            <a:endParaRPr sz="10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0CF919E5-2F65-47E7-A40A-80448B8F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971800"/>
            <a:ext cx="27432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58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25df97e3c449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74720" y="31546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518D63D7-2A89-4854-979B-488D50A8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31089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Pin Version Spesifik</a:t>
            </a:r>
            <a:endParaRPr sz="12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8BC62935-3313-4D7E-81C6-B9121802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370332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Tag versi membatasi perubahan. Pin digest bila perlu identitas konten yang tetap.</a:t>
            </a:r>
            <a:endParaRPr sz="1000"/>
          </a:p>
        </p:txBody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41A50425-411D-4C35-B126-5F1B7C1C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971800"/>
            <a:ext cx="27432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62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8ed61f4f1d40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5080" y="31546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CF2001FA-E0C6-4004-A9B3-CB490211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1089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Pilih yang Minimal</a:t>
            </a:r>
            <a:endParaRPr sz="1200"/>
          </a:p>
        </p:txBody>
      </p:sp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D0C0BB0E-53A5-41EE-BEFD-78FDF527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70332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alpine / distroless / slim variant - lebih kecil + attack surface kecil.</a:t>
            </a:r>
            <a:endParaRPr sz="1000"/>
          </a:p>
        </p:txBody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C537F2B8-36D3-4DA6-9143-36D5BE73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2971800"/>
            <a:ext cx="27432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6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07f705a74d49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5440" y="31546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9E5F3697-77E9-4AEB-8DF0-8C611437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108960"/>
            <a:ext cx="1920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Cek Image Trusted</a:t>
            </a:r>
            <a:endParaRPr sz="1200"/>
          </a:p>
        </p:txBody>
      </p:sp>
      <p:sp>
        <p:nvSpPr>
          <p:cNvPr id="28" name="Text 20">
            <a:extLst xmlns:a="http://schemas.openxmlformats.org/drawingml/2006/main">
              <a:ext uri="{FF2B5EF4-FFF2-40B4-BE49-F238E27FC236}">
                <a16:creationId xmlns:a16="http://schemas.microsoft.com/office/drawing/2014/main" id="{133B2788-31DD-445E-A86A-69B10696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703320"/>
            <a:ext cx="24688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sumber Dockerfile, versi yang didukung, dan kebijakan pembaruan.</a:t>
            </a:r>
            <a:endParaRPr sz="1000"/>
          </a:p>
        </p:txBody>
      </p:sp>
      <p:sp>
        <p:nvSpPr>
          <p:cNvPr id="29" name="Shape 21">
            <a:extLst xmlns:a="http://schemas.openxmlformats.org/drawingml/2006/main">
              <a:ext uri="{FF2B5EF4-FFF2-40B4-BE49-F238E27FC236}">
                <a16:creationId xmlns:a16="http://schemas.microsoft.com/office/drawing/2014/main" id="{BBDE0C09-6F56-4DC0-ADC4-A8EEFF98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1124712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0" name="Shape 22">
            <a:extLst xmlns:a="http://schemas.openxmlformats.org/drawingml/2006/main">
              <a:ext uri="{FF2B5EF4-FFF2-40B4-BE49-F238E27FC236}">
                <a16:creationId xmlns:a16="http://schemas.microsoft.com/office/drawing/2014/main" id="{A3ADAAF8-D9DA-4035-A800-0F39E399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1" name="Shape 23">
            <a:extLst xmlns:a="http://schemas.openxmlformats.org/drawingml/2006/main">
              <a:ext uri="{FF2B5EF4-FFF2-40B4-BE49-F238E27FC236}">
                <a16:creationId xmlns:a16="http://schemas.microsoft.com/office/drawing/2014/main" id="{F1CFFA46-CEC4-4D01-8AF4-FF6BAF9F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000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2" name="Shape 24">
            <a:extLst xmlns:a="http://schemas.openxmlformats.org/drawingml/2006/main">
              <a:ext uri="{FF2B5EF4-FFF2-40B4-BE49-F238E27FC236}">
                <a16:creationId xmlns:a16="http://schemas.microsoft.com/office/drawing/2014/main" id="{660CBDE0-400E-4D47-BE92-F278561B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00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33" name="Shape 25">
            <a:extLst xmlns:a="http://schemas.openxmlformats.org/drawingml/2006/main">
              <a:ext uri="{FF2B5EF4-FFF2-40B4-BE49-F238E27FC236}">
                <a16:creationId xmlns:a16="http://schemas.microsoft.com/office/drawing/2014/main" id="{05B31529-12CD-4E5D-9F1B-3BBB517C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000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E6DC4049-578A-4751-8D32-64B31451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6177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FROM examples</a:t>
            </a:r>
            <a:endParaRPr sz="900"/>
          </a:p>
        </p:txBody>
      </p:sp>
      <p:sp>
        <p:nvSpPr>
          <p:cNvPr id="35" name="Text 27">
            <a:extLst xmlns:a="http://schemas.openxmlformats.org/drawingml/2006/main">
              <a:ext uri="{FF2B5EF4-FFF2-40B4-BE49-F238E27FC236}">
                <a16:creationId xmlns:a16="http://schemas.microsoft.com/office/drawing/2014/main" id="{AD53EEEE-A1FF-40B3-A93E-D3FE96EC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983480"/>
            <a:ext cx="1097280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node:24-alpine             # uji dependensi musl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python:3.12-slim           # contoh Lab 05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gcr.io/distroless/static-debian12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scratch                   # binary statis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Pin konten: image@sha256:&lt;digest-terverifikasi&gt;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9073008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4521B1-7849-42A8-AAAA-75994201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C59B304-99E1-4B20-B85E-91161740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76E797B-489B-4AB3-B6E6-493BE6AB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0c25d032844d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f4da1f5ac949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48E3161-580E-4634-B97C-D8EDE2EC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6A063B2-77BA-4E04-8C35-FB5AFE5FA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RUN vs CMD vs ENTRYPOINT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4A9F339-8D5C-4B8A-91FC-FBE2035F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Tiga instruksi paling sering disalahpahami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6EEBC45-CD07-453A-8D66-083D04C9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84ECB7E-FC27-4FA3-AE03-E98CA001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789EB79-2DF1-451F-90B1-C322EE6F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0876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RUN</a:t>
            </a:r>
            <a:endParaRPr sz="2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03EEA06-B67E-4D20-9868-3D40A880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74520"/>
            <a:ext cx="3429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time</a:t>
            </a:r>
            <a:endParaRPr sz="10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788668D-FD71-41ED-9C8C-041D5522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31720"/>
            <a:ext cx="33375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command saat build. Perubahan filesystem menjadi bagian image.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0C716DC-09FA-40CC-983F-71B0098C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83280"/>
            <a:ext cx="33375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Install package, compile, generate file.</a:t>
            </a:r>
            <a:endParaRPr sz="105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6A3894A-ABFA-4C8C-BCE0-32C6B5D1C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17720"/>
            <a:ext cx="33375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F9BE6B4C-16A7-4D6D-B9BB-FEEE40E6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09160"/>
            <a:ext cx="315468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\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apt-get install -y curl &amp;&amp; \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rm -rf /var/lib/apt/lists/*</a:t>
            </a:r>
            <a:endParaRPr sz="11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EE1EAFE2-02F6-42CC-99A0-0AE62B3D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E423AEE8-C959-4B4E-9D2F-E099F853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B0A373A7-C81B-4BDB-A74E-C889B678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50876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CMD</a:t>
            </a:r>
            <a:endParaRPr sz="22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63EABA1-C111-4E10-89F9-50F049D6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874520"/>
            <a:ext cx="3429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RUNTIME default</a:t>
            </a:r>
            <a:endParaRPr sz="10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5FD5459-6673-4FE1-B7EA-67C6E2A3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331720"/>
            <a:ext cx="33375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Default command saat 'docker run' (boleh di-override).</a:t>
            </a:r>
            <a:endParaRPr sz="11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90C223-9237-4D09-B3F4-C16A9054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383280"/>
            <a:ext cx="33375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Hanya CMD terakhir berlaku. Argumen docker run dapat mengganti CMD.</a:t>
            </a:r>
            <a:endParaRPr sz="105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D2CC0EFE-5039-4541-90D2-15413A21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617720"/>
            <a:ext cx="33375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AA0325D2-5B1F-4AA4-BB04-07446BE7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09160"/>
            <a:ext cx="315468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CMD ["node", "server.js"]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C2F8E10A-5598-46F8-95BA-988E4FBB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684A4363-C98F-4022-9729-5A476BA3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940EF99F-9E43-489D-A24F-CF9433D1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508760"/>
            <a:ext cx="3429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ENTRYPOINT</a:t>
            </a:r>
            <a:endParaRPr sz="22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C4846302-F29D-4619-B5EE-BF91BF03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874520"/>
            <a:ext cx="3429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RUNTIME executable</a:t>
            </a:r>
            <a:endParaRPr sz="10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98BE1681-73FE-4607-B51B-4FAB3A43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31720"/>
            <a:ext cx="33375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Exec-form ENTRYPOINT menerima argumen run. Dapat diganti dengan --entrypoint.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3FA15720-94FF-44F2-AA73-CC80BBA1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383280"/>
            <a:ext cx="33375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Cocok untuk image yang behave seperti executable.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6AA437FD-5B0C-444F-924C-99CDED55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617720"/>
            <a:ext cx="333756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CB68EF3E-78E5-438E-8B53-A8443FFD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315468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ENTRYPOINT ["node"]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CMD ["server.js"]</a:t>
            </a:r>
            <a:endParaRPr sz="11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53A2E5A-B6F1-450C-8176-A7019F3E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ENTRYPOINT menentukan executable default. CMD menyediakan command atau argumen default. Gunakan exec form untuk penerusan sinyal.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050939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BEC20B-FF6D-44CD-9139-645A893F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CBB0CB7-DE1B-44B8-96D9-1A6A4DC0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DE9BA6A-18F7-47B5-B319-0C39D9CB1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7b51c777ae45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98597a1a2c49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5CD6DB8-A5A1-48C8-BBF3-464A2B31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86B3A69-BCAC-4C02-A886-9FF81063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COPY, ADD, WORKDIR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1AAEC8F-941C-40C0-AD08-527581C9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Filesystem manipulation di image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F99872E-35AB-4A17-B312-54E99912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4564775-6C4B-4C0E-A9BF-1A2EA135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COPY vs ADD</a:t>
            </a:r>
            <a:endParaRPr sz="14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7BCD076-9F53-4A7C-B488-58B3368C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Keduanya copy file ke image. Pakai COPY hampir selalu - lebih predictable.</a:t>
            </a:r>
            <a:endParaRPr sz="11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9B8AD52-544A-446A-B00E-5BF18710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77440"/>
            <a:ext cx="52120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3C1ECDC-6C14-4F03-B083-2959C261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77440"/>
            <a:ext cx="8229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A191123-B797-42D2-9B6F-7C3F9F50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77440"/>
            <a:ext cx="8229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COPY</a:t>
            </a:r>
            <a:endParaRPr sz="13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0C67E97-321A-4C65-8054-73A14AF0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68880"/>
            <a:ext cx="4160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Copy file/folder dari build context ke image. Sederhana dan eksplisit.</a:t>
            </a:r>
            <a:endParaRPr sz="11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6DFAE565-67BF-4731-A56E-AEBD2168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80360"/>
            <a:ext cx="4160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COPY src/ /app/src/</a:t>
            </a:r>
            <a:endParaRPr sz="11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E2E8A2F4-6C1E-4E25-BBEB-B16648DA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83280"/>
            <a:ext cx="521208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3E3E18B-E18E-45C5-9786-3B5F291E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83280"/>
            <a:ext cx="82296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72EC8892-BF63-4EFE-A193-BF923FFB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83280"/>
            <a:ext cx="8229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ADD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EDFC5C64-CA98-4231-B0DD-4D420513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474720"/>
            <a:ext cx="41605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ADD mendukung tar lokal dan sumber remote. URL arsip tidak otomatis diekstrak.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BCA87F2-EEEC-4EBD-90BA-8D9274DC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69080"/>
            <a:ext cx="4160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ADD app.tar.gz /opt/  # auto-extract!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2513554-F15E-4E29-80D3-8E3B5CEE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89120"/>
            <a:ext cx="4160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ADD https://x.com/f.zip /tmp/ # download</a:t>
            </a:r>
            <a:endParaRPr sz="10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299FD431-8D98-47A3-A917-75AC0C1D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37760"/>
            <a:ext cx="521208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A62ACA8F-BA90-4143-8C33-C08685DA9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029200"/>
            <a:ext cx="49377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COPY untuk file lokal. ADD bila perlu tar/remote. ADD --checksum memverifikasi sumber HTTP.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0DC3E842-2A2B-4F2E-89CF-5C04E654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C50D4E00-8143-4330-84EB-142DC448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WORKDIR - Direktori Kerja</a:t>
            </a:r>
            <a:endParaRPr sz="14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23314185-628B-4302-A7B7-B718650E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20240"/>
            <a:ext cx="51206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Set 'cd' untuk RUN, CMD, ENTRYPOINT, COPY, ADD selanjutnya. Direktori dibuat otomatis kalau belum ada.</a:t>
            </a:r>
            <a:endParaRPr sz="11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54132259-9482-4A57-A7D0-9A15EEAE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43200"/>
            <a:ext cx="5120640" cy="3383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0C7529DC-1674-463C-9417-42F36F64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43200"/>
            <a:ext cx="51206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D1B02473-D677-4598-A0EA-C435002A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8254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4263262A-19A3-4382-AB9A-5575D988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254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472FDA3A-CB66-44D4-A4E2-2F775324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8254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ECE12B36-7306-44F4-9A12-1819F210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743200"/>
            <a:ext cx="4389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WORKDIR vs RUN cd</a:t>
            </a:r>
            <a:endParaRPr sz="9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438BE095-1E94-44FD-B584-D3A0D0A5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08960"/>
            <a:ext cx="484632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CWD tidak bertahan pada RUN baru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cd /app &amp;&amp; touch a.txt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touch b.txt   # bukan otomatis /app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WORKDIR menetapkan CWD berikutnya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touch a.txt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touch b.txt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package.json 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b        # /a/b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0632862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3F40374-ED1D-441A-BBC8-3E067967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E8D8F16-5D9D-4D98-A7B1-C67E6E9B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40456BA-0123-4B30-98BA-080399A9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d0e1304504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827c682eb743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F2B2AC3-EF48-4167-A468-A53DA0F3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8CE3214-EEA1-4430-B2E1-5DD3EC43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ENV vs ARG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5B5221F-0904-4FAD-A78A-F8451DB8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Variabel di Dockerfile - kapan pakai yang mana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E49C60E-7BB6-4D30-85A7-FCA4583E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5C20E88-D727-46FA-BEBC-D2B183C8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D9B972A-F4DF-4C89-B99B-715FE9F9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ENV  -  Runtime Variable</a:t>
            </a:r>
            <a:endParaRPr sz="16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9179B211-D091-4692-BA3D-8BACC48B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212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ENV dipakai saat build dan menjadi default environment container.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6F148CF-5F81-46AE-9E30-AAD12E3B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97480"/>
            <a:ext cx="5212080" cy="3474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4C46330B-BF53-4CE7-8A4E-1EBB3942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97480"/>
            <a:ext cx="52120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80DF607A-62F7-4CEB-8E96-AE0F5CB0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ABFB1FA-7E31-401F-8B93-7A71A429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8CE66C78-CA8D-4E9B-BA0A-FDE31900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9E96D537-6012-4DB8-8F96-6D5ABE23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69748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ENV examples</a:t>
            </a:r>
            <a:endParaRPr sz="9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5C3F1215-DC42-48C5-AAE0-735F7F71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493776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Set saat build, persist saat run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ENV NODE_ENV=production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ENV PORT=3000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ENV PATH=/app/bin:$PATH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Pakai di Dockerfile sendiri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WORKDIR /app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EXPOSE $PORT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Override saat docker run: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docker run -e NODE_ENV=dev myapp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Use case: config app, secret (jangan!)</a:t>
            </a:r>
            <a:endParaRPr sz="11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8F84B722-0B6C-471C-9214-E9C4DF05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6B37CBAF-961A-44D1-B194-A44B03EB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CBD3837-5CC2-40AD-9E2F-658C66EC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ARG  -  Build-time Variable</a:t>
            </a:r>
            <a:endParaRPr sz="16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E1CEFB4F-2419-4C50-A411-ECC3284D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ARG tidak otomatis menjadi env runtime. Nilai bisa tertinggal pada metadata/artefak.</a:t>
            </a:r>
            <a:endParaRPr sz="11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575B0BE2-F4D8-4C91-B1A8-D13683ACF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7480"/>
            <a:ext cx="5120640" cy="3474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07CD6F2E-449B-43D4-9360-A2305A229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7480"/>
            <a:ext cx="51206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EF8F3534-630D-463F-B6B7-CCE7DB16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3BA68D09-2273-4CF7-A918-75373C94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529699E2-43E8-4A81-8A62-B0E98ED0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7977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EF5983D7-5AA2-4BD4-BB37-09B5B066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697480"/>
            <a:ext cx="4389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ARG examples</a:t>
            </a:r>
            <a:endParaRPr sz="9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E2D9BC9-04A7-4FB0-8E3B-1A9E62E5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63240"/>
            <a:ext cx="484632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Deklarasi dengan default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ARG NODE_VERSION=24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FROM node:$NODE_VERSION-alpine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Tanpa default: kosong bila tak dipasok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ARG GIT_COMMIT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LABEL commit=$GIT_COMMIT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Pass saat build: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docker build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--build-arg NODE_VERSION=24</a:t>
            </a: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--build-arg GIT_COMMIT=abc123 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Untuk konfigurasi build, bukan secret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4727908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36D191F-483C-49FB-9A29-09B6367D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5884832-FFD1-469A-B168-04C4778F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7B9F22D-4362-4087-B293-82601148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e47e4f91e042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8942472f7f45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AAFBBCC-627B-43E9-9AC8-8531FF4F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A2F2558-ECA9-4FB4-B480-A4956C1F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EXPOSE, USER, HEALTHCHECK, LABEL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FD26638-0EF5-4E32-A346-D7572D72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Meta-instructions untuk dokumentasi + security + monitoring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3443BB7-F8DB-473F-8B46-EC804D1A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666F4630-BC3E-4ED8-8815-301C26A9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9962518A-D0AB-43DE-BB35-323504DD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EXPOSE</a:t>
            </a:r>
            <a:endParaRPr sz="17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409090C0-D47E-4C31-8F26-34C5C9D3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233172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Dokumentasi port yang dipakai (tidak buka port secara fisik). Untuk konsumsi tooling.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2B7A23D-0FC9-433D-AD0D-C786172C9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23317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BDE94BE-21BA-4AF7-90B2-A4B5A589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51960"/>
            <a:ext cx="214884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EXPOSE 3000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EXPOSE 443/tcp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5E0F81C4-20EE-4997-A020-244BA2D4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4E3054B0-A6CF-40D3-9BED-EE157BC5E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CCEDA84D-DE0C-4046-B080-87344830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USER</a:t>
            </a:r>
            <a:endParaRPr sz="17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64224AD6-2BA8-4D27-8108-3646CE1D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194560"/>
            <a:ext cx="233172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 memilih UID/GID. Gunakan user non-root yang sudah tersedia/dibuat.</a:t>
            </a:r>
            <a:endParaRPr sz="11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B44F8DB9-8A53-4CCA-9E99-D5275F00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4160520"/>
            <a:ext cx="23317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A33F98D4-F129-4880-AE57-D3BAB702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4251960"/>
            <a:ext cx="214884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RUN adduser -D app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USER app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367664AE-B308-48BC-B224-62244A7C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A70CD399-B965-45C1-A139-0F94666D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1B2E5F16-330D-4ECB-9290-1B3A1431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HEALTHCHECK</a:t>
            </a:r>
            <a:endParaRPr sz="17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2CE15BF4-3C9C-4131-8E56-5A77D278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194560"/>
            <a:ext cx="233172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Probe aplikasi berkala. Tool probe harus tersedia di image.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693B5D6D-7877-47C6-A453-0FC18EC9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4160520"/>
            <a:ext cx="23317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DDA568C-CEAF-4030-B7FB-D4E37475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251960"/>
            <a:ext cx="214884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863">
                <a:solidFill>
                  <a:srgbClr val="00C896"/>
                </a:solidFill>
                <a:latin typeface="Consolas"/>
                <a:ea typeface="Consolas"/>
                <a:cs typeface="Consolas"/>
              </a:defRPr>
            </a:pPr>
            <a:r>
              <a:rPr sz="863">
                <a:solidFill>
                  <a:srgbClr val="00C896"/>
                </a:solidFill>
                <a:latin typeface="Consolas"/>
                <a:ea typeface="Consolas"/>
                <a:cs typeface="Consolas"/>
              </a:rPr>
              <a:t>HEALTHCHECK --interval=30s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863">
                <a:solidFill>
                  <a:srgbClr val="00C896"/>
                </a:solidFill>
                <a:latin typeface="Consolas"/>
                <a:ea typeface="Consolas"/>
                <a:cs typeface="Consolas"/>
              </a:defRPr>
            </a:pPr>
            <a:r>
              <a:rPr sz="863">
                <a:solidFill>
                  <a:srgbClr val="00C896"/>
                </a:solidFill>
                <a:latin typeface="Consolas"/>
                <a:ea typeface="Consolas"/>
                <a:cs typeface="Consolas"/>
              </a:rPr>
              <a:t> CMD curl -f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863">
                <a:solidFill>
                  <a:srgbClr val="00C896"/>
                </a:solidFill>
                <a:latin typeface="Consolas"/>
                <a:ea typeface="Consolas"/>
                <a:cs typeface="Consolas"/>
              </a:defRPr>
            </a:pPr>
            <a:r>
              <a:rPr sz="863">
                <a:solidFill>
                  <a:srgbClr val="00C896"/>
                </a:solidFill>
                <a:latin typeface="Consolas"/>
                <a:ea typeface="Consolas"/>
                <a:cs typeface="Consolas"/>
              </a:rPr>
              <a:t> http://localhost:3000/health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863">
                <a:solidFill>
                  <a:srgbClr val="00C896"/>
                </a:solidFill>
                <a:latin typeface="Consolas"/>
                <a:ea typeface="Consolas"/>
                <a:cs typeface="Consolas"/>
              </a:defRPr>
            </a:pPr>
            <a:r>
              <a:rPr sz="863">
                <a:solidFill>
                  <a:srgbClr val="00C896"/>
                </a:solidFill>
                <a:latin typeface="Consolas"/>
                <a:ea typeface="Consolas"/>
                <a:cs typeface="Consolas"/>
              </a:rPr>
              <a:t> || exit 1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E31C03CA-2FAD-4F81-A09E-3E7B25FB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5FF7194B-4D24-4028-88A7-AA148A90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733CF3C9-0216-44D2-9162-462511FF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LABEL</a:t>
            </a:r>
            <a:endParaRPr sz="17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4E3231B-3004-423F-BD54-34F9EC69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194560"/>
            <a:ext cx="233172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Metadata key=value di image. Untuk filtering &amp; dokumentasi.</a:t>
            </a:r>
            <a:endParaRPr sz="11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2DFB51C4-FFED-441F-B527-CABB7BA8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4160520"/>
            <a:ext cx="233172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F351B21A-5565-4DF0-B806-15042AE6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4251960"/>
            <a:ext cx="214884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LABEL version="1.0"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LABEL maintainer="budi@bdg"</a:t>
            </a:r>
            <a:endParaRPr sz="10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7B94F585-0E21-48BC-A3A7-16901765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Catatan: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EXPOSE bukan port mapping. Mapping tetap pakai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-p host:container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saat docker run.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606425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20A163-C37C-4B07-BA53-054A7DBE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763026F-D8C3-4646-B50E-202B1917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DAD7FCB-E5C6-4628-8487-B6747412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BBE2DC2-D09A-4C24-9DCC-4E4C6CD2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2AB881F-FD70-4AFF-AEEC-553DB4B9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AB5DD14-AC3E-441D-92F3-C4679015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34CCB38-115A-4ED0-8C9D-47E7D34F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faa57f6d5449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e39797f3b44e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018F4E64-AEB8-42DC-B29E-C1DF1CED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5373FE1-5B8A-4E3D-BFA5-813330E9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Process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Layer Cache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424E1FD-32BA-4A9E-84A3-B475E2E3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5DB9761-67B6-41C1-B7EE-F2FC89CD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Bagaimana docker build bekerja - dan kenapa urutan instruksi penting.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5280187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832C49-756D-46AD-BB96-9AE2F6E7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8654FF3-347A-4B88-AAF9-1589B734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232524B-82EA-4493-A1CF-A925FC71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20c42bdd45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e75a7e32b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5793E07-DDC5-4731-A345-2A4CD4C7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779E06E-B759-4914-99E0-BC44CCA7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docker build - Step by Step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6519B07-A5DC-4F35-A99B-AB681F2B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Apa yang terjadi saat Anda eksekusi 'docker build'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A6411C2-A89C-4C38-BABF-F72FCAC2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5A4AD57-88EF-4C9B-BD4E-845B45F4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D2FD0C8-694A-4475-8BA7-0479465E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0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8BDEB7E-FB12-42BB-9C66-8559C9D7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508760"/>
            <a:ext cx="3657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Siapkan Build Context</a:t>
            </a:r>
            <a:endParaRPr sz="14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7D68C8B0-7260-4912-B034-4E6998A8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2880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Context memberi input build. .dockerignore membatasi file yang tersedia.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3E7E348B-70E1-455A-A853-62672DE0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112471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A33799C3-B607-4DA3-888D-33F3D17F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42316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F353464F-621C-4638-88A8-BC2CA635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4231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0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9F96907B-FED8-4E0E-96D2-2787857F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377440"/>
            <a:ext cx="3657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Parse Dockerfile</a:t>
            </a:r>
            <a:endParaRPr sz="14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5DC81C11-9764-4826-A935-F56F6C1E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69748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Builder membaca Dockerfile dan menyusun dependensi tiap stage.</a:t>
            </a:r>
            <a:endParaRPr sz="11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924EE41-0C75-461A-8FD9-458F5C1F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54680"/>
            <a:ext cx="112471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4BE923D-D369-4C4F-9E33-0B33681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9184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69AFB69-D6F9-411D-BF93-84005C691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9184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A918B2A8-CE59-48FF-A071-B9BCDB28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246120"/>
            <a:ext cx="3657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Execute Each Instruction</a:t>
            </a:r>
            <a:endParaRPr sz="14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BF6DBED7-95E6-4FDF-A48D-511E4A2D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56616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Builder memeriksa cache instruksi beserta input sebelum menjalankannya.</a:t>
            </a:r>
            <a:endParaRPr sz="11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BCF98A7-CC32-48C5-9DB8-E1668543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23360"/>
            <a:ext cx="112471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ACCD43D2-CC5D-4107-9FA3-B69E96EC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6052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029380-DFB5-46E4-82B4-45CD716D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6052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0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828A4051-668E-425E-BFE3-62BD56C6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114800"/>
            <a:ext cx="3657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Commit Layer</a:t>
            </a:r>
            <a:endParaRPr sz="14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9F01C8E-5A87-4D37-9E88-114A2D9D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43484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RUN/COPY/ADD dapat menghasilkan layer. Instruksi lain menyimpan konfigurasi.</a:t>
            </a:r>
            <a:endParaRPr sz="11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A615BFD8-5F9F-43C8-916B-1600F409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92040"/>
            <a:ext cx="112471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D187ACCD-54CB-41E7-B15D-844D378D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02920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96F90AFA-84DE-4680-9F6B-A4557DD5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02920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20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6DFD8E7-60A2-4276-909A-0AEE6E32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83480"/>
            <a:ext cx="3657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Tag Final Image</a:t>
            </a:r>
            <a:endParaRPr sz="14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71237F7B-F51D-4CBF-BD5F-4AAEF843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303520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Semua layer di-stack jadi 1 image, di-tag dengan nama yang user kasih (-t).</a:t>
            </a:r>
            <a:endParaRPr sz="11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393AC1B9-31F2-4EAC-A95C-02FA8788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9788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BuildKit mentransfer input secara efisien dan dapat melewati file yang tak digunakan. .dockerignore tetap penting.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2601583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0AB1282-DDC8-4794-9F7B-56B1D6E5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4D881E4-F97D-488A-95E9-D8E4191F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04368DA-C75C-4B54-8B8D-6F93995F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798a4f7104a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8e728fe1b42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D89CCBD-8554-4BCB-8740-2B64619BE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59DB46D-5AC6-4643-A9A6-2F9FF8D8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Layer Caching - Urutan Instruksi Penting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F0DEEDA-9839-4149-97EC-300DE34E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Aturan #1 Docker: yang jarang berubah ditaruh di atas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3A65880-DBB5-4FB6-B90B-C32D1666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D749B2B-201E-4A69-8B89-6A3CD40B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Cache mengikuti instruksi dan inputnya. Perubahan membatalkan langkah yang bergantung padanya dalam stage terkait.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B53B8C83-2970-4355-89CD-C69527CD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2A07DDA-C91E-49C3-91F5-39474D9E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CB7D6A6-C6A6-4BD6-8B92-81E8EE61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5C0CF47A-F7DE-4795-94EB-C26BC634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B35F8C24-4FC6-4F26-8044-7AED50D6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087BBA09-E491-4E1A-A63A-B7B5B7B5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51460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BAD - rebuild npm install setiap kali code berubah</a:t>
            </a:r>
            <a:endParaRPr sz="9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6523A6D0-1E84-4609-A766-8DF4F4A2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80360"/>
            <a:ext cx="5303520" cy="320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node:24-alpine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WORKDIR /app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COPY . 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RUN npm install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CMD ["node", "server.js"]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Problem: edit 1 baris server.js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-&gt; COPY . . berubah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-&gt; npm install rebuild juga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# -&gt; dependency dipasang ulang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3A1D2F51-B3B1-49D1-B629-0A517EAE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6DF92B9-4B53-447C-B195-05A7A655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7B9F15C-7E00-4E35-BCE2-303D41EB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1AEF27C3-D9FF-4F4F-B394-B3487448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F2982DB3-4592-4714-8FCC-143B6111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5968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F65D2F4B-B11F-4F97-934A-FD0D8821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51460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GOOD - dependency dipisah, cache npm install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77028D9-1C6F-4A32-83F7-DC592E14A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80360"/>
            <a:ext cx="5212080" cy="320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node:24-alpine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WORKDIR /app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COPY package.json package-lock.json ./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RUN </a:t>
            </a: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npm ci --omit=dev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CMD ["node", "server.js"]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Edit server.js -&gt; COPY . . rebuild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Tapi npm install tetap cached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# -&gt; ukur waktu pada mesin sendiri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785920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8C27C59-D1D3-4983-9456-AB40D6FFB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9859F35-1C45-4004-BDFB-CE7029EB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FEDFCE-27BC-483A-A325-05567DB9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756fa7b73a4a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321883c8f4b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BADA1EC-F73D-4A14-BABD-00D2AB68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6EC9CA-7740-414E-99B4-B24955BB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.dockerignore - Exclude dari Build Context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73DABE8-8E13-4102-AEC8-57151910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Mirip .gitignore, untuk hemat build context size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365EF9B-A591-4181-B578-92894146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00DD077-9038-438E-98F1-EE164325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Kenapa Penting?</a:t>
            </a:r>
            <a:endParaRPr sz="14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2CF8328-D417-41ED-B787-553299A8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493776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Context besar menambah input dan potensi transfer</a:t>
            </a:r>
            <a:endParaRPr sz="11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node_modules/ bisa GB+ - bikin build lambat</a:t>
            </a:r>
            <a:endParaRPr sz="11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Mencegah COPY .env dari context ke image</a:t>
            </a:r>
            <a:endParaRPr sz="11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COPY . . jadi predictable - tidak include sampah</a:t>
            </a:r>
            <a:endParaRPr sz="11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Speed up cache invalidation (lebih sedikit file)</a:t>
            </a:r>
            <a:endParaRPr sz="115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431A2C5-B7F4-4F4A-B887-E9708E08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37760"/>
            <a:ext cx="521208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81F817F-62F5-4F2C-8326-F9C2A75D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029200"/>
            <a:ext cx="49377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Tinjau kebutuhan runtime sebelum mengabaikan file. .dockerignore tidak melindungi secret yang diberikan melalui ARG/ENV.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9EBA1D6E-80FE-4466-BBF1-1181B0E1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B56A58AF-C92B-4F1D-BD53-7C864553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E38E46F-F21F-4D1A-AD49-1CD854AB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7B78C48A-F603-4911-B92B-5265EB38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9448688A-E9AA-4929-BE21-20EB9EE4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7A9AF955-60C8-4D27-A6AC-411CAC29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.dockerignore (Node.js project)</a:t>
            </a:r>
            <a:endParaRPr sz="9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45B67A61-3A65-411C-970A-CBFE8B79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Dependency &amp; build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node_modules/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npm-debug.log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dist/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build/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.next/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Git &amp; IDE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.idea/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Secret &amp; konfigurasi lokal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.env*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*.pem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secrets/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Sesuaikan kebutuhan aplikasi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tests/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Dockerfile*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273896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66D3F6-6B71-4C07-8FF3-0F7C0DE8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F7A761-20F7-47BB-93E3-CA16387B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341F022-AFFA-412C-9F6B-C1BFB738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62894E1-1A76-4DEE-8732-656EEE12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9165E20-A483-408A-9591-5EC8B94F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F72A51A-9D24-42BA-8E16-3F4AC74D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8817510-3EF5-4E01-82D7-307B7B14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450f55d05342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6746278d314e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0AC25E9-1A67-47D7-9055-5995C033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20F980F-02A2-407D-813E-840D2EB9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Image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Optimization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539796F-EECA-463C-90AE-79A7D663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B60FC53-668E-48DB-AFCB-421693F5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Pilih base yang sesuai dan ukur image hasil build.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40594893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A3F296B-107E-4B62-B779-EEB88F5C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ABDA658-D051-4DEA-B46B-6CF97BFE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6CF279A-83CA-4F31-BE6B-2A109F1D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3858c24cab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236a56f8b34c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BB85570-D8A5-4466-B020-4D394300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552A140-E5C1-4B9C-8ACB-55DCC048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Base Image Comparison - Node.js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B5A723A-01D2-48F0-80A3-CD12F4F1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Ukuran bergantung tag, arsitektur, dan dependency aplikasi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1FEC755-CE2B-4068-9ABD-B3F6157A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3DFC149-F48C-448D-B085-6C139433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Image size matters: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hemat bandwidth (pull lebih cepat), hemat storage (registry + host), kurangi attack surface.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1FB7144-7312-4F2F-AEFB-469C8737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2697480" cy="3703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A23F6AF-733A-4C67-B84F-563EC0A6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26974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A7DF663-1355-4296-B721-97AD9F32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node:24</a:t>
            </a:r>
            <a:endParaRPr sz="13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93BDC77-351A-4635-8F23-82CE5A3B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71800"/>
            <a:ext cx="26974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Full</a:t>
            </a:r>
            <a:endParaRPr sz="30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EB755D44-8674-4747-9FE0-491F2F3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2697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Debian (full)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B4B3110D-BED8-4821-BAA0-E701FC41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977640"/>
            <a:ext cx="242316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Debian dengan tool tambahan. Tetap uji kompatibilitas dependency.</a:t>
            </a:r>
            <a:endParaRPr sz="105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397695B5-6836-410B-AF7D-DD669AD4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2120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4EEAF4AC-2F68-47DC-BD52-96032CBE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3035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6B682C58-C43B-4E6B-AB4A-B5664906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5321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Build stage</a:t>
            </a:r>
            <a:endParaRPr sz="11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DE25918C-2FBC-403C-AE4C-82185E93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2423160"/>
            <a:ext cx="2697480" cy="3703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B5736376-56AF-4BC5-A56F-B8D6C95F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2423160"/>
            <a:ext cx="26974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7D77DB1-4025-42FB-91EA-6D0BF629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242316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node:24-slim</a:t>
            </a:r>
            <a:endParaRPr sz="13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5DCE5066-78CA-4638-8851-3388EAC6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2971800"/>
            <a:ext cx="26974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Slim</a:t>
            </a:r>
            <a:endParaRPr sz="30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D9B6D3F8-BC27-417F-8578-A6FA4E55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3611880"/>
            <a:ext cx="2697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Debian slim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EE6C38BA-9437-46E9-B1F4-216B4BA8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977640"/>
            <a:ext cx="242316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Debian minimal, no docs/locales. Trade-off bagus.</a:t>
            </a:r>
            <a:endParaRPr sz="105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FEA79BFB-89D8-459D-A890-0D84FEB9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2120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2DFAE062-850F-4A5A-BCCE-7B297FE4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3035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1B7B3DDE-0C13-4445-B3BC-D713D80C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55321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Runtime Debian</a:t>
            </a:r>
            <a:endParaRPr sz="11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A0D6192D-BCF6-44C3-BD1E-E2BD1B91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423160"/>
            <a:ext cx="2697480" cy="3703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7F5FB899-8C68-49F4-97C7-8B4DBAE0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423160"/>
            <a:ext cx="26974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6F685303-D951-4C56-99FE-3FF29C443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42316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node:24-alpine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BB267ECA-22F1-4DB9-80F9-A191D5F4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971800"/>
            <a:ext cx="26974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Alpine</a:t>
            </a:r>
            <a:endParaRPr sz="30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87141910-2122-4380-825B-9E0D263F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611880"/>
            <a:ext cx="2697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Alpine Linux</a:t>
            </a:r>
            <a:endParaRPr sz="10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DA3B4228-C66F-44C9-99FB-027C37E6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3977640"/>
            <a:ext cx="242316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musl libc. Bisa break native module (e.g. canvas, sharp).</a:t>
            </a:r>
            <a:endParaRPr sz="105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A25312B1-F82B-4F12-9F07-EDEC782D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2120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CF56ED47-F85D-4BB3-9F4D-003AF3CF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3035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AACABAC9-CE90-4BF9-936D-4CCDB23F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55321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Production minimal</a:t>
            </a:r>
            <a:endParaRPr sz="11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114AF925-5573-4876-B366-D0993703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2423160"/>
            <a:ext cx="2697480" cy="3703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3C017932-EADA-486C-B1AA-E45C47C7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2423160"/>
            <a:ext cx="26974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4030AA99-95DE-4045-B836-1438F66E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242316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Distroless Node.js</a:t>
            </a:r>
            <a:endParaRPr sz="13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EBAD97BE-97CD-45FC-A4D9-B621C4B6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2971800"/>
            <a:ext cx="26974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Minimal</a:t>
            </a:r>
            <a:endParaRPr sz="30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6EDDE5F7-EBED-456E-9E6F-AE636A0A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3611880"/>
            <a:ext cx="2697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Runtime + pustaka OS</a:t>
            </a:r>
            <a:endParaRPr sz="1000"/>
          </a:p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9047BC6F-4DF2-4C02-83A9-9CAB777F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977640"/>
            <a:ext cx="242316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Cuma runtime + lib. No shell, no apt, no package manager.</a:t>
            </a:r>
            <a:endParaRPr sz="1050"/>
          </a:p>
        </p:txBody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5B1C9432-3A2F-4E7F-B1F7-7AE4E97C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52120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F39A6A1F-5393-4DB8-8D0F-2FAC97FD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53035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BF6927F4-550E-43DF-B2C4-E1D3ABF0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55321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Runtime tanpa shell</a:t>
            </a:r>
            <a:endParaRPr sz="11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1BE78CDA-38A1-441B-A349-FFFC8B25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Pilih berdasarkan kebutuhan dependency dan operasi. Image kecil tetap perlu dipelihara, diuji, dan dipindai.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52120527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D469D24-32FB-4B57-BE9E-3A9D5E57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F562E25-E391-4A90-A1D1-9115C7D1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6B37AE4-3B79-4D33-B4BE-BFC4C60E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287c44d39e4d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3554c889f74e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7E8E9D-765F-4E50-9B3B-3A1755DD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FB4D180-98F8-454B-961E-9CFD3ECB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Multi-Stage Build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50EA0C4-D98A-4825-9DFE-BF056F6C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Pisahkan kebutuhan build dari runtime; ukur ukuran hasilnya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564BB6B-EAFA-4A27-A79F-1F9C52FC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C5ADF3F-31BC-41EC-9F28-9259D38A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Ide: </a:t>
            </a:r>
            <a:r>
              <a:rPr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punya BANYAK FROM di 1 Dockerfile. Stage akhir cuma include yang dibutuhkan runtime.</a:t>
            </a:r>
            <a:endParaRPr sz="14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Compiler, build tools, source code -&gt; stage 1 (builder). Final image -&gt; stage 2 (runner) cuma binary + runtime.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2BB663C-4970-4126-A762-CE653834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06040"/>
            <a:ext cx="521208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0421B6D-D89A-4697-8D75-2F4EF0E7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0604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70F5AA24-9BE1-4570-A5EF-97D214F2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06040"/>
            <a:ext cx="5212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Stage 1: BUILDER</a:t>
            </a:r>
            <a:endParaRPr sz="13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7BDA007-DF00-4988-8C7C-31E00168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484632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Full Node.js + npm + tools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Source code lengkap (.ts, .map)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node_modules (dev + prod)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Build tooling (webpack, tsc)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Test fixtures, README, dll</a:t>
            </a:r>
            <a:endParaRPr sz="11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5935083-4911-4D36-94BD-1D8840666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977640"/>
            <a:ext cx="640080" cy="50292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BE3D9684-ADD0-40DE-BE77-803D435A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657600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COPY</a:t>
            </a:r>
            <a:endParaRPr sz="9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049B3758-9D71-4498-AF25-48CCB0B5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606040"/>
            <a:ext cx="521208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4479A0C-849F-44FE-A339-90487551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60604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3C9D4702-D9DC-45E3-A536-AC7194C2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606040"/>
            <a:ext cx="5212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Stage 2: RUNNER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2AA179D-F732-4098-9D47-5D693B19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46120"/>
            <a:ext cx="484632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node:24-bookworm-slim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Compiled output (dist/)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node_modules production only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package.json (untuk metadata)</a:t>
            </a:r>
            <a:endParaRPr sz="1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Tidak ada dev dependency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27590D1E-002B-4306-B53C-6F4D7B70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8932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image final hanya berisi yang DIBUTUHKAN saat run. Build tools tidak ikut deploy.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854940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1B5B309-DBEA-40C3-9772-C5A3E49C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957D625-43CB-42EE-B57C-C0BEFCBE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B5E9402-85EF-4EA8-A47D-EACD15ED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294279e474b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c4e246e1f4a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1568AC8-E9FF-41D7-B06F-3F97247C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32D047E-EECF-4EDD-B8E1-6BBCCA1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Multi-Stage Example - Node.js App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0BE0130-5795-4BE9-A284-734F9771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Kode: examples/theory-node/Dockerfile.multistage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4F2B7AD-5F73-4B2A-960E-D2573B15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C946A52-4197-489E-8E75-7C2657C8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B898123D-08ED-4A79-9741-45138C3E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E92A498-38CE-4386-BF24-A3F32759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CD38715D-8F63-4C75-9B1C-51FC2B7E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2A82D74-7DBD-4432-A14D-432A6D79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Dockerfile - multi-stage Node.js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98D97D9-A77B-4F90-9E8A-2223E7A9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Stage builder: contoh aplikasi Node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node:24-bookworm-slim AS builder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package.json package-lock.json ./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ci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run build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t/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Stage runtime memakai keluarga OS yang sama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node:24-bookworm-slim AS runner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NODE_ENV=production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--from=builder /app/package*.json ./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ci --omit=dev &amp;&amp; npm cache clean --force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--from=builder /app/dist ./dist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node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3000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["node", "dist/server.js"]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02346417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D6454F7-C1D6-49A4-A3E9-6C6CFC5D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8C5BCAF-783F-4ED2-823B-BA9E3A71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3E9CA35-8084-43EB-AAFC-DB8CFAE7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522df282142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f0e00c81724e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6519FFE-4EE4-466A-A555-1B5AA5E0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8FA818A-92CE-492A-8BCB-016CA76C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Image Optimization - Best Practices Checklist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16C4DD4-8B61-4888-B455-A508B8E7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 aturan untuk Dockerfile produksi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67DD374-0AF3-400F-82F2-7668F063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7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160d5e570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155448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AF1496D4-4C84-4A6D-B33C-09A060CC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50876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Pin Version</a:t>
            </a:r>
            <a:endParaRPr sz="13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801CE7C7-A6DB-485E-B6D8-2DB5B0DC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29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Pilih versi yang didukung. Digest mengunci konten base image.</a:t>
            </a:r>
            <a:endParaRPr sz="100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11B9681F-186E-4E50-984E-406D1CD4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7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160d5e570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155448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4BC6415B-81D3-40EB-AFED-54FE0DC8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50876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Alpine / Distroless</a:t>
            </a:r>
            <a:endParaRPr sz="1300"/>
          </a:p>
        </p:txBody>
      </p:sp>
      <p:sp>
        <p:nvSpPr>
          <p:cNvPr id="17" name="Text 11">
            <a:extLst xmlns:a="http://schemas.openxmlformats.org/drawingml/2006/main">
              <a:ext uri="{FF2B5EF4-FFF2-40B4-BE49-F238E27FC236}">
                <a16:creationId xmlns:a16="http://schemas.microsoft.com/office/drawing/2014/main" id="{5F62EE57-12C6-4F06-8D18-47B5DC23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65960"/>
            <a:ext cx="3429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Base minimal untuk reduce size + attack surface.</a:t>
            </a:r>
            <a:endParaRPr sz="1000"/>
          </a:p>
        </p:txBody>
      </p:sp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7495D47C-4F6A-4A62-8A5D-4F13BEF8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7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160d5e570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155448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0" name="Text 13">
            <a:extLst xmlns:a="http://schemas.openxmlformats.org/drawingml/2006/main">
              <a:ext uri="{FF2B5EF4-FFF2-40B4-BE49-F238E27FC236}">
                <a16:creationId xmlns:a16="http://schemas.microsoft.com/office/drawing/2014/main" id="{0B2D4738-FC0C-480A-ADDF-441A8A1F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150876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Multi-Stage Build</a:t>
            </a:r>
            <a:endParaRPr sz="1300"/>
          </a:p>
        </p:txBody>
      </p:sp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87B74AF5-4E1B-4051-ABFE-EBEB496D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65960"/>
            <a:ext cx="3429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Pisahkan kebutuhan build dan runtime. Ukur hasilnya.</a:t>
            </a:r>
            <a:endParaRPr sz="1000"/>
          </a:p>
        </p:txBody>
      </p:sp>
      <p:sp>
        <p:nvSpPr>
          <p:cNvPr id="22" name="Shape 15">
            <a:extLst xmlns:a="http://schemas.openxmlformats.org/drawingml/2006/main">
              <a:ext uri="{FF2B5EF4-FFF2-40B4-BE49-F238E27FC236}">
                <a16:creationId xmlns:a16="http://schemas.microsoft.com/office/drawing/2014/main" id="{9FDD2993-4DC5-4169-B9E5-4880DA4A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0604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160d5e570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27432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4" name="Text 16">
            <a:extLst xmlns:a="http://schemas.openxmlformats.org/drawingml/2006/main">
              <a:ext uri="{FF2B5EF4-FFF2-40B4-BE49-F238E27FC236}">
                <a16:creationId xmlns:a16="http://schemas.microsoft.com/office/drawing/2014/main" id="{8411879D-72AA-4031-9046-AC798D1B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69748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Layer Ordering</a:t>
            </a:r>
            <a:endParaRPr sz="1300"/>
          </a:p>
        </p:txBody>
      </p:sp>
      <p:sp>
        <p:nvSpPr>
          <p:cNvPr id="25" name="Text 17">
            <a:extLst xmlns:a="http://schemas.openxmlformats.org/drawingml/2006/main">
              <a:ext uri="{FF2B5EF4-FFF2-40B4-BE49-F238E27FC236}">
                <a16:creationId xmlns:a16="http://schemas.microsoft.com/office/drawing/2014/main" id="{E1BA5763-9A9C-4768-8A5C-9DF1581E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54680"/>
            <a:ext cx="3429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Dependency dulu (jarang berubah), code belakangan.</a:t>
            </a:r>
            <a:endParaRPr sz="1000"/>
          </a:p>
        </p:txBody>
      </p:sp>
      <p:sp>
        <p:nvSpPr>
          <p:cNvPr id="26" name="Shape 18">
            <a:extLst xmlns:a="http://schemas.openxmlformats.org/drawingml/2006/main">
              <a:ext uri="{FF2B5EF4-FFF2-40B4-BE49-F238E27FC236}">
                <a16:creationId xmlns:a16="http://schemas.microsoft.com/office/drawing/2014/main" id="{C5FE04D3-CED6-450D-B909-3A13C8DE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60604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160d5e570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27432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8" name="Text 19">
            <a:extLst xmlns:a="http://schemas.openxmlformats.org/drawingml/2006/main">
              <a:ext uri="{FF2B5EF4-FFF2-40B4-BE49-F238E27FC236}">
                <a16:creationId xmlns:a16="http://schemas.microsoft.com/office/drawing/2014/main" id="{710089FC-20A7-4149-8CAC-8418CE59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69748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Combine RUN</a:t>
            </a:r>
            <a:endParaRPr sz="1300"/>
          </a:p>
        </p:txBody>
      </p:sp>
      <p:sp>
        <p:nvSpPr>
          <p:cNvPr id="29" name="Text 20">
            <a:extLst xmlns:a="http://schemas.openxmlformats.org/drawingml/2006/main">
              <a:ext uri="{FF2B5EF4-FFF2-40B4-BE49-F238E27FC236}">
                <a16:creationId xmlns:a16="http://schemas.microsoft.com/office/drawing/2014/main" id="{8B08AB48-D18C-479A-BF89-1702BFE4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154680"/>
            <a:ext cx="3429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Gabungkan apt-get update, install, dan cleanup dalam satu RUN.</a:t>
            </a:r>
            <a:endParaRPr sz="1000"/>
          </a:p>
        </p:txBody>
      </p:sp>
      <p:sp>
        <p:nvSpPr>
          <p:cNvPr id="30" name="Shape 21">
            <a:extLst xmlns:a="http://schemas.openxmlformats.org/drawingml/2006/main">
              <a:ext uri="{FF2B5EF4-FFF2-40B4-BE49-F238E27FC236}">
                <a16:creationId xmlns:a16="http://schemas.microsoft.com/office/drawing/2014/main" id="{BE2B2B33-BAFE-4F46-94AE-BEA5A567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0604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160d5e570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27432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32" name="Text 22">
            <a:extLst xmlns:a="http://schemas.openxmlformats.org/drawingml/2006/main">
              <a:ext uri="{FF2B5EF4-FFF2-40B4-BE49-F238E27FC236}">
                <a16:creationId xmlns:a16="http://schemas.microsoft.com/office/drawing/2014/main" id="{A923D675-E47D-40FF-B3C1-34B2BB9B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69748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.dockerignore</a:t>
            </a:r>
            <a:endParaRPr sz="1300"/>
          </a:p>
        </p:txBody>
      </p:sp>
      <p:sp>
        <p:nvSpPr>
          <p:cNvPr id="33" name="Text 23">
            <a:extLst xmlns:a="http://schemas.openxmlformats.org/drawingml/2006/main">
              <a:ext uri="{FF2B5EF4-FFF2-40B4-BE49-F238E27FC236}">
                <a16:creationId xmlns:a16="http://schemas.microsoft.com/office/drawing/2014/main" id="{6EFB50F7-695B-4865-8624-BADAC2AFA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154680"/>
            <a:ext cx="3429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Exclude node_modules, .git, .env, build artifacts.</a:t>
            </a:r>
            <a:endParaRPr sz="1000"/>
          </a:p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A82CE825-419F-49C5-BD3B-18227D28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5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160d5e570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39319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36" name="Text 25">
            <a:extLst xmlns:a="http://schemas.openxmlformats.org/drawingml/2006/main">
              <a:ext uri="{FF2B5EF4-FFF2-40B4-BE49-F238E27FC236}">
                <a16:creationId xmlns:a16="http://schemas.microsoft.com/office/drawing/2014/main" id="{43928BDC-8BBB-4701-A36C-828CD05D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8862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Non-root USER</a:t>
            </a:r>
            <a:endParaRPr sz="1300"/>
          </a:p>
        </p:txBody>
      </p:sp>
      <p:sp>
        <p:nvSpPr>
          <p:cNvPr id="37" name="Text 26">
            <a:extLst xmlns:a="http://schemas.openxmlformats.org/drawingml/2006/main">
              <a:ext uri="{FF2B5EF4-FFF2-40B4-BE49-F238E27FC236}">
                <a16:creationId xmlns:a16="http://schemas.microsoft.com/office/drawing/2014/main" id="{5DFD171D-0A3B-4DE9-A728-32CC01CB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43400"/>
            <a:ext cx="3429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 node atau USER appuser. Tidak run sebagai root.</a:t>
            </a:r>
            <a:endParaRPr sz="1000"/>
          </a:p>
        </p:txBody>
      </p:sp>
      <p:sp>
        <p:nvSpPr>
          <p:cNvPr id="38" name="Shape 27">
            <a:extLst xmlns:a="http://schemas.openxmlformats.org/drawingml/2006/main">
              <a:ext uri="{FF2B5EF4-FFF2-40B4-BE49-F238E27FC236}">
                <a16:creationId xmlns:a16="http://schemas.microsoft.com/office/drawing/2014/main" id="{3F0117AE-CB4C-42DE-87E2-CD3AAD7E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9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160d5e570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39319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40" name="Text 28">
            <a:extLst xmlns:a="http://schemas.openxmlformats.org/drawingml/2006/main">
              <a:ext uri="{FF2B5EF4-FFF2-40B4-BE49-F238E27FC236}">
                <a16:creationId xmlns:a16="http://schemas.microsoft.com/office/drawing/2014/main" id="{64C66E12-3503-4A61-8D68-EB7FEC31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38862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No Secrets in Image</a:t>
            </a:r>
            <a:endParaRPr sz="1300"/>
          </a:p>
        </p:txBody>
      </p:sp>
      <p:sp>
        <p:nvSpPr>
          <p:cNvPr id="41" name="Text 29">
            <a:extLst xmlns:a="http://schemas.openxmlformats.org/drawingml/2006/main">
              <a:ext uri="{FF2B5EF4-FFF2-40B4-BE49-F238E27FC236}">
                <a16:creationId xmlns:a16="http://schemas.microsoft.com/office/drawing/2014/main" id="{1760B321-BB54-48F3-A9E6-8F919D94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343400"/>
            <a:ext cx="3429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Build: BuildKit secret mount. Runtime: secret file/manager sesuai kebutuhan.</a:t>
            </a:r>
            <a:endParaRPr sz="1000"/>
          </a:p>
        </p:txBody>
      </p:sp>
      <p:sp>
        <p:nvSpPr>
          <p:cNvPr id="42" name="Shape 30">
            <a:extLst xmlns:a="http://schemas.openxmlformats.org/drawingml/2006/main">
              <a:ext uri="{FF2B5EF4-FFF2-40B4-BE49-F238E27FC236}">
                <a16:creationId xmlns:a16="http://schemas.microsoft.com/office/drawing/2014/main" id="{DD42BFC5-8B7E-45F6-8C51-99598BC7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3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160d5e570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39319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44" name="Text 31">
            <a:extLst xmlns:a="http://schemas.openxmlformats.org/drawingml/2006/main">
              <a:ext uri="{FF2B5EF4-FFF2-40B4-BE49-F238E27FC236}">
                <a16:creationId xmlns:a16="http://schemas.microsoft.com/office/drawing/2014/main" id="{9709C649-5708-45A3-95BC-D3D3EB22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8862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HEALTHCHECK</a:t>
            </a:r>
            <a:endParaRPr sz="1300"/>
          </a:p>
        </p:txBody>
      </p:sp>
      <p:sp>
        <p:nvSpPr>
          <p:cNvPr id="45" name="Text 32">
            <a:extLst xmlns:a="http://schemas.openxmlformats.org/drawingml/2006/main">
              <a:ext uri="{FF2B5EF4-FFF2-40B4-BE49-F238E27FC236}">
                <a16:creationId xmlns:a16="http://schemas.microsoft.com/office/drawing/2014/main" id="{89822081-8E24-4965-B7B3-E066441F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343400"/>
            <a:ext cx="3429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Probe status aplikasi. Unhealthy tidak otomatis memicu restart Docker standalone.</a:t>
            </a:r>
            <a:endParaRPr sz="1000"/>
          </a:p>
        </p:txBody>
      </p:sp>
      <p:sp>
        <p:nvSpPr>
          <p:cNvPr id="46" name="Shape 33">
            <a:extLst xmlns:a="http://schemas.openxmlformats.org/drawingml/2006/main">
              <a:ext uri="{FF2B5EF4-FFF2-40B4-BE49-F238E27FC236}">
                <a16:creationId xmlns:a16="http://schemas.microsoft.com/office/drawing/2014/main" id="{0CCA5D85-BCEC-4CEA-8146-C6B9980E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83480"/>
            <a:ext cx="37033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7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160d5e570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512064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48" name="Text 34">
            <a:extLst xmlns:a="http://schemas.openxmlformats.org/drawingml/2006/main">
              <a:ext uri="{FF2B5EF4-FFF2-40B4-BE49-F238E27FC236}">
                <a16:creationId xmlns:a16="http://schemas.microsoft.com/office/drawing/2014/main" id="{9152379C-D56B-40E5-ACCA-7D9ECF72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07492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Scan dengan Trivy</a:t>
            </a:r>
            <a:endParaRPr sz="1300"/>
          </a:p>
        </p:txBody>
      </p:sp>
      <p:sp>
        <p:nvSpPr>
          <p:cNvPr id="49" name="Text 35">
            <a:extLst xmlns:a="http://schemas.openxmlformats.org/drawingml/2006/main">
              <a:ext uri="{FF2B5EF4-FFF2-40B4-BE49-F238E27FC236}">
                <a16:creationId xmlns:a16="http://schemas.microsoft.com/office/drawing/2014/main" id="{582D96C6-A8B1-4A12-B87D-D238BA32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532120"/>
            <a:ext cx="3429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CVE di base image sebelum push ke registry.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1881852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AE37C71-E4CB-4FD0-B25A-E0D96589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5A78C53-D5A3-4E7D-AB3C-90298E52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A1040BF-E47A-4C40-92D5-6A9B8D84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81B233F-D971-4A6A-8092-370A6AF3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B8C5EC5-266E-4201-8000-AA3A43BE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87148B9-9DD6-4C60-B187-F4373A75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5EFB563-BE18-4A3A-BEA0-638747DB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ded4c9c9e540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5bdfe541345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25AF763-037F-4619-8C7F-E96CF075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E8569E5-6BBC-4FE5-8BD7-F28C54C5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Tagging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Registry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DEB683E-E87B-4128-83D1-BACFC7A1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0E35345A-68AC-4650-A0DE-F25736FE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Bagaimana nama image, dan publish ke registry untuk di-share.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91016283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9AC44F1-96D7-4C90-8828-821755B9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B3D4F0-251F-4B7B-B1EF-CF8F9E40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36348B9-05BB-4A7B-99AF-0B70588C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fb348415b94c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890a4db74f4a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0D091C-5612-4A7D-A390-DF840753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5C469E3-3CF8-4EF3-B73C-9929039B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Image Tagging Strategy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CDE60DA-AA33-44D5-A68F-17FA41B1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Nama image yang baik = mudah deploy, mudah rollback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DED4CFF-2B0F-4BF4-AA7F-9A0DBF00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1195EBD-D4B4-4D2D-B80B-067F872A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Format: </a:t>
            </a:r>
            <a:r>
              <a:rPr sz="13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[registry/]&lt;namespace&gt;/&lt;image&gt;:&lt;tag&gt;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 </a:t>
            </a:r>
            <a:r>
              <a:rPr sz="1100">
                <a:solidFill>
                  <a:srgbClr val="FFE0B2"/>
                </a:solidFill>
                <a:latin typeface="Consolas"/>
                <a:ea typeface="Consolas"/>
                <a:cs typeface="Consolas"/>
              </a:rPr>
              <a:t>ghcr.io/seedflora/myapp:1.2.0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17DB769F-CADC-45BF-862D-FAC9B9EB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557784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6B69B0B-6910-4A1E-8614-1097A8DC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55778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3EF1FC2-F2E2-4547-B4A1-69FFBF3D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4688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Semantic Version</a:t>
            </a:r>
            <a:endParaRPr sz="13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1D80D28D-A666-412C-B29D-556C4649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68880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b="1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RECOMMENDED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712F7288-061B-4A80-8E6D-2C799223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17520"/>
            <a:ext cx="53035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6411756C-A482-4A0C-B601-E14B5C51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7520"/>
            <a:ext cx="5120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myapp:1.2.3</a:t>
            </a:r>
            <a:endParaRPr sz="12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7FE1494F-DE08-4E0D-B1DD-784C0162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520440"/>
            <a:ext cx="53035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MAJOR.MINOR.PATCH. Format paling jelas + cocok untuk release.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291B8B10-DED9-4B8D-B1F3-C54E0671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468880"/>
            <a:ext cx="557784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CCA4C87-6F46-40E5-9CB0-FA4F5C28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468880"/>
            <a:ext cx="55778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DFC5AA79-57EF-4D0C-95DA-431603DE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4688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Git SHA</a:t>
            </a:r>
            <a:endParaRPr sz="13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E46851ED-D88F-49D0-BD55-F7F35514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2468880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b="1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RECOMMENDED</a:t>
            </a:r>
            <a:endParaRPr sz="10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5C9F362A-E5EF-4B7C-B538-D54055AA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017520"/>
            <a:ext cx="53035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A20C170F-F607-417B-ADB4-5A3BA078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17520"/>
            <a:ext cx="5120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myapp:a3f8b1c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DAE0B4E6-251C-4504-9F17-02DB84E7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520440"/>
            <a:ext cx="53035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Tag commit memudahkan penelusuran, tetapi tetap dapat ditimpa.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6F28A7C7-4A96-41F7-B6A5-5A1ADDEC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557784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EE94750D-1836-48EA-B1EB-918EB0B7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55778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EFE2E7C2-CECE-4CCB-BDDD-A22B33A3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2976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Date-based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C5CFC158-FEEE-43EF-965E-543123C1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97680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b="1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RECOMMENDED</a:t>
            </a:r>
            <a:endParaRPr sz="10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BACD4568-F495-45E2-9101-75E6F11A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846320"/>
            <a:ext cx="53035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8B5D2A8-3A13-4CD5-A868-C12C3852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46320"/>
            <a:ext cx="5120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myapp:2026-05-15</a:t>
            </a:r>
            <a:endParaRPr sz="12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DFE209BD-26C8-4A50-B370-865955F9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349240"/>
            <a:ext cx="53035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Cocok untuk nightly build / daily release. Mudah diurutkan.</a:t>
            </a:r>
            <a:endParaRPr sz="110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D2477B13-996D-4CA0-8F94-798643E7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97680"/>
            <a:ext cx="557784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25A74B2A-587E-4AED-B56F-3027E4DC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97680"/>
            <a:ext cx="55778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907F5B4C-6FCA-4565-9C6B-3CD9F314F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2976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:latest</a:t>
            </a:r>
            <a:endParaRPr sz="13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B2EBF83F-8E4B-498E-8781-71EDA5A5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4297680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b="1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AVOID</a:t>
            </a:r>
            <a:endParaRPr sz="10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023CA291-C492-465C-A06A-4F51FCE7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846320"/>
            <a:ext cx="53035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2161C421-205B-43AE-A9DA-3DB52701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846320"/>
            <a:ext cx="5120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myapp:latest</a:t>
            </a:r>
            <a:endParaRPr sz="12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4D5EED5C-B97D-4E6D-8A77-FCCF80F1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3035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PITFALL! Floating tag - tidak reproducible. Production = pin version.</a:t>
            </a:r>
            <a:endParaRPr sz="11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2A39D5D3-7607-4819-8B90-E2610D83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Semua tag dapat berpindah. Gunakan image@sha256:&lt;digest&gt; untuk identitas konten saat deploy/rollback.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1353412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D2B4915-A508-49E1-8CC8-38C39533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6A6AA03-E428-45E9-A7E6-44F09575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4BD93B1-54C8-420F-870A-D7C9BE86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ea67284d245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f27a959674e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7436C6D-A78B-4FC4-8FB3-F13D6F88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DC3BCF4-4732-44D4-800A-D0F49287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Push ke Registry - Docker Hub vs ghcr.io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756B104-07EA-494C-BBF1-7C5AAABC5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Registry practice opsional untuk berbagi image proyek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3A7FEC3-99E2-4AA1-836D-372BB49E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468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C3919A5-F305-432D-A4B1-AE1E0676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pic>
        <p:nvPicPr>
          <p:cNvPr id="4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b402b7f2143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5544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31CB780-99A9-4CA6-AA36-3615DE9F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17320"/>
            <a:ext cx="48463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Hub  -  docker.io</a:t>
            </a:r>
            <a:endParaRPr sz="15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46464A4E-A113-495E-921D-95624388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521208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Default registry - tidak perlu prefix di image name</a:t>
            </a:r>
            <a:endParaRPr sz="1100"/>
          </a:p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Kebijakan repo gratis berubah; cek Docker Hub</a:t>
            </a:r>
            <a:endParaRPr sz="1100"/>
          </a:p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Batas pull berbeda menurut jenis akun; cek docs</a:t>
            </a:r>
            <a:endParaRPr sz="1100"/>
          </a:p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Username jadi namespace: docker.io/seedflora/myapp</a:t>
            </a:r>
            <a:endParaRPr sz="11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B80804A0-1DD5-4FE6-B9FD-14875141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468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0B41DF95-991C-47BD-8F03-5D8227A6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4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dafa37101349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33E744FB-C0C1-440E-82FF-D4874E4D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417320"/>
            <a:ext cx="46634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GitHub Container Registry  -  ghcr.io</a:t>
            </a:r>
            <a:endParaRPr sz="14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6E6799A8-3332-4A85-AA21-517C1A9A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94560"/>
            <a:ext cx="512064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GitHub Actions dapat membangun/push jika workflow disiapkan</a:t>
            </a:r>
            <a:endParaRPr sz="1100"/>
          </a:p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Akses dan biaya mengikuti paket GitHub Packages</a:t>
            </a:r>
            <a:endParaRPr sz="1100"/>
          </a:p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Package awal private. Atur visibilitas dan akses sesuai kebutuhan</a:t>
            </a:r>
            <a:endParaRPr sz="1100"/>
          </a:p>
          <a:p xmlns:a="http://schemas.openxmlformats.org/drawingml/2006/main">
            <a:pPr marL="342900" indent="-342900">
              <a:spcAft>
                <a:spcPts val="400"/>
              </a:spcAft>
              <a:buSzPct val="100000"/>
              <a:buChar char="▸"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Namespace/name image dapat berbeda dari nama repo Git</a:t>
            </a:r>
            <a:endParaRPr sz="11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827FFC2C-A6BF-49BB-9CAB-9A3F236C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23360"/>
            <a:ext cx="1124712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5CA02D0E-69E4-401A-80F2-8008AF7D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2336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2" name="Shape 16">
            <a:extLst xmlns:a="http://schemas.openxmlformats.org/drawingml/2006/main">
              <a:ext uri="{FF2B5EF4-FFF2-40B4-BE49-F238E27FC236}">
                <a16:creationId xmlns:a16="http://schemas.microsoft.com/office/drawing/2014/main" id="{0EB80DAD-91A2-4CE3-AFE9-8BB2CE86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0565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3" name="Shape 17">
            <a:extLst xmlns:a="http://schemas.openxmlformats.org/drawingml/2006/main">
              <a:ext uri="{FF2B5EF4-FFF2-40B4-BE49-F238E27FC236}">
                <a16:creationId xmlns:a16="http://schemas.microsoft.com/office/drawing/2014/main" id="{6662E4B2-186B-40D5-8BB6-D71385A4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65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A5272AA8-C867-4379-BFBE-CE557A7D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0565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3C253266-49B8-49B0-A069-E23C8C15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2336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Docker Hub: tag + login + push + pull</a:t>
            </a:r>
            <a:endParaRPr sz="900"/>
          </a:p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B0B98095-2F80-4360-B19D-A3A9AEC8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0"/>
            <a:ext cx="1097280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Ganti NAMA_AKUN dengan akun Docker Hub sendiri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cloud-notes-api:lab05 NAMA_AKUN/cloud-notes-api:lab05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NAMA_AKUN/cloud-notes-api:lab05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NAMA_AKUN/cloud-notes-api:lab05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Registry menyimpan image. GitHub repository menyimpan kode.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  <a:defRPr sz="12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Jangan memasukkan password/token ke slide atau commit.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4562154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50DE6B6-DC5F-47B7-A4CD-866D96645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AD6C5A6-D8FE-4121-B7DB-A996600F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9B65EA0-3231-4243-BC69-04BFC4B3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63D583B-EF80-4542-93F4-79F1D401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B943060-2648-41F3-9EA4-5753F325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10BFDC4-E5B7-4B3B-ACD1-E1D78881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6630740-18F0-4247-908A-DA942B6D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e34af9321e41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c96f7002c47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BD6CF7E-C05A-449F-9CF5-A057B9C4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19D8C44-15ED-43F7-A01E-4DCE99004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Security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Best Practices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417885B-B065-4E7A-9C5B-E4D3635C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B3800A6-FB4F-4483-9D2A-B6B5ED51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Image yang aman - non-root, no secrets, scanned.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39570454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4128B4A-BCA0-4836-AAB1-7F3F7150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BB14929-4ECE-431D-8890-971AB175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E610C17-CE64-4B0F-8DC3-FB354B19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c379276b7c46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ae26dc26a4c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E0FE429-A20B-49E3-A5D7-2DE23D27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6C46C74-6FA1-4E38-94EA-F84EB7B2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Common Vulnerabilities di Docker Image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1B22CBE-B3E6-4F31-8B5F-9CAAC73F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Kesalahan keamanan yang sering muncul - dan cara hindari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28E5CFFD-B97D-4DF8-9799-BE4AA080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8E8FC9E-0524-4BC2-BACB-6CE7286A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A9E6FDD-D94F-4111-8A62-91D1CA1C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1732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Running as Root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E44912B-0ADD-427A-8864-1637057C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33756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UID 0 dapat memperbesar dampak celah kernel/konfigurasi. Root host tidak otomatis diperoleh.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5A1A47C-E475-4570-B517-A2CCCD8D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33375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CF4AF4A-ABB4-4DFA-AC6A-0416EE45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44952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USER non-root di Dockerfile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2717BE9E-D2F5-4B4D-B345-A40714CA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40ECD1AD-84E3-4158-BABF-950587E8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pic>
        <p:nvPicPr>
          <p:cNvPr id="7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0bf7328a24f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14630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3D857F97-CA86-44B2-8185-3353A34B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1732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Secrets in Image</a:t>
            </a:r>
            <a:endParaRPr sz="13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EFB5EED5-EC84-4439-B459-0BE92E9C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65960"/>
            <a:ext cx="333756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API key / password hardcoded di Dockerfile, COPY .env, atau ENV password=...</a:t>
            </a:r>
            <a:endParaRPr sz="105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6716D0B9-040B-4482-B921-C8D31BCB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017520"/>
            <a:ext cx="33375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7D6EAEDE-3C1D-474E-8F8B-A96CE198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44952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BuildKit secret mount / runtime secret manager</a:t>
            </a:r>
            <a:endParaRPr sz="1000"/>
          </a:p>
        </p:txBody>
      </p:sp>
      <p:sp>
        <p:nvSpPr>
          <p:cNvPr id="23" name="Shape 18">
            <a:extLst xmlns:a="http://schemas.openxmlformats.org/drawingml/2006/main">
              <a:ext uri="{FF2B5EF4-FFF2-40B4-BE49-F238E27FC236}">
                <a16:creationId xmlns:a16="http://schemas.microsoft.com/office/drawing/2014/main" id="{B4287873-A178-4C8F-8904-5A359BA9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E4D8B893-12B8-4AC6-BA56-31F29E72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pic>
        <p:nvPicPr>
          <p:cNvPr id="8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617292101240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14630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B0FFB2B0-0D14-41BE-B47A-35750FAE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41732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Outdated Base Image</a:t>
            </a:r>
            <a:endParaRPr sz="1300"/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8E9B987B-26CB-47DD-88F1-635E07C3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333756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Base lama tanpa pembaruan keamanan meningkatkan risiko CVE.</a:t>
            </a:r>
            <a:endParaRPr sz="1050"/>
          </a:p>
        </p:txBody>
      </p:sp>
      <p:sp>
        <p:nvSpPr>
          <p:cNvPr id="28" name="Shape 22">
            <a:extLst xmlns:a="http://schemas.openxmlformats.org/drawingml/2006/main">
              <a:ext uri="{FF2B5EF4-FFF2-40B4-BE49-F238E27FC236}">
                <a16:creationId xmlns:a16="http://schemas.microsoft.com/office/drawing/2014/main" id="{12A6EB7D-95B5-4E74-B30B-750DF951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17520"/>
            <a:ext cx="33375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EC0A80B8-9169-4C0A-8C1E-46B862BE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044952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Base yang didukung, pembaruan rutin, dan scan</a:t>
            </a:r>
            <a:endParaRPr sz="1000"/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4717098A-9A1F-42C2-95E5-5E58B195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96BB99FC-FD92-4F5D-8DB1-85BEC4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pic>
        <p:nvPicPr>
          <p:cNvPr id="8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4d2f592a5040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38404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BB3928F8-A365-4547-A5A6-D86A0E1F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9476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Bloated Image</a:t>
            </a:r>
            <a:endParaRPr sz="1300"/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E1EEC0D5-B7B2-4209-A398-1E16B1AF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333756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Tool yang tidak diperlukan menambah komponen yang perlu dipelihara.</a:t>
            </a:r>
            <a:endParaRPr sz="1050"/>
          </a:p>
        </p:txBody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7CB5069D-955B-4612-B35A-78532F96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94960"/>
            <a:ext cx="33375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6" name="Text 29">
            <a:extLst xmlns:a="http://schemas.openxmlformats.org/drawingml/2006/main">
              <a:ext uri="{FF2B5EF4-FFF2-40B4-BE49-F238E27FC236}">
                <a16:creationId xmlns:a16="http://schemas.microsoft.com/office/drawing/2014/main" id="{F7E42640-B13B-48C1-BA64-E06A7021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22392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Multi-stage + alpine/distroless</a:t>
            </a:r>
            <a:endParaRPr sz="1000"/>
          </a:p>
        </p:txBody>
      </p:sp>
      <p:sp>
        <p:nvSpPr>
          <p:cNvPr id="37" name="Shape 30">
            <a:extLst xmlns:a="http://schemas.openxmlformats.org/drawingml/2006/main">
              <a:ext uri="{FF2B5EF4-FFF2-40B4-BE49-F238E27FC236}">
                <a16:creationId xmlns:a16="http://schemas.microsoft.com/office/drawing/2014/main" id="{3AC08404-D627-4B1D-9C01-18D88453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1">
            <a:extLst xmlns:a="http://schemas.openxmlformats.org/drawingml/2006/main">
              <a:ext uri="{FF2B5EF4-FFF2-40B4-BE49-F238E27FC236}">
                <a16:creationId xmlns:a16="http://schemas.microsoft.com/office/drawing/2014/main" id="{FBD05FE6-78E0-4E1C-9932-C962A4AD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pic>
        <p:nvPicPr>
          <p:cNvPr id="95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0ab39e46745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38404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40" name="Text 32">
            <a:extLst xmlns:a="http://schemas.openxmlformats.org/drawingml/2006/main">
              <a:ext uri="{FF2B5EF4-FFF2-40B4-BE49-F238E27FC236}">
                <a16:creationId xmlns:a16="http://schemas.microsoft.com/office/drawing/2014/main" id="{5E0EAD3B-ADFD-4830-81BF-0B6DCA30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79476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Vulnerable Dependencies</a:t>
            </a:r>
            <a:endParaRPr sz="1300"/>
          </a:p>
        </p:txBody>
      </p:sp>
      <p:sp>
        <p:nvSpPr>
          <p:cNvPr id="41" name="Text 33">
            <a:extLst xmlns:a="http://schemas.openxmlformats.org/drawingml/2006/main">
              <a:ext uri="{FF2B5EF4-FFF2-40B4-BE49-F238E27FC236}">
                <a16:creationId xmlns:a16="http://schemas.microsoft.com/office/drawing/2014/main" id="{780E93F2-4367-4DC1-AAEE-2A7D49BE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43400"/>
            <a:ext cx="333756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npm package dengan CVE dibiarkan di prod. Auto-update jarang dilakukan.</a:t>
            </a:r>
            <a:endParaRPr sz="1050"/>
          </a:p>
        </p:txBody>
      </p:sp>
      <p:sp>
        <p:nvSpPr>
          <p:cNvPr id="42" name="Shape 34">
            <a:extLst xmlns:a="http://schemas.openxmlformats.org/drawingml/2006/main">
              <a:ext uri="{FF2B5EF4-FFF2-40B4-BE49-F238E27FC236}">
                <a16:creationId xmlns:a16="http://schemas.microsoft.com/office/drawing/2014/main" id="{22AEA65C-7227-4533-9D14-DA651A1D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394960"/>
            <a:ext cx="33375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3" name="Text 35">
            <a:extLst xmlns:a="http://schemas.openxmlformats.org/drawingml/2006/main">
              <a:ext uri="{FF2B5EF4-FFF2-40B4-BE49-F238E27FC236}">
                <a16:creationId xmlns:a16="http://schemas.microsoft.com/office/drawing/2014/main" id="{F17B0957-5FAD-4387-A372-186A037E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2392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npm audit + Dependabot + scanner CI</a:t>
            </a:r>
            <a:endParaRPr sz="1000"/>
          </a:p>
        </p:txBody>
      </p:sp>
      <p:sp>
        <p:nvSpPr>
          <p:cNvPr id="44" name="Shape 36">
            <a:extLst xmlns:a="http://schemas.openxmlformats.org/drawingml/2006/main">
              <a:ext uri="{FF2B5EF4-FFF2-40B4-BE49-F238E27FC236}">
                <a16:creationId xmlns:a16="http://schemas.microsoft.com/office/drawing/2014/main" id="{44C59E40-6A85-4A68-B5F5-BC9CFE236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5" name="Shape 37">
            <a:extLst xmlns:a="http://schemas.openxmlformats.org/drawingml/2006/main">
              <a:ext uri="{FF2B5EF4-FFF2-40B4-BE49-F238E27FC236}">
                <a16:creationId xmlns:a16="http://schemas.microsoft.com/office/drawing/2014/main" id="{88D7E07E-20A9-4B0A-888D-7470902D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pic>
        <p:nvPicPr>
          <p:cNvPr id="102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f7553f79fd48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384048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47" name="Text 38">
            <a:extLst xmlns:a="http://schemas.openxmlformats.org/drawingml/2006/main">
              <a:ext uri="{FF2B5EF4-FFF2-40B4-BE49-F238E27FC236}">
                <a16:creationId xmlns:a16="http://schemas.microsoft.com/office/drawing/2014/main" id="{E617974E-4CCE-4EB7-BDB6-07D10FA9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79476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Layanan tidak sehat</a:t>
            </a:r>
            <a:endParaRPr sz="1300"/>
          </a:p>
        </p:txBody>
      </p:sp>
      <p:sp>
        <p:nvSpPr>
          <p:cNvPr id="48" name="Text 39">
            <a:extLst xmlns:a="http://schemas.openxmlformats.org/drawingml/2006/main">
              <a:ext uri="{FF2B5EF4-FFF2-40B4-BE49-F238E27FC236}">
                <a16:creationId xmlns:a16="http://schemas.microsoft.com/office/drawing/2014/main" id="{54FD2DD1-E23F-4E34-B5AC-723D5B75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33756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Proses dapat tetap jalan saat HTTP gagal. Docker tetap mendeteksi proses yang exit.</a:t>
            </a:r>
            <a:endParaRPr sz="1050"/>
          </a:p>
        </p:txBody>
      </p:sp>
      <p:sp>
        <p:nvSpPr>
          <p:cNvPr id="49" name="Shape 40">
            <a:extLst xmlns:a="http://schemas.openxmlformats.org/drawingml/2006/main">
              <a:ext uri="{FF2B5EF4-FFF2-40B4-BE49-F238E27FC236}">
                <a16:creationId xmlns:a16="http://schemas.microsoft.com/office/drawing/2014/main" id="{30749656-D087-418A-A7A2-E983DF15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394960"/>
            <a:ext cx="33375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50" name="Text 41">
            <a:extLst xmlns:a="http://schemas.openxmlformats.org/drawingml/2006/main">
              <a:ext uri="{FF2B5EF4-FFF2-40B4-BE49-F238E27FC236}">
                <a16:creationId xmlns:a16="http://schemas.microsoft.com/office/drawing/2014/main" id="{31B4A814-4AE7-4FB5-BE9F-4BEEBECB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422392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Probe yang sesuai dan kebijakan pemulihan eksplisit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3455047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353CFE1-6DC1-449E-B742-6BC8A331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798A130-E8F1-4510-8100-D71B8642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F236F89-C946-4E9E-BCBD-4F901F68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b05c24cb2647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3d8ea82e846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49B3599-27F5-4244-958D-6AEC5768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303F282-C923-4B3C-88F5-9D50B190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Security Best Practices - Dockerfile Edition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0046F59-8640-4885-911F-C7A6D712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Pattern Dockerfile yang aman secara default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F8B3CC6-3183-40C4-A222-9CBF1277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8E05E4C-F6DB-46D1-A412-FA60A869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C5EF5D92-E321-4BF9-BF00-40959D8F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AE46DFA-36BA-4C9D-B120-50955687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C1A1D42-AE91-49EB-AC2D-6A24D04D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65290DC-736F-4C25-B409-2274C795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Dockerfile - secure by default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DE0778A-3528-4C2C-9F8B-E9A72B13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Pilih base yang masih didukung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node:24-alpine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Buat user non-root khusus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RUN addgroup -S app &amp;&amp; adduser -S app -G 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WORKDIR /app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Copy file dgn ownership eksplisit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COPY --chown=app:app package.json package-lock.json ./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npm ci --omit=dev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&amp;&amp; npm cache clean --force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--chown=app:app . 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4. Switch ke user app SEBELUM CMD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USER app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5. Probe aplikasi; wget tersedia pada base Alpine ini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HEALTHCHECK --interval=30s --timeout=3s --retries=3 \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CMD wget --quiet --tries=1 --spider http://localhost:3000/health || exit 1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EXPOSE 3000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CMD ["node", "server.js"]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79163446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DCB4762-6E1C-4ABA-BA02-9C81CCA4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26C7534-B22F-44F6-9029-959F0595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8D875FE-35A1-4FBA-BC71-623A4136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c8abd859e742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ebc6aa0ec144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C6D3E5F-3D68-445D-A129-81688538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6B8FA41-398B-46FD-8FCB-D515BAE2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Image Scanning Tools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7CC404D-B56D-4C5F-A22C-C225B7D5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Cek CVE di image SEBELUM push ke production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96BA2DB-E0B0-49CC-9E50-641E87C5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14EAADBC-7266-45F3-8538-367BFEC4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04DA"/>
          </a:solidFill>
          <a:ln xmlns:a="http://schemas.openxmlformats.org/drawingml/2006/main" w="12700">
            <a:solidFill>
              <a:srgbClr val="1904DA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5203E86-5E4A-4BD7-94EC-668B3008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Trivy</a:t>
            </a:r>
            <a:endParaRPr sz="1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A3481BE4-12FA-475E-8C81-5BDE4E00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194560"/>
            <a:ext cx="24231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Open source dari Aqua Security. Cepat, comprehensive. CVE + secret + IaC.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633473A-F1ED-4F69-8B33-02F10F05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03320"/>
            <a:ext cx="24231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C679EBB-4637-4E6A-8F12-4F36BF22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0332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trivy image myapp:1.0</a:t>
            </a:r>
            <a:endParaRPr sz="9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324B9808-D36F-4202-AC8B-742245EE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2976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59859479-D285-4D5D-94DE-7A41F179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891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CC3AA36A-97A0-4FBD-AA40-DFC4BEB5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617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Default scanner CI/CD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E3BB0413-02C4-4146-8347-27C2E15B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94B7CDC-3D26-4173-9F30-E49146E7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12700">
            <a:solidFill>
              <a:srgbClr val="2496ED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E7A68D28-AF5F-47FC-B8FF-93E2DF8C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Scout</a:t>
            </a:r>
            <a:endParaRPr sz="18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305ADCF4-C620-44D8-B0FA-42CBBDD9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194560"/>
            <a:ext cx="24231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Built-in di Docker Desktop. Real-time monitoring + remediation suggestions.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3C140A36-2BFE-4672-90F8-EF99FC70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703320"/>
            <a:ext cx="24231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F383FB02-AE81-4970-A98D-ABB45165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370332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docker scout cves myapp:1.0</a:t>
            </a:r>
            <a:endParaRPr sz="9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938DD11D-1B90-4770-8C60-A0225363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2976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C3ECED19-5CF5-4C89-9F53-DCEF63FF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3891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6CDE29D9-1F42-4624-9FBF-1A0BE76D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617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Local dev workflow</a:t>
            </a:r>
            <a:endParaRPr sz="11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F3DCF360-3DAB-4D3E-902E-1967DE7D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4A0EFD2F-3998-4E9E-9AE6-73E41927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4A73"/>
          </a:solidFill>
          <a:ln xmlns:a="http://schemas.openxmlformats.org/drawingml/2006/main" w="12700">
            <a:solidFill>
              <a:srgbClr val="4C4A73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355FCEF3-FEA3-405E-9553-2CD3764F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Snyk</a:t>
            </a:r>
            <a:endParaRPr sz="18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CCD8227D-3C76-4090-9FD0-ABD9E18F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2194560"/>
            <a:ext cx="24231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Integrasi scanner dan GitHub PR. Periksa paket serta kuota resmi.</a:t>
            </a:r>
            <a:endParaRPr sz="11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CD89AC40-44FB-4F07-86FF-3B079133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3703320"/>
            <a:ext cx="24231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FC467C-1146-4759-B506-96EBC5DA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70332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snyk container test myapp:1.0</a:t>
            </a:r>
            <a:endParaRPr sz="9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61474627-874F-4090-B0F8-B3E6B3FD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42976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AA9D2098-51B9-4FAE-A1DA-D0382712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43891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C18357DF-EB3F-4763-B5F0-E03F76F0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4617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Enterprise CI</a:t>
            </a:r>
            <a:endParaRPr sz="11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4C8576E6-BAF8-4FCD-8B46-0AD4723B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7D4E0245-DC72-412D-854B-6D6C249E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16A"/>
          </a:solidFill>
          <a:ln xmlns:a="http://schemas.openxmlformats.org/drawingml/2006/main" w="12700">
            <a:solidFill>
              <a:srgbClr val="00B16A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1C848D3E-F3FE-4B47-8FE8-C55362A3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Grype</a:t>
            </a:r>
            <a:endParaRPr sz="18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6E024E51-9195-4D54-8713-E1B0D595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2194560"/>
            <a:ext cx="24231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Open source dari Anchore. Mirip Trivy, output beda format.</a:t>
            </a:r>
            <a:endParaRPr sz="1100"/>
          </a:p>
        </p:txBody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B581490F-01B4-4F25-925E-DE31DBC7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703320"/>
            <a:ext cx="24231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570289AA-C67F-4070-B1C2-D8DC5FDF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70332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grype myapp:1.0</a:t>
            </a:r>
            <a:endParaRPr sz="9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F4897977-45F8-471F-9BFD-1116345C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4297680"/>
            <a:ext cx="2423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93A9F852-3496-4B4C-ADAC-23E2BE61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4389120"/>
            <a:ext cx="2423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9C5E368C-5CF0-4C4E-9DD1-0CC4364F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4617720"/>
            <a:ext cx="2423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Alternatif Trivy</a:t>
            </a:r>
            <a:endParaRPr sz="1100"/>
          </a:p>
        </p:txBody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CF6C46E1-5ECC-4E06-A3FF-48BA110D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124712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C0308401-F54B-4F64-A9AB-32A7E202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D09E8F1E-DC8F-4337-8A64-C62F343F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00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49" name="Shape 45">
            <a:extLst xmlns:a="http://schemas.openxmlformats.org/drawingml/2006/main">
              <a:ext uri="{FF2B5EF4-FFF2-40B4-BE49-F238E27FC236}">
                <a16:creationId xmlns:a16="http://schemas.microsoft.com/office/drawing/2014/main" id="{DFFF31A0-65EA-4FB3-A49E-3EE36CA1E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00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50" name="Shape 46">
            <a:extLst xmlns:a="http://schemas.openxmlformats.org/drawingml/2006/main">
              <a:ext uri="{FF2B5EF4-FFF2-40B4-BE49-F238E27FC236}">
                <a16:creationId xmlns:a16="http://schemas.microsoft.com/office/drawing/2014/main" id="{53A2614F-88B1-45D3-A9F8-DD55BB14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400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FC0E4CF2-45DF-4D7D-939C-79F4D81D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25780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Trivy in action</a:t>
            </a:r>
            <a:endParaRPr sz="900"/>
          </a:p>
        </p:txBody>
      </p:sp>
      <p:sp>
        <p:nvSpPr>
          <p:cNvPr id="52" name="Text 48">
            <a:extLst xmlns:a="http://schemas.openxmlformats.org/drawingml/2006/main">
              <a:ext uri="{FF2B5EF4-FFF2-40B4-BE49-F238E27FC236}">
                <a16:creationId xmlns:a16="http://schemas.microsoft.com/office/drawing/2014/main" id="{01B32ACB-0752-4AA4-A42E-B052211B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623560"/>
            <a:ext cx="10972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Jumlah CVE berubah menurut image dan database scanner.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Tinjau severity, paket, versi perbaikan, dan relevansi risiko.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7776496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5290D52-0A7F-4CF2-8737-8F9E1B72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7C300C3-82BC-4DDB-BD0E-98F20B74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B9839D8-BEDD-4E0F-8E94-BE67CDBC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fe73bab49740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310b4dd7a64a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6B9D7DA-B0DE-48AE-8224-A0718BD4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D2F0FFF-D6C1-402F-AB9F-812DD211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- Docker Core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F0DD4C3-95BD-4804-92B7-92599BA0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Ringkasan Bash/Dockerfile; placeholder &lt;...&gt; harus diganti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59E9EE8-540D-4B9D-A9E1-D8991679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48AE409-4924-45A7-898A-B1AB8B77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7FD4F13-289D-44E8-9287-A9BBE49F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Instructions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73B5EAB-256B-4EE8-A4C1-E14B48D9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FROM &lt;img&gt;:&lt;tag&gt;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WORKDIR /path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COPY src dst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RUN command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EXPOSE 3000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CMD ["a", "b"]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4ADF4F7-7812-4318-AE77-6F03C1D8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8378CF81-0FCE-48F7-A287-89B4BCEC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12CAE3C4-8490-4456-80AE-FE21D56B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6FB38AC4-937F-4B95-8C1D-52C1E243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build -t app:1 .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build --pull \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--no-cache .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build \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--build-arg K=V .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history &lt;img&gt;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image ls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image prune</a:t>
            </a:r>
            <a:endParaRPr sz="11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4DA78015-DB3A-4DCC-8502-7E80F650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D1649298-4364-4AFB-BEA6-68F93146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6D5A053D-B237-4903-9FFB-CD430666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Multi-Stage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FBCA3B9-3F93-4DAF-9369-F506EBF0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FROM x AS builder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FROM y AS runner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COPY --from=builder \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/app/dist ./dist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Build -&gt; runtime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Ukur image hasilnya</a:t>
            </a:r>
            <a:endParaRPr sz="11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08E69940-7DDD-4D18-A1ED-47D753ED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7555A7AB-88B7-4420-90C7-C94AC614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7EF32CD4-8ADA-4C65-9088-1EBDFD76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Cache Order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72D7EFF1-81F9-4DCC-90C8-1E8A108B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FROM &lt;base&gt;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WORKDIR /app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COPY package*.json ./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RUN npm ci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COPY . .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CMD ["node","server.js"]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A00798F4-9536-4CA0-9BF0-BC9F8597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64EE323B-62AB-4BFE-A5D9-8C91998C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40B8351A-8B82-4780-B507-E1857CA6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Optimization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EDE559FB-33EC-4A11-AAEE-DCDBC889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alpine / slim base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Multi-stage build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.dockerignore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Combine RUN steps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Clear apt cache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Lockfile + base digest</a:t>
            </a:r>
            <a:endParaRPr sz="11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895553B5-8117-44A2-AEF2-4A4D38BE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9F99AFC0-E091-47B0-8C22-1EFED8F2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51905E4-E33D-467E-9FD2-FBCF56A6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Tagging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0E49E60-DCD9-4316-8EE8-A9DDD89D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myapp:1.2.3 (semver)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myapp:1.2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myapp:1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myapp:git-abc123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Avoid :latest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ghcr.io/user/app:1.0</a:t>
            </a:r>
            <a:endParaRPr sz="11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033A775B-375A-498C-ACFD-3B53F3CF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215B8D1C-18DB-4B1B-A6EE-0F23D376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E3BD6C5-90F1-41B7-930B-02304E85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Registry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BB778C37-8F61-44F3-B087-07F29F6D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login &lt;reg&gt;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tag old new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push &lt;img&gt;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pull &lt;img&gt;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Docker Hub: docker.io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GitHub: ghcr.io</a:t>
            </a:r>
            <a:endParaRPr sz="11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EBB75082-4169-4A63-A1A3-B3409EA4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0849AB61-6856-4343-8DB5-49346D93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7E8BB61A-E7C5-42EE-BE3C-E37A24EF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Security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8C3A6257-0152-4EC2-B6EC-A050D028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USER appuser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--chown=app:app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HEALTHCHECK CMD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trivy image &lt;img&gt;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No secrets in build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.dockerignore .env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2744525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B02EA74-0EC9-4F5A-B4AB-B90B6453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DF55FDE-DDFF-45BC-85D8-A035BA20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5A366A6-3E38-4A26-929F-5C317D2B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467360edc146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d4a86b168740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342C14E-F9CD-4436-B868-D0125E0C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D298F34-5FAF-45C8-B09E-4A6FFC29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Wrap-Up &amp; Persiapan Pertemuan 6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B875C42-70BC-4513-9FE1-6808BE87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Docker Compose + Multi-container apps minggu depan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B1DD26A8-E081-4ED0-A488-06CCADE5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Key Takeaways Hari Ini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1BF3951-3CF7-4EB2-82A1-CBD47532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0B5663E-13E8-4DE6-AF37-3E4C795B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9B50F7B-EC81-4BF2-8AB0-2327BF63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745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Dockerfile mendefinisikan build. Sesi ini membahas 14 instruksi inti.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9DE29DE-B9C1-4DE6-B30C-AE3A5FFF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BFEBC9E-BDCB-4CEC-AEBA-FCB03D22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1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90A8F56A-AB4C-42E9-A2CF-EDCCB146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RUN saat build. CMD/ENTRYPOINT memberi command dan argumen default runtime.</a:t>
            </a:r>
            <a:endParaRPr sz="105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F2533055-477B-4C81-8025-BD576E97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46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8354398D-F37D-4B97-8E9B-7B459E3B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46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3157111A-3312-4C75-8E71-A79DD441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889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Layer caching: dependency dulu (jarang ubah), code belakangan.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A9E8480-309D-429A-B75F-A0DCF80C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3C72C55-CBAF-400F-8F45-5A75419B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227EFA1-9433-43B0-9AF1-99B3CB28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.dockerignore membatasi context. Kecualikan .env dari COPY.</a:t>
            </a:r>
            <a:endParaRPr sz="10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FA2F0A35-D2D7-4A5A-AA7C-DA9ABE4F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90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AAB63975-2153-4831-9A14-8846D751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90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1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CAC461E9-C6A7-4895-8B65-B2B73CDD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033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Multi-stage build dapat mengecilkan image; ukur hasilnya.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B659D5DE-E557-4B08-A907-036FB42E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57C8D50-E41B-4597-92D9-7028E7BA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1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CDCF1362-4E10-4D24-AD91-2EAFD2825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Tag pakai semver / git SHA. Avoid :latest di production.</a:t>
            </a:r>
            <a:endParaRPr sz="105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617FEFCC-3654-483E-B8E7-7A8E4F54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911CCC2-30E2-4B79-B4D1-37108312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6344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C31AD512-E4A0-4D81-A0C9-0383FD83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61772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Security: non-root USER, no secrets in image, scan dengan Trivy.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98E823FE-9A5E-44DE-8C00-D76C007F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8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2ed2ef8ce74b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4" name="Text 29">
            <a:extLst xmlns:a="http://schemas.openxmlformats.org/drawingml/2006/main">
              <a:ext uri="{FF2B5EF4-FFF2-40B4-BE49-F238E27FC236}">
                <a16:creationId xmlns:a16="http://schemas.microsoft.com/office/drawing/2014/main" id="{F6A2D6E0-20CF-4EB8-BF50-86A67400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5 - LATIHAN SESI INI</a:t>
            </a:r>
            <a:endParaRPr sz="1100"/>
          </a:p>
        </p:txBody>
      </p:sp>
      <p:sp>
        <p:nvSpPr>
          <p:cNvPr id="35" name="Text 30">
            <a:extLst xmlns:a="http://schemas.openxmlformats.org/drawingml/2006/main">
              <a:ext uri="{FF2B5EF4-FFF2-40B4-BE49-F238E27FC236}">
                <a16:creationId xmlns:a16="http://schemas.microsoft.com/office/drawing/2014/main" id="{DE1782BE-BBC4-49E7-A62D-D41538F6C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image Cloud Notes API dan uji endpoint</a:t>
            </a:r>
            <a:endParaRPr sz="1300"/>
          </a:p>
        </p:txBody>
      </p:sp>
      <p:sp>
        <p:nvSpPr>
          <p:cNvPr id="36" name="Text 31">
            <a:extLst xmlns:a="http://schemas.openxmlformats.org/drawingml/2006/main">
              <a:ext uri="{FF2B5EF4-FFF2-40B4-BE49-F238E27FC236}">
                <a16:creationId xmlns:a16="http://schemas.microsoft.com/office/drawing/2014/main" id="{343AAB31-BCF7-4C86-AD41-AA54420E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51206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Bangun Dockerfile multi-stage untuk FastAPI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Tambahkan .dockerignore agar build context kecil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Jalankan image, uji /health dan /docs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POST /notes dan validasi HTTP 422</a:t>
            </a:r>
            <a:endParaRPr sz="1050"/>
          </a:p>
        </p:txBody>
      </p:sp>
      <p:sp>
        <p:nvSpPr>
          <p:cNvPr id="37" name="Shape 32">
            <a:extLst xmlns:a="http://schemas.openxmlformats.org/drawingml/2006/main">
              <a:ext uri="{FF2B5EF4-FFF2-40B4-BE49-F238E27FC236}">
                <a16:creationId xmlns:a16="http://schemas.microsoft.com/office/drawing/2014/main" id="{887DD5FD-062B-4D23-8DCB-50CAC356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57600"/>
            <a:ext cx="548640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c8c9a65cce41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7947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9" name="Text 33">
            <a:extLst xmlns:a="http://schemas.openxmlformats.org/drawingml/2006/main">
              <a:ext uri="{FF2B5EF4-FFF2-40B4-BE49-F238E27FC236}">
                <a16:creationId xmlns:a16="http://schemas.microsoft.com/office/drawing/2014/main" id="{EC28F988-30BE-44AA-B38E-8451E888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79476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PERTEMUAN 6</a:t>
            </a:r>
            <a:endParaRPr sz="1100"/>
          </a:p>
        </p:txBody>
      </p:sp>
      <p:sp>
        <p:nvSpPr>
          <p:cNvPr id="40" name="Text 34">
            <a:extLst xmlns:a="http://schemas.openxmlformats.org/drawingml/2006/main">
              <a:ext uri="{FF2B5EF4-FFF2-40B4-BE49-F238E27FC236}">
                <a16:creationId xmlns:a16="http://schemas.microsoft.com/office/drawing/2014/main" id="{E8892875-BBEB-49FA-B81C-F6D9369F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5196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Docker Compose</a:t>
            </a:r>
            <a:endParaRPr sz="1400"/>
          </a:p>
        </p:txBody>
      </p:sp>
      <p:sp>
        <p:nvSpPr>
          <p:cNvPr id="41" name="Text 35">
            <a:extLst xmlns:a="http://schemas.openxmlformats.org/drawingml/2006/main">
              <a:ext uri="{FF2B5EF4-FFF2-40B4-BE49-F238E27FC236}">
                <a16:creationId xmlns:a16="http://schemas.microsoft.com/office/drawing/2014/main" id="{E33C6BE2-C45B-4A67-A5A2-BAD37079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Multi-container apps: web + database + cache. Networking antar service. docker-compose.yml.</a:t>
            </a:r>
            <a:endParaRPr sz="1100"/>
          </a:p>
        </p:txBody>
      </p:sp>
      <p:sp>
        <p:nvSpPr>
          <p:cNvPr id="42" name="Shape 36">
            <a:extLst xmlns:a="http://schemas.openxmlformats.org/drawingml/2006/main">
              <a:ext uri="{FF2B5EF4-FFF2-40B4-BE49-F238E27FC236}">
                <a16:creationId xmlns:a16="http://schemas.microsoft.com/office/drawing/2014/main" id="{8B401BEB-5355-40E1-BDF1-E8DE7DFD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29200"/>
            <a:ext cx="5486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9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39c03d585846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25780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44" name="Text 37">
            <a:extLst xmlns:a="http://schemas.openxmlformats.org/drawingml/2006/main">
              <a:ext uri="{FF2B5EF4-FFF2-40B4-BE49-F238E27FC236}">
                <a16:creationId xmlns:a16="http://schemas.microsoft.com/office/drawing/2014/main" id="{F55357CF-12DE-4B1F-8840-B2373D4F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0749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Pertanyaan?</a:t>
            </a:r>
            <a:endParaRPr sz="2200"/>
          </a:p>
        </p:txBody>
      </p:sp>
      <p:sp>
        <p:nvSpPr>
          <p:cNvPr id="45" name="Text 38">
            <a:extLst xmlns:a="http://schemas.openxmlformats.org/drawingml/2006/main">
              <a:ext uri="{FF2B5EF4-FFF2-40B4-BE49-F238E27FC236}">
                <a16:creationId xmlns:a16="http://schemas.microsoft.com/office/drawing/2014/main" id="{6898E8C2-5517-4D0F-A949-146E0948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5778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Diskusi sebelum praktikum</a:t>
            </a:r>
            <a:endParaRPr sz="1200"/>
          </a:p>
        </p:txBody>
      </p:sp>
      <p:sp>
        <p:nvSpPr>
          <p:cNvPr id="46" name="Shape 39">
            <a:extLst xmlns:a="http://schemas.openxmlformats.org/drawingml/2006/main">
              <a:ext uri="{FF2B5EF4-FFF2-40B4-BE49-F238E27FC236}">
                <a16:creationId xmlns:a16="http://schemas.microsoft.com/office/drawing/2014/main" id="{C756036B-4CE1-4727-A605-F91311EB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5486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47" name="Text 40">
            <a:extLst xmlns:a="http://schemas.openxmlformats.org/drawingml/2006/main">
              <a:ext uri="{FF2B5EF4-FFF2-40B4-BE49-F238E27FC236}">
                <a16:creationId xmlns:a16="http://schemas.microsoft.com/office/drawing/2014/main" id="{16886E8F-E083-41B4-9607-5EAB526B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54864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Capaian utama RPS: LO2 Design (C3). Lab 05 adalah latihan formatif untuk proyek kelompok.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57225193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11D3B5C-49E9-B0FC-FE4B-9A8B4642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800"/>
            <a:ext cx="8890000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BINUS UNIVERSITY  |  Cloud Services  |  Pertemuan 5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D6859F4-9311-92DA-71CA-FFAF6CD8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73100"/>
            <a:ext cx="112776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004690"/>
                </a:solidFill>
                <a:latin typeface="Calibri"/>
                <a:ea typeface="Calibri"/>
                <a:cs typeface="Calibri"/>
              </a:rPr>
              <a:t>Dari source code ke image</a:t>
            </a:r>
            <a:endParaRPr sz="2800" b="1">
              <a:solidFill>
                <a:srgbClr val="00469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AB93ABE-19FF-1337-67A9-2B733EDED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2776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500" i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Build yang dapat diulang untuk proyek kelompok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A493341-82AD-926F-96C7-A3575C2E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0447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Tulis .dockerignore, salin dependency lebih dulu, lalu gunakan multi-stage build.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A417739-0A05-7112-CAE6-DCA3CF08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8448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Jalankan aplikasi sebagai user non-root dan uji endpoint /health.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A860896-6AAC-332C-13CC-41CAFC20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6449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Bandingkan ukuran image sebelum dan sesudah optimasi dengan docker images.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DB9DDF0-4ACE-5F4A-60A0-21E81A52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450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</a:t>
            </a:r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Push image ke registry hanya bila perlu; kode tetap di GitHub.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4C7BFF7-8F47-917A-1FB3-E04CA408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2451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Kode dan perintah ada di </a:t>
            </a:r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b0d1dd099da42a1"/>
              </a:rPr>
              <a:t>SeedFlora/meet5CloudService</a:t>
            </a:r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D1CD91F-86E1-B28D-9CAF-EF9F95D1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3500"/>
            <a:ext cx="112776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Materi praktik: </a:t>
            </a:r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8b83e4300274284"/>
              </a:rPr>
              <a:t>SeedFlora/meet5CloudService</a:t>
            </a:r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  |  Sumber: RPS COMP6991031</a:t>
            </a:r>
          </a:p>
        </p:txBody>
      </p:sp>
    </p:spTree>
    <p:extLst>
      <p:ext uri="{BB962C8B-B14F-4D97-AF65-F5344CB8AC3E}">
        <p14:creationId xmlns:p14="http://schemas.microsoft.com/office/powerpoint/2010/main" val="367655924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264104-9E10-4D5D-A6C6-A6B56552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05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BINUS UNIVERSITY  |  Cloud Services  |  Pertemuan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F85DBD-45BF-4BE7-8C94-B2899074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64C8C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64C8C"/>
                </a:solidFill>
                <a:latin typeface="Arial"/>
                <a:ea typeface="Arial"/>
                <a:cs typeface="Arial"/>
              </a:rPr>
              <a:t>Kasus kerja dan Lab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DA7AA3-4D8C-4A00-8A4E-AB725670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57325"/>
            <a:ext cx="58102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Kasus kerja: tim menerima API catatan baru. Image harus bisa dibangun ulang, dijalankan tanpa root, dan diuji sebelum rilis.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5D319-8C9E-45B1-96FD-CA520CD8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95575"/>
            <a:ext cx="581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A36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3678"/>
                </a:solidFill>
                <a:latin typeface="Arial"/>
                <a:ea typeface="Arial"/>
                <a:cs typeface="Arial"/>
              </a:rPr>
              <a:t>Sebelum praktikum (10–15 menit)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6B5300-5027-4A50-8044-84B82EB0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19450"/>
            <a:ext cx="58102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Prediksi: apa yang terjadi pada catatan ketika container dihapus dan dibuat lagi?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2A24C1-7964-4EA4-A179-A4FF0F7D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86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969A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69AD"/>
                </a:solidFill>
                <a:latin typeface="Arial"/>
                <a:ea typeface="Arial"/>
                <a:cs typeface="Arial"/>
                <a:hlinkClick xmlns:r="http://schemas.openxmlformats.org/officeDocument/2006/relationships" r:id="Rbeed9d1ef4834c2e"/>
              </a:rPr>
              <a:t>Bacaan: Writing a Dockerfile (Docker Docs)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7FE2A3-9C21-4E9C-BBD2-84F84C2A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7680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969A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69AD"/>
                </a:solidFill>
                <a:latin typeface="Arial"/>
                <a:ea typeface="Arial"/>
                <a:cs typeface="Arial"/>
                <a:hlinkClick xmlns:r="http://schemas.openxmlformats.org/officeDocument/2006/relationships" r:id="R42b528a2a3404bd4"/>
              </a:rPr>
              <a:t>Video: Docker Intro and Overview, mulai 29:57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01F2CC-7BDB-4672-B944-CA031125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81675"/>
            <a:ext cx="1114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969AD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969AD"/>
                </a:solidFill>
                <a:latin typeface="Arial"/>
                <a:ea typeface="Arial"/>
                <a:cs typeface="Arial"/>
                <a:hlinkClick xmlns:r="http://schemas.openxmlformats.org/officeDocument/2006/relationships" r:id="Rd2c83151e5a64a55"/>
              </a:rPr>
              <a:t>Buka repo Lab 05: SeedFlora/meet5CloudService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F66352-D08E-4CC8-91D4-C9DF5159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76975"/>
            <a:ext cx="1114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662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66270"/>
                </a:solidFill>
                <a:latin typeface="Arial"/>
                <a:ea typeface="Arial"/>
                <a:cs typeface="Arial"/>
              </a:rPr>
              <a:t>Proyek kelompok 3 orang: presentasi UTS minggu 7 dan UAS minggu 14.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a0263fd47b4c35"/>
          <a:stretch xmlns:a="http://schemas.openxmlformats.org/drawingml/2006/main"/>
        </p:blipFill>
        <p:spPr>
          <a:xfrm xmlns:a="http://schemas.openxmlformats.org/drawingml/2006/main">
            <a:off x="6534150" y="1970302"/>
            <a:ext cx="5200650" cy="292692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5437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F52888-6985-47BF-8BAC-33D4DE08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73C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73C6"/>
                </a:solidFill>
                <a:latin typeface="Arial"/>
                <a:ea typeface="Arial"/>
                <a:cs typeface="Arial"/>
              </a:rPr>
              <a:t>Dockerfile FastAPI pada Lab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03ED82-138B-4A90-A14D-DBC68429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33450"/>
            <a:ext cx="1123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Builder memasang dependency. Runtime menjalankan API sebagai UID 10001.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c5492717c405b"/>
          <a:stretch xmlns:a="http://schemas.openxmlformats.org/drawingml/2006/main"/>
        </p:blipFill>
        <p:spPr>
          <a:xfrm xmlns:a="http://schemas.openxmlformats.org/drawingml/2006/main">
            <a:off x="467783" y="1428750"/>
            <a:ext cx="11218333" cy="40386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F44A9-4719-4C67-893A-3655A0D6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1123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43746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243746"/>
                </a:solidFill>
                <a:latin typeface="Consolas"/>
                <a:ea typeface="Consolas"/>
                <a:cs typeface="Consolas"/>
              </a:rPr>
              <a:t>docker build -t cloud-notes-api:lab05 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80982-7964-40AC-9753-9B30C5DD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29325"/>
            <a:ext cx="1123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COPY --from memindahkan venv. EXPOSE 8000 adalah metadata. CMD listen 0.0.0.0 di dalam container.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681E88-FD87-4CFF-A496-237DE13D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BINUS UNIVERSITY  |  Cloud Services  |  Pertemuan 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E6C16B-4946-46EC-B7D1-238E635B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68929048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8C811-9AC6-4729-B848-CE40BAE87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73C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73C6"/>
                </a:solidFill>
                <a:latin typeface="Arial"/>
                <a:ea typeface="Arial"/>
                <a:cs typeface="Arial"/>
              </a:rPr>
              <a:t>Uji perilaku image Lab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126A61-11AB-47A3-BB90-9DE8C6BD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33450"/>
            <a:ext cx="1123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Bukti HTTP dibaca bersama konfigurasi container dan batas penyimpanan memori.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7fda316e5849be"/>
          <a:stretch xmlns:a="http://schemas.openxmlformats.org/drawingml/2006/main"/>
        </p:blipFill>
        <p:spPr>
          <a:xfrm xmlns:a="http://schemas.openxmlformats.org/drawingml/2006/main">
            <a:off x="457200" y="1574800"/>
            <a:ext cx="11239500" cy="37465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DB6793-6D6F-4D3A-9922-F90DA459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1123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43746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243746"/>
                </a:solidFill>
                <a:latin typeface="Consolas"/>
                <a:ea typeface="Consolas"/>
                <a:cs typeface="Consolas"/>
              </a:rPr>
              <a:t>docker run -d -p 127.0.0.1:8000:8000 -e APP_ENV=classroom cloud-notes-api:lab05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FCE197-A29A-4910-9A4B-FC286C1F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29325"/>
            <a:ext cx="1123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/health 200, POST /notes 201, input kosong 422. Restart proses menghapus data memori. Lab 06 menambahkan database.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5807F-53E3-4408-A0C2-9F343B4E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BINUS UNIVERSITY  |  Cloud Services  |  Pertemuan 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CCED7C-E993-46DC-8385-3AAC72F7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1439445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E12D7E-2EC4-4AF5-B00B-AD11C07E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73C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73C6"/>
                </a:solidFill>
                <a:latin typeface="Arial"/>
                <a:ea typeface="Arial"/>
                <a:cs typeface="Arial"/>
              </a:rPr>
              <a:t>Swagger: uji API dari browser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175314-E285-4AE3-8E97-99C20393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33450"/>
            <a:ext cx="1123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Buka /docs, pilih GET /health, klik Try it out, lalu Execute.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7566871e83478f"/>
          <a:stretch xmlns:a="http://schemas.openxmlformats.org/drawingml/2006/main"/>
        </p:blipFill>
        <p:spPr>
          <a:xfrm xmlns:a="http://schemas.openxmlformats.org/drawingml/2006/main">
            <a:off x="1900109" y="1428750"/>
            <a:ext cx="8353681" cy="40386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6201D-86B6-43DF-B107-07201459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1123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43746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243746"/>
                </a:solidFill>
                <a:latin typeface="Consolas"/>
                <a:ea typeface="Consolas"/>
                <a:cs typeface="Consolas"/>
              </a:rPr>
              <a:t>curl -i http://127.0.0.1:18005/health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D1140-D8B9-4B74-8C43-312C331B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29325"/>
            <a:ext cx="1123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HTTP 200 dan status ok membuktikan endpoint dapat diakses. Port host 18005 dipakai untuk uji ini; container tetap 8000.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E88454-CF4C-4DF3-B379-BFB280A5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532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BINUS UNIVERSITY  |  Cloud Services  |  Pertemuan 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63B0C-FB69-4A1A-A4FB-9262064F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93751504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2026-10-07T22:57:35.5410000Z</dcterms:created>
  <dcterms:modified xsi:type="dcterms:W3CDTF">2026-10-07T22:57:35.5410000Z</dcterms:modified>
</coreProperties>
</file>